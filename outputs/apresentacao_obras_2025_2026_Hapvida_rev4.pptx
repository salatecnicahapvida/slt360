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85190-98DE-376B-E022-2A03F8F86E4E}" v="2" dt="2025-02-13T14:06:42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
<Relationships xmlns="http://schemas.openxmlformats.org/package/2006/relationships">
  <Relationship Id="rId8" Type="http://schemas.openxmlformats.org/officeDocument/2006/relationships/presProps" Target="presProps.xml" />
  <Relationship Id="rId13" Type="http://schemas.microsoft.com/office/2015/10/relationships/revisionInfo" Target="revisionInfo.xml" />
  <Relationship Id="rId3" Type="http://schemas.openxmlformats.org/officeDocument/2006/relationships/customXml" Target="../customXml/item3.xml" />
  <Relationship Id="rId12" Type="http://schemas.microsoft.com/office/2016/11/relationships/changesInfo" Target="changesInfos/changesInfo1.xml" />
  <Relationship Id="rId2" Type="http://schemas.openxmlformats.org/officeDocument/2006/relationships/customXml" Target="../customXml/item2.xml" />
  <Relationship Id="rId1" Type="http://schemas.openxmlformats.org/officeDocument/2006/relationships/customXml" Target="../customXml/item1.xml" />
  <Relationship Id="rId11" Type="http://schemas.openxmlformats.org/officeDocument/2006/relationships/tableStyles" Target="tableStyles.xml" />
  <Relationship Id="rId10" Type="http://schemas.openxmlformats.org/officeDocument/2006/relationships/theme" Target="theme/theme1.xml" />
  <Relationship Id="rId4" Type="http://schemas.openxmlformats.org/officeDocument/2006/relationships/slideMaster" Target="slideMasters/slideMaster1.xml" />
  <Relationship Id="rId9" Type="http://schemas.openxmlformats.org/officeDocument/2006/relationships/viewProps" Target="viewProps.xml" />
  <Relationship Id="rIdSlide1" Type="http://schemas.openxmlformats.org/officeDocument/2006/relationships/slide" Target="slides/slide1.xml" />
  <Relationship Id="rIdSlide2" Type="http://schemas.openxmlformats.org/officeDocument/2006/relationships/slide" Target="slides/slide2.xml" />
  <Relationship Id="rIdSlide3" Type="http://schemas.openxmlformats.org/officeDocument/2006/relationships/slide" Target="slides/slide3.xml" />
  <Relationship Id="rIdSlide4" Type="http://schemas.openxmlformats.org/officeDocument/2006/relationships/slide" Target="slides/slide4.xml" />
  <Relationship Id="rIdSlide5" Type="http://schemas.openxmlformats.org/officeDocument/2006/relationships/slide" Target="slides/slide5.xml" />
  <Relationship Id="rIdSlide6" Type="http://schemas.openxmlformats.org/officeDocument/2006/relationships/slide" Target="slides/slide6.xml" />
  <Relationship Id="rIdSlide7" Type="http://schemas.openxmlformats.org/officeDocument/2006/relationships/slide" Target="slides/slide7.xml" />
  <Relationship Id="rIdSlide8" Type="http://schemas.openxmlformats.org/officeDocument/2006/relationships/slide" Target="slides/slide8.xml" />
  <Relationship Id="rIdSlide9" Type="http://schemas.openxmlformats.org/officeDocument/2006/relationships/slide" Target="slides/slide9.xml" />
  <Relationship Id="rIdSlide10" Type="http://schemas.openxmlformats.org/officeDocument/2006/relationships/slide" Target="slides/slide10.xml" />
  <Relationship Id="rIdSlide11" Type="http://schemas.openxmlformats.org/officeDocument/2006/relationships/slide" Target="slides/slide11.xml" />
  <Relationship Id="rIdSlide12" Type="http://schemas.openxmlformats.org/officeDocument/2006/relationships/slide" Target="slides/slide12.xml" />
  <Relationship Id="rIdSlide13" Type="http://schemas.openxmlformats.org/officeDocument/2006/relationships/slide" Target="slides/slide13.xml" />
  <Relationship Id="rIdSlide14" Type="http://schemas.openxmlformats.org/officeDocument/2006/relationships/slide" Target="slides/slide14.xml" />
  <Relationship Id="rIdSlide15" Type="http://schemas.openxmlformats.org/officeDocument/2006/relationships/slide" Target="slides/slide15.xml" />
  <Relationship Id="rIdSlide16" Type="http://schemas.openxmlformats.org/officeDocument/2006/relationships/slide" Target="slides/slide16.xml" />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Paulo Torres Pimentel" userId="S::joao.torres@hapvida.com.br::9d2149ae-a41c-421d-8f16-e2041ff4508d" providerId="AD" clId="Web-{70E85190-98DE-376B-E022-2A03F8F86E4E}"/>
    <pc:docChg chg="modSld">
      <pc:chgData name="Joao Paulo Torres Pimentel" userId="S::joao.torres@hapvida.com.br::9d2149ae-a41c-421d-8f16-e2041ff4508d" providerId="AD" clId="Web-{70E85190-98DE-376B-E022-2A03F8F86E4E}" dt="2025-02-13T14:06:42.110" v="1"/>
      <pc:docMkLst>
        <pc:docMk/>
      </pc:docMkLst>
      <pc:sldChg chg="addSp delSp">
        <pc:chgData name="Joao Paulo Torres Pimentel" userId="S::joao.torres@hapvida.com.br::9d2149ae-a41c-421d-8f16-e2041ff4508d" providerId="AD" clId="Web-{70E85190-98DE-376B-E022-2A03F8F86E4E}" dt="2025-02-13T14:06:42.110" v="1"/>
        <pc:sldMkLst>
          <pc:docMk/>
          <pc:sldMk cId="2954714694" sldId="256"/>
        </pc:sldMkLst>
        <pc:picChg chg="add del">
          <ac:chgData name="Joao Paulo Torres Pimentel" userId="S::joao.torres@hapvida.com.br::9d2149ae-a41c-421d-8f16-e2041ff4508d" providerId="AD" clId="Web-{70E85190-98DE-376B-E022-2A03F8F86E4E}" dt="2025-02-13T14:06:42.110" v="1"/>
          <ac:picMkLst>
            <pc:docMk/>
            <pc:sldMk cId="2954714694" sldId="256"/>
            <ac:picMk id="14" creationId="{F6CD79F6-4A4F-4555-9EA1-EBBF269853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Cover' Type='http://schemas.openxmlformats.org/officeDocument/2006/relationships/image' Target='../media/image1.jpeg'/>
  <Relationship Id='rIdLogo' Type='http://schemas.openxmlformats.org/officeDocument/2006/relationships/image' Target='../media/image4.png'/>
</Relationships>
</file>

<file path=ppt/slides/_rels/slide2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3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4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5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6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7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8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9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10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11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12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13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14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15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16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pa"/>
          <p:cNvPicPr>
            <a:picLocks noChangeAspect="1"/>
          </p:cNvPicPr>
          <p:nvPr/>
        </p:nvPicPr>
        <p:blipFill>
          <a:blip r:embed="rIdCover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46000"/>
            </a:srgbClr>
          </a:solidFill>
          <a:ln>
            <a:noFill/>
          </a:ln>
        </p:spPr>
      </p:sp>
      <p:pic>
        <p:nvPicPr>
          <p:cNvPr id="12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658368" y="512064"/>
            <a:ext cx="1737360" cy="32004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58368" y="2084832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3200" b="1">
                <a:solidFill>
                  <a:srgbClr val="FFFFFF"/>
                </a:solidFill>
              </a:rPr>
              <a:t>Obras 2025-2026</a:t>
            </a:r>
          </a:p>
          <a:p>
            <a:pPr algn="l"/>
            <a:r>
              <a:rPr lang="pt-BR" sz="3200" b="1">
                <a:solidFill>
                  <a:srgbClr val="FFFFFF"/>
                </a:solidFill>
              </a:rPr>
              <a:t>Tipologia e construção por m²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3401568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FFFFFF"/>
                </a:solidFill>
              </a:rPr>
              <a:t>2025 e 2026 até 14/08/2026 | Base Geral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213.5 mil 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construídos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182112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R$ 284.3 mi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negociados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678424" y="4873752"/>
            <a:ext cx="269748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 regulatória com baixa intervenção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tipologia líder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74980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>
                <a:solidFill>
                  <a:srgbClr val="15253F"/>
                </a:solidFill>
              </a:rPr>
              <a:t>Resumo do período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66928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256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83280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Área construída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213.5 mil 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Área (m²)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9632" y="1417320"/>
            <a:ext cx="2542032" cy="1024128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R$ 284.3 mi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015984" y="1417320"/>
            <a:ext cx="2542032" cy="1024128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Tipologia líder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Obra regulatória com baixa intervenção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maior área construída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58368" y="276148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Comparativo anual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58368" y="3163824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1618488" y="3163824"/>
            <a:ext cx="10515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670048" y="3163824"/>
            <a:ext cx="15544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224528" y="3163824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658368" y="3474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618488" y="347472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170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2670048" y="3474720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122.0 mil m²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4224528" y="347472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R$ 168.2 mi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658368" y="378561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1618488" y="3785616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86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2670048" y="3785616"/>
            <a:ext cx="15544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91.5 mil m²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4224528" y="378561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R$ 116.0 mi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400800" y="2761488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Principais leituras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6400800" y="3145536"/>
            <a:ext cx="516636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• Maior entrega mensal em área: fev/26, com 29.8 mil 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Classificação com maior área construída: Adequação Regulatória (99.1 mil m²).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Maior R$/m² por classificação: Eficiência Operacional, com R$ 2.576/m².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Nível de Obra mais representativo em área: Retrofit.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Tipologia de Obras mais representativa em área: Obra regulatória com baixa intervenção.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Curva mensal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74980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300" b="1">
                <a:solidFill>
                  <a:srgbClr val="15253F"/>
                </a:solidFill>
              </a:rPr>
              <a:t>Curva mensal de área construída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658368" y="120700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Meses com maior área construída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58368" y="162763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11" name="Rect 111"/>
          <p:cNvSpPr/>
          <p:nvPr/>
        </p:nvSpPr>
        <p:spPr>
          <a:xfrm>
            <a:off x="2537460" y="1700784"/>
            <a:ext cx="199796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12" name="Text 112"/>
          <p:cNvSpPr txBox="1"/>
          <p:nvPr/>
        </p:nvSpPr>
        <p:spPr>
          <a:xfrm>
            <a:off x="4663440" y="1627632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29.8 mil m² | 24 obras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658368" y="193852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14" name="Rect 114"/>
          <p:cNvSpPr/>
          <p:nvPr/>
        </p:nvSpPr>
        <p:spPr>
          <a:xfrm>
            <a:off x="2537460" y="2011680"/>
            <a:ext cx="1590471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15" name="Text 115"/>
          <p:cNvSpPr txBox="1"/>
          <p:nvPr/>
        </p:nvSpPr>
        <p:spPr>
          <a:xfrm>
            <a:off x="4663440" y="1938528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23.8 mil m² | 20 obras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58368" y="2249424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17" name="Rect 117"/>
          <p:cNvSpPr/>
          <p:nvPr/>
        </p:nvSpPr>
        <p:spPr>
          <a:xfrm>
            <a:off x="2537460" y="2322576"/>
            <a:ext cx="1421573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18" name="Text 118"/>
          <p:cNvSpPr txBox="1"/>
          <p:nvPr/>
        </p:nvSpPr>
        <p:spPr>
          <a:xfrm>
            <a:off x="4663440" y="2249424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21.2 mil m² | 22 obras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58368" y="2560320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20" name="Rect 120"/>
          <p:cNvSpPr/>
          <p:nvPr/>
        </p:nvSpPr>
        <p:spPr>
          <a:xfrm>
            <a:off x="2537460" y="2633472"/>
            <a:ext cx="12876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21" name="Text 121"/>
          <p:cNvSpPr txBox="1"/>
          <p:nvPr/>
        </p:nvSpPr>
        <p:spPr>
          <a:xfrm>
            <a:off x="4663440" y="2560320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19.2 mil m² | 35 obras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58368" y="2871216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23" name="Rect 123"/>
          <p:cNvSpPr/>
          <p:nvPr/>
        </p:nvSpPr>
        <p:spPr>
          <a:xfrm>
            <a:off x="2537460" y="2944368"/>
            <a:ext cx="111689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24" name="Text 124"/>
          <p:cNvSpPr txBox="1"/>
          <p:nvPr/>
        </p:nvSpPr>
        <p:spPr>
          <a:xfrm>
            <a:off x="4663440" y="2871216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16.7 mil m² | 19 obras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58368" y="318211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26" name="Rect 126"/>
          <p:cNvSpPr/>
          <p:nvPr/>
        </p:nvSpPr>
        <p:spPr>
          <a:xfrm>
            <a:off x="2537460" y="3255264"/>
            <a:ext cx="949080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27" name="Text 127"/>
          <p:cNvSpPr txBox="1"/>
          <p:nvPr/>
        </p:nvSpPr>
        <p:spPr>
          <a:xfrm>
            <a:off x="4663440" y="3182112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14.2 mil m² | 11 obras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58368" y="349300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29" name="Rect 129"/>
          <p:cNvSpPr/>
          <p:nvPr/>
        </p:nvSpPr>
        <p:spPr>
          <a:xfrm>
            <a:off x="2537460" y="3566160"/>
            <a:ext cx="75188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0" name="Text 130"/>
          <p:cNvSpPr txBox="1"/>
          <p:nvPr/>
        </p:nvSpPr>
        <p:spPr>
          <a:xfrm>
            <a:off x="4663440" y="3493008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11.2 mil m² | 6 obras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658368" y="3803904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32" name="Rect 132"/>
          <p:cNvSpPr/>
          <p:nvPr/>
        </p:nvSpPr>
        <p:spPr>
          <a:xfrm>
            <a:off x="2537460" y="3877056"/>
            <a:ext cx="67977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3" name="Text 133"/>
          <p:cNvSpPr txBox="1"/>
          <p:nvPr/>
        </p:nvSpPr>
        <p:spPr>
          <a:xfrm>
            <a:off x="4663440" y="3803904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10.2 mil m² | 20 obras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58368" y="4114800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35" name="Rect 135"/>
          <p:cNvSpPr/>
          <p:nvPr/>
        </p:nvSpPr>
        <p:spPr>
          <a:xfrm>
            <a:off x="2537460" y="4187952"/>
            <a:ext cx="671707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6" name="Text 136"/>
          <p:cNvSpPr txBox="1"/>
          <p:nvPr/>
        </p:nvSpPr>
        <p:spPr>
          <a:xfrm>
            <a:off x="4663440" y="4114800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10.0 mil m² | 12 obras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658368" y="4425696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38" name="Rect 138"/>
          <p:cNvSpPr/>
          <p:nvPr/>
        </p:nvSpPr>
        <p:spPr>
          <a:xfrm>
            <a:off x="2537460" y="4498848"/>
            <a:ext cx="65946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9" name="Text 139"/>
          <p:cNvSpPr txBox="1"/>
          <p:nvPr/>
        </p:nvSpPr>
        <p:spPr>
          <a:xfrm>
            <a:off x="4663440" y="4425696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9.8 mil m² | 8 obras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58368" y="473659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41" name="Rect 141"/>
          <p:cNvSpPr/>
          <p:nvPr/>
        </p:nvSpPr>
        <p:spPr>
          <a:xfrm>
            <a:off x="2537460" y="4809744"/>
            <a:ext cx="52733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2" name="Text 142"/>
          <p:cNvSpPr txBox="1"/>
          <p:nvPr/>
        </p:nvSpPr>
        <p:spPr>
          <a:xfrm>
            <a:off x="4663440" y="4736592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7.9 mil m² | 15 obras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658368" y="504748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/>
            </a:r>
          </a:p>
        </p:txBody>
      </p:sp>
      <p:sp>
        <p:nvSpPr>
          <p:cNvPr id="144" name="Rect 144"/>
          <p:cNvSpPr/>
          <p:nvPr/>
        </p:nvSpPr>
        <p:spPr>
          <a:xfrm>
            <a:off x="2537460" y="5120640"/>
            <a:ext cx="50808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5" name="Text 145"/>
          <p:cNvSpPr txBox="1"/>
          <p:nvPr/>
        </p:nvSpPr>
        <p:spPr>
          <a:xfrm>
            <a:off x="4663440" y="5047488"/>
            <a:ext cx="125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7.6 mil m² | 7 obras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400800" y="120700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F37021"/>
                </a:solidFill>
              </a:rPr>
              <a:t>Resumo mensal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6400800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Mês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7315200" y="1627632"/>
            <a:ext cx="7315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046720" y="1627632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9189720" y="1627632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10515600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6400800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216" name="Text 216"/>
          <p:cNvSpPr txBox="1"/>
          <p:nvPr/>
        </p:nvSpPr>
        <p:spPr>
          <a:xfrm>
            <a:off x="7315200" y="1938528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20</a:t>
            </a:r>
          </a:p>
        </p:txBody>
      </p:sp>
      <p:sp>
        <p:nvSpPr>
          <p:cNvPr id="217" name="Text 217"/>
          <p:cNvSpPr txBox="1"/>
          <p:nvPr/>
        </p:nvSpPr>
        <p:spPr>
          <a:xfrm>
            <a:off x="8046720" y="193852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10.2 mil m²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9189720" y="193852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R$ 14.4 mi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10515600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R$ 1.417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6400800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7315200" y="2249424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222" name="Text 222"/>
          <p:cNvSpPr txBox="1"/>
          <p:nvPr/>
        </p:nvSpPr>
        <p:spPr>
          <a:xfrm>
            <a:off x="8046720" y="224942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6.2 mil m²</a:t>
            </a:r>
          </a:p>
        </p:txBody>
      </p:sp>
      <p:sp>
        <p:nvSpPr>
          <p:cNvPr id="223" name="Text 223"/>
          <p:cNvSpPr txBox="1"/>
          <p:nvPr/>
        </p:nvSpPr>
        <p:spPr>
          <a:xfrm>
            <a:off x="9189720" y="224942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R$ 4.4 mi</a:t>
            </a:r>
          </a:p>
        </p:txBody>
      </p:sp>
      <p:sp>
        <p:nvSpPr>
          <p:cNvPr id="224" name="Text 224"/>
          <p:cNvSpPr txBox="1"/>
          <p:nvPr/>
        </p:nvSpPr>
        <p:spPr>
          <a:xfrm>
            <a:off x="10515600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R$ 704</a:t>
            </a:r>
          </a:p>
        </p:txBody>
      </p:sp>
      <p:sp>
        <p:nvSpPr>
          <p:cNvPr id="225" name="Text 225"/>
          <p:cNvSpPr txBox="1"/>
          <p:nvPr/>
        </p:nvSpPr>
        <p:spPr>
          <a:xfrm>
            <a:off x="6400800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7315200" y="2560320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8046720" y="256032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5.5 mil m²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9189720" y="256032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R$ 9.7 mi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10515600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R$ 1.776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400800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abr/25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7315200" y="2871216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8046720" y="287121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11.2 mil m²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9189720" y="2871216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R$ 16.7 mi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10515600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R$ 1.487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6400800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mai/25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7315200" y="3182112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8046720" y="318211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429 m²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9189720" y="3182112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R$ 256.0 mil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10515600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R$ 597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6400800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7315200" y="3493008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8046720" y="349300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7.9 mil m²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9189720" y="3493008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R$ 7.5 mi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10515600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R$ 955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6400800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7315200" y="3803904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19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8046720" y="380390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16.7 mil m²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9189720" y="3803904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R$ 21.7 mi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10515600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R$ 1.303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400800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ago/25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7315200" y="4114800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8046720" y="4114800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7.6 mil m²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9189720" y="4114800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R$ 4.9 mi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10515600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R$ 641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6400800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set/25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7315200" y="4425696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8046720" y="44256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10.0 mil m²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9189720" y="44256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R$ 10.8 mi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10515600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R$ 1.078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6400800" y="4736592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7315200" y="4736592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8046720" y="47365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5.9 mil m²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9189720" y="47365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R$ 12.9 mi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10515600" y="4736592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R$ 2.203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6400800" y="50474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7315200" y="5047488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8046720" y="50474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21.2 mil m²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9189720" y="50474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R$ 36.4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10515600" y="50474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R$ 1.716</a:t>
            </a:r>
          </a:p>
        </p:txBody>
      </p:sp>
      <p:sp>
        <p:nvSpPr>
          <p:cNvPr id="270" name="Text 270"/>
          <p:cNvSpPr txBox="1"/>
          <p:nvPr/>
        </p:nvSpPr>
        <p:spPr>
          <a:xfrm>
            <a:off x="6400800" y="535838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271" name="Text 271"/>
          <p:cNvSpPr txBox="1"/>
          <p:nvPr/>
        </p:nvSpPr>
        <p:spPr>
          <a:xfrm>
            <a:off x="7315200" y="5358384"/>
            <a:ext cx="7315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35</a:t>
            </a:r>
          </a:p>
        </p:txBody>
      </p:sp>
      <p:sp>
        <p:nvSpPr>
          <p:cNvPr id="272" name="Text 272"/>
          <p:cNvSpPr txBox="1"/>
          <p:nvPr/>
        </p:nvSpPr>
        <p:spPr>
          <a:xfrm>
            <a:off x="8046720" y="53583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19.2 mil m²</a:t>
            </a:r>
          </a:p>
        </p:txBody>
      </p:sp>
      <p:sp>
        <p:nvSpPr>
          <p:cNvPr id="273" name="Text 273"/>
          <p:cNvSpPr txBox="1"/>
          <p:nvPr/>
        </p:nvSpPr>
        <p:spPr>
          <a:xfrm>
            <a:off x="9189720" y="53583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R$ 28.5 mi</a:t>
            </a:r>
          </a:p>
        </p:txBody>
      </p:sp>
      <p:sp>
        <p:nvSpPr>
          <p:cNvPr id="274" name="Text 274"/>
          <p:cNvSpPr txBox="1"/>
          <p:nvPr/>
        </p:nvSpPr>
        <p:spPr>
          <a:xfrm>
            <a:off x="10515600" y="535838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Tipologia de Obras | valor, área e R$/m²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U | eixo principal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58368" y="1234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Valor negociado por grupo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58368" y="1627632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134" name="Rect 134"/>
          <p:cNvSpPr/>
          <p:nvPr/>
        </p:nvSpPr>
        <p:spPr>
          <a:xfrm>
            <a:off x="2630729" y="1700784"/>
            <a:ext cx="210220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5" name="Text 135"/>
          <p:cNvSpPr txBox="1"/>
          <p:nvPr/>
        </p:nvSpPr>
        <p:spPr>
          <a:xfrm>
            <a:off x="4860950" y="1627632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R$ 99.7 mi | 90 obras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658368" y="2121408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137" name="Rect 137"/>
          <p:cNvSpPr/>
          <p:nvPr/>
        </p:nvSpPr>
        <p:spPr>
          <a:xfrm>
            <a:off x="2630729" y="2194560"/>
            <a:ext cx="122667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8" name="Text 138"/>
          <p:cNvSpPr txBox="1"/>
          <p:nvPr/>
        </p:nvSpPr>
        <p:spPr>
          <a:xfrm>
            <a:off x="4860950" y="2121408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R$ 58.2 mi | 11 obras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58368" y="2615184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40" name="Rect 140"/>
          <p:cNvSpPr/>
          <p:nvPr/>
        </p:nvSpPr>
        <p:spPr>
          <a:xfrm>
            <a:off x="2630729" y="2688336"/>
            <a:ext cx="119965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4860950" y="2615184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R$ 56.9 mi | 25 obras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58368" y="3108960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regulatória com baixa intervenção</a:t>
            </a:r>
          </a:p>
        </p:txBody>
      </p:sp>
      <p:sp>
        <p:nvSpPr>
          <p:cNvPr id="143" name="Rect 143"/>
          <p:cNvSpPr/>
          <p:nvPr/>
        </p:nvSpPr>
        <p:spPr>
          <a:xfrm>
            <a:off x="2630729" y="3182112"/>
            <a:ext cx="54976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4" name="Text 144"/>
          <p:cNvSpPr txBox="1"/>
          <p:nvPr/>
        </p:nvSpPr>
        <p:spPr>
          <a:xfrm>
            <a:off x="4860950" y="3108960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R$ 26.1 mi | 87 obras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658368" y="3602736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regulatória com alta intervenção</a:t>
            </a:r>
          </a:p>
        </p:txBody>
      </p:sp>
      <p:sp>
        <p:nvSpPr>
          <p:cNvPr id="146" name="Rect 146"/>
          <p:cNvSpPr/>
          <p:nvPr/>
        </p:nvSpPr>
        <p:spPr>
          <a:xfrm>
            <a:off x="2630729" y="3675888"/>
            <a:ext cx="48414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7" name="Text 147"/>
          <p:cNvSpPr txBox="1"/>
          <p:nvPr/>
        </p:nvSpPr>
        <p:spPr>
          <a:xfrm>
            <a:off x="4860950" y="3602736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R$ 23.0 mi | 17 obras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58368" y="4096512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regulatória com média intervenção</a:t>
            </a:r>
          </a:p>
        </p:txBody>
      </p:sp>
      <p:sp>
        <p:nvSpPr>
          <p:cNvPr id="149" name="Rect 149"/>
          <p:cNvSpPr/>
          <p:nvPr/>
        </p:nvSpPr>
        <p:spPr>
          <a:xfrm>
            <a:off x="2630729" y="4169664"/>
            <a:ext cx="38273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50" name="Text 150"/>
          <p:cNvSpPr txBox="1"/>
          <p:nvPr/>
        </p:nvSpPr>
        <p:spPr>
          <a:xfrm>
            <a:off x="4860950" y="4096512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R$ 18.2 mi | 22 obras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658368" y="4590288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Adm e Outros</a:t>
            </a:r>
          </a:p>
        </p:txBody>
      </p:sp>
      <p:sp>
        <p:nvSpPr>
          <p:cNvPr id="152" name="Rect 152"/>
          <p:cNvSpPr/>
          <p:nvPr/>
        </p:nvSpPr>
        <p:spPr>
          <a:xfrm>
            <a:off x="2630729" y="4663440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53" name="Text 153"/>
          <p:cNvSpPr txBox="1"/>
          <p:nvPr/>
        </p:nvSpPr>
        <p:spPr>
          <a:xfrm>
            <a:off x="4860950" y="4590288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R$ 2.2 mi | 4 obras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537960" y="1353312"/>
            <a:ext cx="16002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8138160" y="1353312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8732520" y="1353312"/>
            <a:ext cx="10515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9784080" y="1353312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10652760" y="1353312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537960" y="1664208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138160" y="16642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90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8732520" y="1664208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R$ 99.7 mi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9784080" y="16642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53.5 mil m²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10652760" y="16642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R$ 1.865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537960" y="1975104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8138160" y="1975104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732520" y="1975104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R$ 58.2 mi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84080" y="1975104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25.7 mil m²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652760" y="1975104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R$ 2.262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6537960" y="2286000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8138160" y="228600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25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8732520" y="228600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R$ 56.9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9784080" y="228600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34.6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0652760" y="228600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R$ 1.645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537960" y="2596896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baixa intervenção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8138160" y="2596896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87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8732520" y="2596896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R$ 26.1 mi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9784080" y="259689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69.9 mil m²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10652760" y="259689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R$ 373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537960" y="2907792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alta intervenção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138160" y="290779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732520" y="2907792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R$ 23.0 mi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9784080" y="290779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18.3 mil m²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10652760" y="290779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6537960" y="3218688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média intervenção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8138160" y="321868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8732520" y="3218688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R$ 18.2 mi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9784080" y="321868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10.3 mil m²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10652760" y="321868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R$ 1.763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6537960" y="3529584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Adm e Outros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8138160" y="352958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8732520" y="3529584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 mi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9784080" y="352958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10652760" y="352958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Classificação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Classificação de Obra | valor, área e R$/m²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N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58368" y="1234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Valor negociado por grupo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58368" y="1627632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134" name="Rect 134"/>
          <p:cNvSpPr/>
          <p:nvPr/>
        </p:nvSpPr>
        <p:spPr>
          <a:xfrm>
            <a:off x="2630729" y="1700784"/>
            <a:ext cx="210220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5" name="Text 135"/>
          <p:cNvSpPr txBox="1"/>
          <p:nvPr/>
        </p:nvSpPr>
        <p:spPr>
          <a:xfrm>
            <a:off x="4860950" y="1627632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R$ 86.1 mi | 31 obras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658368" y="2121408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137" name="Rect 137"/>
          <p:cNvSpPr/>
          <p:nvPr/>
        </p:nvSpPr>
        <p:spPr>
          <a:xfrm>
            <a:off x="2630729" y="2194560"/>
            <a:ext cx="1685687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8" name="Text 138"/>
          <p:cNvSpPr txBox="1"/>
          <p:nvPr/>
        </p:nvSpPr>
        <p:spPr>
          <a:xfrm>
            <a:off x="4860950" y="2121408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R$ 69.0 mi | 125 obras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58368" y="2615184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140" name="Rect 140"/>
          <p:cNvSpPr/>
          <p:nvPr/>
        </p:nvSpPr>
        <p:spPr>
          <a:xfrm>
            <a:off x="2630729" y="2688336"/>
            <a:ext cx="1579878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4860950" y="2615184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R$ 64.7 mi | 33 obras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58368" y="3108960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143" name="Rect 143"/>
          <p:cNvSpPr/>
          <p:nvPr/>
        </p:nvSpPr>
        <p:spPr>
          <a:xfrm>
            <a:off x="2630729" y="3182112"/>
            <a:ext cx="91209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4" name="Text 144"/>
          <p:cNvSpPr txBox="1"/>
          <p:nvPr/>
        </p:nvSpPr>
        <p:spPr>
          <a:xfrm>
            <a:off x="4860950" y="3108960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R$ 37.3 mi | 39 obras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658368" y="3602736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146" name="Rect 146"/>
          <p:cNvSpPr/>
          <p:nvPr/>
        </p:nvSpPr>
        <p:spPr>
          <a:xfrm>
            <a:off x="2630729" y="3675888"/>
            <a:ext cx="37740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7" name="Text 147"/>
          <p:cNvSpPr txBox="1"/>
          <p:nvPr/>
        </p:nvSpPr>
        <p:spPr>
          <a:xfrm>
            <a:off x="4860950" y="3602736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R$ 15.4 mi | 9 obras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58368" y="4096512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149" name="Rect 149"/>
          <p:cNvSpPr/>
          <p:nvPr/>
        </p:nvSpPr>
        <p:spPr>
          <a:xfrm>
            <a:off x="2630729" y="4169664"/>
            <a:ext cx="166341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50" name="Text 150"/>
          <p:cNvSpPr txBox="1"/>
          <p:nvPr/>
        </p:nvSpPr>
        <p:spPr>
          <a:xfrm>
            <a:off x="4860950" y="4096512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R$ 6.8 mi | 8 obras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658368" y="4590288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152" name="Rect 152"/>
          <p:cNvSpPr/>
          <p:nvPr/>
        </p:nvSpPr>
        <p:spPr>
          <a:xfrm>
            <a:off x="2630729" y="4663440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53" name="Text 153"/>
          <p:cNvSpPr txBox="1"/>
          <p:nvPr/>
        </p:nvSpPr>
        <p:spPr>
          <a:xfrm>
            <a:off x="4860950" y="4590288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R$ 1.8 mi | 4 obras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537960" y="1353312"/>
            <a:ext cx="16002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8138160" y="1353312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8732520" y="1353312"/>
            <a:ext cx="10515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9784080" y="1353312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10652760" y="1353312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537960" y="1664208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138160" y="16642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31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8732520" y="1664208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R$ 86.1 mi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9784080" y="16642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42.6 mil m²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10652760" y="16642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R$ 2.018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537960" y="1975104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8138160" y="1975104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125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732520" y="1975104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R$ 69.0 mi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84080" y="1975104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99.1 mil m²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652760" y="1975104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R$ 696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6537960" y="2286000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8138160" y="228600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8732520" y="228600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R$ 64.7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9784080" y="228600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36.3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0652760" y="228600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R$ 1.781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537960" y="2596896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8138160" y="2596896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39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8732520" y="2596896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R$ 37.3 mi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9784080" y="259689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14.5 mil m²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10652760" y="259689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R$ 2.576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537960" y="2907792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8138160" y="290779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732520" y="2907792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R$ 15.4 mi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9784080" y="290779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6.4 mil m²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10652760" y="290779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R$ 2.427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6537960" y="3218688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8138160" y="321868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8732520" y="3218688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R$ 6.8 mi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9784080" y="321868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3.4 mil m²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10652760" y="321868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R$ 2.030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6537960" y="3529584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8138160" y="352958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8732520" y="3529584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 mi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9784080" y="352958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3.9 mil m²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10652760" y="352958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Nível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Nível de Obra | valor, área e R$/m²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O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58368" y="1234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53F8E"/>
                </a:solidFill>
              </a:rPr>
              <a:t>Valor negociado por grupo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58368" y="1627632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134" name="Rect 134"/>
          <p:cNvSpPr/>
          <p:nvPr/>
        </p:nvSpPr>
        <p:spPr>
          <a:xfrm>
            <a:off x="2630729" y="1700784"/>
            <a:ext cx="210220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5" name="Text 135"/>
          <p:cNvSpPr txBox="1"/>
          <p:nvPr/>
        </p:nvSpPr>
        <p:spPr>
          <a:xfrm>
            <a:off x="4860950" y="1627632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R$ 148.5 mi | 192 obras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658368" y="2121408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137" name="Rect 137"/>
          <p:cNvSpPr/>
          <p:nvPr/>
        </p:nvSpPr>
        <p:spPr>
          <a:xfrm>
            <a:off x="2630729" y="2194560"/>
            <a:ext cx="179894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38" name="Text 138"/>
          <p:cNvSpPr txBox="1"/>
          <p:nvPr/>
        </p:nvSpPr>
        <p:spPr>
          <a:xfrm>
            <a:off x="4860950" y="2121408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R$ 127.1 mi | 56 obras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58368" y="2615184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140" name="Rect 140"/>
          <p:cNvSpPr/>
          <p:nvPr/>
        </p:nvSpPr>
        <p:spPr>
          <a:xfrm>
            <a:off x="2630729" y="2688336"/>
            <a:ext cx="119287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4860950" y="2615184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R$ 8.4 mi | 7 obras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58368" y="3108960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143" name="Rect 143"/>
          <p:cNvSpPr/>
          <p:nvPr/>
        </p:nvSpPr>
        <p:spPr>
          <a:xfrm>
            <a:off x="2630729" y="3182112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</p:sp>
      <p:sp>
        <p:nvSpPr>
          <p:cNvPr id="144" name="Text 144"/>
          <p:cNvSpPr txBox="1"/>
          <p:nvPr/>
        </p:nvSpPr>
        <p:spPr>
          <a:xfrm>
            <a:off x="4860950" y="3108960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R$ 244.0 mil | 1 obras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537960" y="1353312"/>
            <a:ext cx="16002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8138160" y="1353312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8732520" y="1353312"/>
            <a:ext cx="10515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9784080" y="1353312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10652760" y="1353312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537960" y="1664208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138160" y="16642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192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8732520" y="1664208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R$ 148.5 mi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9784080" y="16642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147.2 mil m²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10652760" y="16642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R$ 1.009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537960" y="1975104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8138160" y="1975104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8732520" y="1975104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R$ 127.1 mi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84080" y="1975104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60.8 mil m²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652760" y="1975104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R$ 2.090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6537960" y="2286000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8138160" y="228600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8732520" y="228600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R$ 8.4 mi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9784080" y="228600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0652760" y="228600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537960" y="2596896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8138160" y="2596896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8732520" y="2596896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R$ 244.0 mil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9784080" y="259689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10652760" y="259689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Indicadores geográficos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600" name="Text 6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Indicadores por Região e Estado</a:t>
            </a:r>
          </a:p>
        </p:txBody>
      </p:sp>
      <p:sp>
        <p:nvSpPr>
          <p:cNvPr id="601" name="Text 601"/>
          <p:cNvSpPr txBox="1"/>
          <p:nvPr/>
        </p:nvSpPr>
        <p:spPr>
          <a:xfrm>
            <a:off x="658368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Região</a:t>
            </a:r>
          </a:p>
        </p:txBody>
      </p:sp>
      <p:sp>
        <p:nvSpPr>
          <p:cNvPr id="610" name="Text 610"/>
          <p:cNvSpPr txBox="1"/>
          <p:nvPr/>
        </p:nvSpPr>
        <p:spPr>
          <a:xfrm>
            <a:off x="65836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Região</a:t>
            </a:r>
          </a:p>
        </p:txBody>
      </p:sp>
      <p:sp>
        <p:nvSpPr>
          <p:cNvPr id="611" name="Text 611"/>
          <p:cNvSpPr txBox="1"/>
          <p:nvPr/>
        </p:nvSpPr>
        <p:spPr>
          <a:xfrm>
            <a:off x="1984248" y="1600200"/>
            <a:ext cx="7772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12" name="Text 612"/>
          <p:cNvSpPr txBox="1"/>
          <p:nvPr/>
        </p:nvSpPr>
        <p:spPr>
          <a:xfrm>
            <a:off x="2761488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13" name="Text 613"/>
          <p:cNvSpPr txBox="1"/>
          <p:nvPr/>
        </p:nvSpPr>
        <p:spPr>
          <a:xfrm>
            <a:off x="390448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14" name="Text 614"/>
          <p:cNvSpPr txBox="1"/>
          <p:nvPr/>
        </p:nvSpPr>
        <p:spPr>
          <a:xfrm>
            <a:off x="5230368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15" name="Text 615"/>
          <p:cNvSpPr txBox="1"/>
          <p:nvPr/>
        </p:nvSpPr>
        <p:spPr>
          <a:xfrm>
            <a:off x="65836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SE</a:t>
            </a:r>
          </a:p>
        </p:txBody>
      </p:sp>
      <p:sp>
        <p:nvSpPr>
          <p:cNvPr id="616" name="Text 616"/>
          <p:cNvSpPr txBox="1"/>
          <p:nvPr/>
        </p:nvSpPr>
        <p:spPr>
          <a:xfrm>
            <a:off x="1984248" y="1911096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114</a:t>
            </a:r>
          </a:p>
        </p:txBody>
      </p:sp>
      <p:sp>
        <p:nvSpPr>
          <p:cNvPr id="617" name="Text 617"/>
          <p:cNvSpPr txBox="1"/>
          <p:nvPr/>
        </p:nvSpPr>
        <p:spPr>
          <a:xfrm>
            <a:off x="2761488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121.2 mil m²</a:t>
            </a:r>
          </a:p>
        </p:txBody>
      </p:sp>
      <p:sp>
        <p:nvSpPr>
          <p:cNvPr id="618" name="Text 618"/>
          <p:cNvSpPr txBox="1"/>
          <p:nvPr/>
        </p:nvSpPr>
        <p:spPr>
          <a:xfrm>
            <a:off x="390448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R$ 178.6 mi</a:t>
            </a:r>
          </a:p>
        </p:txBody>
      </p:sp>
      <p:sp>
        <p:nvSpPr>
          <p:cNvPr id="619" name="Text 619"/>
          <p:cNvSpPr txBox="1"/>
          <p:nvPr/>
        </p:nvSpPr>
        <p:spPr>
          <a:xfrm>
            <a:off x="5230368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R$ 1.473</a:t>
            </a:r>
          </a:p>
        </p:txBody>
      </p:sp>
      <p:sp>
        <p:nvSpPr>
          <p:cNvPr id="620" name="Text 620"/>
          <p:cNvSpPr txBox="1"/>
          <p:nvPr/>
        </p:nvSpPr>
        <p:spPr>
          <a:xfrm>
            <a:off x="65836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NE</a:t>
            </a:r>
          </a:p>
        </p:txBody>
      </p:sp>
      <p:sp>
        <p:nvSpPr>
          <p:cNvPr id="621" name="Text 621"/>
          <p:cNvSpPr txBox="1"/>
          <p:nvPr/>
        </p:nvSpPr>
        <p:spPr>
          <a:xfrm>
            <a:off x="1984248" y="2221992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94</a:t>
            </a:r>
          </a:p>
        </p:txBody>
      </p:sp>
      <p:sp>
        <p:nvSpPr>
          <p:cNvPr id="622" name="Text 622"/>
          <p:cNvSpPr txBox="1"/>
          <p:nvPr/>
        </p:nvSpPr>
        <p:spPr>
          <a:xfrm>
            <a:off x="2761488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59.0 mil m²</a:t>
            </a:r>
          </a:p>
        </p:txBody>
      </p:sp>
      <p:sp>
        <p:nvSpPr>
          <p:cNvPr id="623" name="Text 623"/>
          <p:cNvSpPr txBox="1"/>
          <p:nvPr/>
        </p:nvSpPr>
        <p:spPr>
          <a:xfrm>
            <a:off x="390448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R$ 59.5 mi</a:t>
            </a:r>
          </a:p>
        </p:txBody>
      </p:sp>
      <p:sp>
        <p:nvSpPr>
          <p:cNvPr id="624" name="Text 624"/>
          <p:cNvSpPr txBox="1"/>
          <p:nvPr/>
        </p:nvSpPr>
        <p:spPr>
          <a:xfrm>
            <a:off x="5230368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R$ 1.008</a:t>
            </a:r>
          </a:p>
        </p:txBody>
      </p:sp>
      <p:sp>
        <p:nvSpPr>
          <p:cNvPr id="625" name="Text 625"/>
          <p:cNvSpPr txBox="1"/>
          <p:nvPr/>
        </p:nvSpPr>
        <p:spPr>
          <a:xfrm>
            <a:off x="65836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</a:t>
            </a:r>
          </a:p>
        </p:txBody>
      </p:sp>
      <p:sp>
        <p:nvSpPr>
          <p:cNvPr id="626" name="Text 626"/>
          <p:cNvSpPr txBox="1"/>
          <p:nvPr/>
        </p:nvSpPr>
        <p:spPr>
          <a:xfrm>
            <a:off x="1984248" y="2532888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28</a:t>
            </a:r>
          </a:p>
        </p:txBody>
      </p:sp>
      <p:sp>
        <p:nvSpPr>
          <p:cNvPr id="627" name="Text 627"/>
          <p:cNvSpPr txBox="1"/>
          <p:nvPr/>
        </p:nvSpPr>
        <p:spPr>
          <a:xfrm>
            <a:off x="2761488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21.4 mil m²</a:t>
            </a:r>
          </a:p>
        </p:txBody>
      </p:sp>
      <p:sp>
        <p:nvSpPr>
          <p:cNvPr id="628" name="Text 628"/>
          <p:cNvSpPr txBox="1"/>
          <p:nvPr/>
        </p:nvSpPr>
        <p:spPr>
          <a:xfrm>
            <a:off x="390448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R$ 25.9 mi</a:t>
            </a:r>
          </a:p>
        </p:txBody>
      </p:sp>
      <p:sp>
        <p:nvSpPr>
          <p:cNvPr id="629" name="Text 629"/>
          <p:cNvSpPr txBox="1"/>
          <p:nvPr/>
        </p:nvSpPr>
        <p:spPr>
          <a:xfrm>
            <a:off x="5230368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R$ 1.211</a:t>
            </a:r>
          </a:p>
        </p:txBody>
      </p:sp>
      <p:sp>
        <p:nvSpPr>
          <p:cNvPr id="630" name="Text 630"/>
          <p:cNvSpPr txBox="1"/>
          <p:nvPr/>
        </p:nvSpPr>
        <p:spPr>
          <a:xfrm>
            <a:off x="65836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CO</a:t>
            </a:r>
          </a:p>
        </p:txBody>
      </p:sp>
      <p:sp>
        <p:nvSpPr>
          <p:cNvPr id="631" name="Text 631"/>
          <p:cNvSpPr txBox="1"/>
          <p:nvPr/>
        </p:nvSpPr>
        <p:spPr>
          <a:xfrm>
            <a:off x="1984248" y="2843784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632" name="Text 632"/>
          <p:cNvSpPr txBox="1"/>
          <p:nvPr/>
        </p:nvSpPr>
        <p:spPr>
          <a:xfrm>
            <a:off x="2761488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6.6 mil m²</a:t>
            </a:r>
          </a:p>
        </p:txBody>
      </p:sp>
      <p:sp>
        <p:nvSpPr>
          <p:cNvPr id="633" name="Text 633"/>
          <p:cNvSpPr txBox="1"/>
          <p:nvPr/>
        </p:nvSpPr>
        <p:spPr>
          <a:xfrm>
            <a:off x="390448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 mi</a:t>
            </a:r>
          </a:p>
        </p:txBody>
      </p:sp>
      <p:sp>
        <p:nvSpPr>
          <p:cNvPr id="634" name="Text 634"/>
          <p:cNvSpPr txBox="1"/>
          <p:nvPr/>
        </p:nvSpPr>
        <p:spPr>
          <a:xfrm>
            <a:off x="5230368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R$ 1.826</a:t>
            </a:r>
          </a:p>
        </p:txBody>
      </p:sp>
      <p:sp>
        <p:nvSpPr>
          <p:cNvPr id="635" name="Text 635"/>
          <p:cNvSpPr txBox="1"/>
          <p:nvPr/>
        </p:nvSpPr>
        <p:spPr>
          <a:xfrm>
            <a:off x="65836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</a:t>
            </a:r>
          </a:p>
        </p:txBody>
      </p:sp>
      <p:sp>
        <p:nvSpPr>
          <p:cNvPr id="636" name="Text 636"/>
          <p:cNvSpPr txBox="1"/>
          <p:nvPr/>
        </p:nvSpPr>
        <p:spPr>
          <a:xfrm>
            <a:off x="1984248" y="3154680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637" name="Text 637"/>
          <p:cNvSpPr txBox="1"/>
          <p:nvPr/>
        </p:nvSpPr>
        <p:spPr>
          <a:xfrm>
            <a:off x="2761488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5.3 mil m²</a:t>
            </a:r>
          </a:p>
        </p:txBody>
      </p:sp>
      <p:sp>
        <p:nvSpPr>
          <p:cNvPr id="638" name="Text 638"/>
          <p:cNvSpPr txBox="1"/>
          <p:nvPr/>
        </p:nvSpPr>
        <p:spPr>
          <a:xfrm>
            <a:off x="390448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 mi</a:t>
            </a:r>
          </a:p>
        </p:txBody>
      </p:sp>
      <p:sp>
        <p:nvSpPr>
          <p:cNvPr id="639" name="Text 639"/>
          <p:cNvSpPr txBox="1"/>
          <p:nvPr/>
        </p:nvSpPr>
        <p:spPr>
          <a:xfrm>
            <a:off x="5230368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R$ 1.560</a:t>
            </a:r>
          </a:p>
        </p:txBody>
      </p:sp>
      <p:sp>
        <p:nvSpPr>
          <p:cNvPr id="670" name="Text 670"/>
          <p:cNvSpPr txBox="1"/>
          <p:nvPr/>
        </p:nvSpPr>
        <p:spPr>
          <a:xfrm>
            <a:off x="6446520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Top Estados por valor negociado</a:t>
            </a:r>
          </a:p>
        </p:txBody>
      </p:sp>
      <p:sp>
        <p:nvSpPr>
          <p:cNvPr id="680" name="Text 680"/>
          <p:cNvSpPr txBox="1"/>
          <p:nvPr/>
        </p:nvSpPr>
        <p:spPr>
          <a:xfrm>
            <a:off x="64465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681" name="Text 681"/>
          <p:cNvSpPr txBox="1"/>
          <p:nvPr/>
        </p:nvSpPr>
        <p:spPr>
          <a:xfrm>
            <a:off x="7589520" y="1600200"/>
            <a:ext cx="6858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82" name="Text 682"/>
          <p:cNvSpPr txBox="1"/>
          <p:nvPr/>
        </p:nvSpPr>
        <p:spPr>
          <a:xfrm>
            <a:off x="82753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83" name="Text 683"/>
          <p:cNvSpPr txBox="1"/>
          <p:nvPr/>
        </p:nvSpPr>
        <p:spPr>
          <a:xfrm>
            <a:off x="9418320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84" name="Text 684"/>
          <p:cNvSpPr txBox="1"/>
          <p:nvPr/>
        </p:nvSpPr>
        <p:spPr>
          <a:xfrm>
            <a:off x="10744200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85" name="Text 685"/>
          <p:cNvSpPr txBox="1"/>
          <p:nvPr/>
        </p:nvSpPr>
        <p:spPr>
          <a:xfrm>
            <a:off x="64465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686" name="Text 686"/>
          <p:cNvSpPr txBox="1"/>
          <p:nvPr/>
        </p:nvSpPr>
        <p:spPr>
          <a:xfrm>
            <a:off x="7589520" y="1911096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90</a:t>
            </a:r>
          </a:p>
        </p:txBody>
      </p:sp>
      <p:sp>
        <p:nvSpPr>
          <p:cNvPr id="687" name="Text 687"/>
          <p:cNvSpPr txBox="1"/>
          <p:nvPr/>
        </p:nvSpPr>
        <p:spPr>
          <a:xfrm>
            <a:off x="82753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106.5 mil m²</a:t>
            </a:r>
          </a:p>
        </p:txBody>
      </p:sp>
      <p:sp>
        <p:nvSpPr>
          <p:cNvPr id="688" name="Text 688"/>
          <p:cNvSpPr txBox="1"/>
          <p:nvPr/>
        </p:nvSpPr>
        <p:spPr>
          <a:xfrm>
            <a:off x="9418320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R$ 159.4 mi</a:t>
            </a:r>
          </a:p>
        </p:txBody>
      </p:sp>
      <p:sp>
        <p:nvSpPr>
          <p:cNvPr id="689" name="Text 689"/>
          <p:cNvSpPr txBox="1"/>
          <p:nvPr/>
        </p:nvSpPr>
        <p:spPr>
          <a:xfrm>
            <a:off x="10744200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R$ 1.496</a:t>
            </a:r>
          </a:p>
        </p:txBody>
      </p:sp>
      <p:sp>
        <p:nvSpPr>
          <p:cNvPr id="690" name="Text 690"/>
          <p:cNvSpPr txBox="1"/>
          <p:nvPr/>
        </p:nvSpPr>
        <p:spPr>
          <a:xfrm>
            <a:off x="64465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691" name="Text 691"/>
          <p:cNvSpPr txBox="1"/>
          <p:nvPr/>
        </p:nvSpPr>
        <p:spPr>
          <a:xfrm>
            <a:off x="7589520" y="2221992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32</a:t>
            </a:r>
          </a:p>
        </p:txBody>
      </p:sp>
      <p:sp>
        <p:nvSpPr>
          <p:cNvPr id="692" name="Text 692"/>
          <p:cNvSpPr txBox="1"/>
          <p:nvPr/>
        </p:nvSpPr>
        <p:spPr>
          <a:xfrm>
            <a:off x="82753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9.8 mil m²</a:t>
            </a:r>
          </a:p>
        </p:txBody>
      </p:sp>
      <p:sp>
        <p:nvSpPr>
          <p:cNvPr id="693" name="Text 693"/>
          <p:cNvSpPr txBox="1"/>
          <p:nvPr/>
        </p:nvSpPr>
        <p:spPr>
          <a:xfrm>
            <a:off x="9418320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R$ 19.8 mi</a:t>
            </a:r>
          </a:p>
        </p:txBody>
      </p:sp>
      <p:sp>
        <p:nvSpPr>
          <p:cNvPr id="694" name="Text 694"/>
          <p:cNvSpPr txBox="1"/>
          <p:nvPr/>
        </p:nvSpPr>
        <p:spPr>
          <a:xfrm>
            <a:off x="10744200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R$ 2.013</a:t>
            </a:r>
          </a:p>
        </p:txBody>
      </p:sp>
      <p:sp>
        <p:nvSpPr>
          <p:cNvPr id="695" name="Text 695"/>
          <p:cNvSpPr txBox="1"/>
          <p:nvPr/>
        </p:nvSpPr>
        <p:spPr>
          <a:xfrm>
            <a:off x="64465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696" name="Text 696"/>
          <p:cNvSpPr txBox="1"/>
          <p:nvPr/>
        </p:nvSpPr>
        <p:spPr>
          <a:xfrm>
            <a:off x="7589520" y="2532888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28</a:t>
            </a:r>
          </a:p>
        </p:txBody>
      </p:sp>
      <p:sp>
        <p:nvSpPr>
          <p:cNvPr id="697" name="Text 697"/>
          <p:cNvSpPr txBox="1"/>
          <p:nvPr/>
        </p:nvSpPr>
        <p:spPr>
          <a:xfrm>
            <a:off x="82753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26.1 mil m²</a:t>
            </a:r>
          </a:p>
        </p:txBody>
      </p:sp>
      <p:sp>
        <p:nvSpPr>
          <p:cNvPr id="698" name="Text 698"/>
          <p:cNvSpPr txBox="1"/>
          <p:nvPr/>
        </p:nvSpPr>
        <p:spPr>
          <a:xfrm>
            <a:off x="9418320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R$ 19.4 mi</a:t>
            </a:r>
          </a:p>
        </p:txBody>
      </p:sp>
      <p:sp>
        <p:nvSpPr>
          <p:cNvPr id="699" name="Text 699"/>
          <p:cNvSpPr txBox="1"/>
          <p:nvPr/>
        </p:nvSpPr>
        <p:spPr>
          <a:xfrm>
            <a:off x="10744200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R$ 742</a:t>
            </a:r>
          </a:p>
        </p:txBody>
      </p:sp>
      <p:sp>
        <p:nvSpPr>
          <p:cNvPr id="700" name="Text 700"/>
          <p:cNvSpPr txBox="1"/>
          <p:nvPr/>
        </p:nvSpPr>
        <p:spPr>
          <a:xfrm>
            <a:off x="64465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701" name="Text 701"/>
          <p:cNvSpPr txBox="1"/>
          <p:nvPr/>
        </p:nvSpPr>
        <p:spPr>
          <a:xfrm>
            <a:off x="7589520" y="2843784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02" name="Text 702"/>
          <p:cNvSpPr txBox="1"/>
          <p:nvPr/>
        </p:nvSpPr>
        <p:spPr>
          <a:xfrm>
            <a:off x="82753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5.5 mil m²</a:t>
            </a:r>
          </a:p>
        </p:txBody>
      </p:sp>
      <p:sp>
        <p:nvSpPr>
          <p:cNvPr id="703" name="Text 703"/>
          <p:cNvSpPr txBox="1"/>
          <p:nvPr/>
        </p:nvSpPr>
        <p:spPr>
          <a:xfrm>
            <a:off x="9418320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R$ 16.1 mi</a:t>
            </a:r>
          </a:p>
        </p:txBody>
      </p:sp>
      <p:sp>
        <p:nvSpPr>
          <p:cNvPr id="704" name="Text 704"/>
          <p:cNvSpPr txBox="1"/>
          <p:nvPr/>
        </p:nvSpPr>
        <p:spPr>
          <a:xfrm>
            <a:off x="10744200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R$ 2.932</a:t>
            </a:r>
          </a:p>
        </p:txBody>
      </p:sp>
      <p:sp>
        <p:nvSpPr>
          <p:cNvPr id="705" name="Text 705"/>
          <p:cNvSpPr txBox="1"/>
          <p:nvPr/>
        </p:nvSpPr>
        <p:spPr>
          <a:xfrm>
            <a:off x="64465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706" name="Text 706"/>
          <p:cNvSpPr txBox="1"/>
          <p:nvPr/>
        </p:nvSpPr>
        <p:spPr>
          <a:xfrm>
            <a:off x="7589520" y="3154680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07" name="Text 707"/>
          <p:cNvSpPr txBox="1"/>
          <p:nvPr/>
        </p:nvSpPr>
        <p:spPr>
          <a:xfrm>
            <a:off x="82753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3.7 mil m²</a:t>
            </a:r>
          </a:p>
        </p:txBody>
      </p:sp>
      <p:sp>
        <p:nvSpPr>
          <p:cNvPr id="708" name="Text 708"/>
          <p:cNvSpPr txBox="1"/>
          <p:nvPr/>
        </p:nvSpPr>
        <p:spPr>
          <a:xfrm>
            <a:off x="9418320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 mi</a:t>
            </a:r>
          </a:p>
        </p:txBody>
      </p:sp>
      <p:sp>
        <p:nvSpPr>
          <p:cNvPr id="709" name="Text 709"/>
          <p:cNvSpPr txBox="1"/>
          <p:nvPr/>
        </p:nvSpPr>
        <p:spPr>
          <a:xfrm>
            <a:off x="10744200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R$ 2.726</a:t>
            </a:r>
          </a:p>
        </p:txBody>
      </p:sp>
      <p:sp>
        <p:nvSpPr>
          <p:cNvPr id="710" name="Text 710"/>
          <p:cNvSpPr txBox="1"/>
          <p:nvPr/>
        </p:nvSpPr>
        <p:spPr>
          <a:xfrm>
            <a:off x="64465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711" name="Text 711"/>
          <p:cNvSpPr txBox="1"/>
          <p:nvPr/>
        </p:nvSpPr>
        <p:spPr>
          <a:xfrm>
            <a:off x="7589520" y="3465576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712" name="Text 712"/>
          <p:cNvSpPr txBox="1"/>
          <p:nvPr/>
        </p:nvSpPr>
        <p:spPr>
          <a:xfrm>
            <a:off x="82753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15.9 mil m²</a:t>
            </a:r>
          </a:p>
        </p:txBody>
      </p:sp>
      <p:sp>
        <p:nvSpPr>
          <p:cNvPr id="713" name="Text 713"/>
          <p:cNvSpPr txBox="1"/>
          <p:nvPr/>
        </p:nvSpPr>
        <p:spPr>
          <a:xfrm>
            <a:off x="9418320" y="3465576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R$ 9.8 mi</a:t>
            </a:r>
          </a:p>
        </p:txBody>
      </p:sp>
      <p:sp>
        <p:nvSpPr>
          <p:cNvPr id="714" name="Text 714"/>
          <p:cNvSpPr txBox="1"/>
          <p:nvPr/>
        </p:nvSpPr>
        <p:spPr>
          <a:xfrm>
            <a:off x="10744200" y="346557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R$ 618</a:t>
            </a:r>
          </a:p>
        </p:txBody>
      </p:sp>
      <p:sp>
        <p:nvSpPr>
          <p:cNvPr id="715" name="Text 715"/>
          <p:cNvSpPr txBox="1"/>
          <p:nvPr/>
        </p:nvSpPr>
        <p:spPr>
          <a:xfrm>
            <a:off x="64465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716" name="Text 716"/>
          <p:cNvSpPr txBox="1"/>
          <p:nvPr/>
        </p:nvSpPr>
        <p:spPr>
          <a:xfrm>
            <a:off x="7589520" y="3776472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717" name="Text 717"/>
          <p:cNvSpPr txBox="1"/>
          <p:nvPr/>
        </p:nvSpPr>
        <p:spPr>
          <a:xfrm>
            <a:off x="82753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10.8 mil m²</a:t>
            </a:r>
          </a:p>
        </p:txBody>
      </p:sp>
      <p:sp>
        <p:nvSpPr>
          <p:cNvPr id="718" name="Text 718"/>
          <p:cNvSpPr txBox="1"/>
          <p:nvPr/>
        </p:nvSpPr>
        <p:spPr>
          <a:xfrm>
            <a:off x="9418320" y="3776472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R$ 9.1 mi</a:t>
            </a:r>
          </a:p>
        </p:txBody>
      </p:sp>
      <p:sp>
        <p:nvSpPr>
          <p:cNvPr id="719" name="Text 719"/>
          <p:cNvSpPr txBox="1"/>
          <p:nvPr/>
        </p:nvSpPr>
        <p:spPr>
          <a:xfrm>
            <a:off x="10744200" y="377647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R$ 847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64465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721" name="Text 721"/>
          <p:cNvSpPr txBox="1"/>
          <p:nvPr/>
        </p:nvSpPr>
        <p:spPr>
          <a:xfrm>
            <a:off x="7589520" y="4087368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722" name="Text 722"/>
          <p:cNvSpPr txBox="1"/>
          <p:nvPr/>
        </p:nvSpPr>
        <p:spPr>
          <a:xfrm>
            <a:off x="82753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723" name="Text 723"/>
          <p:cNvSpPr txBox="1"/>
          <p:nvPr/>
        </p:nvSpPr>
        <p:spPr>
          <a:xfrm>
            <a:off x="9418320" y="4087368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R$ 8.9 mi</a:t>
            </a:r>
          </a:p>
        </p:txBody>
      </p:sp>
      <p:sp>
        <p:nvSpPr>
          <p:cNvPr id="724" name="Text 724"/>
          <p:cNvSpPr txBox="1"/>
          <p:nvPr/>
        </p:nvSpPr>
        <p:spPr>
          <a:xfrm>
            <a:off x="10744200" y="4087368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R$ 1.822</a:t>
            </a:r>
          </a:p>
        </p:txBody>
      </p:sp>
      <p:sp>
        <p:nvSpPr>
          <p:cNvPr id="725" name="Text 725"/>
          <p:cNvSpPr txBox="1"/>
          <p:nvPr/>
        </p:nvSpPr>
        <p:spPr>
          <a:xfrm>
            <a:off x="64465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726" name="Text 726"/>
          <p:cNvSpPr txBox="1"/>
          <p:nvPr/>
        </p:nvSpPr>
        <p:spPr>
          <a:xfrm>
            <a:off x="7589520" y="4398264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27" name="Text 727"/>
          <p:cNvSpPr txBox="1"/>
          <p:nvPr/>
        </p:nvSpPr>
        <p:spPr>
          <a:xfrm>
            <a:off x="82753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3.5 mil m²</a:t>
            </a:r>
          </a:p>
        </p:txBody>
      </p:sp>
      <p:sp>
        <p:nvSpPr>
          <p:cNvPr id="728" name="Text 728"/>
          <p:cNvSpPr txBox="1"/>
          <p:nvPr/>
        </p:nvSpPr>
        <p:spPr>
          <a:xfrm>
            <a:off x="9418320" y="4398264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R$ 6.2 mi</a:t>
            </a:r>
          </a:p>
        </p:txBody>
      </p:sp>
      <p:sp>
        <p:nvSpPr>
          <p:cNvPr id="729" name="Text 729"/>
          <p:cNvSpPr txBox="1"/>
          <p:nvPr/>
        </p:nvSpPr>
        <p:spPr>
          <a:xfrm>
            <a:off x="10744200" y="439826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baixa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baixa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87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69.9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R$ 26.1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R$ 373/m²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69.3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R$ 25.2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R$ 364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574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R$ 867.2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R$ 1.511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69.9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R$ 26.1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R$ 373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(R$ 5.2 mi) | RN (R$ 4.4 mi) | PE (R$ 4.1 mi) | AM (R$ 4.1 mi) | MG (R$ 3.3 mi)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Clínicas Ambulatoriais, Laboratórios e Coletas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9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Clínicas Ambulatoriais, Laboratórios e Coletas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90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53.5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R$ 99.7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R$ 1.865/m²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20.5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R$ 30.7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R$ 1.498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26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15.9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R$ 30.7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R$ 1.938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30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11.6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R$ 29.2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R$ 2.505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2.4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R$ 4.9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R$ 2.048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1.7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R$ 3.9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R$ 2.276</a:t>
            </a:r>
          </a:p>
        </p:txBody>
      </p:sp>
      <p:sp>
        <p:nvSpPr>
          <p:cNvPr id="790" name="Text 790"/>
          <p:cNvSpPr txBox="1"/>
          <p:nvPr/>
        </p:nvSpPr>
        <p:spPr>
          <a:xfrm>
            <a:off x="658368" y="455371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91" name="Text 791"/>
          <p:cNvSpPr txBox="1"/>
          <p:nvPr/>
        </p:nvSpPr>
        <p:spPr>
          <a:xfrm>
            <a:off x="2715768" y="455371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92" name="Text 792"/>
          <p:cNvSpPr txBox="1"/>
          <p:nvPr/>
        </p:nvSpPr>
        <p:spPr>
          <a:xfrm>
            <a:off x="3310128" y="455371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1.4 mil m²</a:t>
            </a:r>
          </a:p>
        </p:txBody>
      </p:sp>
      <p:sp>
        <p:nvSpPr>
          <p:cNvPr id="793" name="Text 793"/>
          <p:cNvSpPr txBox="1"/>
          <p:nvPr/>
        </p:nvSpPr>
        <p:spPr>
          <a:xfrm>
            <a:off x="4315968" y="455371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R$ 355.5 mil</a:t>
            </a:r>
          </a:p>
        </p:txBody>
      </p:sp>
      <p:sp>
        <p:nvSpPr>
          <p:cNvPr id="794" name="Text 794"/>
          <p:cNvSpPr txBox="1"/>
          <p:nvPr/>
        </p:nvSpPr>
        <p:spPr>
          <a:xfrm>
            <a:off x="5504688" y="455371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45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36.1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R$ 70.4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R$ 1.948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37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11.8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R$ 20.7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R$ 1.745</a:t>
            </a:r>
          </a:p>
        </p:txBody>
      </p:sp>
      <p:sp>
        <p:nvSpPr>
          <p:cNvPr id="855" name="Text 855"/>
          <p:cNvSpPr txBox="1"/>
          <p:nvPr/>
        </p:nvSpPr>
        <p:spPr>
          <a:xfrm>
            <a:off x="6446520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856" name="Text 856"/>
          <p:cNvSpPr txBox="1"/>
          <p:nvPr/>
        </p:nvSpPr>
        <p:spPr>
          <a:xfrm>
            <a:off x="8503920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857" name="Text 857"/>
          <p:cNvSpPr txBox="1"/>
          <p:nvPr/>
        </p:nvSpPr>
        <p:spPr>
          <a:xfrm>
            <a:off x="9098280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858" name="Text 858"/>
          <p:cNvSpPr txBox="1"/>
          <p:nvPr/>
        </p:nvSpPr>
        <p:spPr>
          <a:xfrm>
            <a:off x="10104120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R$ 8.4 mi</a:t>
            </a:r>
          </a:p>
        </p:txBody>
      </p:sp>
      <p:sp>
        <p:nvSpPr>
          <p:cNvPr id="859" name="Text 859"/>
          <p:cNvSpPr txBox="1"/>
          <p:nvPr/>
        </p:nvSpPr>
        <p:spPr>
          <a:xfrm>
            <a:off x="11292840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860" name="Text 860"/>
          <p:cNvSpPr txBox="1"/>
          <p:nvPr/>
        </p:nvSpPr>
        <p:spPr>
          <a:xfrm>
            <a:off x="6446520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861" name="Text 861"/>
          <p:cNvSpPr txBox="1"/>
          <p:nvPr/>
        </p:nvSpPr>
        <p:spPr>
          <a:xfrm>
            <a:off x="8503920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62" name="Text 862"/>
          <p:cNvSpPr txBox="1"/>
          <p:nvPr/>
        </p:nvSpPr>
        <p:spPr>
          <a:xfrm>
            <a:off x="9098280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863" name="Text 863"/>
          <p:cNvSpPr txBox="1"/>
          <p:nvPr/>
        </p:nvSpPr>
        <p:spPr>
          <a:xfrm>
            <a:off x="10104120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R$ 244.0 mil</a:t>
            </a:r>
          </a:p>
        </p:txBody>
      </p:sp>
      <p:sp>
        <p:nvSpPr>
          <p:cNvPr id="864" name="Text 864"/>
          <p:cNvSpPr txBox="1"/>
          <p:nvPr/>
        </p:nvSpPr>
        <p:spPr>
          <a:xfrm>
            <a:off x="11292840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(R$ 53.2 mi) | CE (R$ 11.9 mi) | PE (R$ 10.6 mi) | AM (R$ 4.6 mi) | PR (R$ 4.0 mi)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Hospitais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25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34.6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R$ 56.9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R$ 1.645/m²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21.7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R$ 44.2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R$ 2.038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R$ 353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2.2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R$ 4.0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R$ 1.827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Venda de Serviço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2.1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R$ 510.7 mil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R$ 241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1.9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R$ 279</a:t>
            </a:r>
          </a:p>
        </p:txBody>
      </p:sp>
      <p:sp>
        <p:nvSpPr>
          <p:cNvPr id="790" name="Text 790"/>
          <p:cNvSpPr txBox="1"/>
          <p:nvPr/>
        </p:nvSpPr>
        <p:spPr>
          <a:xfrm>
            <a:off x="658368" y="455371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91" name="Text 791"/>
          <p:cNvSpPr txBox="1"/>
          <p:nvPr/>
        </p:nvSpPr>
        <p:spPr>
          <a:xfrm>
            <a:off x="2715768" y="455371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792" name="Text 792"/>
          <p:cNvSpPr txBox="1"/>
          <p:nvPr/>
        </p:nvSpPr>
        <p:spPr>
          <a:xfrm>
            <a:off x="3310128" y="455371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1.1 mil m²</a:t>
            </a:r>
          </a:p>
        </p:txBody>
      </p:sp>
      <p:sp>
        <p:nvSpPr>
          <p:cNvPr id="793" name="Text 793"/>
          <p:cNvSpPr txBox="1"/>
          <p:nvPr/>
        </p:nvSpPr>
        <p:spPr>
          <a:xfrm>
            <a:off x="4315968" y="455371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R$ 4.2 mi</a:t>
            </a:r>
          </a:p>
        </p:txBody>
      </p:sp>
      <p:sp>
        <p:nvSpPr>
          <p:cNvPr id="794" name="Text 794"/>
          <p:cNvSpPr txBox="1"/>
          <p:nvPr/>
        </p:nvSpPr>
        <p:spPr>
          <a:xfrm>
            <a:off x="5504688" y="455371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R$ 3.773</a:t>
            </a:r>
          </a:p>
        </p:txBody>
      </p:sp>
      <p:sp>
        <p:nvSpPr>
          <p:cNvPr id="795" name="Text 795"/>
          <p:cNvSpPr txBox="1"/>
          <p:nvPr/>
        </p:nvSpPr>
        <p:spPr>
          <a:xfrm>
            <a:off x="658368" y="486460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96" name="Text 796"/>
          <p:cNvSpPr txBox="1"/>
          <p:nvPr/>
        </p:nvSpPr>
        <p:spPr>
          <a:xfrm>
            <a:off x="2715768" y="48646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97" name="Text 797"/>
          <p:cNvSpPr txBox="1"/>
          <p:nvPr/>
        </p:nvSpPr>
        <p:spPr>
          <a:xfrm>
            <a:off x="3310128" y="486460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575 m²</a:t>
            </a:r>
          </a:p>
        </p:txBody>
      </p:sp>
      <p:sp>
        <p:nvSpPr>
          <p:cNvPr id="798" name="Text 798"/>
          <p:cNvSpPr txBox="1"/>
          <p:nvPr/>
        </p:nvSpPr>
        <p:spPr>
          <a:xfrm>
            <a:off x="4315968" y="4864608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R$ 966.4 mil</a:t>
            </a:r>
          </a:p>
        </p:txBody>
      </p:sp>
      <p:sp>
        <p:nvSpPr>
          <p:cNvPr id="799" name="Text 799"/>
          <p:cNvSpPr txBox="1"/>
          <p:nvPr/>
        </p:nvSpPr>
        <p:spPr>
          <a:xfrm>
            <a:off x="5504688" y="48646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R$ 1.681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34.5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R$ 55.7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R$ 1.615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(R$ 33.8 mi) | PA (R$ 14.5 mi) | PE (R$ 530.0 mil) | CE (R$ 4.4 mi) | MG (R$ 2.3 mi)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Pronto Atendimentos e Clínicas Complexas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Pronto Atendimentos e Clínicas Complexas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11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25.7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R$ 58.2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R$ 2.262/m²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15.7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R$ 33.7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R$ 2.142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5.1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R$ 11.2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R$ 2.183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2.5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R$ 7.6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R$ 3.058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R$ 3.0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R$ 2.498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R$ 2.300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R$ 55.4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R$ 2.261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R$ 2.300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(R$ 44.9 mi) | RJ (R$ 7.6 mi) | BA (R$ 3.0 mi) | GO (R$ 2.8 mi)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alta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alta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17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18.3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R$ 23.0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R$ 1.254/m²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18.3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R$ 23.0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18.3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R$ 23.0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(R$ 14.7 mi) | PE (R$ 2.7 mi) | PR (R$ 1.4 mi) | MG (R$ 1.1 mi) | GO (R$ 967.4 mil)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média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média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22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10.3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R$ 18.2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R$ 1.763/m²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R$ 18.1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R$ 1.762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50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R$ 97.7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10.3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R$ 18.2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R$ 1.763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(R$ 7.7 mi) | MG (R$ 2.5 mi) | GO (R$ 2.2 mi) | PB (R$ 1.4 mi) | RS (R$ 1.6 mi)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Adm e Outros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Adm e Outros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4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1.2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R$ 2.2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R$ 1.878/m²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468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R$ 812.5 mil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R$ 1.737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376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R$ 919.9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R$ 2.446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Risco Assistencial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337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R$ 485.7 mil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R$ 1.441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R$ 1.878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CE (R$ 1.2 mi) | GO (R$ 485.7 mil) | PA (R$ 550.4 mil)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Rankings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com maior R$/m² e maior área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58368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R$/m²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58368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962656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387705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497433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658368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4051.Troca Ressonância Notrelabs Santo Amaro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2962656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387705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R$ 963.0 mil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497433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R$ 29.069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658368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4048.Nova Ressonância Notrelabs Banda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2962656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87705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R$ 843.4 mil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497433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R$ 15.031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658368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4052.Troca Ressonância Notrelabs Atlântica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2962656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52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387705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R$ 652.4 mil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497433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R$ 12.462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658368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4049.Troca Ressonância Notrelabs Mauá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2962656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387705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R$ 807.0 mil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497433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R$ 12.176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58368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3986.Adequação Pref. Notrelife Sorocaba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2962656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387705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R$ 86.0 mil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497433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R$ 11.467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658368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5029.Hemodinâmica Camboriú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2962656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49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87705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R$ 494.7 mil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497433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R$ 10.028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658368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0000.Nova Ressonância HS Santa Maria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962656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387705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97433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58368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3954.Nova Ressonância Ghelfond Guarulhos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962656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104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87705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R$ 863.3 mil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497433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R$ 8.290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658368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3272.Adequação PPCI HS Rio Amazonas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2962656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162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87705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97433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R$ 6.971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400800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área construída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6400800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8705088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961948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1071676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400800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705088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10.433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961948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R$ 23.2 mi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1071676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R$ 2.220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400800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4251.Adequação Angélica  (8º Pavimento)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705088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7.512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961948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R$ 5.2 mi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1071676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R$ 688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6400800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Hapnatal (3ª fase)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8705088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7.150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61948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 mi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071676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R$ 377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400800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8705088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6.170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961948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R$ 6.5 mi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1071676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R$ 1.056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400800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4240.Adequação PPCI Hospital Rio Solimões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8705088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5.659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961948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R$ 497.1 mil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1071676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6400800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4279.Adequação PPCI HS Ilha do Leite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705088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5.635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961948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 mi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1071676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R$ 304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6400800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4160.Adequação PPCI HS São Lucas (Americana)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705088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5.214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61948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1071676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R$ 102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6400800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4370.Adequação PPCI HS Vasco Lucena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8705088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5.200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961948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 mi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1071676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R$ 294</a:t>
            </a:r>
          </a:p>
        </p:txBody>
      </p:sp>
      <p:sp>
        <p:nvSpPr>
          <p:cNvPr id="346" name="Text 346"/>
          <p:cNvSpPr txBox="1"/>
          <p:nvPr/>
        </p:nvSpPr>
        <p:spPr>
          <a:xfrm>
            <a:off x="6400800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8705088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5.062</a:t>
            </a:r>
          </a:p>
        </p:txBody>
      </p:sp>
      <p:sp>
        <p:nvSpPr>
          <p:cNvPr id="348" name="Text 348"/>
          <p:cNvSpPr txBox="1"/>
          <p:nvPr/>
        </p:nvSpPr>
        <p:spPr>
          <a:xfrm>
            <a:off x="961948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R$ 14.5 mi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1071676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Critérios da análise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Critérios e campos utilizados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841248" y="1463040"/>
            <a:ext cx="1033272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15253F"/>
                </a:solidFill>
              </a:rPr>
              <a:t>• Aba utilizada: Base Geral.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Colunas ocultas ignoradas conforme orientação.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Filtro principal: Mês entre 01/01/2025 e 14/08/2026, incluindo os status da coluna M.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R$/m² apresentado somente dentro dos cortes analíticos: soma do Valor Negociado dividida pela soma da Área (m²).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Eixo executivo principal: Tipologia de Obras pela coluna U. Cortes complementares: Classificação, Nível de Obra, Estado e Região.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841248" y="498348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Arquivo complementar: dashboard HTML interativo com filtros, curva mensal e tabela detalhada.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7F0405F8-7C50-46DE-AAB4-738335D97DFA}"/>
</file>

<file path=customXml/itemProps3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92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Luís Machado</cp:lastModifiedBy>
  <cp:revision>10</cp:revision>
  <dcterms:created xsi:type="dcterms:W3CDTF">2025-01-29T18:17:09Z</dcterms:created>
  <dcterms:modified xsi:type="dcterms:W3CDTF">2025-02-13T14:06:49Z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</Properties>
</file>