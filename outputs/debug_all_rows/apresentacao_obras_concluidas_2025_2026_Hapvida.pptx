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85190-98DE-376B-E022-2A03F8F86E4E}" v="2" dt="2025-02-13T14:06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
<Relationships xmlns="http://schemas.openxmlformats.org/package/2006/relationships">
  <Relationship Id="rId8" Type="http://schemas.openxmlformats.org/officeDocument/2006/relationships/presProps" Target="presProps.xml" />
  <Relationship Id="rId13" Type="http://schemas.microsoft.com/office/2015/10/relationships/revisionInfo" Target="revisionInfo.xml" />
  <Relationship Id="rId3" Type="http://schemas.openxmlformats.org/officeDocument/2006/relationships/customXml" Target="../customXml/item3.xml" />
  <Relationship Id="rId12" Type="http://schemas.microsoft.com/office/2016/11/relationships/changesInfo" Target="changesInfos/changesInfo1.xml" />
  <Relationship Id="rId2" Type="http://schemas.openxmlformats.org/officeDocument/2006/relationships/customXml" Target="../customXml/item2.xml" />
  <Relationship Id="rId1" Type="http://schemas.openxmlformats.org/officeDocument/2006/relationships/customXml" Target="../customXml/item1.xml" />
  <Relationship Id="rId11" Type="http://schemas.openxmlformats.org/officeDocument/2006/relationships/tableStyles" Target="tableStyles.xml" />
  <Relationship Id="rId10" Type="http://schemas.openxmlformats.org/officeDocument/2006/relationships/theme" Target="theme/theme1.xml" />
  <Relationship Id="rId4" Type="http://schemas.openxmlformats.org/officeDocument/2006/relationships/slideMaster" Target="slideMasters/slideMaster1.xml" />
  <Relationship Id="rId9" Type="http://schemas.openxmlformats.org/officeDocument/2006/relationships/viewProps" Target="viewProps.xml" />
  <Relationship Id="rIdSlide1" Type="http://schemas.openxmlformats.org/officeDocument/2006/relationships/slide" Target="slides/slide1.xml" />
  <Relationship Id="rIdSlide2" Type="http://schemas.openxmlformats.org/officeDocument/2006/relationships/slide" Target="slides/slide2.xml" />
  <Relationship Id="rIdSlide3" Type="http://schemas.openxmlformats.org/officeDocument/2006/relationships/slide" Target="slides/slide3.xml" />
  <Relationship Id="rIdSlide4" Type="http://schemas.openxmlformats.org/officeDocument/2006/relationships/slide" Target="slides/slide4.xml" />
  <Relationship Id="rIdSlide5" Type="http://schemas.openxmlformats.org/officeDocument/2006/relationships/slide" Target="slides/slide5.xml" />
  <Relationship Id="rIdSlide6" Type="http://schemas.openxmlformats.org/officeDocument/2006/relationships/slide" Target="slides/slide6.xml" />
  <Relationship Id="rIdSlide7" Type="http://schemas.openxmlformats.org/officeDocument/2006/relationships/slide" Target="slides/slide7.xml" />
  <Relationship Id="rIdSlide8" Type="http://schemas.openxmlformats.org/officeDocument/2006/relationships/slide" Target="slides/slide8.xml" />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Torres Pimentel" userId="S::joao.torres@hapvida.com.br::9d2149ae-a41c-421d-8f16-e2041ff4508d" providerId="AD" clId="Web-{70E85190-98DE-376B-E022-2A03F8F86E4E}"/>
    <pc:docChg chg="modSld">
      <pc:chgData name="Joao Paulo Torres Pimentel" userId="S::joao.torres@hapvida.com.br::9d2149ae-a41c-421d-8f16-e2041ff4508d" providerId="AD" clId="Web-{70E85190-98DE-376B-E022-2A03F8F86E4E}" dt="2025-02-13T14:06:42.110" v="1"/>
      <pc:docMkLst>
        <pc:docMk/>
      </pc:docMkLst>
      <pc:sldChg chg="addSp delSp">
        <pc:chgData name="Joao Paulo Torres Pimentel" userId="S::joao.torres@hapvida.com.br::9d2149ae-a41c-421d-8f16-e2041ff4508d" providerId="AD" clId="Web-{70E85190-98DE-376B-E022-2A03F8F86E4E}" dt="2025-02-13T14:06:42.110" v="1"/>
        <pc:sldMkLst>
          <pc:docMk/>
          <pc:sldMk cId="2954714694" sldId="256"/>
        </pc:sldMkLst>
        <pc:picChg chg="add del">
          <ac:chgData name="Joao Paulo Torres Pimentel" userId="S::joao.torres@hapvida.com.br::9d2149ae-a41c-421d-8f16-e2041ff4508d" providerId="AD" clId="Web-{70E85190-98DE-376B-E022-2A03F8F86E4E}" dt="2025-02-13T14:06:42.110" v="1"/>
          <ac:picMkLst>
            <pc:docMk/>
            <pc:sldMk cId="2954714694" sldId="256"/>
            <ac:picMk id="14" creationId="{F6CD79F6-4A4F-4555-9EA1-EBBF26985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Cover' Type='http://schemas.openxmlformats.org/officeDocument/2006/relationships/image' Target='../media/image1.jpeg'/>
  <Relationship Id='rIdLogo' Type='http://schemas.openxmlformats.org/officeDocument/2006/relationships/image' Target='../media/image4.png'/>
</Relationships>
</file>

<file path=ppt/slides/_rels/slide2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3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monthly.svg'/>
</Relationships>
</file>

<file path=ppt/slides/_rels/slide4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lass.svg'/>
</Relationships>
</file>

<file path=ppt/slides/_rels/slide5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olo.svg'/>
</Relationships>
</file>

<file path=ppt/slides/_rels/slide6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olu.svg'/>
</Relationships>
</file>

<file path=ppt/slides/_rels/slide7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8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Cover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</p:sp>
      <p:pic>
        <p:nvPicPr>
          <p:cNvPr id="12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500" b="1">
                <a:solidFill>
                  <a:srgbClr val="FFFFFF"/>
                </a:solidFill>
              </a:rPr>
              <a:t>Obras concluídas</a:t>
            </a:r>
          </a:p>
          <a:p>
            <a:pPr algn="l"/>
            <a:r>
              <a:rPr lang="pt-BR" sz="3500" b="1">
                <a:solidFill>
                  <a:srgbClr val="FFFFFF"/>
                </a:solidFill>
              </a:rPr>
              <a:t>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172.8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R$ 244.9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3317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R$ 1.417/m²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ponderado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218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172.8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AH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R$ 244.9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AD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R$ 1.417/m²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ponderado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52704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487168" y="3163824"/>
            <a:ext cx="14173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3904488" y="3163824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504688" y="3163824"/>
            <a:ext cx="12344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58368" y="347472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2025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52704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157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2487168" y="3474720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126.5 mil m²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3904488" y="347472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R$ 156.2 mi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504688" y="3474720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R$ 1.234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58368" y="378561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2026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52704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61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2487168" y="3785616"/>
            <a:ext cx="14173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46.3 mil m²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3904488" y="378561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R$ 88.8 mi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5504688" y="3785616"/>
            <a:ext cx="12344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R$ 1.917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400800" y="3145536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dez/25, com 24.5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Adequação Regulatória (62.2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Eficiência Operacional, com R$ 2.576/m².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O mais representativa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U mais representativa em área: Obra regulatória com baixa intervenção.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e R$/m²</a:t>
            </a:r>
          </a:p>
        </p:txBody>
      </p:sp>
      <p:pic>
        <p:nvPicPr>
          <p:cNvPr id="101" name="Curva mensal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66928" y="1234440"/>
            <a:ext cx="11018520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classificação de obra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N</a:t>
            </a:r>
          </a:p>
        </p:txBody>
      </p:sp>
      <p:pic>
        <p:nvPicPr>
          <p:cNvPr id="132" name="R$/m² por classificação de obra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91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62.2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R$ 580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30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42.0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R$ 2.016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33.2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R$ 1.797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39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14.5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R$ 2.576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6.4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R$ 2.427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973568" y="321868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Fachada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756648" y="321868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10396728" y="321868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4.9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1311128" y="321868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R$ 353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973568" y="352958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9756648" y="352958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10396728" y="352958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3.9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1311128" y="352958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R$ 452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O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Tipologia de Obra</a:t>
            </a:r>
          </a:p>
        </p:txBody>
      </p:sp>
      <p:pic>
        <p:nvPicPr>
          <p:cNvPr id="132" name="R$/m² por coluna O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157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110.3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R$ 1.048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53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57.1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R$ 2.115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5.4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R$ 1.574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U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U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 Obra (3)</a:t>
            </a:r>
          </a:p>
        </p:txBody>
      </p:sp>
      <p:pic>
        <p:nvPicPr>
          <p:cNvPr id="132" name="R$/m² por coluna U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65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54.5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R$ 373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88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52.8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R$ 1.861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24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34.6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R$ 1.645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22.6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R$ 2.351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4.8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R$ 1.450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973568" y="321868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756648" y="321868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10396728" y="321868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2.3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1311128" y="321868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R$ 3.023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973568" y="352958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9756648" y="352958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10396728" y="352958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1.2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1311128" y="352958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008F5A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0000.Nova Ressonância HS Santa Maria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134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R$ 9.375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3954.Nova Ressonância Ghelfond Guarulhos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104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R$ 863.3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R$ 8.290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3272.Adequação PPCI HS Rio Amazonas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162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 mi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R$ 6.971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4103.Nova Unidade Diagnóstico Flagship SP (Fase 2)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4.895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R$ 13.7 mi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R$ 2.805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4055.Adequação PPCI HS Lins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4.529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R$ 287.8 mil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PPCI Hapnatal (2ª fase torre nova)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4.500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R$ 1.3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Status = Concluída e Término Real entre 01/01/2025 e 14/08/2026.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calculado de forma ponderada: soma do Valor Negociado (AD) dividida pela soma da Área (m²) (AH).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Cortes principais: Classificação de Obra (N), Tipologia de Obra (O) e Tipo Obra (3) (U).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7F0405F8-7C50-46DE-AAB4-738335D97DFA}"/>
</file>

<file path=customXml/itemProps3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Luís Machado</cp:lastModifiedBy>
  <cp:revision>10</cp:revision>
  <dcterms:created xsi:type="dcterms:W3CDTF">2025-01-29T18:17:09Z</dcterms:created>
  <dcterms:modified xsi:type="dcterms:W3CDTF">2025-02-13T14:06:49Z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</Properties>
</file>