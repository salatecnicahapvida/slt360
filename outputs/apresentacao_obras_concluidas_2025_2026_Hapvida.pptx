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895D9F-2A8C-41BB-8D8E-17B7721C8937}" v="1" dt="2026-08-14T14:30:11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LLES DAVIDY GONDIN DA SILVEIRA" userId="a3416262-0fac-4856-884e-2c0d7e6e898d" providerId="ADAL" clId="{1418AD27-A7E6-4FFD-8E07-7066023A75C3}"/>
    <pc:docChg chg="mod modSld modMainMaster">
      <pc:chgData name="THALLES DAVIDY GONDIN DA SILVEIRA" userId="a3416262-0fac-4856-884e-2c0d7e6e898d" providerId="ADAL" clId="{1418AD27-A7E6-4FFD-8E07-7066023A75C3}" dt="2026-08-14T14:30:20.341" v="5" actId="14100"/>
      <pc:docMkLst>
        <pc:docMk/>
      </pc:docMkLst>
      <pc:sldChg chg="modSp mod">
        <pc:chgData name="THALLES DAVIDY GONDIN DA SILVEIRA" userId="a3416262-0fac-4856-884e-2c0d7e6e898d" providerId="ADAL" clId="{1418AD27-A7E6-4FFD-8E07-7066023A75C3}" dt="2026-08-14T13:54:14.339" v="2" actId="1076"/>
        <pc:sldMkLst>
          <pc:docMk/>
          <pc:sldMk cId="0" sldId="257"/>
        </pc:sldMkLst>
        <pc:spChg chg="mod">
          <ac:chgData name="THALLES DAVIDY GONDIN DA SILVEIRA" userId="a3416262-0fac-4856-884e-2c0d7e6e898d" providerId="ADAL" clId="{1418AD27-A7E6-4FFD-8E07-7066023A75C3}" dt="2026-08-14T13:54:14.339" v="2" actId="1076"/>
          <ac:spMkLst>
            <pc:docMk/>
            <pc:sldMk cId="0" sldId="257"/>
            <ac:spMk id="81" creationId="{00000000-0000-0000-0000-000000000000}"/>
          </ac:spMkLst>
        </pc:spChg>
      </pc:sldChg>
      <pc:sldChg chg="addSp modSp mod">
        <pc:chgData name="THALLES DAVIDY GONDIN DA SILVEIRA" userId="a3416262-0fac-4856-884e-2c0d7e6e898d" providerId="ADAL" clId="{1418AD27-A7E6-4FFD-8E07-7066023A75C3}" dt="2026-08-14T14:30:20.341" v="5" actId="14100"/>
        <pc:sldMkLst>
          <pc:docMk/>
          <pc:sldMk cId="0" sldId="261"/>
        </pc:sldMkLst>
        <pc:spChg chg="mod">
          <ac:chgData name="THALLES DAVIDY GONDIN DA SILVEIRA" userId="a3416262-0fac-4856-884e-2c0d7e6e898d" providerId="ADAL" clId="{1418AD27-A7E6-4FFD-8E07-7066023A75C3}" dt="2026-08-14T14:30:11.957" v="3" actId="164"/>
          <ac:spMkLst>
            <pc:docMk/>
            <pc:sldMk cId="0" sldId="261"/>
            <ac:spMk id="15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30:11.957" v="3" actId="164"/>
          <ac:spMkLst>
            <pc:docMk/>
            <pc:sldMk cId="0" sldId="261"/>
            <ac:spMk id="15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30:11.957" v="3" actId="164"/>
          <ac:spMkLst>
            <pc:docMk/>
            <pc:sldMk cId="0" sldId="261"/>
            <ac:spMk id="15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30:11.957" v="3" actId="164"/>
          <ac:spMkLst>
            <pc:docMk/>
            <pc:sldMk cId="0" sldId="261"/>
            <ac:spMk id="15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30:11.957" v="3" actId="164"/>
          <ac:spMkLst>
            <pc:docMk/>
            <pc:sldMk cId="0" sldId="261"/>
            <ac:spMk id="16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30:11.957" v="3" actId="164"/>
          <ac:spMkLst>
            <pc:docMk/>
            <pc:sldMk cId="0" sldId="261"/>
            <ac:spMk id="16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30:11.957" v="3" actId="164"/>
          <ac:spMkLst>
            <pc:docMk/>
            <pc:sldMk cId="0" sldId="261"/>
            <ac:spMk id="17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30:11.957" v="3" actId="164"/>
          <ac:spMkLst>
            <pc:docMk/>
            <pc:sldMk cId="0" sldId="261"/>
            <ac:spMk id="17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30:11.957" v="3" actId="164"/>
          <ac:spMkLst>
            <pc:docMk/>
            <pc:sldMk cId="0" sldId="261"/>
            <ac:spMk id="17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4:30:11.957" v="3" actId="164"/>
          <ac:spMkLst>
            <pc:docMk/>
            <pc:sldMk cId="0" sldId="261"/>
            <ac:spMk id="180" creationId="{00000000-0000-0000-0000-000000000000}"/>
          </ac:spMkLst>
        </pc:spChg>
        <pc:grpChg chg="mod">
          <ac:chgData name="THALLES DAVIDY GONDIN DA SILVEIRA" userId="a3416262-0fac-4856-884e-2c0d7e6e898d" providerId="ADAL" clId="{1418AD27-A7E6-4FFD-8E07-7066023A75C3}" dt="2026-08-14T14:30:17.707" v="4" actId="1076"/>
          <ac:grpSpMkLst>
            <pc:docMk/>
            <pc:sldMk cId="0" sldId="261"/>
            <ac:grpSpMk id="2" creationId="{0AFF230A-F1AE-3185-0C7E-05AB24144C82}"/>
          </ac:grpSpMkLst>
        </pc:grpChg>
        <pc:picChg chg="mod">
          <ac:chgData name="THALLES DAVIDY GONDIN DA SILVEIRA" userId="a3416262-0fac-4856-884e-2c0d7e6e898d" providerId="ADAL" clId="{1418AD27-A7E6-4FFD-8E07-7066023A75C3}" dt="2026-08-14T14:30:20.341" v="5" actId="14100"/>
          <ac:picMkLst>
            <pc:docMk/>
            <pc:sldMk cId="0" sldId="261"/>
            <ac:picMk id="132" creationId="{00000000-0000-0000-0000-000000000000}"/>
          </ac:picMkLst>
        </pc:picChg>
      </pc:sldChg>
      <pc:sldMasterChg chg="addSp mod">
        <pc:chgData name="THALLES DAVIDY GONDIN DA SILVEIRA" userId="a3416262-0fac-4856-884e-2c0d7e6e898d" providerId="ADAL" clId="{1418AD27-A7E6-4FFD-8E07-7066023A75C3}" dt="2026-08-14T13:53:55.906" v="0" actId="33475"/>
        <pc:sldMasterMkLst>
          <pc:docMk/>
          <pc:sldMasterMk cId="2640674209" sldId="2147483648"/>
        </pc:sldMasterMkLst>
        <pc:spChg chg="add">
          <ac:chgData name="THALLES DAVIDY GONDIN DA SILVEIRA" userId="a3416262-0fac-4856-884e-2c0d7e6e898d" providerId="ADAL" clId="{1418AD27-A7E6-4FFD-8E07-7066023A75C3}" dt="2026-08-14T13:53:55.906" v="0" actId="33475"/>
          <ac:spMkLst>
            <pc:docMk/>
            <pc:sldMasterMk cId="2640674209" sldId="2147483648"/>
            <ac:spMk id="9" creationId="{C74A5E83-C165-313B-464B-42B64CFF1020}"/>
          </ac:spMkLst>
        </pc:spChg>
        <pc:spChg chg="add">
          <ac:chgData name="THALLES DAVIDY GONDIN DA SILVEIRA" userId="a3416262-0fac-4856-884e-2c0d7e6e898d" providerId="ADAL" clId="{1418AD27-A7E6-4FFD-8E07-7066023A75C3}" dt="2026-08-14T13:53:55.906" v="0" actId="33475"/>
          <ac:spMkLst>
            <pc:docMk/>
            <pc:sldMasterMk cId="2640674209" sldId="2147483648"/>
            <ac:spMk id="10" creationId="{E8388A37-FBEC-1A99-0313-1892CA37016A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4DD3B-A89E-4F11-BC03-A6EC2D3C3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8CF5F7-8240-46B3-9B58-189CADB89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93F4E7-616C-42E7-AA53-7D53A481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159AAD-5FFF-4C55-AE91-74879D35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A83A00-C2AA-40AA-9898-26BFCFA9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492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A9920-B79B-4806-AFC3-6B18FB41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ECF1E-EFE2-407B-94FD-7B20AE919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098B5D-16BC-4861-8D94-245E392B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A2E305-2544-4735-B639-40C96838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B1A35A-8DF2-47E9-A4EF-4D673FC4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57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DD76B-5BBC-4080-944A-B684B1F43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FA57D6-9D8A-49BD-891D-3FB4A487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F831F4-C470-46E6-A682-B814BDC5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4C8576-D5A3-49FF-AF46-45B12387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D2232-F8D3-426A-AB8B-1A412A61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0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4686D-7C47-4E04-BCEB-3821F5701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724C2B-BFF9-4A25-BD5E-B69CCF793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E242AF-4D20-47AB-9363-BB63DB6A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1E022C-49BB-4F66-B77E-43D227B3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816F0F-7FA9-4D3B-9718-4996582E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DB9501-C461-4A0B-8450-14546430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72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B6E27-5D78-4A69-BDE1-0697A2DB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E160F9-47B9-45A6-817E-2F638FF61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DA7551-F322-486F-B2CF-8AE5E12C9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549817-B01A-4F77-B716-B7585BF09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EC9372-1182-4A24-9C9E-1212F25FC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A98BF5-B259-4849-B7DA-1588B00F3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79DBB3-C0AD-4FF5-B33D-8C34B09C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2CB255-A8B7-40B3-AA33-06D0212F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28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D93C1-CF34-49A8-9B7A-A49937BA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54AD72-C7B6-443E-82B6-262FC8D0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CFE4FF-6A89-4A43-9613-A54FC432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BB27D8-2D61-47FA-97F8-A5073722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2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1B2DCF-DD2B-4CAF-83EA-549C9AD4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5AB182-8F1E-4950-809D-15B1CC25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13C851-F495-4E93-BFD1-B862432E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12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9FB66-A81D-433B-8C22-6D859CB0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39CC1A-872A-4C6F-823C-8E29BC36C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2A2822-AFE9-4C82-9881-A26FEFCF3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882C72-065F-48D0-8768-1F43AB81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38A36A-44B6-47E9-93AA-CC5E6A22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42288D-CC5B-4A49-99AC-7713E6D2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69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6140D-32EC-46F8-A9A5-1C6E75E4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5FC306-4FCB-4B18-B502-AE6582659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0AC739-A323-4448-B8C4-2762F4FBB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16EFC2-DAD8-4248-8DC5-9A783477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9E31B2-93F5-4D57-985F-B24ADB4E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0120D-5868-489F-9D49-B0EE4194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67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EEBDD-1DA1-4F36-8FC5-71723EF9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60F00C-D951-481E-AFE8-184ED2539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B54D75-17DA-4BEE-B769-B5A63D0E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97AF13-AB2C-453D-BAC5-8E62BBCD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65E0CB-E3AE-4604-B4CA-4FBFA1E2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3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BE872F-3A91-4840-97AA-4DC75728E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410A31-7ADE-4773-A5B3-20BC696D5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40E3D7-B2B7-4538-9B3A-69401747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1CD025-AAA9-4410-9427-D5B8ADFE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4D7061-3F4E-403C-A1DF-F6263546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37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D13E89-B7E6-4FB1-A198-5BF1FDC08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2D2752-5C57-4465-BE4B-9741DF30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D3C341-462D-4794-A7BD-062C008AB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123974-86EE-4C0F-9F68-A603C447E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C6F05E-01A6-4646-9137-21207EF98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74A5E83-C165-313B-464B-42B64CFF102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39587" y="635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8388A37-FBEC-1A99-0313-1892CA37016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39587" y="66421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  <p:extLst>
      <p:ext uri="{BB962C8B-B14F-4D97-AF65-F5344CB8AC3E}">
        <p14:creationId xmlns:p14="http://schemas.microsoft.com/office/powerpoint/2010/main" val="264067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ap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" name="Rect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9">
              <a:alpha val="46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12" name="Hapvi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12064"/>
            <a:ext cx="1737360" cy="320040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658368" y="2084832"/>
            <a:ext cx="7772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3500" b="1">
                <a:solidFill>
                  <a:srgbClr val="FFFFFF"/>
                </a:solidFill>
              </a:rPr>
              <a:t>Obras concluídas</a:t>
            </a:r>
          </a:p>
          <a:p>
            <a:pPr algn="l"/>
            <a:r>
              <a:rPr lang="pt-BR" sz="3500" b="1">
                <a:solidFill>
                  <a:srgbClr val="FFFFFF"/>
                </a:solidFill>
              </a:rPr>
              <a:t>Construção por m²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85800" y="3401568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700">
                <a:solidFill>
                  <a:srgbClr val="FFFFFF"/>
                </a:solidFill>
              </a:rPr>
              <a:t>2025 e 2026 até 14/08/2026 | Base Geral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85800" y="4873752"/>
            <a:ext cx="2331720" cy="694944"/>
          </a:xfrm>
          <a:prstGeom prst="roundRect">
            <a:avLst/>
          </a:prstGeom>
          <a:solidFill>
            <a:srgbClr val="008F5A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172.8 mil m²</a:t>
            </a:r>
          </a:p>
          <a:p>
            <a:pPr algn="l"/>
            <a:r>
              <a:rPr lang="pt-BR" sz="1600" b="1">
                <a:solidFill>
                  <a:srgbClr val="FFFFFF"/>
                </a:solidFill>
              </a:rPr>
              <a:t>construídos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182112" y="4873752"/>
            <a:ext cx="2331720" cy="69494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R$ 244.9 mi</a:t>
            </a:r>
          </a:p>
          <a:p>
            <a:pPr algn="l"/>
            <a:r>
              <a:rPr lang="pt-BR" sz="1600" b="1">
                <a:solidFill>
                  <a:srgbClr val="FFFFFF"/>
                </a:solidFill>
              </a:rPr>
              <a:t>negociados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678424" y="4873752"/>
            <a:ext cx="2331720" cy="69494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R$ 1.417/m²</a:t>
            </a:r>
          </a:p>
          <a:p>
            <a:pPr algn="l"/>
            <a:r>
              <a:rPr lang="pt-BR" sz="1600" b="1">
                <a:solidFill>
                  <a:srgbClr val="FFFFFF"/>
                </a:solidFill>
              </a:rPr>
              <a:t>ponderado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Resumo executivo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2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74980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400" b="1">
                <a:solidFill>
                  <a:srgbClr val="15253F"/>
                </a:solidFill>
              </a:rPr>
              <a:t>Resumo do período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566928" y="1417320"/>
            <a:ext cx="2542032" cy="1024128"/>
          </a:xfrm>
          <a:prstGeom prst="roundRect">
            <a:avLst/>
          </a:prstGeom>
          <a:solidFill>
            <a:srgbClr val="008F5A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218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concluídas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3383280" y="1417320"/>
            <a:ext cx="2542032" cy="1024128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Área construída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172.8 mil m²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soma da coluna AH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199632" y="1417320"/>
            <a:ext cx="2542032" cy="1024128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Valor negociado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R$ 244.9 mi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soma da coluna AD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9015984" y="1417320"/>
            <a:ext cx="2542032" cy="1024128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R$ 1.417/m²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ponderado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58368" y="2761488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15253F"/>
                </a:solidFill>
              </a:rPr>
              <a:t>Comparativo anual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658368" y="3163824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Ano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1527048" y="3163824"/>
            <a:ext cx="9601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2487168" y="3163824"/>
            <a:ext cx="14173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3904488" y="3163824"/>
            <a:ext cx="16002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5504688" y="3163824"/>
            <a:ext cx="12344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658368" y="3474720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2025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1527048" y="3474720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157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2487168" y="3474720"/>
            <a:ext cx="14173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126.5 mil m²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3904488" y="3474720"/>
            <a:ext cx="1600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R$ 156.2 mi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5504688" y="3474720"/>
            <a:ext cx="1234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R$ 1.234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58368" y="3785616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2026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1527048" y="3785616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61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2487168" y="3785616"/>
            <a:ext cx="14173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46.3 mil m²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3904488" y="3785616"/>
            <a:ext cx="16002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R$ 88.8 mi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5504688" y="3785616"/>
            <a:ext cx="12344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R$ 1.917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6400800" y="2761488"/>
            <a:ext cx="50749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15253F"/>
                </a:solidFill>
              </a:rPr>
              <a:t>Principais leituras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6830568" y="3081528"/>
            <a:ext cx="516636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• Maior entrega mensal em área: dez/25, com 24.5 mil m².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Classificação com maior área construída: Adequação Regulatória (62.2 mil m²).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Maior R$/m² por classificação: Eficiência Operacional, com R$ 2.576/m².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Coluna O mais representativa em área: Retrofit.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Coluna U mais representativa em área: Obra regulatória com baixa intervenção.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Curva mensal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3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749808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300" b="1">
                <a:solidFill>
                  <a:srgbClr val="15253F"/>
                </a:solidFill>
              </a:rPr>
              <a:t>Curva mensal de área e R$/m²</a:t>
            </a:r>
          </a:p>
        </p:txBody>
      </p:sp>
      <p:pic>
        <p:nvPicPr>
          <p:cNvPr id="101" name="Curva mens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928" y="1234440"/>
            <a:ext cx="11018520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R$/m² por classificação de obra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4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749808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R$/m² por classificação de obra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7818120" y="804672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1100">
                <a:solidFill>
                  <a:srgbClr val="64748B"/>
                </a:solidFill>
              </a:rPr>
              <a:t>Coluna N</a:t>
            </a:r>
          </a:p>
        </p:txBody>
      </p:sp>
      <p:pic>
        <p:nvPicPr>
          <p:cNvPr id="132" name="R$/m² por classificação de obr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1170432"/>
            <a:ext cx="7315200" cy="4919472"/>
          </a:xfrm>
          <a:prstGeom prst="rect">
            <a:avLst/>
          </a:prstGeom>
        </p:spPr>
      </p:pic>
      <p:sp>
        <p:nvSpPr>
          <p:cNvPr id="150" name="Text 150"/>
          <p:cNvSpPr txBox="1"/>
          <p:nvPr/>
        </p:nvSpPr>
        <p:spPr>
          <a:xfrm>
            <a:off x="7973568" y="1353312"/>
            <a:ext cx="1783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9756648" y="1353312"/>
            <a:ext cx="640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10396728" y="135331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11311128" y="1353312"/>
            <a:ext cx="1078992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973568" y="1664208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9756648" y="1664208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91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10396728" y="166420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62.2 mil m²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11311128" y="1664208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R$ 580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7973568" y="1975104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9756648" y="1975104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30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10396728" y="197510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42.0 mil m²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11311128" y="1975104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R$ 2.016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7973568" y="2286000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Verticalização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9756648" y="2286000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31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10396728" y="228600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33.2 mil m²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11311128" y="2286000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R$ 1.797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7973568" y="2596896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9756648" y="2596896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39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10396728" y="259689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14.5 mil m²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11311128" y="2596896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R$ 2.576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7973568" y="2907792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Estratégica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9756648" y="2907792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10396728" y="290779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6.4 mil m²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11311128" y="2907792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R$ 2.427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7973568" y="3218688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Fachada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9756648" y="3218688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10396728" y="321868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4.9 mil m²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11311128" y="3218688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R$ 353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7973568" y="3529584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Padronização de Unidade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9756648" y="3529584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10396728" y="352958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3.9 mil m²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11311128" y="3529584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R$ 452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R$/m² por coluna 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5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749808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R$/m² por coluna O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7818120" y="804672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1100">
                <a:solidFill>
                  <a:srgbClr val="64748B"/>
                </a:solidFill>
              </a:rPr>
              <a:t>Tipologia de Obra</a:t>
            </a:r>
          </a:p>
        </p:txBody>
      </p:sp>
      <p:pic>
        <p:nvPicPr>
          <p:cNvPr id="132" name="R$/m² por coluna 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1170432"/>
            <a:ext cx="7315200" cy="4919472"/>
          </a:xfrm>
          <a:prstGeom prst="rect">
            <a:avLst/>
          </a:prstGeom>
        </p:spPr>
      </p:pic>
      <p:sp>
        <p:nvSpPr>
          <p:cNvPr id="150" name="Text 150"/>
          <p:cNvSpPr txBox="1"/>
          <p:nvPr/>
        </p:nvSpPr>
        <p:spPr>
          <a:xfrm>
            <a:off x="7973568" y="1353312"/>
            <a:ext cx="1783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9756648" y="1353312"/>
            <a:ext cx="640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10396728" y="135331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11311128" y="1353312"/>
            <a:ext cx="1078992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973568" y="1664208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9756648" y="1664208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157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10396728" y="166420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110.3 mil m²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11311128" y="1664208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R$ 1.048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7973568" y="1975104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Nova Unidade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9756648" y="1975104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53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10396728" y="197510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57.1 mil m²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11311128" y="1975104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R$ 2.115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7973568" y="2286000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Nova/R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9756648" y="2286000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10396728" y="228600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5.4 mil m²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11311128" y="2286000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R$ 1.574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7973568" y="2596896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Ampliação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9756648" y="2596896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10396728" y="259689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159 m²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11311128" y="2596896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R$/m² por coluna U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6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749808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R$/m² por coluna U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7818120" y="804672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1100">
                <a:solidFill>
                  <a:srgbClr val="64748B"/>
                </a:solidFill>
              </a:rPr>
              <a:t>Tipo Obra (3)</a:t>
            </a:r>
          </a:p>
        </p:txBody>
      </p:sp>
      <p:pic>
        <p:nvPicPr>
          <p:cNvPr id="132" name="R$/m² por coluna U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20" y="1491404"/>
            <a:ext cx="6837917" cy="4598499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0AFF230A-F1AE-3185-0C7E-05AB24144C82}"/>
              </a:ext>
            </a:extLst>
          </p:cNvPr>
          <p:cNvGrpSpPr/>
          <p:nvPr/>
        </p:nvGrpSpPr>
        <p:grpSpPr>
          <a:xfrm>
            <a:off x="7607808" y="1669506"/>
            <a:ext cx="4416552" cy="2487168"/>
            <a:chOff x="7973568" y="1353312"/>
            <a:chExt cx="4416552" cy="2487168"/>
          </a:xfrm>
        </p:grpSpPr>
        <p:sp>
          <p:nvSpPr>
            <p:cNvPr id="150" name="Text 150"/>
            <p:cNvSpPr txBox="1"/>
            <p:nvPr/>
          </p:nvSpPr>
          <p:spPr>
            <a:xfrm>
              <a:off x="7973568" y="1353312"/>
              <a:ext cx="178308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Grupo</a:t>
              </a:r>
            </a:p>
          </p:txBody>
        </p:sp>
        <p:sp>
          <p:nvSpPr>
            <p:cNvPr id="151" name="Text 151"/>
            <p:cNvSpPr txBox="1"/>
            <p:nvPr/>
          </p:nvSpPr>
          <p:spPr>
            <a:xfrm>
              <a:off x="9756648" y="1353312"/>
              <a:ext cx="64008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Obras</a:t>
              </a:r>
            </a:p>
          </p:txBody>
        </p:sp>
        <p:sp>
          <p:nvSpPr>
            <p:cNvPr id="152" name="Text 152"/>
            <p:cNvSpPr txBox="1"/>
            <p:nvPr/>
          </p:nvSpPr>
          <p:spPr>
            <a:xfrm>
              <a:off x="10396728" y="1353312"/>
              <a:ext cx="91440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 dirty="0">
                  <a:solidFill>
                    <a:srgbClr val="FFFFFF"/>
                  </a:solidFill>
                </a:rPr>
                <a:t>m²</a:t>
              </a:r>
            </a:p>
          </p:txBody>
        </p:sp>
        <p:sp>
          <p:nvSpPr>
            <p:cNvPr id="153" name="Text 153"/>
            <p:cNvSpPr txBox="1"/>
            <p:nvPr/>
          </p:nvSpPr>
          <p:spPr>
            <a:xfrm>
              <a:off x="11311128" y="1353312"/>
              <a:ext cx="1078992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R$/m²</a:t>
              </a:r>
            </a:p>
          </p:txBody>
        </p:sp>
        <p:sp>
          <p:nvSpPr>
            <p:cNvPr id="154" name="Text 154"/>
            <p:cNvSpPr txBox="1"/>
            <p:nvPr/>
          </p:nvSpPr>
          <p:spPr>
            <a:xfrm>
              <a:off x="7973568" y="1664208"/>
              <a:ext cx="1783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Obra regulatória com baixa intervenção</a:t>
              </a:r>
            </a:p>
          </p:txBody>
        </p:sp>
        <p:sp>
          <p:nvSpPr>
            <p:cNvPr id="155" name="Text 155"/>
            <p:cNvSpPr txBox="1"/>
            <p:nvPr/>
          </p:nvSpPr>
          <p:spPr>
            <a:xfrm>
              <a:off x="9756648" y="1664208"/>
              <a:ext cx="640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65</a:t>
              </a:r>
            </a:p>
          </p:txBody>
        </p:sp>
        <p:sp>
          <p:nvSpPr>
            <p:cNvPr id="156" name="Text 156"/>
            <p:cNvSpPr txBox="1"/>
            <p:nvPr/>
          </p:nvSpPr>
          <p:spPr>
            <a:xfrm>
              <a:off x="10396728" y="1664208"/>
              <a:ext cx="9144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54.5 mil m²</a:t>
              </a:r>
            </a:p>
          </p:txBody>
        </p:sp>
        <p:sp>
          <p:nvSpPr>
            <p:cNvPr id="157" name="Text 157"/>
            <p:cNvSpPr txBox="1"/>
            <p:nvPr/>
          </p:nvSpPr>
          <p:spPr>
            <a:xfrm>
              <a:off x="11311128" y="1664208"/>
              <a:ext cx="1078992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R$ 373</a:t>
              </a:r>
            </a:p>
          </p:txBody>
        </p:sp>
        <p:sp>
          <p:nvSpPr>
            <p:cNvPr id="158" name="Text 158"/>
            <p:cNvSpPr txBox="1"/>
            <p:nvPr/>
          </p:nvSpPr>
          <p:spPr>
            <a:xfrm>
              <a:off x="7973568" y="1975104"/>
              <a:ext cx="1783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Clínicas Ambulatoriais, Laboratórios e Coletas</a:t>
              </a:r>
            </a:p>
          </p:txBody>
        </p:sp>
        <p:sp>
          <p:nvSpPr>
            <p:cNvPr id="159" name="Text 159"/>
            <p:cNvSpPr txBox="1"/>
            <p:nvPr/>
          </p:nvSpPr>
          <p:spPr>
            <a:xfrm>
              <a:off x="9756648" y="1975104"/>
              <a:ext cx="640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88</a:t>
              </a:r>
            </a:p>
          </p:txBody>
        </p:sp>
        <p:sp>
          <p:nvSpPr>
            <p:cNvPr id="160" name="Text 160"/>
            <p:cNvSpPr txBox="1"/>
            <p:nvPr/>
          </p:nvSpPr>
          <p:spPr>
            <a:xfrm>
              <a:off x="10396728" y="1975104"/>
              <a:ext cx="91440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52.8 mil m²</a:t>
              </a:r>
            </a:p>
          </p:txBody>
        </p:sp>
        <p:sp>
          <p:nvSpPr>
            <p:cNvPr id="161" name="Text 161"/>
            <p:cNvSpPr txBox="1"/>
            <p:nvPr/>
          </p:nvSpPr>
          <p:spPr>
            <a:xfrm>
              <a:off x="11311128" y="1975104"/>
              <a:ext cx="1078992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R$ 1.861</a:t>
              </a:r>
            </a:p>
          </p:txBody>
        </p:sp>
        <p:sp>
          <p:nvSpPr>
            <p:cNvPr id="162" name="Text 162"/>
            <p:cNvSpPr txBox="1"/>
            <p:nvPr/>
          </p:nvSpPr>
          <p:spPr>
            <a:xfrm>
              <a:off x="7973568" y="2286000"/>
              <a:ext cx="1783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Hospitais</a:t>
              </a:r>
            </a:p>
          </p:txBody>
        </p:sp>
        <p:sp>
          <p:nvSpPr>
            <p:cNvPr id="163" name="Text 163"/>
            <p:cNvSpPr txBox="1"/>
            <p:nvPr/>
          </p:nvSpPr>
          <p:spPr>
            <a:xfrm>
              <a:off x="9756648" y="2286000"/>
              <a:ext cx="640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24</a:t>
              </a:r>
            </a:p>
          </p:txBody>
        </p:sp>
        <p:sp>
          <p:nvSpPr>
            <p:cNvPr id="164" name="Text 164"/>
            <p:cNvSpPr txBox="1"/>
            <p:nvPr/>
          </p:nvSpPr>
          <p:spPr>
            <a:xfrm>
              <a:off x="10396728" y="2286000"/>
              <a:ext cx="9144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34.6 mil m²</a:t>
              </a:r>
            </a:p>
          </p:txBody>
        </p:sp>
        <p:sp>
          <p:nvSpPr>
            <p:cNvPr id="165" name="Text 165"/>
            <p:cNvSpPr txBox="1"/>
            <p:nvPr/>
          </p:nvSpPr>
          <p:spPr>
            <a:xfrm>
              <a:off x="11311128" y="2286000"/>
              <a:ext cx="1078992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R$ 1.645</a:t>
              </a:r>
            </a:p>
          </p:txBody>
        </p:sp>
        <p:sp>
          <p:nvSpPr>
            <p:cNvPr id="166" name="Text 166"/>
            <p:cNvSpPr txBox="1"/>
            <p:nvPr/>
          </p:nvSpPr>
          <p:spPr>
            <a:xfrm>
              <a:off x="7973568" y="2596896"/>
              <a:ext cx="1783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Pronto Atendimentos e Clínicas Complexas</a:t>
              </a:r>
            </a:p>
          </p:txBody>
        </p:sp>
        <p:sp>
          <p:nvSpPr>
            <p:cNvPr id="167" name="Text 167"/>
            <p:cNvSpPr txBox="1"/>
            <p:nvPr/>
          </p:nvSpPr>
          <p:spPr>
            <a:xfrm>
              <a:off x="9756648" y="2596896"/>
              <a:ext cx="640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10</a:t>
              </a:r>
            </a:p>
          </p:txBody>
        </p:sp>
        <p:sp>
          <p:nvSpPr>
            <p:cNvPr id="168" name="Text 168"/>
            <p:cNvSpPr txBox="1"/>
            <p:nvPr/>
          </p:nvSpPr>
          <p:spPr>
            <a:xfrm>
              <a:off x="10396728" y="2596896"/>
              <a:ext cx="91440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22.6 mil m²</a:t>
              </a:r>
            </a:p>
          </p:txBody>
        </p:sp>
        <p:sp>
          <p:nvSpPr>
            <p:cNvPr id="169" name="Text 169"/>
            <p:cNvSpPr txBox="1"/>
            <p:nvPr/>
          </p:nvSpPr>
          <p:spPr>
            <a:xfrm>
              <a:off x="11311128" y="2596896"/>
              <a:ext cx="1078992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R$ 2.351</a:t>
              </a:r>
            </a:p>
          </p:txBody>
        </p:sp>
        <p:sp>
          <p:nvSpPr>
            <p:cNvPr id="170" name="Text 170"/>
            <p:cNvSpPr txBox="1"/>
            <p:nvPr/>
          </p:nvSpPr>
          <p:spPr>
            <a:xfrm>
              <a:off x="7973568" y="2907792"/>
              <a:ext cx="1783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Obra regulatória com média intervenção</a:t>
              </a:r>
            </a:p>
          </p:txBody>
        </p:sp>
        <p:sp>
          <p:nvSpPr>
            <p:cNvPr id="171" name="Text 171"/>
            <p:cNvSpPr txBox="1"/>
            <p:nvPr/>
          </p:nvSpPr>
          <p:spPr>
            <a:xfrm>
              <a:off x="9756648" y="2907792"/>
              <a:ext cx="640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16</a:t>
              </a:r>
            </a:p>
          </p:txBody>
        </p:sp>
        <p:sp>
          <p:nvSpPr>
            <p:cNvPr id="172" name="Text 172"/>
            <p:cNvSpPr txBox="1"/>
            <p:nvPr/>
          </p:nvSpPr>
          <p:spPr>
            <a:xfrm>
              <a:off x="10396728" y="2907792"/>
              <a:ext cx="9144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4.8 mil m²</a:t>
              </a:r>
            </a:p>
          </p:txBody>
        </p:sp>
        <p:sp>
          <p:nvSpPr>
            <p:cNvPr id="173" name="Text 173"/>
            <p:cNvSpPr txBox="1"/>
            <p:nvPr/>
          </p:nvSpPr>
          <p:spPr>
            <a:xfrm>
              <a:off x="11311128" y="2907792"/>
              <a:ext cx="1078992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R$ 1.450</a:t>
              </a:r>
            </a:p>
          </p:txBody>
        </p:sp>
        <p:sp>
          <p:nvSpPr>
            <p:cNvPr id="174" name="Text 174"/>
            <p:cNvSpPr txBox="1"/>
            <p:nvPr/>
          </p:nvSpPr>
          <p:spPr>
            <a:xfrm>
              <a:off x="7973568" y="3218688"/>
              <a:ext cx="1783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Obra regulatória com alta intervenção</a:t>
              </a:r>
            </a:p>
          </p:txBody>
        </p:sp>
        <p:sp>
          <p:nvSpPr>
            <p:cNvPr id="175" name="Text 175"/>
            <p:cNvSpPr txBox="1"/>
            <p:nvPr/>
          </p:nvSpPr>
          <p:spPr>
            <a:xfrm>
              <a:off x="9756648" y="3218688"/>
              <a:ext cx="640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11</a:t>
              </a:r>
            </a:p>
          </p:txBody>
        </p:sp>
        <p:sp>
          <p:nvSpPr>
            <p:cNvPr id="176" name="Text 176"/>
            <p:cNvSpPr txBox="1"/>
            <p:nvPr/>
          </p:nvSpPr>
          <p:spPr>
            <a:xfrm>
              <a:off x="10396728" y="3218688"/>
              <a:ext cx="91440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2.3 mil m²</a:t>
              </a:r>
            </a:p>
          </p:txBody>
        </p:sp>
        <p:sp>
          <p:nvSpPr>
            <p:cNvPr id="177" name="Text 177"/>
            <p:cNvSpPr txBox="1"/>
            <p:nvPr/>
          </p:nvSpPr>
          <p:spPr>
            <a:xfrm>
              <a:off x="11311128" y="3218688"/>
              <a:ext cx="1078992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R$ 3.023</a:t>
              </a:r>
            </a:p>
          </p:txBody>
        </p:sp>
        <p:sp>
          <p:nvSpPr>
            <p:cNvPr id="178" name="Text 178"/>
            <p:cNvSpPr txBox="1"/>
            <p:nvPr/>
          </p:nvSpPr>
          <p:spPr>
            <a:xfrm>
              <a:off x="7973568" y="3529584"/>
              <a:ext cx="1783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Adm e Outros</a:t>
              </a:r>
            </a:p>
          </p:txBody>
        </p:sp>
        <p:sp>
          <p:nvSpPr>
            <p:cNvPr id="179" name="Text 179"/>
            <p:cNvSpPr txBox="1"/>
            <p:nvPr/>
          </p:nvSpPr>
          <p:spPr>
            <a:xfrm>
              <a:off x="9756648" y="3529584"/>
              <a:ext cx="640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</a:t>
              </a:r>
            </a:p>
          </p:txBody>
        </p:sp>
        <p:sp>
          <p:nvSpPr>
            <p:cNvPr id="180" name="Text 180"/>
            <p:cNvSpPr txBox="1"/>
            <p:nvPr/>
          </p:nvSpPr>
          <p:spPr>
            <a:xfrm>
              <a:off x="10396728" y="3529584"/>
              <a:ext cx="9144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1.2 mil m²</a:t>
              </a:r>
            </a:p>
          </p:txBody>
        </p:sp>
        <p:sp>
          <p:nvSpPr>
            <p:cNvPr id="181" name="Text 181"/>
            <p:cNvSpPr txBox="1"/>
            <p:nvPr/>
          </p:nvSpPr>
          <p:spPr>
            <a:xfrm>
              <a:off x="11311128" y="3529584"/>
              <a:ext cx="1078992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R$ 1.878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Rankings de obras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7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566928" y="7498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Obras com maior R$/m² e maior área</a:t>
            </a:r>
          </a:p>
        </p:txBody>
      </p:sp>
      <p:sp>
        <p:nvSpPr>
          <p:cNvPr id="221" name="Text 221"/>
          <p:cNvSpPr txBox="1"/>
          <p:nvPr/>
        </p:nvSpPr>
        <p:spPr>
          <a:xfrm>
            <a:off x="658368" y="1243584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008F5A"/>
                </a:solidFill>
              </a:rPr>
              <a:t>Maior R$/m²</a:t>
            </a:r>
          </a:p>
        </p:txBody>
      </p:sp>
      <p:sp>
        <p:nvSpPr>
          <p:cNvPr id="230" name="Text 230"/>
          <p:cNvSpPr txBox="1"/>
          <p:nvPr/>
        </p:nvSpPr>
        <p:spPr>
          <a:xfrm>
            <a:off x="658368" y="1627632"/>
            <a:ext cx="2304288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231" name="Text 231"/>
          <p:cNvSpPr txBox="1"/>
          <p:nvPr/>
        </p:nvSpPr>
        <p:spPr>
          <a:xfrm>
            <a:off x="2962656" y="162763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232" name="Text 232"/>
          <p:cNvSpPr txBox="1"/>
          <p:nvPr/>
        </p:nvSpPr>
        <p:spPr>
          <a:xfrm>
            <a:off x="3877056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233" name="Text 233"/>
          <p:cNvSpPr txBox="1"/>
          <p:nvPr/>
        </p:nvSpPr>
        <p:spPr>
          <a:xfrm>
            <a:off x="4974336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234" name="Text 234"/>
          <p:cNvSpPr txBox="1"/>
          <p:nvPr/>
        </p:nvSpPr>
        <p:spPr>
          <a:xfrm>
            <a:off x="658368" y="1938528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4051.Troca Ressonância Notrelabs Santo Amaro</a:t>
            </a:r>
          </a:p>
        </p:txBody>
      </p:sp>
      <p:sp>
        <p:nvSpPr>
          <p:cNvPr id="235" name="Text 235"/>
          <p:cNvSpPr txBox="1"/>
          <p:nvPr/>
        </p:nvSpPr>
        <p:spPr>
          <a:xfrm>
            <a:off x="2962656" y="193852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33</a:t>
            </a:r>
          </a:p>
        </p:txBody>
      </p:sp>
      <p:sp>
        <p:nvSpPr>
          <p:cNvPr id="236" name="Text 236"/>
          <p:cNvSpPr txBox="1"/>
          <p:nvPr/>
        </p:nvSpPr>
        <p:spPr>
          <a:xfrm>
            <a:off x="3877056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R$ 963.0 mil</a:t>
            </a:r>
          </a:p>
        </p:txBody>
      </p:sp>
      <p:sp>
        <p:nvSpPr>
          <p:cNvPr id="237" name="Text 237"/>
          <p:cNvSpPr txBox="1"/>
          <p:nvPr/>
        </p:nvSpPr>
        <p:spPr>
          <a:xfrm>
            <a:off x="4974336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R$ 29.069</a:t>
            </a:r>
          </a:p>
        </p:txBody>
      </p:sp>
      <p:sp>
        <p:nvSpPr>
          <p:cNvPr id="238" name="Text 238"/>
          <p:cNvSpPr txBox="1"/>
          <p:nvPr/>
        </p:nvSpPr>
        <p:spPr>
          <a:xfrm>
            <a:off x="658368" y="2249424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4048.Nova Ressonância Notrelabs Banda</a:t>
            </a:r>
          </a:p>
        </p:txBody>
      </p:sp>
      <p:sp>
        <p:nvSpPr>
          <p:cNvPr id="239" name="Text 239"/>
          <p:cNvSpPr txBox="1"/>
          <p:nvPr/>
        </p:nvSpPr>
        <p:spPr>
          <a:xfrm>
            <a:off x="2962656" y="224942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56</a:t>
            </a:r>
          </a:p>
        </p:txBody>
      </p:sp>
      <p:sp>
        <p:nvSpPr>
          <p:cNvPr id="240" name="Text 240"/>
          <p:cNvSpPr txBox="1"/>
          <p:nvPr/>
        </p:nvSpPr>
        <p:spPr>
          <a:xfrm>
            <a:off x="3877056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R$ 843.4 mil</a:t>
            </a:r>
          </a:p>
        </p:txBody>
      </p:sp>
      <p:sp>
        <p:nvSpPr>
          <p:cNvPr id="241" name="Text 241"/>
          <p:cNvSpPr txBox="1"/>
          <p:nvPr/>
        </p:nvSpPr>
        <p:spPr>
          <a:xfrm>
            <a:off x="4974336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R$ 15.031</a:t>
            </a:r>
          </a:p>
        </p:txBody>
      </p:sp>
      <p:sp>
        <p:nvSpPr>
          <p:cNvPr id="242" name="Text 242"/>
          <p:cNvSpPr txBox="1"/>
          <p:nvPr/>
        </p:nvSpPr>
        <p:spPr>
          <a:xfrm>
            <a:off x="658368" y="2560320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4052.Troca Ressonância Notrelabs Atlântica</a:t>
            </a:r>
          </a:p>
        </p:txBody>
      </p:sp>
      <p:sp>
        <p:nvSpPr>
          <p:cNvPr id="243" name="Text 243"/>
          <p:cNvSpPr txBox="1"/>
          <p:nvPr/>
        </p:nvSpPr>
        <p:spPr>
          <a:xfrm>
            <a:off x="2962656" y="256032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52</a:t>
            </a:r>
          </a:p>
        </p:txBody>
      </p:sp>
      <p:sp>
        <p:nvSpPr>
          <p:cNvPr id="244" name="Text 244"/>
          <p:cNvSpPr txBox="1"/>
          <p:nvPr/>
        </p:nvSpPr>
        <p:spPr>
          <a:xfrm>
            <a:off x="3877056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R$ 652.4 mil</a:t>
            </a:r>
          </a:p>
        </p:txBody>
      </p:sp>
      <p:sp>
        <p:nvSpPr>
          <p:cNvPr id="245" name="Text 245"/>
          <p:cNvSpPr txBox="1"/>
          <p:nvPr/>
        </p:nvSpPr>
        <p:spPr>
          <a:xfrm>
            <a:off x="4974336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R$ 12.462</a:t>
            </a:r>
          </a:p>
        </p:txBody>
      </p:sp>
      <p:sp>
        <p:nvSpPr>
          <p:cNvPr id="246" name="Text 246"/>
          <p:cNvSpPr txBox="1"/>
          <p:nvPr/>
        </p:nvSpPr>
        <p:spPr>
          <a:xfrm>
            <a:off x="658368" y="2871216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4049.Troca Ressonância Notrelabs Mauá</a:t>
            </a:r>
          </a:p>
        </p:txBody>
      </p:sp>
      <p:sp>
        <p:nvSpPr>
          <p:cNvPr id="247" name="Text 247"/>
          <p:cNvSpPr txBox="1"/>
          <p:nvPr/>
        </p:nvSpPr>
        <p:spPr>
          <a:xfrm>
            <a:off x="2962656" y="287121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66</a:t>
            </a:r>
          </a:p>
        </p:txBody>
      </p:sp>
      <p:sp>
        <p:nvSpPr>
          <p:cNvPr id="248" name="Text 248"/>
          <p:cNvSpPr txBox="1"/>
          <p:nvPr/>
        </p:nvSpPr>
        <p:spPr>
          <a:xfrm>
            <a:off x="3877056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R$ 807.0 mil</a:t>
            </a:r>
          </a:p>
        </p:txBody>
      </p:sp>
      <p:sp>
        <p:nvSpPr>
          <p:cNvPr id="249" name="Text 249"/>
          <p:cNvSpPr txBox="1"/>
          <p:nvPr/>
        </p:nvSpPr>
        <p:spPr>
          <a:xfrm>
            <a:off x="4974336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R$ 12.176</a:t>
            </a:r>
          </a:p>
        </p:txBody>
      </p:sp>
      <p:sp>
        <p:nvSpPr>
          <p:cNvPr id="250" name="Text 250"/>
          <p:cNvSpPr txBox="1"/>
          <p:nvPr/>
        </p:nvSpPr>
        <p:spPr>
          <a:xfrm>
            <a:off x="658368" y="3182112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3986.Adequação Pref. Notrelife Sorocaba</a:t>
            </a:r>
          </a:p>
        </p:txBody>
      </p:sp>
      <p:sp>
        <p:nvSpPr>
          <p:cNvPr id="251" name="Text 251"/>
          <p:cNvSpPr txBox="1"/>
          <p:nvPr/>
        </p:nvSpPr>
        <p:spPr>
          <a:xfrm>
            <a:off x="2962656" y="31821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</a:t>
            </a:r>
          </a:p>
        </p:txBody>
      </p:sp>
      <p:sp>
        <p:nvSpPr>
          <p:cNvPr id="252" name="Text 252"/>
          <p:cNvSpPr txBox="1"/>
          <p:nvPr/>
        </p:nvSpPr>
        <p:spPr>
          <a:xfrm>
            <a:off x="3877056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R$ 86.0 mil</a:t>
            </a:r>
          </a:p>
        </p:txBody>
      </p:sp>
      <p:sp>
        <p:nvSpPr>
          <p:cNvPr id="253" name="Text 253"/>
          <p:cNvSpPr txBox="1"/>
          <p:nvPr/>
        </p:nvSpPr>
        <p:spPr>
          <a:xfrm>
            <a:off x="4974336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R$ 11.467</a:t>
            </a:r>
          </a:p>
        </p:txBody>
      </p:sp>
      <p:sp>
        <p:nvSpPr>
          <p:cNvPr id="254" name="Text 254"/>
          <p:cNvSpPr txBox="1"/>
          <p:nvPr/>
        </p:nvSpPr>
        <p:spPr>
          <a:xfrm>
            <a:off x="658368" y="3493008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5029.Hemodinâmica Camboriú</a:t>
            </a:r>
          </a:p>
        </p:txBody>
      </p:sp>
      <p:sp>
        <p:nvSpPr>
          <p:cNvPr id="255" name="Text 255"/>
          <p:cNvSpPr txBox="1"/>
          <p:nvPr/>
        </p:nvSpPr>
        <p:spPr>
          <a:xfrm>
            <a:off x="2962656" y="349300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49</a:t>
            </a:r>
          </a:p>
        </p:txBody>
      </p:sp>
      <p:sp>
        <p:nvSpPr>
          <p:cNvPr id="256" name="Text 256"/>
          <p:cNvSpPr txBox="1"/>
          <p:nvPr/>
        </p:nvSpPr>
        <p:spPr>
          <a:xfrm>
            <a:off x="3877056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R$ 494.7 mil</a:t>
            </a:r>
          </a:p>
        </p:txBody>
      </p:sp>
      <p:sp>
        <p:nvSpPr>
          <p:cNvPr id="257" name="Text 257"/>
          <p:cNvSpPr txBox="1"/>
          <p:nvPr/>
        </p:nvSpPr>
        <p:spPr>
          <a:xfrm>
            <a:off x="4974336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R$ 10.028</a:t>
            </a:r>
          </a:p>
        </p:txBody>
      </p:sp>
      <p:sp>
        <p:nvSpPr>
          <p:cNvPr id="258" name="Text 258"/>
          <p:cNvSpPr txBox="1"/>
          <p:nvPr/>
        </p:nvSpPr>
        <p:spPr>
          <a:xfrm>
            <a:off x="658368" y="3803904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0000.Nova Ressonância HS Santa Maria</a:t>
            </a:r>
          </a:p>
        </p:txBody>
      </p:sp>
      <p:sp>
        <p:nvSpPr>
          <p:cNvPr id="259" name="Text 259"/>
          <p:cNvSpPr txBox="1"/>
          <p:nvPr/>
        </p:nvSpPr>
        <p:spPr>
          <a:xfrm>
            <a:off x="2962656" y="38039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134</a:t>
            </a:r>
          </a:p>
        </p:txBody>
      </p:sp>
      <p:sp>
        <p:nvSpPr>
          <p:cNvPr id="260" name="Text 260"/>
          <p:cNvSpPr txBox="1"/>
          <p:nvPr/>
        </p:nvSpPr>
        <p:spPr>
          <a:xfrm>
            <a:off x="3877056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R$ 1.3 mi</a:t>
            </a:r>
          </a:p>
        </p:txBody>
      </p:sp>
      <p:sp>
        <p:nvSpPr>
          <p:cNvPr id="261" name="Text 261"/>
          <p:cNvSpPr txBox="1"/>
          <p:nvPr/>
        </p:nvSpPr>
        <p:spPr>
          <a:xfrm>
            <a:off x="4974336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R$ 9.375</a:t>
            </a:r>
          </a:p>
        </p:txBody>
      </p:sp>
      <p:sp>
        <p:nvSpPr>
          <p:cNvPr id="262" name="Text 262"/>
          <p:cNvSpPr txBox="1"/>
          <p:nvPr/>
        </p:nvSpPr>
        <p:spPr>
          <a:xfrm>
            <a:off x="658368" y="4114800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3954.Nova Ressonância Ghelfond Guarulhos</a:t>
            </a:r>
          </a:p>
        </p:txBody>
      </p:sp>
      <p:sp>
        <p:nvSpPr>
          <p:cNvPr id="263" name="Text 263"/>
          <p:cNvSpPr txBox="1"/>
          <p:nvPr/>
        </p:nvSpPr>
        <p:spPr>
          <a:xfrm>
            <a:off x="2962656" y="4114800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104</a:t>
            </a:r>
          </a:p>
        </p:txBody>
      </p:sp>
      <p:sp>
        <p:nvSpPr>
          <p:cNvPr id="264" name="Text 264"/>
          <p:cNvSpPr txBox="1"/>
          <p:nvPr/>
        </p:nvSpPr>
        <p:spPr>
          <a:xfrm>
            <a:off x="3877056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R$ 863.3 mil</a:t>
            </a:r>
          </a:p>
        </p:txBody>
      </p:sp>
      <p:sp>
        <p:nvSpPr>
          <p:cNvPr id="265" name="Text 265"/>
          <p:cNvSpPr txBox="1"/>
          <p:nvPr/>
        </p:nvSpPr>
        <p:spPr>
          <a:xfrm>
            <a:off x="4974336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R$ 8.290</a:t>
            </a:r>
          </a:p>
        </p:txBody>
      </p:sp>
      <p:sp>
        <p:nvSpPr>
          <p:cNvPr id="266" name="Text 266"/>
          <p:cNvSpPr txBox="1"/>
          <p:nvPr/>
        </p:nvSpPr>
        <p:spPr>
          <a:xfrm>
            <a:off x="658368" y="4425696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3272.Adequação PPCI HS Rio Amazonas</a:t>
            </a:r>
          </a:p>
        </p:txBody>
      </p:sp>
      <p:sp>
        <p:nvSpPr>
          <p:cNvPr id="267" name="Text 267"/>
          <p:cNvSpPr txBox="1"/>
          <p:nvPr/>
        </p:nvSpPr>
        <p:spPr>
          <a:xfrm>
            <a:off x="2962656" y="44256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162</a:t>
            </a:r>
          </a:p>
        </p:txBody>
      </p:sp>
      <p:sp>
        <p:nvSpPr>
          <p:cNvPr id="268" name="Text 268"/>
          <p:cNvSpPr txBox="1"/>
          <p:nvPr/>
        </p:nvSpPr>
        <p:spPr>
          <a:xfrm>
            <a:off x="3877056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R$ 1.1 mi</a:t>
            </a:r>
          </a:p>
        </p:txBody>
      </p:sp>
      <p:sp>
        <p:nvSpPr>
          <p:cNvPr id="269" name="Text 269"/>
          <p:cNvSpPr txBox="1"/>
          <p:nvPr/>
        </p:nvSpPr>
        <p:spPr>
          <a:xfrm>
            <a:off x="4974336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R$ 6.971</a:t>
            </a:r>
          </a:p>
        </p:txBody>
      </p:sp>
      <p:sp>
        <p:nvSpPr>
          <p:cNvPr id="300" name="Text 300"/>
          <p:cNvSpPr txBox="1"/>
          <p:nvPr/>
        </p:nvSpPr>
        <p:spPr>
          <a:xfrm>
            <a:off x="6400800" y="1243584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F65B7"/>
                </a:solidFill>
              </a:rPr>
              <a:t>Maior área construída</a:t>
            </a:r>
          </a:p>
        </p:txBody>
      </p:sp>
      <p:sp>
        <p:nvSpPr>
          <p:cNvPr id="310" name="Text 310"/>
          <p:cNvSpPr txBox="1"/>
          <p:nvPr/>
        </p:nvSpPr>
        <p:spPr>
          <a:xfrm>
            <a:off x="6400800" y="1627632"/>
            <a:ext cx="2304288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311" name="Text 311"/>
          <p:cNvSpPr txBox="1"/>
          <p:nvPr/>
        </p:nvSpPr>
        <p:spPr>
          <a:xfrm>
            <a:off x="8705088" y="162763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312" name="Text 312"/>
          <p:cNvSpPr txBox="1"/>
          <p:nvPr/>
        </p:nvSpPr>
        <p:spPr>
          <a:xfrm>
            <a:off x="9619488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313" name="Text 313"/>
          <p:cNvSpPr txBox="1"/>
          <p:nvPr/>
        </p:nvSpPr>
        <p:spPr>
          <a:xfrm>
            <a:off x="10716768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314" name="Text 314"/>
          <p:cNvSpPr txBox="1"/>
          <p:nvPr/>
        </p:nvSpPr>
        <p:spPr>
          <a:xfrm>
            <a:off x="6400800" y="1938528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0000.Transformação PA em Hospital UASA</a:t>
            </a:r>
          </a:p>
        </p:txBody>
      </p:sp>
      <p:sp>
        <p:nvSpPr>
          <p:cNvPr id="315" name="Text 315"/>
          <p:cNvSpPr txBox="1"/>
          <p:nvPr/>
        </p:nvSpPr>
        <p:spPr>
          <a:xfrm>
            <a:off x="8705088" y="193852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10.433</a:t>
            </a:r>
          </a:p>
        </p:txBody>
      </p:sp>
      <p:sp>
        <p:nvSpPr>
          <p:cNvPr id="316" name="Text 316"/>
          <p:cNvSpPr txBox="1"/>
          <p:nvPr/>
        </p:nvSpPr>
        <p:spPr>
          <a:xfrm>
            <a:off x="9619488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R$ 23.2 mi</a:t>
            </a:r>
          </a:p>
        </p:txBody>
      </p:sp>
      <p:sp>
        <p:nvSpPr>
          <p:cNvPr id="317" name="Text 317"/>
          <p:cNvSpPr txBox="1"/>
          <p:nvPr/>
        </p:nvSpPr>
        <p:spPr>
          <a:xfrm>
            <a:off x="10716768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R$ 2.220</a:t>
            </a:r>
          </a:p>
        </p:txBody>
      </p:sp>
      <p:sp>
        <p:nvSpPr>
          <p:cNvPr id="318" name="Text 318"/>
          <p:cNvSpPr txBox="1"/>
          <p:nvPr/>
        </p:nvSpPr>
        <p:spPr>
          <a:xfrm>
            <a:off x="6400800" y="2249424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3590.Adequação Hapnatal (3ª fase)</a:t>
            </a:r>
          </a:p>
        </p:txBody>
      </p:sp>
      <p:sp>
        <p:nvSpPr>
          <p:cNvPr id="319" name="Text 319"/>
          <p:cNvSpPr txBox="1"/>
          <p:nvPr/>
        </p:nvSpPr>
        <p:spPr>
          <a:xfrm>
            <a:off x="8705088" y="224942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7.150</a:t>
            </a:r>
          </a:p>
        </p:txBody>
      </p:sp>
      <p:sp>
        <p:nvSpPr>
          <p:cNvPr id="320" name="Text 320"/>
          <p:cNvSpPr txBox="1"/>
          <p:nvPr/>
        </p:nvSpPr>
        <p:spPr>
          <a:xfrm>
            <a:off x="9619488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R$ 2.7 mi</a:t>
            </a:r>
          </a:p>
        </p:txBody>
      </p:sp>
      <p:sp>
        <p:nvSpPr>
          <p:cNvPr id="321" name="Text 321"/>
          <p:cNvSpPr txBox="1"/>
          <p:nvPr/>
        </p:nvSpPr>
        <p:spPr>
          <a:xfrm>
            <a:off x="10716768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R$ 377</a:t>
            </a:r>
          </a:p>
        </p:txBody>
      </p:sp>
      <p:sp>
        <p:nvSpPr>
          <p:cNvPr id="322" name="Text 322"/>
          <p:cNvSpPr txBox="1"/>
          <p:nvPr/>
        </p:nvSpPr>
        <p:spPr>
          <a:xfrm>
            <a:off x="6400800" y="2560320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4065.Reabertura HS Analia Franco (2ª fase)</a:t>
            </a:r>
          </a:p>
        </p:txBody>
      </p:sp>
      <p:sp>
        <p:nvSpPr>
          <p:cNvPr id="323" name="Text 323"/>
          <p:cNvSpPr txBox="1"/>
          <p:nvPr/>
        </p:nvSpPr>
        <p:spPr>
          <a:xfrm>
            <a:off x="8705088" y="256032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6.170</a:t>
            </a:r>
          </a:p>
        </p:txBody>
      </p:sp>
      <p:sp>
        <p:nvSpPr>
          <p:cNvPr id="324" name="Text 324"/>
          <p:cNvSpPr txBox="1"/>
          <p:nvPr/>
        </p:nvSpPr>
        <p:spPr>
          <a:xfrm>
            <a:off x="9619488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R$ 6.5 mi</a:t>
            </a:r>
          </a:p>
        </p:txBody>
      </p:sp>
      <p:sp>
        <p:nvSpPr>
          <p:cNvPr id="325" name="Text 325"/>
          <p:cNvSpPr txBox="1"/>
          <p:nvPr/>
        </p:nvSpPr>
        <p:spPr>
          <a:xfrm>
            <a:off x="10716768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R$ 1.056</a:t>
            </a:r>
          </a:p>
        </p:txBody>
      </p:sp>
      <p:sp>
        <p:nvSpPr>
          <p:cNvPr id="326" name="Text 326"/>
          <p:cNvSpPr txBox="1"/>
          <p:nvPr/>
        </p:nvSpPr>
        <p:spPr>
          <a:xfrm>
            <a:off x="6400800" y="2871216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4240.Adequação PPCI Hospital Rio Solimões</a:t>
            </a:r>
          </a:p>
        </p:txBody>
      </p:sp>
      <p:sp>
        <p:nvSpPr>
          <p:cNvPr id="327" name="Text 327"/>
          <p:cNvSpPr txBox="1"/>
          <p:nvPr/>
        </p:nvSpPr>
        <p:spPr>
          <a:xfrm>
            <a:off x="8705088" y="287121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5.659</a:t>
            </a:r>
          </a:p>
        </p:txBody>
      </p:sp>
      <p:sp>
        <p:nvSpPr>
          <p:cNvPr id="328" name="Text 328"/>
          <p:cNvSpPr txBox="1"/>
          <p:nvPr/>
        </p:nvSpPr>
        <p:spPr>
          <a:xfrm>
            <a:off x="9619488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R$ 497.1 mil</a:t>
            </a:r>
          </a:p>
        </p:txBody>
      </p:sp>
      <p:sp>
        <p:nvSpPr>
          <p:cNvPr id="329" name="Text 329"/>
          <p:cNvSpPr txBox="1"/>
          <p:nvPr/>
        </p:nvSpPr>
        <p:spPr>
          <a:xfrm>
            <a:off x="10716768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R$ 88</a:t>
            </a:r>
          </a:p>
        </p:txBody>
      </p:sp>
      <p:sp>
        <p:nvSpPr>
          <p:cNvPr id="330" name="Text 330"/>
          <p:cNvSpPr txBox="1"/>
          <p:nvPr/>
        </p:nvSpPr>
        <p:spPr>
          <a:xfrm>
            <a:off x="6400800" y="3182112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4160.Adequação PPCI HS São Lucas (Americana)</a:t>
            </a:r>
          </a:p>
        </p:txBody>
      </p:sp>
      <p:sp>
        <p:nvSpPr>
          <p:cNvPr id="331" name="Text 331"/>
          <p:cNvSpPr txBox="1"/>
          <p:nvPr/>
        </p:nvSpPr>
        <p:spPr>
          <a:xfrm>
            <a:off x="8705088" y="31821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5.214</a:t>
            </a:r>
          </a:p>
        </p:txBody>
      </p:sp>
      <p:sp>
        <p:nvSpPr>
          <p:cNvPr id="332" name="Text 332"/>
          <p:cNvSpPr txBox="1"/>
          <p:nvPr/>
        </p:nvSpPr>
        <p:spPr>
          <a:xfrm>
            <a:off x="9619488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R$ 530.0 mil</a:t>
            </a:r>
          </a:p>
        </p:txBody>
      </p:sp>
      <p:sp>
        <p:nvSpPr>
          <p:cNvPr id="333" name="Text 333"/>
          <p:cNvSpPr txBox="1"/>
          <p:nvPr/>
        </p:nvSpPr>
        <p:spPr>
          <a:xfrm>
            <a:off x="10716768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R$ 102</a:t>
            </a:r>
          </a:p>
        </p:txBody>
      </p:sp>
      <p:sp>
        <p:nvSpPr>
          <p:cNvPr id="334" name="Text 334"/>
          <p:cNvSpPr txBox="1"/>
          <p:nvPr/>
        </p:nvSpPr>
        <p:spPr>
          <a:xfrm>
            <a:off x="6400800" y="3493008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4032.Reabertura do HS Layr Maia</a:t>
            </a:r>
          </a:p>
        </p:txBody>
      </p:sp>
      <p:sp>
        <p:nvSpPr>
          <p:cNvPr id="335" name="Text 335"/>
          <p:cNvSpPr txBox="1"/>
          <p:nvPr/>
        </p:nvSpPr>
        <p:spPr>
          <a:xfrm>
            <a:off x="8705088" y="349300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5.062</a:t>
            </a:r>
          </a:p>
        </p:txBody>
      </p:sp>
      <p:sp>
        <p:nvSpPr>
          <p:cNvPr id="336" name="Text 336"/>
          <p:cNvSpPr txBox="1"/>
          <p:nvPr/>
        </p:nvSpPr>
        <p:spPr>
          <a:xfrm>
            <a:off x="9619488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R$ 14.5 mi</a:t>
            </a:r>
          </a:p>
        </p:txBody>
      </p:sp>
      <p:sp>
        <p:nvSpPr>
          <p:cNvPr id="337" name="Text 337"/>
          <p:cNvSpPr txBox="1"/>
          <p:nvPr/>
        </p:nvSpPr>
        <p:spPr>
          <a:xfrm>
            <a:off x="10716768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R$ 2.860</a:t>
            </a:r>
          </a:p>
        </p:txBody>
      </p:sp>
      <p:sp>
        <p:nvSpPr>
          <p:cNvPr id="338" name="Text 338"/>
          <p:cNvSpPr txBox="1"/>
          <p:nvPr/>
        </p:nvSpPr>
        <p:spPr>
          <a:xfrm>
            <a:off x="6400800" y="3803904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4103.Nova Unidade Diagnóstico Flagship SP (Fase 2)</a:t>
            </a:r>
          </a:p>
        </p:txBody>
      </p:sp>
      <p:sp>
        <p:nvSpPr>
          <p:cNvPr id="339" name="Text 339"/>
          <p:cNvSpPr txBox="1"/>
          <p:nvPr/>
        </p:nvSpPr>
        <p:spPr>
          <a:xfrm>
            <a:off x="8705088" y="38039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4.895</a:t>
            </a:r>
          </a:p>
        </p:txBody>
      </p:sp>
      <p:sp>
        <p:nvSpPr>
          <p:cNvPr id="340" name="Text 340"/>
          <p:cNvSpPr txBox="1"/>
          <p:nvPr/>
        </p:nvSpPr>
        <p:spPr>
          <a:xfrm>
            <a:off x="9619488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R$ 13.7 mi</a:t>
            </a:r>
          </a:p>
        </p:txBody>
      </p:sp>
      <p:sp>
        <p:nvSpPr>
          <p:cNvPr id="341" name="Text 341"/>
          <p:cNvSpPr txBox="1"/>
          <p:nvPr/>
        </p:nvSpPr>
        <p:spPr>
          <a:xfrm>
            <a:off x="10716768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R$ 2.805</a:t>
            </a:r>
          </a:p>
        </p:txBody>
      </p:sp>
      <p:sp>
        <p:nvSpPr>
          <p:cNvPr id="342" name="Text 342"/>
          <p:cNvSpPr txBox="1"/>
          <p:nvPr/>
        </p:nvSpPr>
        <p:spPr>
          <a:xfrm>
            <a:off x="6400800" y="4114800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4055.Adequação PPCI HS Lins</a:t>
            </a:r>
          </a:p>
        </p:txBody>
      </p:sp>
      <p:sp>
        <p:nvSpPr>
          <p:cNvPr id="343" name="Text 343"/>
          <p:cNvSpPr txBox="1"/>
          <p:nvPr/>
        </p:nvSpPr>
        <p:spPr>
          <a:xfrm>
            <a:off x="8705088" y="4114800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4.529</a:t>
            </a:r>
          </a:p>
        </p:txBody>
      </p:sp>
      <p:sp>
        <p:nvSpPr>
          <p:cNvPr id="344" name="Text 344"/>
          <p:cNvSpPr txBox="1"/>
          <p:nvPr/>
        </p:nvSpPr>
        <p:spPr>
          <a:xfrm>
            <a:off x="9619488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R$ 287.8 mil</a:t>
            </a:r>
          </a:p>
        </p:txBody>
      </p:sp>
      <p:sp>
        <p:nvSpPr>
          <p:cNvPr id="345" name="Text 345"/>
          <p:cNvSpPr txBox="1"/>
          <p:nvPr/>
        </p:nvSpPr>
        <p:spPr>
          <a:xfrm>
            <a:off x="10716768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R$ 64</a:t>
            </a:r>
          </a:p>
        </p:txBody>
      </p:sp>
      <p:sp>
        <p:nvSpPr>
          <p:cNvPr id="346" name="Text 346"/>
          <p:cNvSpPr txBox="1"/>
          <p:nvPr/>
        </p:nvSpPr>
        <p:spPr>
          <a:xfrm>
            <a:off x="6400800" y="4425696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3590.Adequação PPCI Hapnatal (2ª fase torre nova)</a:t>
            </a:r>
          </a:p>
        </p:txBody>
      </p:sp>
      <p:sp>
        <p:nvSpPr>
          <p:cNvPr id="347" name="Text 347"/>
          <p:cNvSpPr txBox="1"/>
          <p:nvPr/>
        </p:nvSpPr>
        <p:spPr>
          <a:xfrm>
            <a:off x="8705088" y="44256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4.500</a:t>
            </a:r>
          </a:p>
        </p:txBody>
      </p:sp>
      <p:sp>
        <p:nvSpPr>
          <p:cNvPr id="348" name="Text 348"/>
          <p:cNvSpPr txBox="1"/>
          <p:nvPr/>
        </p:nvSpPr>
        <p:spPr>
          <a:xfrm>
            <a:off x="9619488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R$ 1.3 mi</a:t>
            </a:r>
          </a:p>
        </p:txBody>
      </p:sp>
      <p:sp>
        <p:nvSpPr>
          <p:cNvPr id="349" name="Text 349"/>
          <p:cNvSpPr txBox="1"/>
          <p:nvPr/>
        </p:nvSpPr>
        <p:spPr>
          <a:xfrm>
            <a:off x="10716768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R$ 284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Critérios da análise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8</a:t>
            </a:r>
          </a:p>
        </p:txBody>
      </p:sp>
      <p:sp>
        <p:nvSpPr>
          <p:cNvPr id="400" name="Text 400"/>
          <p:cNvSpPr txBox="1"/>
          <p:nvPr/>
        </p:nvSpPr>
        <p:spPr>
          <a:xfrm>
            <a:off x="566928" y="7498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Critérios e campos utilizados</a:t>
            </a:r>
          </a:p>
        </p:txBody>
      </p:sp>
      <p:sp>
        <p:nvSpPr>
          <p:cNvPr id="401" name="Text 401"/>
          <p:cNvSpPr txBox="1"/>
          <p:nvPr/>
        </p:nvSpPr>
        <p:spPr>
          <a:xfrm>
            <a:off x="841248" y="1463040"/>
            <a:ext cx="1033272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700">
                <a:solidFill>
                  <a:srgbClr val="15253F"/>
                </a:solidFill>
              </a:rPr>
              <a:t>• Aba utilizada: Base Geral.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Colunas ocultas ignoradas conforme orientação.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Filtro principal: Status = Concluída e Término Real entre 01/01/2025 e 14/08/2026.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R$/m² calculado de forma ponderada: soma do Valor Negociado (AD) dividida pela soma da Área (m²) (AH).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Cortes principais: Classificação de Obra (N), Tipologia de Obra (O) e Tipo Obra (3) (U).</a:t>
            </a:r>
          </a:p>
        </p:txBody>
      </p:sp>
      <p:sp>
        <p:nvSpPr>
          <p:cNvPr id="402" name="Text 402"/>
          <p:cNvSpPr txBox="1"/>
          <p:nvPr/>
        </p:nvSpPr>
        <p:spPr>
          <a:xfrm>
            <a:off x="841248" y="4983480"/>
            <a:ext cx="10332720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>
                <a:solidFill>
                  <a:srgbClr val="64748B"/>
                </a:solidFill>
              </a:rPr>
              <a:t>Arquivo complementar: dashboard HTML interativo com filtros, curva mensal e tabela detalhada.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743E72E677B5418F65344B8F9625B8" ma:contentTypeVersion="13" ma:contentTypeDescription="Create a new document." ma:contentTypeScope="" ma:versionID="9b7c6091a8065acca16dbd6d886ea45f">
  <xsd:schema xmlns:xsd="http://www.w3.org/2001/XMLSchema" xmlns:xs="http://www.w3.org/2001/XMLSchema" xmlns:p="http://schemas.microsoft.com/office/2006/metadata/properties" xmlns:ns2="8c47632e-f6f4-466b-b0d0-588b29b5bf13" xmlns:ns3="3def94a3-6d42-4c9e-8cca-d25e171edf55" targetNamespace="http://schemas.microsoft.com/office/2006/metadata/properties" ma:root="true" ma:fieldsID="17b4f5635420ce7267ce584baab8090d" ns2:_="" ns3:_="">
    <xsd:import namespace="8c47632e-f6f4-466b-b0d0-588b29b5bf13"/>
    <xsd:import namespace="3def94a3-6d42-4c9e-8cca-d25e171edf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47632e-f6f4-466b-b0d0-588b29b5bf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b9fa872-9146-4a37-bd18-27b38c3134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ef94a3-6d42-4c9e-8cca-d25e171edf5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03cb831-a9f1-4d46-93c8-45b84de82d74}" ma:internalName="TaxCatchAll" ma:showField="CatchAllData" ma:web="3def94a3-6d42-4c9e-8cca-d25e171edf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ef94a3-6d42-4c9e-8cca-d25e171edf55" xsi:nil="true"/>
    <lcf76f155ced4ddcb4097134ff3c332f xmlns="8c47632e-f6f4-466b-b0d0-588b29b5bf1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0405F8-7C50-46DE-AAB4-738335D97D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47632e-f6f4-466b-b0d0-588b29b5bf13"/>
    <ds:schemaRef ds:uri="3def94a3-6d42-4c9e-8cca-d25e171edf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53B927B-966A-4570-8174-F4A062D91A44}">
  <ds:schemaRefs>
    <ds:schemaRef ds:uri="http://schemas.microsoft.com/office/2006/metadata/properties"/>
    <ds:schemaRef ds:uri="http://schemas.microsoft.com/office/infopath/2007/PartnerControls"/>
    <ds:schemaRef ds:uri="3def94a3-6d42-4c9e-8cca-d25e171edf55"/>
    <ds:schemaRef ds:uri="8c47632e-f6f4-466b-b0d0-588b29b5bf13"/>
  </ds:schemaRefs>
</ds:datastoreItem>
</file>

<file path=customXml/itemProps3.xml><?xml version="1.0" encoding="utf-8"?>
<ds:datastoreItem xmlns:ds="http://schemas.openxmlformats.org/officeDocument/2006/customXml" ds:itemID="{0FFE7723-B2FA-4C0D-A1FF-D7E9F08B0C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841</Words>
  <Application>Microsoft Office PowerPoint</Application>
  <PresentationFormat>Widescreen</PresentationFormat>
  <Paragraphs>239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Luís Machado</dc:creator>
  <cp:lastModifiedBy>THALLES DAVIDY GONDIN DA SILVEIRA</cp:lastModifiedBy>
  <cp:revision>10</cp:revision>
  <dcterms:created xsi:type="dcterms:W3CDTF">2025-01-29T18:17:09Z</dcterms:created>
  <dcterms:modified xsi:type="dcterms:W3CDTF">2026-08-14T14:30:21Z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0x01010002743E72E677B5418F65344B8F9625B8</vt:lpwstr>
  </property>
  <property fmtid="{D5CDD505-2E9C-101B-9397-08002B2CF9AE}" pid="3" name="MediaServiceImageTags">
    <vt:lpwstr/>
  </property>
  <property fmtid="{D5CDD505-2E9C-101B-9397-08002B2CF9AE}" pid="4" name="MSIP_Label_f6648805-0676-427f-8b3f-8deff0dc1a0a_Enabled">
    <vt:lpwstr>true</vt:lpwstr>
  </property>
  <property fmtid="{D5CDD505-2E9C-101B-9397-08002B2CF9AE}" pid="5" name="MSIP_Label_f6648805-0676-427f-8b3f-8deff0dc1a0a_SetDate">
    <vt:lpwstr>2026-08-14T13:53:55Z</vt:lpwstr>
  </property>
  <property fmtid="{D5CDD505-2E9C-101B-9397-08002B2CF9AE}" pid="6" name="MSIP_Label_f6648805-0676-427f-8b3f-8deff0dc1a0a_Method">
    <vt:lpwstr>Privileged</vt:lpwstr>
  </property>
  <property fmtid="{D5CDD505-2E9C-101B-9397-08002B2CF9AE}" pid="7" name="MSIP_Label_f6648805-0676-427f-8b3f-8deff0dc1a0a_Name">
    <vt:lpwstr>Público</vt:lpwstr>
  </property>
  <property fmtid="{D5CDD505-2E9C-101B-9397-08002B2CF9AE}" pid="8" name="MSIP_Label_f6648805-0676-427f-8b3f-8deff0dc1a0a_SiteId">
    <vt:lpwstr>77d68323-6f4b-460f-8aae-d32c654ec490</vt:lpwstr>
  </property>
  <property fmtid="{D5CDD505-2E9C-101B-9397-08002B2CF9AE}" pid="9" name="MSIP_Label_f6648805-0676-427f-8b3f-8deff0dc1a0a_ActionId">
    <vt:lpwstr>95d6e18f-dc91-45cc-90ed-feeded5d8506</vt:lpwstr>
  </property>
  <property fmtid="{D5CDD505-2E9C-101B-9397-08002B2CF9AE}" pid="10" name="MSIP_Label_f6648805-0676-427f-8b3f-8deff0dc1a0a_ContentBits">
    <vt:lpwstr>3</vt:lpwstr>
  </property>
  <property fmtid="{D5CDD505-2E9C-101B-9397-08002B2CF9AE}" pid="11" name="MSIP_Label_f6648805-0676-427f-8b3f-8deff0dc1a0a_Tag">
    <vt:lpwstr>10, 0, 1, 1</vt:lpwstr>
  </property>
  <property fmtid="{D5CDD505-2E9C-101B-9397-08002B2CF9AE}" pid="12" name="ClassificationContentMarkingFooterLocations">
    <vt:lpwstr>Tema do Office:10</vt:lpwstr>
  </property>
  <property fmtid="{D5CDD505-2E9C-101B-9397-08002B2CF9AE}" pid="13" name="ClassificationContentMarkingFooterText">
    <vt:lpwstr>PÚBLICO</vt:lpwstr>
  </property>
  <property fmtid="{D5CDD505-2E9C-101B-9397-08002B2CF9AE}" pid="14" name="ClassificationContentMarkingHeaderLocations">
    <vt:lpwstr>Tema do Office:9</vt:lpwstr>
  </property>
  <property fmtid="{D5CDD505-2E9C-101B-9397-08002B2CF9AE}" pid="15" name="ClassificationContentMarkingHeaderText">
    <vt:lpwstr>PÚBLICO</vt:lpwstr>
  </property>
</Properties>
</file>