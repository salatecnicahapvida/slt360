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43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LLES DAVIDY GONDIN DA SILVEIRA" userId="a3416262-0fac-4856-884e-2c0d7e6e898d" providerId="ADAL" clId="{1418AD27-A7E6-4FFD-8E07-7066023A75C3}"/>
    <pc:docChg chg="custSel mod modSld modMainMaster">
      <pc:chgData name="THALLES DAVIDY GONDIN DA SILVEIRA" userId="a3416262-0fac-4856-884e-2c0d7e6e898d" providerId="ADAL" clId="{1418AD27-A7E6-4FFD-8E07-7066023A75C3}" dt="2026-08-17T14:44:36.719" v="44" actId="478"/>
      <pc:docMkLst>
        <pc:docMk/>
      </pc:docMkLst>
      <pc:sldChg chg="delSp modSp mod">
        <pc:chgData name="THALLES DAVIDY GONDIN DA SILVEIRA" userId="a3416262-0fac-4856-884e-2c0d7e6e898d" providerId="ADAL" clId="{1418AD27-A7E6-4FFD-8E07-7066023A75C3}" dt="2026-08-17T14:41:48.035" v="23" actId="478"/>
        <pc:sldMkLst>
          <pc:docMk/>
          <pc:sldMk cId="0" sldId="256"/>
        </pc:sldMkLst>
        <pc:spChg chg="del">
          <ac:chgData name="THALLES DAVIDY GONDIN DA SILVEIRA" userId="a3416262-0fac-4856-884e-2c0d7e6e898d" providerId="ADAL" clId="{1418AD27-A7E6-4FFD-8E07-7066023A75C3}" dt="2026-08-17T14:40:04.744" v="3" actId="478"/>
          <ac:spMkLst>
            <pc:docMk/>
            <pc:sldMk cId="0" sldId="256"/>
            <ac:spMk id="1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4:40:27.601" v="7" actId="6549"/>
          <ac:spMkLst>
            <pc:docMk/>
            <pc:sldMk cId="0" sldId="256"/>
            <ac:spMk id="2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4:40:37.446" v="9" actId="6549"/>
          <ac:spMkLst>
            <pc:docMk/>
            <pc:sldMk cId="0" sldId="256"/>
            <ac:spMk id="2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4:40:49.653" v="11" actId="255"/>
          <ac:spMkLst>
            <pc:docMk/>
            <pc:sldMk cId="0" sldId="256"/>
            <ac:spMk id="22" creationId="{00000000-0000-0000-0000-000000000000}"/>
          </ac:spMkLst>
        </pc:spChg>
        <pc:spChg chg="del">
          <ac:chgData name="THALLES DAVIDY GONDIN DA SILVEIRA" userId="a3416262-0fac-4856-884e-2c0d7e6e898d" providerId="ADAL" clId="{1418AD27-A7E6-4FFD-8E07-7066023A75C3}" dt="2026-08-17T14:40:57.539" v="12" actId="478"/>
          <ac:spMkLst>
            <pc:docMk/>
            <pc:sldMk cId="0" sldId="256"/>
            <ac:spMk id="23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4:41:31.138" v="16" actId="1076"/>
          <ac:spMkLst>
            <pc:docMk/>
            <pc:sldMk cId="0" sldId="256"/>
            <ac:spMk id="45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4:41:38.305" v="17" actId="1076"/>
          <ac:spMkLst>
            <pc:docMk/>
            <pc:sldMk cId="0" sldId="256"/>
            <ac:spMk id="84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4:41:38.305" v="17" actId="1076"/>
          <ac:spMkLst>
            <pc:docMk/>
            <pc:sldMk cId="0" sldId="256"/>
            <ac:spMk id="87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4:41:38.305" v="17" actId="1076"/>
          <ac:spMkLst>
            <pc:docMk/>
            <pc:sldMk cId="0" sldId="256"/>
            <ac:spMk id="9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4:41:13.790" v="14" actId="120"/>
          <ac:spMkLst>
            <pc:docMk/>
            <pc:sldMk cId="0" sldId="256"/>
            <ac:spMk id="93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4:41:38.305" v="17" actId="1076"/>
          <ac:spMkLst>
            <pc:docMk/>
            <pc:sldMk cId="0" sldId="256"/>
            <ac:spMk id="94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4:41:13.790" v="14" actId="120"/>
          <ac:spMkLst>
            <pc:docMk/>
            <pc:sldMk cId="0" sldId="256"/>
            <ac:spMk id="99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4:41:38.305" v="17" actId="1076"/>
          <ac:spMkLst>
            <pc:docMk/>
            <pc:sldMk cId="0" sldId="256"/>
            <ac:spMk id="10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4:41:13.790" v="14" actId="120"/>
          <ac:spMkLst>
            <pc:docMk/>
            <pc:sldMk cId="0" sldId="256"/>
            <ac:spMk id="11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4:41:13.790" v="14" actId="120"/>
          <ac:spMkLst>
            <pc:docMk/>
            <pc:sldMk cId="0" sldId="256"/>
            <ac:spMk id="117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4:41:13.790" v="14" actId="120"/>
          <ac:spMkLst>
            <pc:docMk/>
            <pc:sldMk cId="0" sldId="256"/>
            <ac:spMk id="123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4:41:38.305" v="17" actId="1076"/>
          <ac:spMkLst>
            <pc:docMk/>
            <pc:sldMk cId="0" sldId="256"/>
            <ac:spMk id="128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4:41:13.790" v="14" actId="120"/>
          <ac:spMkLst>
            <pc:docMk/>
            <pc:sldMk cId="0" sldId="256"/>
            <ac:spMk id="129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4:41:38.305" v="17" actId="1076"/>
          <ac:spMkLst>
            <pc:docMk/>
            <pc:sldMk cId="0" sldId="256"/>
            <ac:spMk id="132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4:41:13.790" v="14" actId="120"/>
          <ac:spMkLst>
            <pc:docMk/>
            <pc:sldMk cId="0" sldId="256"/>
            <ac:spMk id="135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4:41:13.790" v="14" actId="120"/>
          <ac:spMkLst>
            <pc:docMk/>
            <pc:sldMk cId="0" sldId="256"/>
            <ac:spMk id="14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4:41:38.305" v="17" actId="1076"/>
          <ac:spMkLst>
            <pc:docMk/>
            <pc:sldMk cId="0" sldId="256"/>
            <ac:spMk id="143" creationId="{00000000-0000-0000-0000-000000000000}"/>
          </ac:spMkLst>
        </pc:spChg>
        <pc:spChg chg="del">
          <ac:chgData name="THALLES DAVIDY GONDIN DA SILVEIRA" userId="a3416262-0fac-4856-884e-2c0d7e6e898d" providerId="ADAL" clId="{1418AD27-A7E6-4FFD-8E07-7066023A75C3}" dt="2026-08-17T14:41:43.476" v="18" actId="478"/>
          <ac:spMkLst>
            <pc:docMk/>
            <pc:sldMk cId="0" sldId="256"/>
            <ac:spMk id="152" creationId="{00000000-0000-0000-0000-000000000000}"/>
          </ac:spMkLst>
        </pc:spChg>
        <pc:spChg chg="del mod">
          <ac:chgData name="THALLES DAVIDY GONDIN DA SILVEIRA" userId="a3416262-0fac-4856-884e-2c0d7e6e898d" providerId="ADAL" clId="{1418AD27-A7E6-4FFD-8E07-7066023A75C3}" dt="2026-08-17T14:41:44.623" v="19" actId="478"/>
          <ac:spMkLst>
            <pc:docMk/>
            <pc:sldMk cId="0" sldId="256"/>
            <ac:spMk id="153" creationId="{00000000-0000-0000-0000-000000000000}"/>
          </ac:spMkLst>
        </pc:spChg>
        <pc:spChg chg="del">
          <ac:chgData name="THALLES DAVIDY GONDIN DA SILVEIRA" userId="a3416262-0fac-4856-884e-2c0d7e6e898d" providerId="ADAL" clId="{1418AD27-A7E6-4FFD-8E07-7066023A75C3}" dt="2026-08-17T14:41:45.743" v="20" actId="478"/>
          <ac:spMkLst>
            <pc:docMk/>
            <pc:sldMk cId="0" sldId="256"/>
            <ac:spMk id="154" creationId="{00000000-0000-0000-0000-000000000000}"/>
          </ac:spMkLst>
        </pc:spChg>
        <pc:spChg chg="del">
          <ac:chgData name="THALLES DAVIDY GONDIN DA SILVEIRA" userId="a3416262-0fac-4856-884e-2c0d7e6e898d" providerId="ADAL" clId="{1418AD27-A7E6-4FFD-8E07-7066023A75C3}" dt="2026-08-17T14:41:46.351" v="21" actId="478"/>
          <ac:spMkLst>
            <pc:docMk/>
            <pc:sldMk cId="0" sldId="256"/>
            <ac:spMk id="155" creationId="{00000000-0000-0000-0000-000000000000}"/>
          </ac:spMkLst>
        </pc:spChg>
        <pc:spChg chg="del">
          <ac:chgData name="THALLES DAVIDY GONDIN DA SILVEIRA" userId="a3416262-0fac-4856-884e-2c0d7e6e898d" providerId="ADAL" clId="{1418AD27-A7E6-4FFD-8E07-7066023A75C3}" dt="2026-08-17T14:41:47.093" v="22" actId="478"/>
          <ac:spMkLst>
            <pc:docMk/>
            <pc:sldMk cId="0" sldId="256"/>
            <ac:spMk id="156" creationId="{00000000-0000-0000-0000-000000000000}"/>
          </ac:spMkLst>
        </pc:spChg>
        <pc:spChg chg="del mod">
          <ac:chgData name="THALLES DAVIDY GONDIN DA SILVEIRA" userId="a3416262-0fac-4856-884e-2c0d7e6e898d" providerId="ADAL" clId="{1418AD27-A7E6-4FFD-8E07-7066023A75C3}" dt="2026-08-17T14:41:48.035" v="23" actId="478"/>
          <ac:spMkLst>
            <pc:docMk/>
            <pc:sldMk cId="0" sldId="256"/>
            <ac:spMk id="157" creationId="{00000000-0000-0000-0000-000000000000}"/>
          </ac:spMkLst>
        </pc:spChg>
        <pc:spChg chg="del mod">
          <ac:chgData name="THALLES DAVIDY GONDIN DA SILVEIRA" userId="a3416262-0fac-4856-884e-2c0d7e6e898d" providerId="ADAL" clId="{1418AD27-A7E6-4FFD-8E07-7066023A75C3}" dt="2026-08-17T14:41:00.369" v="13" actId="478"/>
          <ac:spMkLst>
            <pc:docMk/>
            <pc:sldMk cId="0" sldId="256"/>
            <ac:spMk id="25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4:40:15.134" v="5" actId="1076"/>
          <ac:spMkLst>
            <pc:docMk/>
            <pc:sldMk cId="0" sldId="256"/>
            <ac:spMk id="902" creationId="{00000000-0000-0000-0000-000000000000}"/>
          </ac:spMkLst>
        </pc:spChg>
      </pc:sldChg>
      <pc:sldChg chg="delSp modSp mod">
        <pc:chgData name="THALLES DAVIDY GONDIN DA SILVEIRA" userId="a3416262-0fac-4856-884e-2c0d7e6e898d" providerId="ADAL" clId="{1418AD27-A7E6-4FFD-8E07-7066023A75C3}" dt="2026-08-17T14:44:03.151" v="41" actId="478"/>
        <pc:sldMkLst>
          <pc:docMk/>
          <pc:sldMk cId="0" sldId="257"/>
        </pc:sldMkLst>
        <pc:spChg chg="del">
          <ac:chgData name="THALLES DAVIDY GONDIN DA SILVEIRA" userId="a3416262-0fac-4856-884e-2c0d7e6e898d" providerId="ADAL" clId="{1418AD27-A7E6-4FFD-8E07-7066023A75C3}" dt="2026-08-17T14:44:03.151" v="41" actId="478"/>
          <ac:spMkLst>
            <pc:docMk/>
            <pc:sldMk cId="0" sldId="257"/>
            <ac:spMk id="1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4:42:17.603" v="26" actId="255"/>
          <ac:spMkLst>
            <pc:docMk/>
            <pc:sldMk cId="0" sldId="257"/>
            <ac:spMk id="2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4:42:23.508" v="27" actId="255"/>
          <ac:spMkLst>
            <pc:docMk/>
            <pc:sldMk cId="0" sldId="257"/>
            <ac:spMk id="2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4:42:28.805" v="28" actId="255"/>
          <ac:spMkLst>
            <pc:docMk/>
            <pc:sldMk cId="0" sldId="257"/>
            <ac:spMk id="22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4:42:33.782" v="29" actId="255"/>
          <ac:spMkLst>
            <pc:docMk/>
            <pc:sldMk cId="0" sldId="257"/>
            <ac:spMk id="23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4:42:54.985" v="31" actId="1076"/>
          <ac:spMkLst>
            <pc:docMk/>
            <pc:sldMk cId="0" sldId="257"/>
            <ac:spMk id="6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4:42:42.859" v="30" actId="255"/>
          <ac:spMkLst>
            <pc:docMk/>
            <pc:sldMk cId="0" sldId="257"/>
            <ac:spMk id="10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4:42:42.859" v="30" actId="255"/>
          <ac:spMkLst>
            <pc:docMk/>
            <pc:sldMk cId="0" sldId="257"/>
            <ac:spMk id="102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4:42:42.859" v="30" actId="255"/>
          <ac:spMkLst>
            <pc:docMk/>
            <pc:sldMk cId="0" sldId="257"/>
            <ac:spMk id="107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4:42:42.859" v="30" actId="255"/>
          <ac:spMkLst>
            <pc:docMk/>
            <pc:sldMk cId="0" sldId="257"/>
            <ac:spMk id="113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4:42:42.859" v="30" actId="255"/>
          <ac:spMkLst>
            <pc:docMk/>
            <pc:sldMk cId="0" sldId="257"/>
            <ac:spMk id="124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4:42:42.859" v="30" actId="255"/>
          <ac:spMkLst>
            <pc:docMk/>
            <pc:sldMk cId="0" sldId="257"/>
            <ac:spMk id="13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4:42:42.859" v="30" actId="255"/>
          <ac:spMkLst>
            <pc:docMk/>
            <pc:sldMk cId="0" sldId="257"/>
            <ac:spMk id="13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4:42:42.859" v="30" actId="255"/>
          <ac:spMkLst>
            <pc:docMk/>
            <pc:sldMk cId="0" sldId="257"/>
            <ac:spMk id="137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4:42:42.859" v="30" actId="255"/>
          <ac:spMkLst>
            <pc:docMk/>
            <pc:sldMk cId="0" sldId="257"/>
            <ac:spMk id="146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4:42:05.057" v="25" actId="255"/>
          <ac:spMkLst>
            <pc:docMk/>
            <pc:sldMk cId="0" sldId="257"/>
            <ac:spMk id="902" creationId="{00000000-0000-0000-0000-000000000000}"/>
          </ac:spMkLst>
        </pc:spChg>
      </pc:sldChg>
      <pc:sldChg chg="delSp modSp mod">
        <pc:chgData name="THALLES DAVIDY GONDIN DA SILVEIRA" userId="a3416262-0fac-4856-884e-2c0d7e6e898d" providerId="ADAL" clId="{1418AD27-A7E6-4FFD-8E07-7066023A75C3}" dt="2026-08-17T14:44:36.719" v="44" actId="478"/>
        <pc:sldMkLst>
          <pc:docMk/>
          <pc:sldMk cId="0" sldId="258"/>
        </pc:sldMkLst>
        <pc:spChg chg="del">
          <ac:chgData name="THALLES DAVIDY GONDIN DA SILVEIRA" userId="a3416262-0fac-4856-884e-2c0d7e6e898d" providerId="ADAL" clId="{1418AD27-A7E6-4FFD-8E07-7066023A75C3}" dt="2026-08-17T14:43:58.610" v="40" actId="478"/>
          <ac:spMkLst>
            <pc:docMk/>
            <pc:sldMk cId="0" sldId="258"/>
            <ac:spMk id="1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4:43:33.121" v="37" actId="255"/>
          <ac:spMkLst>
            <pc:docMk/>
            <pc:sldMk cId="0" sldId="258"/>
            <ac:spMk id="2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4:43:28.624" v="36" actId="255"/>
          <ac:spMkLst>
            <pc:docMk/>
            <pc:sldMk cId="0" sldId="258"/>
            <ac:spMk id="2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4:43:23.329" v="35" actId="255"/>
          <ac:spMkLst>
            <pc:docMk/>
            <pc:sldMk cId="0" sldId="258"/>
            <ac:spMk id="22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4:43:15.221" v="33" actId="255"/>
          <ac:spMkLst>
            <pc:docMk/>
            <pc:sldMk cId="0" sldId="258"/>
            <ac:spMk id="23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4:43:41.366" v="38" actId="1076"/>
          <ac:spMkLst>
            <pc:docMk/>
            <pc:sldMk cId="0" sldId="258"/>
            <ac:spMk id="6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4:43:05.853" v="32" actId="255"/>
          <ac:spMkLst>
            <pc:docMk/>
            <pc:sldMk cId="0" sldId="258"/>
            <ac:spMk id="105" creationId="{00000000-0000-0000-0000-000000000000}"/>
          </ac:spMkLst>
        </pc:spChg>
        <pc:spChg chg="del">
          <ac:chgData name="THALLES DAVIDY GONDIN DA SILVEIRA" userId="a3416262-0fac-4856-884e-2c0d7e6e898d" providerId="ADAL" clId="{1418AD27-A7E6-4FFD-8E07-7066023A75C3}" dt="2026-08-17T14:44:30.400" v="42" actId="478"/>
          <ac:spMkLst>
            <pc:docMk/>
            <pc:sldMk cId="0" sldId="258"/>
            <ac:spMk id="114" creationId="{00000000-0000-0000-0000-000000000000}"/>
          </ac:spMkLst>
        </pc:spChg>
        <pc:spChg chg="del mod">
          <ac:chgData name="THALLES DAVIDY GONDIN DA SILVEIRA" userId="a3416262-0fac-4856-884e-2c0d7e6e898d" providerId="ADAL" clId="{1418AD27-A7E6-4FFD-8E07-7066023A75C3}" dt="2026-08-17T14:44:36.719" v="44" actId="478"/>
          <ac:spMkLst>
            <pc:docMk/>
            <pc:sldMk cId="0" sldId="258"/>
            <ac:spMk id="115" creationId="{00000000-0000-0000-0000-000000000000}"/>
          </ac:spMkLst>
        </pc:spChg>
        <pc:spChg chg="del mod">
          <ac:chgData name="THALLES DAVIDY GONDIN DA SILVEIRA" userId="a3416262-0fac-4856-884e-2c0d7e6e898d" providerId="ADAL" clId="{1418AD27-A7E6-4FFD-8E07-7066023A75C3}" dt="2026-08-17T14:44:30.400" v="42" actId="478"/>
          <ac:spMkLst>
            <pc:docMk/>
            <pc:sldMk cId="0" sldId="258"/>
            <ac:spMk id="116" creationId="{00000000-0000-0000-0000-000000000000}"/>
          </ac:spMkLst>
        </pc:spChg>
        <pc:spChg chg="del">
          <ac:chgData name="THALLES DAVIDY GONDIN DA SILVEIRA" userId="a3416262-0fac-4856-884e-2c0d7e6e898d" providerId="ADAL" clId="{1418AD27-A7E6-4FFD-8E07-7066023A75C3}" dt="2026-08-17T14:44:30.400" v="42" actId="478"/>
          <ac:spMkLst>
            <pc:docMk/>
            <pc:sldMk cId="0" sldId="258"/>
            <ac:spMk id="117" creationId="{00000000-0000-0000-0000-000000000000}"/>
          </ac:spMkLst>
        </pc:spChg>
        <pc:spChg chg="del">
          <ac:chgData name="THALLES DAVIDY GONDIN DA SILVEIRA" userId="a3416262-0fac-4856-884e-2c0d7e6e898d" providerId="ADAL" clId="{1418AD27-A7E6-4FFD-8E07-7066023A75C3}" dt="2026-08-17T14:44:30.400" v="42" actId="478"/>
          <ac:spMkLst>
            <pc:docMk/>
            <pc:sldMk cId="0" sldId="258"/>
            <ac:spMk id="118" creationId="{00000000-0000-0000-0000-000000000000}"/>
          </ac:spMkLst>
        </pc:spChg>
        <pc:spChg chg="del">
          <ac:chgData name="THALLES DAVIDY GONDIN DA SILVEIRA" userId="a3416262-0fac-4856-884e-2c0d7e6e898d" providerId="ADAL" clId="{1418AD27-A7E6-4FFD-8E07-7066023A75C3}" dt="2026-08-17T14:44:30.400" v="42" actId="478"/>
          <ac:spMkLst>
            <pc:docMk/>
            <pc:sldMk cId="0" sldId="258"/>
            <ac:spMk id="119" creationId="{00000000-0000-0000-0000-000000000000}"/>
          </ac:spMkLst>
        </pc:spChg>
        <pc:spChg chg="del mod">
          <ac:chgData name="THALLES DAVIDY GONDIN DA SILVEIRA" userId="a3416262-0fac-4856-884e-2c0d7e6e898d" providerId="ADAL" clId="{1418AD27-A7E6-4FFD-8E07-7066023A75C3}" dt="2026-08-17T14:44:30.400" v="42" actId="478"/>
          <ac:spMkLst>
            <pc:docMk/>
            <pc:sldMk cId="0" sldId="258"/>
            <ac:spMk id="12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4:43:05.853" v="32" actId="255"/>
          <ac:spMkLst>
            <pc:docMk/>
            <pc:sldMk cId="0" sldId="258"/>
            <ac:spMk id="125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4:43:05.853" v="32" actId="255"/>
          <ac:spMkLst>
            <pc:docMk/>
            <pc:sldMk cId="0" sldId="258"/>
            <ac:spMk id="126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4:43:05.853" v="32" actId="255"/>
          <ac:spMkLst>
            <pc:docMk/>
            <pc:sldMk cId="0" sldId="258"/>
            <ac:spMk id="13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4:43:05.853" v="32" actId="255"/>
          <ac:spMkLst>
            <pc:docMk/>
            <pc:sldMk cId="0" sldId="258"/>
            <ac:spMk id="134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4:43:05.853" v="32" actId="255"/>
          <ac:spMkLst>
            <pc:docMk/>
            <pc:sldMk cId="0" sldId="258"/>
            <ac:spMk id="136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4:43:05.853" v="32" actId="255"/>
          <ac:spMkLst>
            <pc:docMk/>
            <pc:sldMk cId="0" sldId="258"/>
            <ac:spMk id="14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4:43:54.598" v="39" actId="255"/>
          <ac:spMkLst>
            <pc:docMk/>
            <pc:sldMk cId="0" sldId="258"/>
            <ac:spMk id="902" creationId="{00000000-0000-0000-0000-000000000000}"/>
          </ac:spMkLst>
        </pc:spChg>
      </pc:sldChg>
      <pc:sldMasterChg chg="addSp mod">
        <pc:chgData name="THALLES DAVIDY GONDIN DA SILVEIRA" userId="a3416262-0fac-4856-884e-2c0d7e6e898d" providerId="ADAL" clId="{1418AD27-A7E6-4FFD-8E07-7066023A75C3}" dt="2026-08-17T14:39:31.537" v="0" actId="33475"/>
        <pc:sldMasterMkLst>
          <pc:docMk/>
          <pc:sldMasterMk cId="2640674209" sldId="2147483648"/>
        </pc:sldMasterMkLst>
        <pc:spChg chg="add">
          <ac:chgData name="THALLES DAVIDY GONDIN DA SILVEIRA" userId="a3416262-0fac-4856-884e-2c0d7e6e898d" providerId="ADAL" clId="{1418AD27-A7E6-4FFD-8E07-7066023A75C3}" dt="2026-08-17T14:39:31.537" v="0" actId="33475"/>
          <ac:spMkLst>
            <pc:docMk/>
            <pc:sldMasterMk cId="2640674209" sldId="2147483648"/>
            <ac:spMk id="9" creationId="{87E2E3EC-1DE5-9B6C-53ED-E53C9664B321}"/>
          </ac:spMkLst>
        </pc:spChg>
        <pc:spChg chg="add">
          <ac:chgData name="THALLES DAVIDY GONDIN DA SILVEIRA" userId="a3416262-0fac-4856-884e-2c0d7e6e898d" providerId="ADAL" clId="{1418AD27-A7E6-4FFD-8E07-7066023A75C3}" dt="2026-08-17T14:39:31.537" v="0" actId="33475"/>
          <ac:spMkLst>
            <pc:docMk/>
            <pc:sldMasterMk cId="2640674209" sldId="2147483648"/>
            <ac:spMk id="10" creationId="{E127851A-E492-6A5C-2D5C-97F41DBD36F9}"/>
          </ac:spMkLst>
        </pc:sp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F4DD3B-A89E-4F11-BC03-A6EC2D3C35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48CF5F7-8240-46B3-9B58-189CADB890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93F4E7-616C-42E7-AA53-7D53A481B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159AAD-5FFF-4C55-AE91-74879D35E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9A83A00-C2AA-40AA-9898-26BFCFA98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6492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0A9920-B79B-4806-AFC3-6B18FB41E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9ECF1E-EFE2-407B-94FD-7B20AE919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F098B5D-16BC-4861-8D94-245E392B6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0A2E305-2544-4735-B639-40C968382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AB1A35A-8DF2-47E9-A4EF-4D673FC40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0570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DDD76B-5BBC-4080-944A-B684B1F43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6FA57D6-9D8A-49BD-891D-3FB4A4871F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0F831F4-C470-46E6-A682-B814BDC5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84C8576-D5A3-49FF-AF46-45B12387E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3AD2232-F8D3-426A-AB8B-1A412A619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708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A4686D-7C47-4E04-BCEB-3821F5701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724C2B-BFF9-4A25-BD5E-B69CCF793B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AE242AF-4D20-47AB-9363-BB63DB6AB6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E1E022C-49BB-4F66-B77E-43D227B3C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D816F0F-7FA9-4D3B-9718-4996582E0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EDB9501-C461-4A0B-8450-14546430F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9727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8B6E27-5D78-4A69-BDE1-0697A2DBE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9E160F9-47B9-45A6-817E-2F638FF61B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4DA7551-F322-486F-B2CF-8AE5E12C9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6549817-B01A-4F77-B716-B7585BF09D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BEC9372-1182-4A24-9C9E-1212F25FCB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AA98BF5-B259-4849-B7DA-1588B00F3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779DBB3-C0AD-4FF5-B33D-8C34B09CE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D2CB255-A8B7-40B3-AA33-06D0212FF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7280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1D93C1-CF34-49A8-9B7A-A49937BA4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154AD72-C7B6-443E-82B6-262FC8D07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3CFE4FF-6A89-4A43-9613-A54FC4323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3BB27D8-2D61-47FA-97F8-A50737227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9252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01B2DCF-DD2B-4CAF-83EA-549C9AD47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85AB182-8F1E-4950-809D-15B1CC259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913C851-F495-4E93-BFD1-B862432E1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8125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D9FB66-A81D-433B-8C22-6D859CB03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39CC1A-872A-4C6F-823C-8E29BC36C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82A2822-AFE9-4C82-9881-A26FEFCF35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F882C72-065F-48D0-8768-1F43AB81B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038A36A-44B6-47E9-93AA-CC5E6A223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942288D-CC5B-4A49-99AC-7713E6D2F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5698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46140D-32EC-46F8-A9A5-1C6E75E40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75FC306-4FCB-4B18-B502-AE65826597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F0AC739-A323-4448-B8C4-2762F4FBB6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416EFC2-DAD8-4248-8DC5-9A7834778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09E31B2-93F5-4D57-985F-B24ADB4E2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70120D-5868-489F-9D49-B0EE41946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1672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6EEBDD-1DA1-4F36-8FC5-71723EF92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160F00C-D951-481E-AFE8-184ED25393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9B54D75-17DA-4BEE-B769-B5A63D0EC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97AF13-AB2C-453D-BAC5-8E62BBCD2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A65E0CB-E3AE-4604-B4CA-4FBFA1E20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933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DBE872F-3A91-4840-97AA-4DC75728E7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5410A31-7ADE-4773-A5B3-20BC696D5D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740E3D7-B2B7-4538-9B3A-694017475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61CD025-AAA9-4410-9427-D5B8ADFE7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C4D7061-3F4E-403C-A1DF-F6263546C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8376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2D13E89-B7E6-4FB1-A198-5BF1FDC08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22D2752-5C57-4465-BE4B-9741DF30E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D3C341-462D-4794-A7BD-062C008AB6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E4B88C-D34A-4CD5-B9C4-59339CA8098E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9123974-86EE-4C0F-9F68-A603C447E2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3C6F05E-01A6-4646-9137-21207EF986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7E2E3EC-1DE5-9B6C-53ED-E53C9664B32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39587" y="63500"/>
            <a:ext cx="5381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PÚBLICO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127851A-E492-6A5C-2D5C-97F41DBD36F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39587" y="6642100"/>
            <a:ext cx="5381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PÚBLICO</a:t>
            </a:r>
          </a:p>
        </p:txBody>
      </p:sp>
    </p:spTree>
    <p:extLst>
      <p:ext uri="{BB962C8B-B14F-4D97-AF65-F5344CB8AC3E}">
        <p14:creationId xmlns:p14="http://schemas.microsoft.com/office/powerpoint/2010/main" val="2640674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55648" y="7435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2200" b="1" dirty="0">
                <a:solidFill>
                  <a:srgbClr val="FFFFFF"/>
                </a:solidFill>
              </a:rPr>
              <a:t>Resumo executivo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800">
                <a:solidFill>
                  <a:srgbClr val="50617F"/>
                </a:solidFill>
              </a:rPr>
              <a:t>1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66928" y="749808"/>
            <a:ext cx="8046720" cy="402336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2200" b="1">
                <a:solidFill>
                  <a:srgbClr val="15253F"/>
                </a:solidFill>
              </a:rPr>
              <a:t>Obras por tipologia e ano de finalizacao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66928" y="1261872"/>
            <a:ext cx="2148840" cy="71323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100" b="1" dirty="0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109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898648" y="1261872"/>
            <a:ext cx="2148840" cy="713232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100" b="1" dirty="0">
                <a:solidFill>
                  <a:srgbClr val="FFFFFF"/>
                </a:solidFill>
              </a:rPr>
              <a:t>Area</a:t>
            </a: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131,8 mil m2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5230368" y="1261872"/>
            <a:ext cx="2148840" cy="713232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100" b="1" dirty="0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R$ 293,3 mi</a:t>
            </a:r>
          </a:p>
        </p:txBody>
      </p:sp>
      <p:sp>
        <p:nvSpPr>
          <p:cNvPr id="45" name="Text 45"/>
          <p:cNvSpPr txBox="1"/>
          <p:nvPr/>
        </p:nvSpPr>
        <p:spPr>
          <a:xfrm>
            <a:off x="566928" y="2203704"/>
            <a:ext cx="7132320" cy="256032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253F8E"/>
                </a:solidFill>
              </a:rPr>
              <a:t>Resumo por tipologia e ano</a:t>
            </a:r>
          </a:p>
        </p:txBody>
      </p:sp>
      <p:sp>
        <p:nvSpPr>
          <p:cNvPr id="80" name="Text 80"/>
          <p:cNvSpPr txBox="1"/>
          <p:nvPr/>
        </p:nvSpPr>
        <p:spPr>
          <a:xfrm>
            <a:off x="603504" y="2481613"/>
            <a:ext cx="960120" cy="29260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Ano</a:t>
            </a:r>
          </a:p>
        </p:txBody>
      </p:sp>
      <p:sp>
        <p:nvSpPr>
          <p:cNvPr id="81" name="Text 81"/>
          <p:cNvSpPr txBox="1"/>
          <p:nvPr/>
        </p:nvSpPr>
        <p:spPr>
          <a:xfrm>
            <a:off x="1563624" y="2481613"/>
            <a:ext cx="3063240" cy="29260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Tipologia</a:t>
            </a:r>
          </a:p>
        </p:txBody>
      </p:sp>
      <p:sp>
        <p:nvSpPr>
          <p:cNvPr id="82" name="Text 82"/>
          <p:cNvSpPr txBox="1"/>
          <p:nvPr/>
        </p:nvSpPr>
        <p:spPr>
          <a:xfrm>
            <a:off x="4626864" y="2481613"/>
            <a:ext cx="640080" cy="29260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83" name="Text 83"/>
          <p:cNvSpPr txBox="1"/>
          <p:nvPr/>
        </p:nvSpPr>
        <p:spPr>
          <a:xfrm>
            <a:off x="5266944" y="2481613"/>
            <a:ext cx="1097280" cy="29260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m2</a:t>
            </a:r>
          </a:p>
        </p:txBody>
      </p:sp>
      <p:sp>
        <p:nvSpPr>
          <p:cNvPr id="84" name="Text 84"/>
          <p:cNvSpPr txBox="1"/>
          <p:nvPr/>
        </p:nvSpPr>
        <p:spPr>
          <a:xfrm>
            <a:off x="6364224" y="2481613"/>
            <a:ext cx="1234440" cy="29260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85" name="Text 85"/>
          <p:cNvSpPr txBox="1"/>
          <p:nvPr/>
        </p:nvSpPr>
        <p:spPr>
          <a:xfrm>
            <a:off x="7598664" y="2481613"/>
            <a:ext cx="960120" cy="29260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R$/m2</a:t>
            </a:r>
          </a:p>
        </p:txBody>
      </p:sp>
      <p:sp>
        <p:nvSpPr>
          <p:cNvPr id="86" name="Text 86"/>
          <p:cNvSpPr txBox="1"/>
          <p:nvPr/>
        </p:nvSpPr>
        <p:spPr>
          <a:xfrm>
            <a:off x="603504" y="2774221"/>
            <a:ext cx="9601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2023</a:t>
            </a:r>
          </a:p>
        </p:txBody>
      </p:sp>
      <p:sp>
        <p:nvSpPr>
          <p:cNvPr id="87" name="Text 87"/>
          <p:cNvSpPr txBox="1"/>
          <p:nvPr/>
        </p:nvSpPr>
        <p:spPr>
          <a:xfrm>
            <a:off x="1563624" y="2774221"/>
            <a:ext cx="30632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r>
              <a:rPr lang="pt-BR" sz="1000">
                <a:solidFill>
                  <a:srgbClr val="15253F"/>
                </a:solidFill>
              </a:rPr>
              <a:t>Hospitais</a:t>
            </a:r>
          </a:p>
        </p:txBody>
      </p:sp>
      <p:sp>
        <p:nvSpPr>
          <p:cNvPr id="88" name="Text 88"/>
          <p:cNvSpPr txBox="1"/>
          <p:nvPr/>
        </p:nvSpPr>
        <p:spPr>
          <a:xfrm>
            <a:off x="4626864" y="2774221"/>
            <a:ext cx="6400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6</a:t>
            </a:r>
          </a:p>
        </p:txBody>
      </p:sp>
      <p:sp>
        <p:nvSpPr>
          <p:cNvPr id="89" name="Text 89"/>
          <p:cNvSpPr txBox="1"/>
          <p:nvPr/>
        </p:nvSpPr>
        <p:spPr>
          <a:xfrm>
            <a:off x="5266944" y="2774221"/>
            <a:ext cx="10972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15,3 mil m2</a:t>
            </a:r>
          </a:p>
        </p:txBody>
      </p:sp>
      <p:sp>
        <p:nvSpPr>
          <p:cNvPr id="90" name="Text 90"/>
          <p:cNvSpPr txBox="1"/>
          <p:nvPr/>
        </p:nvSpPr>
        <p:spPr>
          <a:xfrm>
            <a:off x="6364224" y="2774221"/>
            <a:ext cx="12344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R$ 29,7 mi</a:t>
            </a:r>
          </a:p>
        </p:txBody>
      </p:sp>
      <p:sp>
        <p:nvSpPr>
          <p:cNvPr id="91" name="Text 91"/>
          <p:cNvSpPr txBox="1"/>
          <p:nvPr/>
        </p:nvSpPr>
        <p:spPr>
          <a:xfrm>
            <a:off x="7598664" y="2774221"/>
            <a:ext cx="9601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R$ 2.009</a:t>
            </a:r>
          </a:p>
        </p:txBody>
      </p:sp>
      <p:sp>
        <p:nvSpPr>
          <p:cNvPr id="92" name="Text 92"/>
          <p:cNvSpPr txBox="1"/>
          <p:nvPr/>
        </p:nvSpPr>
        <p:spPr>
          <a:xfrm>
            <a:off x="603504" y="3066829"/>
            <a:ext cx="96012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2024</a:t>
            </a:r>
          </a:p>
        </p:txBody>
      </p:sp>
      <p:sp>
        <p:nvSpPr>
          <p:cNvPr id="93" name="Text 93"/>
          <p:cNvSpPr txBox="1"/>
          <p:nvPr/>
        </p:nvSpPr>
        <p:spPr>
          <a:xfrm>
            <a:off x="1563624" y="3066829"/>
            <a:ext cx="306324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r>
              <a:rPr lang="pt-BR" sz="1000">
                <a:solidFill>
                  <a:srgbClr val="15253F"/>
                </a:solidFill>
              </a:rPr>
              <a:t>Hospitais</a:t>
            </a:r>
          </a:p>
        </p:txBody>
      </p:sp>
      <p:sp>
        <p:nvSpPr>
          <p:cNvPr id="94" name="Text 94"/>
          <p:cNvSpPr txBox="1"/>
          <p:nvPr/>
        </p:nvSpPr>
        <p:spPr>
          <a:xfrm>
            <a:off x="4626864" y="3066829"/>
            <a:ext cx="64008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5</a:t>
            </a:r>
          </a:p>
        </p:txBody>
      </p:sp>
      <p:sp>
        <p:nvSpPr>
          <p:cNvPr id="95" name="Text 95"/>
          <p:cNvSpPr txBox="1"/>
          <p:nvPr/>
        </p:nvSpPr>
        <p:spPr>
          <a:xfrm>
            <a:off x="5266944" y="3066829"/>
            <a:ext cx="109728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4,2 mil m2</a:t>
            </a:r>
          </a:p>
        </p:txBody>
      </p:sp>
      <p:sp>
        <p:nvSpPr>
          <p:cNvPr id="96" name="Text 96"/>
          <p:cNvSpPr txBox="1"/>
          <p:nvPr/>
        </p:nvSpPr>
        <p:spPr>
          <a:xfrm>
            <a:off x="6364224" y="3066829"/>
            <a:ext cx="123444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R$ 8,1 mi</a:t>
            </a:r>
          </a:p>
        </p:txBody>
      </p:sp>
      <p:sp>
        <p:nvSpPr>
          <p:cNvPr id="97" name="Text 97"/>
          <p:cNvSpPr txBox="1"/>
          <p:nvPr/>
        </p:nvSpPr>
        <p:spPr>
          <a:xfrm>
            <a:off x="7598664" y="3066829"/>
            <a:ext cx="96012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R$ 1.965</a:t>
            </a:r>
          </a:p>
        </p:txBody>
      </p:sp>
      <p:sp>
        <p:nvSpPr>
          <p:cNvPr id="98" name="Text 98"/>
          <p:cNvSpPr txBox="1"/>
          <p:nvPr/>
        </p:nvSpPr>
        <p:spPr>
          <a:xfrm>
            <a:off x="603504" y="3359437"/>
            <a:ext cx="9601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2025</a:t>
            </a:r>
          </a:p>
        </p:txBody>
      </p:sp>
      <p:sp>
        <p:nvSpPr>
          <p:cNvPr id="99" name="Text 99"/>
          <p:cNvSpPr txBox="1"/>
          <p:nvPr/>
        </p:nvSpPr>
        <p:spPr>
          <a:xfrm>
            <a:off x="1563624" y="3359437"/>
            <a:ext cx="30632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r>
              <a:rPr lang="pt-BR" sz="1000">
                <a:solidFill>
                  <a:srgbClr val="15253F"/>
                </a:solidFill>
              </a:rPr>
              <a:t>Hospitais</a:t>
            </a:r>
          </a:p>
        </p:txBody>
      </p:sp>
      <p:sp>
        <p:nvSpPr>
          <p:cNvPr id="100" name="Text 100"/>
          <p:cNvSpPr txBox="1"/>
          <p:nvPr/>
        </p:nvSpPr>
        <p:spPr>
          <a:xfrm>
            <a:off x="4626864" y="3359437"/>
            <a:ext cx="6400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4</a:t>
            </a:r>
          </a:p>
        </p:txBody>
      </p:sp>
      <p:sp>
        <p:nvSpPr>
          <p:cNvPr id="101" name="Text 101"/>
          <p:cNvSpPr txBox="1"/>
          <p:nvPr/>
        </p:nvSpPr>
        <p:spPr>
          <a:xfrm>
            <a:off x="5266944" y="3359437"/>
            <a:ext cx="10972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12,4 mil m2</a:t>
            </a:r>
          </a:p>
        </p:txBody>
      </p:sp>
      <p:sp>
        <p:nvSpPr>
          <p:cNvPr id="102" name="Text 102"/>
          <p:cNvSpPr txBox="1"/>
          <p:nvPr/>
        </p:nvSpPr>
        <p:spPr>
          <a:xfrm>
            <a:off x="6364224" y="3359437"/>
            <a:ext cx="12344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R$ 22,7 mi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7598664" y="3359437"/>
            <a:ext cx="9601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R$ 1.874</a:t>
            </a:r>
          </a:p>
        </p:txBody>
      </p:sp>
      <p:sp>
        <p:nvSpPr>
          <p:cNvPr id="104" name="Text 104"/>
          <p:cNvSpPr txBox="1"/>
          <p:nvPr/>
        </p:nvSpPr>
        <p:spPr>
          <a:xfrm>
            <a:off x="603504" y="3652045"/>
            <a:ext cx="96012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2026</a:t>
            </a:r>
          </a:p>
        </p:txBody>
      </p:sp>
      <p:sp>
        <p:nvSpPr>
          <p:cNvPr id="105" name="Text 105"/>
          <p:cNvSpPr txBox="1"/>
          <p:nvPr/>
        </p:nvSpPr>
        <p:spPr>
          <a:xfrm>
            <a:off x="1563624" y="3652045"/>
            <a:ext cx="306324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r>
              <a:rPr lang="pt-BR" sz="1000">
                <a:solidFill>
                  <a:srgbClr val="15253F"/>
                </a:solidFill>
              </a:rPr>
              <a:t>Hospitais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4626864" y="3652045"/>
            <a:ext cx="64008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3</a:t>
            </a:r>
          </a:p>
        </p:txBody>
      </p:sp>
      <p:sp>
        <p:nvSpPr>
          <p:cNvPr id="107" name="Text 107"/>
          <p:cNvSpPr txBox="1"/>
          <p:nvPr/>
        </p:nvSpPr>
        <p:spPr>
          <a:xfrm>
            <a:off x="5266944" y="3652045"/>
            <a:ext cx="109728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11,0 mil m2</a:t>
            </a:r>
          </a:p>
        </p:txBody>
      </p:sp>
      <p:sp>
        <p:nvSpPr>
          <p:cNvPr id="108" name="Text 108"/>
          <p:cNvSpPr txBox="1"/>
          <p:nvPr/>
        </p:nvSpPr>
        <p:spPr>
          <a:xfrm>
            <a:off x="6364224" y="3652045"/>
            <a:ext cx="123444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R$ 24,2 mi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7598664" y="3652045"/>
            <a:ext cx="96012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R$ 2.207</a:t>
            </a:r>
          </a:p>
        </p:txBody>
      </p:sp>
      <p:sp>
        <p:nvSpPr>
          <p:cNvPr id="110" name="Text 110"/>
          <p:cNvSpPr txBox="1"/>
          <p:nvPr/>
        </p:nvSpPr>
        <p:spPr>
          <a:xfrm>
            <a:off x="603504" y="3944653"/>
            <a:ext cx="9601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2023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1563624" y="3944653"/>
            <a:ext cx="30632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r>
              <a:rPr lang="pt-BR" sz="1000">
                <a:solidFill>
                  <a:srgbClr val="15253F"/>
                </a:solidFill>
              </a:rPr>
              <a:t>Pronto Atendimento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4626864" y="3944653"/>
            <a:ext cx="6400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3</a:t>
            </a:r>
          </a:p>
        </p:txBody>
      </p:sp>
      <p:sp>
        <p:nvSpPr>
          <p:cNvPr id="113" name="Text 113"/>
          <p:cNvSpPr txBox="1"/>
          <p:nvPr/>
        </p:nvSpPr>
        <p:spPr>
          <a:xfrm>
            <a:off x="5266944" y="3944653"/>
            <a:ext cx="10972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12,3 mil m2</a:t>
            </a:r>
          </a:p>
        </p:txBody>
      </p:sp>
      <p:sp>
        <p:nvSpPr>
          <p:cNvPr id="114" name="Text 114"/>
          <p:cNvSpPr txBox="1"/>
          <p:nvPr/>
        </p:nvSpPr>
        <p:spPr>
          <a:xfrm>
            <a:off x="6364224" y="3944653"/>
            <a:ext cx="12344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R$ 47,6 mi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7598664" y="3944653"/>
            <a:ext cx="9601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R$ 3.985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603504" y="4237261"/>
            <a:ext cx="96012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2025</a:t>
            </a:r>
          </a:p>
        </p:txBody>
      </p:sp>
      <p:sp>
        <p:nvSpPr>
          <p:cNvPr id="117" name="Text 117"/>
          <p:cNvSpPr txBox="1"/>
          <p:nvPr/>
        </p:nvSpPr>
        <p:spPr>
          <a:xfrm>
            <a:off x="1563624" y="4237261"/>
            <a:ext cx="306324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r>
              <a:rPr lang="pt-BR" sz="1000">
                <a:solidFill>
                  <a:srgbClr val="15253F"/>
                </a:solidFill>
              </a:rPr>
              <a:t>Pronto Atendimento</a:t>
            </a:r>
          </a:p>
        </p:txBody>
      </p:sp>
      <p:sp>
        <p:nvSpPr>
          <p:cNvPr id="118" name="Text 118"/>
          <p:cNvSpPr txBox="1"/>
          <p:nvPr/>
        </p:nvSpPr>
        <p:spPr>
          <a:xfrm>
            <a:off x="4626864" y="4237261"/>
            <a:ext cx="64008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1</a:t>
            </a:r>
          </a:p>
        </p:txBody>
      </p:sp>
      <p:sp>
        <p:nvSpPr>
          <p:cNvPr id="119" name="Text 119"/>
          <p:cNvSpPr txBox="1"/>
          <p:nvPr/>
        </p:nvSpPr>
        <p:spPr>
          <a:xfrm>
            <a:off x="5266944" y="4237261"/>
            <a:ext cx="109728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1,2 mil m2</a:t>
            </a:r>
          </a:p>
        </p:txBody>
      </p:sp>
      <p:sp>
        <p:nvSpPr>
          <p:cNvPr id="120" name="Text 120"/>
          <p:cNvSpPr txBox="1"/>
          <p:nvPr/>
        </p:nvSpPr>
        <p:spPr>
          <a:xfrm>
            <a:off x="6364224" y="4237261"/>
            <a:ext cx="123444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R$ 2,8 mi</a:t>
            </a:r>
          </a:p>
        </p:txBody>
      </p:sp>
      <p:sp>
        <p:nvSpPr>
          <p:cNvPr id="121" name="Text 121"/>
          <p:cNvSpPr txBox="1"/>
          <p:nvPr/>
        </p:nvSpPr>
        <p:spPr>
          <a:xfrm>
            <a:off x="7598664" y="4237261"/>
            <a:ext cx="96012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R$ 2.302</a:t>
            </a:r>
          </a:p>
        </p:txBody>
      </p:sp>
      <p:sp>
        <p:nvSpPr>
          <p:cNvPr id="122" name="Text 122"/>
          <p:cNvSpPr txBox="1"/>
          <p:nvPr/>
        </p:nvSpPr>
        <p:spPr>
          <a:xfrm>
            <a:off x="603504" y="4529869"/>
            <a:ext cx="9601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2026</a:t>
            </a:r>
          </a:p>
        </p:txBody>
      </p:sp>
      <p:sp>
        <p:nvSpPr>
          <p:cNvPr id="123" name="Text 123"/>
          <p:cNvSpPr txBox="1"/>
          <p:nvPr/>
        </p:nvSpPr>
        <p:spPr>
          <a:xfrm>
            <a:off x="1563624" y="4529869"/>
            <a:ext cx="30632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r>
              <a:rPr lang="pt-BR" sz="1000">
                <a:solidFill>
                  <a:srgbClr val="15253F"/>
                </a:solidFill>
              </a:rPr>
              <a:t>Pronto Atendimento</a:t>
            </a:r>
          </a:p>
        </p:txBody>
      </p:sp>
      <p:sp>
        <p:nvSpPr>
          <p:cNvPr id="124" name="Text 124"/>
          <p:cNvSpPr txBox="1"/>
          <p:nvPr/>
        </p:nvSpPr>
        <p:spPr>
          <a:xfrm>
            <a:off x="4626864" y="4529869"/>
            <a:ext cx="6400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1</a:t>
            </a:r>
          </a:p>
        </p:txBody>
      </p:sp>
      <p:sp>
        <p:nvSpPr>
          <p:cNvPr id="125" name="Text 125"/>
          <p:cNvSpPr txBox="1"/>
          <p:nvPr/>
        </p:nvSpPr>
        <p:spPr>
          <a:xfrm>
            <a:off x="5266944" y="4529869"/>
            <a:ext cx="10972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2,5 mil m2</a:t>
            </a:r>
          </a:p>
        </p:txBody>
      </p:sp>
      <p:sp>
        <p:nvSpPr>
          <p:cNvPr id="126" name="Text 126"/>
          <p:cNvSpPr txBox="1"/>
          <p:nvPr/>
        </p:nvSpPr>
        <p:spPr>
          <a:xfrm>
            <a:off x="6364224" y="4529869"/>
            <a:ext cx="12344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R$ 7,6 mi</a:t>
            </a:r>
          </a:p>
        </p:txBody>
      </p:sp>
      <p:sp>
        <p:nvSpPr>
          <p:cNvPr id="127" name="Text 127"/>
          <p:cNvSpPr txBox="1"/>
          <p:nvPr/>
        </p:nvSpPr>
        <p:spPr>
          <a:xfrm>
            <a:off x="7598664" y="4529869"/>
            <a:ext cx="9601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R$ 3.062</a:t>
            </a:r>
          </a:p>
        </p:txBody>
      </p:sp>
      <p:sp>
        <p:nvSpPr>
          <p:cNvPr id="128" name="Text 128"/>
          <p:cNvSpPr txBox="1"/>
          <p:nvPr/>
        </p:nvSpPr>
        <p:spPr>
          <a:xfrm>
            <a:off x="603504" y="4822477"/>
            <a:ext cx="96012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2023</a:t>
            </a:r>
          </a:p>
        </p:txBody>
      </p:sp>
      <p:sp>
        <p:nvSpPr>
          <p:cNvPr id="129" name="Text 129"/>
          <p:cNvSpPr txBox="1"/>
          <p:nvPr/>
        </p:nvSpPr>
        <p:spPr>
          <a:xfrm>
            <a:off x="1563624" y="4822477"/>
            <a:ext cx="306324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r>
              <a:rPr lang="pt-BR" sz="1000">
                <a:solidFill>
                  <a:srgbClr val="15253F"/>
                </a:solidFill>
              </a:rPr>
              <a:t>Clínicas, Diagnósticos, TEA e Laborat...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4626864" y="4822477"/>
            <a:ext cx="64008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11</a:t>
            </a:r>
          </a:p>
        </p:txBody>
      </p:sp>
      <p:sp>
        <p:nvSpPr>
          <p:cNvPr id="131" name="Text 131"/>
          <p:cNvSpPr txBox="1"/>
          <p:nvPr/>
        </p:nvSpPr>
        <p:spPr>
          <a:xfrm>
            <a:off x="5266944" y="4822477"/>
            <a:ext cx="109728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6,1 mil m2</a:t>
            </a:r>
          </a:p>
        </p:txBody>
      </p:sp>
      <p:sp>
        <p:nvSpPr>
          <p:cNvPr id="132" name="Text 132"/>
          <p:cNvSpPr txBox="1"/>
          <p:nvPr/>
        </p:nvSpPr>
        <p:spPr>
          <a:xfrm>
            <a:off x="6364224" y="4822477"/>
            <a:ext cx="123444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R$ 12,3 mi</a:t>
            </a:r>
          </a:p>
        </p:txBody>
      </p:sp>
      <p:sp>
        <p:nvSpPr>
          <p:cNvPr id="133" name="Text 133"/>
          <p:cNvSpPr txBox="1"/>
          <p:nvPr/>
        </p:nvSpPr>
        <p:spPr>
          <a:xfrm>
            <a:off x="7598664" y="4822477"/>
            <a:ext cx="96012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R$ 2.043</a:t>
            </a:r>
          </a:p>
        </p:txBody>
      </p:sp>
      <p:sp>
        <p:nvSpPr>
          <p:cNvPr id="134" name="Text 134"/>
          <p:cNvSpPr txBox="1"/>
          <p:nvPr/>
        </p:nvSpPr>
        <p:spPr>
          <a:xfrm>
            <a:off x="603504" y="5115085"/>
            <a:ext cx="9601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2024</a:t>
            </a:r>
          </a:p>
        </p:txBody>
      </p:sp>
      <p:sp>
        <p:nvSpPr>
          <p:cNvPr id="135" name="Text 135"/>
          <p:cNvSpPr txBox="1"/>
          <p:nvPr/>
        </p:nvSpPr>
        <p:spPr>
          <a:xfrm>
            <a:off x="1563624" y="5115085"/>
            <a:ext cx="30632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r>
              <a:rPr lang="pt-BR" sz="1000">
                <a:solidFill>
                  <a:srgbClr val="15253F"/>
                </a:solidFill>
              </a:rPr>
              <a:t>Clínicas, Diagnósticos, TEA e Laborat...</a:t>
            </a:r>
          </a:p>
        </p:txBody>
      </p:sp>
      <p:sp>
        <p:nvSpPr>
          <p:cNvPr id="136" name="Text 136"/>
          <p:cNvSpPr txBox="1"/>
          <p:nvPr/>
        </p:nvSpPr>
        <p:spPr>
          <a:xfrm>
            <a:off x="4626864" y="5115085"/>
            <a:ext cx="6400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13</a:t>
            </a:r>
          </a:p>
        </p:txBody>
      </p:sp>
      <p:sp>
        <p:nvSpPr>
          <p:cNvPr id="137" name="Text 137"/>
          <p:cNvSpPr txBox="1"/>
          <p:nvPr/>
        </p:nvSpPr>
        <p:spPr>
          <a:xfrm>
            <a:off x="5266944" y="5115085"/>
            <a:ext cx="10972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3,0 mil m2</a:t>
            </a:r>
          </a:p>
        </p:txBody>
      </p:sp>
      <p:sp>
        <p:nvSpPr>
          <p:cNvPr id="138" name="Text 138"/>
          <p:cNvSpPr txBox="1"/>
          <p:nvPr/>
        </p:nvSpPr>
        <p:spPr>
          <a:xfrm>
            <a:off x="6364224" y="5115085"/>
            <a:ext cx="12344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R$ 4,5 mi</a:t>
            </a:r>
          </a:p>
        </p:txBody>
      </p:sp>
      <p:sp>
        <p:nvSpPr>
          <p:cNvPr id="139" name="Text 139"/>
          <p:cNvSpPr txBox="1"/>
          <p:nvPr/>
        </p:nvSpPr>
        <p:spPr>
          <a:xfrm>
            <a:off x="7598664" y="5115085"/>
            <a:ext cx="9601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R$ 1.538</a:t>
            </a:r>
          </a:p>
        </p:txBody>
      </p:sp>
      <p:sp>
        <p:nvSpPr>
          <p:cNvPr id="140" name="Text 140"/>
          <p:cNvSpPr txBox="1"/>
          <p:nvPr/>
        </p:nvSpPr>
        <p:spPr>
          <a:xfrm>
            <a:off x="603504" y="5407693"/>
            <a:ext cx="96012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2025</a:t>
            </a:r>
          </a:p>
        </p:txBody>
      </p:sp>
      <p:sp>
        <p:nvSpPr>
          <p:cNvPr id="141" name="Text 141"/>
          <p:cNvSpPr txBox="1"/>
          <p:nvPr/>
        </p:nvSpPr>
        <p:spPr>
          <a:xfrm>
            <a:off x="1563624" y="5407693"/>
            <a:ext cx="306324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r>
              <a:rPr lang="pt-BR" sz="1000">
                <a:solidFill>
                  <a:srgbClr val="15253F"/>
                </a:solidFill>
              </a:rPr>
              <a:t>Clínicas, Diagnósticos, TEA e Laborat...</a:t>
            </a:r>
          </a:p>
        </p:txBody>
      </p:sp>
      <p:sp>
        <p:nvSpPr>
          <p:cNvPr id="142" name="Text 142"/>
          <p:cNvSpPr txBox="1"/>
          <p:nvPr/>
        </p:nvSpPr>
        <p:spPr>
          <a:xfrm>
            <a:off x="4626864" y="5407693"/>
            <a:ext cx="64008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40</a:t>
            </a:r>
          </a:p>
        </p:txBody>
      </p:sp>
      <p:sp>
        <p:nvSpPr>
          <p:cNvPr id="143" name="Text 143"/>
          <p:cNvSpPr txBox="1"/>
          <p:nvPr/>
        </p:nvSpPr>
        <p:spPr>
          <a:xfrm>
            <a:off x="5266944" y="5407693"/>
            <a:ext cx="109728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41,4 mil m2</a:t>
            </a:r>
          </a:p>
        </p:txBody>
      </p:sp>
      <p:sp>
        <p:nvSpPr>
          <p:cNvPr id="144" name="Text 144"/>
          <p:cNvSpPr txBox="1"/>
          <p:nvPr/>
        </p:nvSpPr>
        <p:spPr>
          <a:xfrm>
            <a:off x="6364224" y="5407693"/>
            <a:ext cx="123444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R$ 87,4 mi</a:t>
            </a:r>
          </a:p>
        </p:txBody>
      </p:sp>
      <p:sp>
        <p:nvSpPr>
          <p:cNvPr id="145" name="Text 145"/>
          <p:cNvSpPr txBox="1"/>
          <p:nvPr/>
        </p:nvSpPr>
        <p:spPr>
          <a:xfrm>
            <a:off x="7598664" y="5407693"/>
            <a:ext cx="96012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R$ 2.157</a:t>
            </a:r>
          </a:p>
        </p:txBody>
      </p:sp>
      <p:sp>
        <p:nvSpPr>
          <p:cNvPr id="146" name="Text 146"/>
          <p:cNvSpPr txBox="1"/>
          <p:nvPr/>
        </p:nvSpPr>
        <p:spPr>
          <a:xfrm>
            <a:off x="603504" y="5700301"/>
            <a:ext cx="9601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2026</a:t>
            </a:r>
          </a:p>
        </p:txBody>
      </p:sp>
      <p:sp>
        <p:nvSpPr>
          <p:cNvPr id="147" name="Text 147"/>
          <p:cNvSpPr txBox="1"/>
          <p:nvPr/>
        </p:nvSpPr>
        <p:spPr>
          <a:xfrm>
            <a:off x="1563624" y="5700301"/>
            <a:ext cx="30632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r>
              <a:rPr lang="pt-BR" sz="1000">
                <a:solidFill>
                  <a:srgbClr val="15253F"/>
                </a:solidFill>
              </a:rPr>
              <a:t>Clínicas, Diagnósticos, TEA e Laborat...</a:t>
            </a:r>
          </a:p>
        </p:txBody>
      </p:sp>
      <p:sp>
        <p:nvSpPr>
          <p:cNvPr id="148" name="Text 148"/>
          <p:cNvSpPr txBox="1"/>
          <p:nvPr/>
        </p:nvSpPr>
        <p:spPr>
          <a:xfrm>
            <a:off x="4626864" y="5700301"/>
            <a:ext cx="6400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20</a:t>
            </a:r>
          </a:p>
        </p:txBody>
      </p:sp>
      <p:sp>
        <p:nvSpPr>
          <p:cNvPr id="149" name="Text 149"/>
          <p:cNvSpPr txBox="1"/>
          <p:nvPr/>
        </p:nvSpPr>
        <p:spPr>
          <a:xfrm>
            <a:off x="5266944" y="5700301"/>
            <a:ext cx="10972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18,8 mil m2</a:t>
            </a:r>
          </a:p>
        </p:txBody>
      </p:sp>
      <p:sp>
        <p:nvSpPr>
          <p:cNvPr id="150" name="Text 150"/>
          <p:cNvSpPr txBox="1"/>
          <p:nvPr/>
        </p:nvSpPr>
        <p:spPr>
          <a:xfrm>
            <a:off x="6364224" y="5700301"/>
            <a:ext cx="12344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R$ 40,2 mi</a:t>
            </a:r>
          </a:p>
        </p:txBody>
      </p:sp>
      <p:sp>
        <p:nvSpPr>
          <p:cNvPr id="151" name="Text 151"/>
          <p:cNvSpPr txBox="1"/>
          <p:nvPr/>
        </p:nvSpPr>
        <p:spPr>
          <a:xfrm>
            <a:off x="7598664" y="5700301"/>
            <a:ext cx="9601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R$ 2.188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654808" y="114300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b="1" dirty="0">
                <a:solidFill>
                  <a:srgbClr val="FFFFFF"/>
                </a:solidFill>
              </a:rPr>
              <a:t>Hospitais | 2023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800">
                <a:solidFill>
                  <a:srgbClr val="50617F"/>
                </a:solidFill>
              </a:rPr>
              <a:t>2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66928" y="713232"/>
            <a:ext cx="7955280" cy="384048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2000" b="1">
                <a:solidFill>
                  <a:srgbClr val="15253F"/>
                </a:solidFill>
              </a:rPr>
              <a:t>Hospitais | 2023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66928" y="118872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 dirty="0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715768" y="1188720"/>
            <a:ext cx="1920240" cy="530352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 dirty="0">
                <a:solidFill>
                  <a:srgbClr val="FFFFFF"/>
                </a:solidFill>
              </a:rPr>
              <a:t>Area</a:t>
            </a: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15,3 mil m2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4864608" y="1188720"/>
            <a:ext cx="1920240" cy="530352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 dirty="0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R$ 29,7 mi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7013448" y="118872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 dirty="0" err="1">
                <a:solidFill>
                  <a:srgbClr val="FFFFFF"/>
                </a:solidFill>
              </a:rPr>
              <a:t>Preco</a:t>
            </a:r>
            <a:r>
              <a:rPr lang="pt-BR" sz="1000" b="1" dirty="0">
                <a:solidFill>
                  <a:srgbClr val="FFFFFF"/>
                </a:solidFill>
              </a:rPr>
              <a:t> m2</a:t>
            </a: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R$ 2.009/m2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521208" y="1929384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 dirty="0">
                <a:solidFill>
                  <a:srgbClr val="253F8E"/>
                </a:solidFill>
              </a:rPr>
              <a:t>Todas as obras da pagina, sem </a:t>
            </a:r>
            <a:r>
              <a:rPr lang="pt-BR" sz="1000" b="1" dirty="0" err="1">
                <a:solidFill>
                  <a:srgbClr val="253F8E"/>
                </a:solidFill>
              </a:rPr>
              <a:t>consolidacao</a:t>
            </a:r>
            <a:endParaRPr lang="pt-BR" sz="1000" b="1" dirty="0">
              <a:solidFill>
                <a:srgbClr val="253F8E"/>
              </a:solidFill>
            </a:endParaRPr>
          </a:p>
        </p:txBody>
      </p:sp>
      <p:sp>
        <p:nvSpPr>
          <p:cNvPr id="100" name="Text 100"/>
          <p:cNvSpPr txBox="1"/>
          <p:nvPr/>
        </p:nvSpPr>
        <p:spPr>
          <a:xfrm>
            <a:off x="566928" y="2240280"/>
            <a:ext cx="397764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Obra</a:t>
            </a:r>
          </a:p>
        </p:txBody>
      </p:sp>
      <p:sp>
        <p:nvSpPr>
          <p:cNvPr id="101" name="Text 101"/>
          <p:cNvSpPr txBox="1"/>
          <p:nvPr/>
        </p:nvSpPr>
        <p:spPr>
          <a:xfrm>
            <a:off x="4544568" y="2240280"/>
            <a:ext cx="4114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UF</a:t>
            </a:r>
          </a:p>
        </p:txBody>
      </p:sp>
      <p:sp>
        <p:nvSpPr>
          <p:cNvPr id="102" name="Text 102"/>
          <p:cNvSpPr txBox="1"/>
          <p:nvPr/>
        </p:nvSpPr>
        <p:spPr>
          <a:xfrm>
            <a:off x="4956048" y="2240280"/>
            <a:ext cx="621792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Fim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5577840" y="2240280"/>
            <a:ext cx="91440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04" name="Text 104"/>
          <p:cNvSpPr txBox="1"/>
          <p:nvPr/>
        </p:nvSpPr>
        <p:spPr>
          <a:xfrm>
            <a:off x="6492240" y="2240280"/>
            <a:ext cx="1078992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105" name="Text 105"/>
          <p:cNvSpPr txBox="1"/>
          <p:nvPr/>
        </p:nvSpPr>
        <p:spPr>
          <a:xfrm>
            <a:off x="7571232" y="2240280"/>
            <a:ext cx="8686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m2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8439912" y="2240280"/>
            <a:ext cx="8686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R$/m2</a:t>
            </a:r>
          </a:p>
        </p:txBody>
      </p:sp>
      <p:sp>
        <p:nvSpPr>
          <p:cNvPr id="107" name="Text 107"/>
          <p:cNvSpPr txBox="1"/>
          <p:nvPr/>
        </p:nvSpPr>
        <p:spPr>
          <a:xfrm>
            <a:off x="566928" y="251460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3622.Maternidade HS Santa Martha</a:t>
            </a:r>
          </a:p>
        </p:txBody>
      </p:sp>
      <p:sp>
        <p:nvSpPr>
          <p:cNvPr id="108" name="Text 108"/>
          <p:cNvSpPr txBox="1"/>
          <p:nvPr/>
        </p:nvSpPr>
        <p:spPr>
          <a:xfrm>
            <a:off x="4544568" y="251460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RJ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4956048" y="251460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Set/23</a:t>
            </a:r>
          </a:p>
        </p:txBody>
      </p:sp>
      <p:sp>
        <p:nvSpPr>
          <p:cNvPr id="110" name="Text 110"/>
          <p:cNvSpPr txBox="1"/>
          <p:nvPr/>
        </p:nvSpPr>
        <p:spPr>
          <a:xfrm>
            <a:off x="5577840" y="251460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6492240" y="251460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R$ 1,3 mi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7571232" y="25146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1,3 mil m2</a:t>
            </a:r>
          </a:p>
        </p:txBody>
      </p:sp>
      <p:sp>
        <p:nvSpPr>
          <p:cNvPr id="113" name="Text 113"/>
          <p:cNvSpPr txBox="1"/>
          <p:nvPr/>
        </p:nvSpPr>
        <p:spPr>
          <a:xfrm>
            <a:off x="8439912" y="25146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R$ 1.025</a:t>
            </a:r>
          </a:p>
        </p:txBody>
      </p:sp>
      <p:sp>
        <p:nvSpPr>
          <p:cNvPr id="114" name="Text 114"/>
          <p:cNvSpPr txBox="1"/>
          <p:nvPr/>
        </p:nvSpPr>
        <p:spPr>
          <a:xfrm>
            <a:off x="566928" y="278892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3131.Retrofit HB Saúde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4544568" y="278892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4956048" y="278892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Nov/23</a:t>
            </a:r>
          </a:p>
        </p:txBody>
      </p:sp>
      <p:sp>
        <p:nvSpPr>
          <p:cNvPr id="117" name="Text 117"/>
          <p:cNvSpPr txBox="1"/>
          <p:nvPr/>
        </p:nvSpPr>
        <p:spPr>
          <a:xfrm>
            <a:off x="5577840" y="278892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8" name="Text 118"/>
          <p:cNvSpPr txBox="1"/>
          <p:nvPr/>
        </p:nvSpPr>
        <p:spPr>
          <a:xfrm>
            <a:off x="6492240" y="278892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R$ 22,7 mi</a:t>
            </a:r>
          </a:p>
        </p:txBody>
      </p:sp>
      <p:sp>
        <p:nvSpPr>
          <p:cNvPr id="119" name="Text 119"/>
          <p:cNvSpPr txBox="1"/>
          <p:nvPr/>
        </p:nvSpPr>
        <p:spPr>
          <a:xfrm>
            <a:off x="7571232" y="278892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13,0 mil m2</a:t>
            </a:r>
          </a:p>
        </p:txBody>
      </p:sp>
      <p:sp>
        <p:nvSpPr>
          <p:cNvPr id="120" name="Text 120"/>
          <p:cNvSpPr txBox="1"/>
          <p:nvPr/>
        </p:nvSpPr>
        <p:spPr>
          <a:xfrm>
            <a:off x="8439912" y="278892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R$ 1.811</a:t>
            </a:r>
          </a:p>
        </p:txBody>
      </p:sp>
      <p:sp>
        <p:nvSpPr>
          <p:cNvPr id="121" name="Text 121"/>
          <p:cNvSpPr txBox="1"/>
          <p:nvPr/>
        </p:nvSpPr>
        <p:spPr>
          <a:xfrm>
            <a:off x="566928" y="306324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9063.PS HS São Lucas</a:t>
            </a:r>
          </a:p>
        </p:txBody>
      </p:sp>
      <p:sp>
        <p:nvSpPr>
          <p:cNvPr id="122" name="Text 122"/>
          <p:cNvSpPr txBox="1"/>
          <p:nvPr/>
        </p:nvSpPr>
        <p:spPr>
          <a:xfrm>
            <a:off x="4544568" y="306324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23" name="Text 123"/>
          <p:cNvSpPr txBox="1"/>
          <p:nvPr/>
        </p:nvSpPr>
        <p:spPr>
          <a:xfrm>
            <a:off x="4956048" y="306324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Mar/23</a:t>
            </a:r>
          </a:p>
        </p:txBody>
      </p:sp>
      <p:sp>
        <p:nvSpPr>
          <p:cNvPr id="124" name="Text 124"/>
          <p:cNvSpPr txBox="1"/>
          <p:nvPr/>
        </p:nvSpPr>
        <p:spPr>
          <a:xfrm>
            <a:off x="5577840" y="306324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25" name="Text 125"/>
          <p:cNvSpPr txBox="1"/>
          <p:nvPr/>
        </p:nvSpPr>
        <p:spPr>
          <a:xfrm>
            <a:off x="6492240" y="306324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R$ 1,4 mi</a:t>
            </a:r>
          </a:p>
        </p:txBody>
      </p:sp>
      <p:sp>
        <p:nvSpPr>
          <p:cNvPr id="126" name="Text 126"/>
          <p:cNvSpPr txBox="1"/>
          <p:nvPr/>
        </p:nvSpPr>
        <p:spPr>
          <a:xfrm>
            <a:off x="7571232" y="306324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303 m2</a:t>
            </a:r>
          </a:p>
        </p:txBody>
      </p:sp>
      <p:sp>
        <p:nvSpPr>
          <p:cNvPr id="127" name="Text 127"/>
          <p:cNvSpPr txBox="1"/>
          <p:nvPr/>
        </p:nvSpPr>
        <p:spPr>
          <a:xfrm>
            <a:off x="8439912" y="306324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R$ 4.663</a:t>
            </a:r>
          </a:p>
        </p:txBody>
      </p:sp>
      <p:sp>
        <p:nvSpPr>
          <p:cNvPr id="128" name="Text 128"/>
          <p:cNvSpPr txBox="1"/>
          <p:nvPr/>
        </p:nvSpPr>
        <p:spPr>
          <a:xfrm>
            <a:off x="566928" y="333756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9082.SADT HS Santana</a:t>
            </a:r>
          </a:p>
        </p:txBody>
      </p:sp>
      <p:sp>
        <p:nvSpPr>
          <p:cNvPr id="129" name="Text 129"/>
          <p:cNvSpPr txBox="1"/>
          <p:nvPr/>
        </p:nvSpPr>
        <p:spPr>
          <a:xfrm>
            <a:off x="4544568" y="333756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4956048" y="333756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Jul/23</a:t>
            </a:r>
          </a:p>
        </p:txBody>
      </p:sp>
      <p:sp>
        <p:nvSpPr>
          <p:cNvPr id="131" name="Text 131"/>
          <p:cNvSpPr txBox="1"/>
          <p:nvPr/>
        </p:nvSpPr>
        <p:spPr>
          <a:xfrm>
            <a:off x="5577840" y="333756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32" name="Text 132"/>
          <p:cNvSpPr txBox="1"/>
          <p:nvPr/>
        </p:nvSpPr>
        <p:spPr>
          <a:xfrm>
            <a:off x="6492240" y="333756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R$ 3,8 mi</a:t>
            </a:r>
          </a:p>
        </p:txBody>
      </p:sp>
      <p:sp>
        <p:nvSpPr>
          <p:cNvPr id="133" name="Text 133"/>
          <p:cNvSpPr txBox="1"/>
          <p:nvPr/>
        </p:nvSpPr>
        <p:spPr>
          <a:xfrm>
            <a:off x="7571232" y="333756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496 m2</a:t>
            </a:r>
          </a:p>
        </p:txBody>
      </p:sp>
      <p:sp>
        <p:nvSpPr>
          <p:cNvPr id="134" name="Text 134"/>
          <p:cNvSpPr txBox="1"/>
          <p:nvPr/>
        </p:nvSpPr>
        <p:spPr>
          <a:xfrm>
            <a:off x="8439912" y="333756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R$ 7.850</a:t>
            </a:r>
          </a:p>
        </p:txBody>
      </p:sp>
      <p:sp>
        <p:nvSpPr>
          <p:cNvPr id="135" name="Text 135"/>
          <p:cNvSpPr txBox="1"/>
          <p:nvPr/>
        </p:nvSpPr>
        <p:spPr>
          <a:xfrm>
            <a:off x="566928" y="361188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3595.Adequação Capelas HS Santa Martha</a:t>
            </a:r>
          </a:p>
        </p:txBody>
      </p:sp>
      <p:sp>
        <p:nvSpPr>
          <p:cNvPr id="136" name="Text 136"/>
          <p:cNvSpPr txBox="1"/>
          <p:nvPr/>
        </p:nvSpPr>
        <p:spPr>
          <a:xfrm>
            <a:off x="4544568" y="361188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RJ</a:t>
            </a:r>
          </a:p>
        </p:txBody>
      </p:sp>
      <p:sp>
        <p:nvSpPr>
          <p:cNvPr id="137" name="Text 137"/>
          <p:cNvSpPr txBox="1"/>
          <p:nvPr/>
        </p:nvSpPr>
        <p:spPr>
          <a:xfrm>
            <a:off x="4956048" y="361188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Jul/23</a:t>
            </a:r>
          </a:p>
        </p:txBody>
      </p:sp>
      <p:sp>
        <p:nvSpPr>
          <p:cNvPr id="138" name="Text 138"/>
          <p:cNvSpPr txBox="1"/>
          <p:nvPr/>
        </p:nvSpPr>
        <p:spPr>
          <a:xfrm>
            <a:off x="5577840" y="361188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39" name="Text 139"/>
          <p:cNvSpPr txBox="1"/>
          <p:nvPr/>
        </p:nvSpPr>
        <p:spPr>
          <a:xfrm>
            <a:off x="6492240" y="361188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R$ 286,5 mil</a:t>
            </a:r>
          </a:p>
        </p:txBody>
      </p:sp>
      <p:sp>
        <p:nvSpPr>
          <p:cNvPr id="140" name="Text 140"/>
          <p:cNvSpPr txBox="1"/>
          <p:nvPr/>
        </p:nvSpPr>
        <p:spPr>
          <a:xfrm>
            <a:off x="7571232" y="361188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108 m2</a:t>
            </a:r>
          </a:p>
        </p:txBody>
      </p:sp>
      <p:sp>
        <p:nvSpPr>
          <p:cNvPr id="141" name="Text 141"/>
          <p:cNvSpPr txBox="1"/>
          <p:nvPr/>
        </p:nvSpPr>
        <p:spPr>
          <a:xfrm>
            <a:off x="8439912" y="361188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R$ 2.642</a:t>
            </a:r>
          </a:p>
        </p:txBody>
      </p:sp>
      <p:sp>
        <p:nvSpPr>
          <p:cNvPr id="142" name="Text 142"/>
          <p:cNvSpPr txBox="1"/>
          <p:nvPr/>
        </p:nvSpPr>
        <p:spPr>
          <a:xfrm>
            <a:off x="566928" y="388620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3616.Adequação Capelas HS Salvalus</a:t>
            </a:r>
          </a:p>
        </p:txBody>
      </p:sp>
      <p:sp>
        <p:nvSpPr>
          <p:cNvPr id="143" name="Text 143"/>
          <p:cNvSpPr txBox="1"/>
          <p:nvPr/>
        </p:nvSpPr>
        <p:spPr>
          <a:xfrm>
            <a:off x="4544568" y="388620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44" name="Text 144"/>
          <p:cNvSpPr txBox="1"/>
          <p:nvPr/>
        </p:nvSpPr>
        <p:spPr>
          <a:xfrm>
            <a:off x="4956048" y="388620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Jul/23</a:t>
            </a:r>
          </a:p>
        </p:txBody>
      </p:sp>
      <p:sp>
        <p:nvSpPr>
          <p:cNvPr id="145" name="Text 145"/>
          <p:cNvSpPr txBox="1"/>
          <p:nvPr/>
        </p:nvSpPr>
        <p:spPr>
          <a:xfrm>
            <a:off x="5577840" y="388620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46" name="Text 146"/>
          <p:cNvSpPr txBox="1"/>
          <p:nvPr/>
        </p:nvSpPr>
        <p:spPr>
          <a:xfrm>
            <a:off x="6492240" y="388620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R$ 215,1 mil</a:t>
            </a:r>
          </a:p>
        </p:txBody>
      </p:sp>
      <p:sp>
        <p:nvSpPr>
          <p:cNvPr id="147" name="Text 147"/>
          <p:cNvSpPr txBox="1"/>
          <p:nvPr/>
        </p:nvSpPr>
        <p:spPr>
          <a:xfrm>
            <a:off x="7571232" y="388620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81 m2</a:t>
            </a:r>
          </a:p>
        </p:txBody>
      </p:sp>
      <p:sp>
        <p:nvSpPr>
          <p:cNvPr id="148" name="Text 148"/>
          <p:cNvSpPr txBox="1"/>
          <p:nvPr/>
        </p:nvSpPr>
        <p:spPr>
          <a:xfrm>
            <a:off x="8439912" y="388620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R$ 2.650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b="1" dirty="0">
                <a:solidFill>
                  <a:srgbClr val="FFFFFF"/>
                </a:solidFill>
              </a:rPr>
              <a:t>Hospitais | 2024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800">
                <a:solidFill>
                  <a:srgbClr val="50617F"/>
                </a:solidFill>
              </a:rPr>
              <a:t>3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66928" y="713232"/>
            <a:ext cx="7955280" cy="384048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2000" b="1">
                <a:solidFill>
                  <a:srgbClr val="15253F"/>
                </a:solidFill>
              </a:rPr>
              <a:t>Hospitais | 2024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66928" y="118872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 dirty="0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715768" y="1188720"/>
            <a:ext cx="1920240" cy="530352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 dirty="0">
                <a:solidFill>
                  <a:srgbClr val="FFFFFF"/>
                </a:solidFill>
              </a:rPr>
              <a:t>Area</a:t>
            </a: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4,2 mil m2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4864608" y="1188720"/>
            <a:ext cx="1920240" cy="530352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 dirty="0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R$ 8,1 mi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7013448" y="118872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 dirty="0" err="1">
                <a:solidFill>
                  <a:srgbClr val="FFFFFF"/>
                </a:solidFill>
              </a:rPr>
              <a:t>Preco</a:t>
            </a:r>
            <a:r>
              <a:rPr lang="pt-BR" sz="1000" b="1" dirty="0">
                <a:solidFill>
                  <a:srgbClr val="FFFFFF"/>
                </a:solidFill>
              </a:rPr>
              <a:t> m2</a:t>
            </a: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R$ 1.965/m2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521208" y="193852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253F8E"/>
                </a:solidFill>
              </a:rPr>
              <a:t>Todas as obras da pagina, sem consolidacao</a:t>
            </a:r>
          </a:p>
        </p:txBody>
      </p:sp>
      <p:sp>
        <p:nvSpPr>
          <p:cNvPr id="100" name="Text 100"/>
          <p:cNvSpPr txBox="1"/>
          <p:nvPr/>
        </p:nvSpPr>
        <p:spPr>
          <a:xfrm>
            <a:off x="566928" y="2240280"/>
            <a:ext cx="397764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Obra</a:t>
            </a:r>
          </a:p>
        </p:txBody>
      </p:sp>
      <p:sp>
        <p:nvSpPr>
          <p:cNvPr id="101" name="Text 101"/>
          <p:cNvSpPr txBox="1"/>
          <p:nvPr/>
        </p:nvSpPr>
        <p:spPr>
          <a:xfrm>
            <a:off x="4544568" y="2240280"/>
            <a:ext cx="4114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UF</a:t>
            </a:r>
          </a:p>
        </p:txBody>
      </p:sp>
      <p:sp>
        <p:nvSpPr>
          <p:cNvPr id="102" name="Text 102"/>
          <p:cNvSpPr txBox="1"/>
          <p:nvPr/>
        </p:nvSpPr>
        <p:spPr>
          <a:xfrm>
            <a:off x="4956048" y="2240280"/>
            <a:ext cx="621792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Fim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5577840" y="2240280"/>
            <a:ext cx="91440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04" name="Text 104"/>
          <p:cNvSpPr txBox="1"/>
          <p:nvPr/>
        </p:nvSpPr>
        <p:spPr>
          <a:xfrm>
            <a:off x="6492240" y="2240280"/>
            <a:ext cx="1078992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105" name="Text 105"/>
          <p:cNvSpPr txBox="1"/>
          <p:nvPr/>
        </p:nvSpPr>
        <p:spPr>
          <a:xfrm>
            <a:off x="7571232" y="2240280"/>
            <a:ext cx="8686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m2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8439912" y="2240280"/>
            <a:ext cx="8686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R$/m2</a:t>
            </a:r>
          </a:p>
        </p:txBody>
      </p:sp>
      <p:sp>
        <p:nvSpPr>
          <p:cNvPr id="107" name="Text 107"/>
          <p:cNvSpPr txBox="1"/>
          <p:nvPr/>
        </p:nvSpPr>
        <p:spPr>
          <a:xfrm>
            <a:off x="566928" y="251460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3523.Maternidade e Laboratório HS Humaniza</a:t>
            </a:r>
          </a:p>
        </p:txBody>
      </p:sp>
      <p:sp>
        <p:nvSpPr>
          <p:cNvPr id="108" name="Text 108"/>
          <p:cNvSpPr txBox="1"/>
          <p:nvPr/>
        </p:nvSpPr>
        <p:spPr>
          <a:xfrm>
            <a:off x="4544568" y="251460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RS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4956048" y="251460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Nov/24</a:t>
            </a:r>
          </a:p>
        </p:txBody>
      </p:sp>
      <p:sp>
        <p:nvSpPr>
          <p:cNvPr id="110" name="Text 110"/>
          <p:cNvSpPr txBox="1"/>
          <p:nvPr/>
        </p:nvSpPr>
        <p:spPr>
          <a:xfrm>
            <a:off x="5577840" y="251460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6492240" y="251460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R$ 3,8 mi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7571232" y="25146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2,3 mil m2</a:t>
            </a:r>
          </a:p>
        </p:txBody>
      </p:sp>
      <p:sp>
        <p:nvSpPr>
          <p:cNvPr id="113" name="Text 113"/>
          <p:cNvSpPr txBox="1"/>
          <p:nvPr/>
        </p:nvSpPr>
        <p:spPr>
          <a:xfrm>
            <a:off x="8439912" y="25146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R$ 1.706</a:t>
            </a:r>
          </a:p>
        </p:txBody>
      </p:sp>
      <p:sp>
        <p:nvSpPr>
          <p:cNvPr id="121" name="Text 121"/>
          <p:cNvSpPr txBox="1"/>
          <p:nvPr/>
        </p:nvSpPr>
        <p:spPr>
          <a:xfrm>
            <a:off x="566928" y="306324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3639.Retrofit Maternidade HS São Lucas</a:t>
            </a:r>
          </a:p>
        </p:txBody>
      </p:sp>
      <p:sp>
        <p:nvSpPr>
          <p:cNvPr id="122" name="Text 122"/>
          <p:cNvSpPr txBox="1"/>
          <p:nvPr/>
        </p:nvSpPr>
        <p:spPr>
          <a:xfrm>
            <a:off x="4544568" y="306324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23" name="Text 123"/>
          <p:cNvSpPr txBox="1"/>
          <p:nvPr/>
        </p:nvSpPr>
        <p:spPr>
          <a:xfrm>
            <a:off x="4956048" y="306324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Mai/24</a:t>
            </a:r>
          </a:p>
        </p:txBody>
      </p:sp>
      <p:sp>
        <p:nvSpPr>
          <p:cNvPr id="124" name="Text 124"/>
          <p:cNvSpPr txBox="1"/>
          <p:nvPr/>
        </p:nvSpPr>
        <p:spPr>
          <a:xfrm>
            <a:off x="5577840" y="306324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25" name="Text 125"/>
          <p:cNvSpPr txBox="1"/>
          <p:nvPr/>
        </p:nvSpPr>
        <p:spPr>
          <a:xfrm>
            <a:off x="6492240" y="306324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R$ 830,0 mil</a:t>
            </a:r>
          </a:p>
        </p:txBody>
      </p:sp>
      <p:sp>
        <p:nvSpPr>
          <p:cNvPr id="126" name="Text 126"/>
          <p:cNvSpPr txBox="1"/>
          <p:nvPr/>
        </p:nvSpPr>
        <p:spPr>
          <a:xfrm>
            <a:off x="7571232" y="306324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406 m2</a:t>
            </a:r>
          </a:p>
        </p:txBody>
      </p:sp>
      <p:sp>
        <p:nvSpPr>
          <p:cNvPr id="127" name="Text 127"/>
          <p:cNvSpPr txBox="1"/>
          <p:nvPr/>
        </p:nvSpPr>
        <p:spPr>
          <a:xfrm>
            <a:off x="8439912" y="306324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R$ 2.042</a:t>
            </a:r>
          </a:p>
        </p:txBody>
      </p:sp>
      <p:sp>
        <p:nvSpPr>
          <p:cNvPr id="128" name="Text 128"/>
          <p:cNvSpPr txBox="1"/>
          <p:nvPr/>
        </p:nvSpPr>
        <p:spPr>
          <a:xfrm>
            <a:off x="566928" y="333756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3539.Retrofit Maternidade HS Santana (Mogi das Cruzes)</a:t>
            </a:r>
          </a:p>
        </p:txBody>
      </p:sp>
      <p:sp>
        <p:nvSpPr>
          <p:cNvPr id="129" name="Text 129"/>
          <p:cNvSpPr txBox="1"/>
          <p:nvPr/>
        </p:nvSpPr>
        <p:spPr>
          <a:xfrm>
            <a:off x="4544568" y="333756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4956048" y="333756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Jun/24</a:t>
            </a:r>
          </a:p>
        </p:txBody>
      </p:sp>
      <p:sp>
        <p:nvSpPr>
          <p:cNvPr id="131" name="Text 131"/>
          <p:cNvSpPr txBox="1"/>
          <p:nvPr/>
        </p:nvSpPr>
        <p:spPr>
          <a:xfrm>
            <a:off x="5577840" y="333756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32" name="Text 132"/>
          <p:cNvSpPr txBox="1"/>
          <p:nvPr/>
        </p:nvSpPr>
        <p:spPr>
          <a:xfrm>
            <a:off x="6492240" y="333756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R$ 2,5 mi</a:t>
            </a:r>
          </a:p>
        </p:txBody>
      </p:sp>
      <p:sp>
        <p:nvSpPr>
          <p:cNvPr id="133" name="Text 133"/>
          <p:cNvSpPr txBox="1"/>
          <p:nvPr/>
        </p:nvSpPr>
        <p:spPr>
          <a:xfrm>
            <a:off x="7571232" y="333756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942 m2</a:t>
            </a:r>
          </a:p>
        </p:txBody>
      </p:sp>
      <p:sp>
        <p:nvSpPr>
          <p:cNvPr id="134" name="Text 134"/>
          <p:cNvSpPr txBox="1"/>
          <p:nvPr/>
        </p:nvSpPr>
        <p:spPr>
          <a:xfrm>
            <a:off x="8439912" y="333756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R$ 2.637</a:t>
            </a:r>
          </a:p>
        </p:txBody>
      </p:sp>
      <p:sp>
        <p:nvSpPr>
          <p:cNvPr id="135" name="Text 135"/>
          <p:cNvSpPr txBox="1"/>
          <p:nvPr/>
        </p:nvSpPr>
        <p:spPr>
          <a:xfrm>
            <a:off x="566928" y="361188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3438.Nova Psiquiatria HS Ana Lima</a:t>
            </a:r>
          </a:p>
        </p:txBody>
      </p:sp>
      <p:sp>
        <p:nvSpPr>
          <p:cNvPr id="136" name="Text 136"/>
          <p:cNvSpPr txBox="1"/>
          <p:nvPr/>
        </p:nvSpPr>
        <p:spPr>
          <a:xfrm>
            <a:off x="4544568" y="361188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CE</a:t>
            </a:r>
          </a:p>
        </p:txBody>
      </p:sp>
      <p:sp>
        <p:nvSpPr>
          <p:cNvPr id="137" name="Text 137"/>
          <p:cNvSpPr txBox="1"/>
          <p:nvPr/>
        </p:nvSpPr>
        <p:spPr>
          <a:xfrm>
            <a:off x="4956048" y="361188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Jul/24</a:t>
            </a:r>
          </a:p>
        </p:txBody>
      </p:sp>
      <p:sp>
        <p:nvSpPr>
          <p:cNvPr id="138" name="Text 138"/>
          <p:cNvSpPr txBox="1"/>
          <p:nvPr/>
        </p:nvSpPr>
        <p:spPr>
          <a:xfrm>
            <a:off x="5577840" y="361188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39" name="Text 139"/>
          <p:cNvSpPr txBox="1"/>
          <p:nvPr/>
        </p:nvSpPr>
        <p:spPr>
          <a:xfrm>
            <a:off x="6492240" y="361188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R$ 379,0 mil</a:t>
            </a:r>
          </a:p>
        </p:txBody>
      </p:sp>
      <p:sp>
        <p:nvSpPr>
          <p:cNvPr id="140" name="Text 140"/>
          <p:cNvSpPr txBox="1"/>
          <p:nvPr/>
        </p:nvSpPr>
        <p:spPr>
          <a:xfrm>
            <a:off x="7571232" y="361188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298 m2</a:t>
            </a:r>
          </a:p>
        </p:txBody>
      </p:sp>
      <p:sp>
        <p:nvSpPr>
          <p:cNvPr id="141" name="Text 141"/>
          <p:cNvSpPr txBox="1"/>
          <p:nvPr/>
        </p:nvSpPr>
        <p:spPr>
          <a:xfrm>
            <a:off x="8439912" y="361188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R$ 1.271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Hospitais | 2025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800">
                <a:solidFill>
                  <a:srgbClr val="50617F"/>
                </a:solidFill>
              </a:rPr>
              <a:t>4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66928" y="713232"/>
            <a:ext cx="7955280" cy="384048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2000" b="1">
                <a:solidFill>
                  <a:srgbClr val="15253F"/>
                </a:solidFill>
              </a:rPr>
              <a:t>Hospitais | 2025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8595360" y="786384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900">
                <a:solidFill>
                  <a:srgbClr val="50617F"/>
                </a:solidFill>
              </a:rPr>
              <a:t>Pagina 1/1 da listagem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66928" y="118872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715768" y="1188720"/>
            <a:ext cx="1920240" cy="530352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Area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12,4 mil m2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4864608" y="1188720"/>
            <a:ext cx="1920240" cy="530352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R$ 22,7 mi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7013448" y="118872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Preco m2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R$ 1.874/m2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640080" y="193852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100" b="1">
                <a:solidFill>
                  <a:srgbClr val="253F8E"/>
                </a:solidFill>
              </a:rPr>
              <a:t>Todas as obras da pagina, sem consolidacao</a:t>
            </a:r>
          </a:p>
        </p:txBody>
      </p:sp>
      <p:sp>
        <p:nvSpPr>
          <p:cNvPr id="100" name="Text 100"/>
          <p:cNvSpPr txBox="1"/>
          <p:nvPr/>
        </p:nvSpPr>
        <p:spPr>
          <a:xfrm>
            <a:off x="566928" y="2240280"/>
            <a:ext cx="397764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Obra</a:t>
            </a:r>
          </a:p>
        </p:txBody>
      </p:sp>
      <p:sp>
        <p:nvSpPr>
          <p:cNvPr id="101" name="Text 101"/>
          <p:cNvSpPr txBox="1"/>
          <p:nvPr/>
        </p:nvSpPr>
        <p:spPr>
          <a:xfrm>
            <a:off x="4544568" y="2240280"/>
            <a:ext cx="4114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UF</a:t>
            </a:r>
          </a:p>
        </p:txBody>
      </p:sp>
      <p:sp>
        <p:nvSpPr>
          <p:cNvPr id="102" name="Text 102"/>
          <p:cNvSpPr txBox="1"/>
          <p:nvPr/>
        </p:nvSpPr>
        <p:spPr>
          <a:xfrm>
            <a:off x="4956048" y="2240280"/>
            <a:ext cx="621792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Fim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5577840" y="2240280"/>
            <a:ext cx="91440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04" name="Text 104"/>
          <p:cNvSpPr txBox="1"/>
          <p:nvPr/>
        </p:nvSpPr>
        <p:spPr>
          <a:xfrm>
            <a:off x="6492240" y="2240280"/>
            <a:ext cx="1078992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105" name="Text 105"/>
          <p:cNvSpPr txBox="1"/>
          <p:nvPr/>
        </p:nvSpPr>
        <p:spPr>
          <a:xfrm>
            <a:off x="7571232" y="2240280"/>
            <a:ext cx="8686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m2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8439912" y="2240280"/>
            <a:ext cx="8686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R$/m2</a:t>
            </a:r>
          </a:p>
        </p:txBody>
      </p:sp>
      <p:sp>
        <p:nvSpPr>
          <p:cNvPr id="107" name="Text 107"/>
          <p:cNvSpPr txBox="1"/>
          <p:nvPr/>
        </p:nvSpPr>
        <p:spPr>
          <a:xfrm>
            <a:off x="566928" y="251460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4065.Reabertura HS Analia Franco (2ª fase)</a:t>
            </a:r>
          </a:p>
        </p:txBody>
      </p:sp>
      <p:sp>
        <p:nvSpPr>
          <p:cNvPr id="108" name="Text 108"/>
          <p:cNvSpPr txBox="1"/>
          <p:nvPr/>
        </p:nvSpPr>
        <p:spPr>
          <a:xfrm>
            <a:off x="4544568" y="251460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4956048" y="251460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Jan/25</a:t>
            </a:r>
          </a:p>
        </p:txBody>
      </p:sp>
      <p:sp>
        <p:nvSpPr>
          <p:cNvPr id="110" name="Text 110"/>
          <p:cNvSpPr txBox="1"/>
          <p:nvPr/>
        </p:nvSpPr>
        <p:spPr>
          <a:xfrm>
            <a:off x="5577840" y="251460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6492240" y="251460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R$ 6,5 mi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7571232" y="25146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6,2 mil m2</a:t>
            </a:r>
          </a:p>
        </p:txBody>
      </p:sp>
      <p:sp>
        <p:nvSpPr>
          <p:cNvPr id="113" name="Text 113"/>
          <p:cNvSpPr txBox="1"/>
          <p:nvPr/>
        </p:nvSpPr>
        <p:spPr>
          <a:xfrm>
            <a:off x="8439912" y="25146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R$ 1.064</a:t>
            </a:r>
          </a:p>
        </p:txBody>
      </p:sp>
      <p:sp>
        <p:nvSpPr>
          <p:cNvPr id="114" name="Text 114"/>
          <p:cNvSpPr txBox="1"/>
          <p:nvPr/>
        </p:nvSpPr>
        <p:spPr>
          <a:xfrm>
            <a:off x="566928" y="278892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0000.Ampliação de Leitos HS Santa Maria (CE) - UTI (Virose)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4544568" y="278892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CE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4956048" y="278892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Dez/25</a:t>
            </a:r>
          </a:p>
        </p:txBody>
      </p:sp>
      <p:sp>
        <p:nvSpPr>
          <p:cNvPr id="117" name="Text 117"/>
          <p:cNvSpPr txBox="1"/>
          <p:nvPr/>
        </p:nvSpPr>
        <p:spPr>
          <a:xfrm>
            <a:off x="5577840" y="278892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8" name="Text 118"/>
          <p:cNvSpPr txBox="1"/>
          <p:nvPr/>
        </p:nvSpPr>
        <p:spPr>
          <a:xfrm>
            <a:off x="6492240" y="278892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R$ 1,3 mi</a:t>
            </a:r>
          </a:p>
        </p:txBody>
      </p:sp>
      <p:sp>
        <p:nvSpPr>
          <p:cNvPr id="119" name="Text 119"/>
          <p:cNvSpPr txBox="1"/>
          <p:nvPr/>
        </p:nvSpPr>
        <p:spPr>
          <a:xfrm>
            <a:off x="7571232" y="278892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709 m2</a:t>
            </a:r>
          </a:p>
        </p:txBody>
      </p:sp>
      <p:sp>
        <p:nvSpPr>
          <p:cNvPr id="120" name="Text 120"/>
          <p:cNvSpPr txBox="1"/>
          <p:nvPr/>
        </p:nvSpPr>
        <p:spPr>
          <a:xfrm>
            <a:off x="8439912" y="278892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R$ 1.797</a:t>
            </a:r>
          </a:p>
        </p:txBody>
      </p:sp>
      <p:sp>
        <p:nvSpPr>
          <p:cNvPr id="121" name="Text 121"/>
          <p:cNvSpPr txBox="1"/>
          <p:nvPr/>
        </p:nvSpPr>
        <p:spPr>
          <a:xfrm>
            <a:off x="566928" y="306324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0000.Ampliação de Leitos HS Santa Maria (CE) - Enfermaria (Vi...</a:t>
            </a:r>
          </a:p>
        </p:txBody>
      </p:sp>
      <p:sp>
        <p:nvSpPr>
          <p:cNvPr id="122" name="Text 122"/>
          <p:cNvSpPr txBox="1"/>
          <p:nvPr/>
        </p:nvSpPr>
        <p:spPr>
          <a:xfrm>
            <a:off x="4544568" y="306324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CE</a:t>
            </a:r>
          </a:p>
        </p:txBody>
      </p:sp>
      <p:sp>
        <p:nvSpPr>
          <p:cNvPr id="123" name="Text 123"/>
          <p:cNvSpPr txBox="1"/>
          <p:nvPr/>
        </p:nvSpPr>
        <p:spPr>
          <a:xfrm>
            <a:off x="4956048" y="306324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Dez/25</a:t>
            </a:r>
          </a:p>
        </p:txBody>
      </p:sp>
      <p:sp>
        <p:nvSpPr>
          <p:cNvPr id="124" name="Text 124"/>
          <p:cNvSpPr txBox="1"/>
          <p:nvPr/>
        </p:nvSpPr>
        <p:spPr>
          <a:xfrm>
            <a:off x="5577840" y="306324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25" name="Text 125"/>
          <p:cNvSpPr txBox="1"/>
          <p:nvPr/>
        </p:nvSpPr>
        <p:spPr>
          <a:xfrm>
            <a:off x="6492240" y="306324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R$ 427,8 mil</a:t>
            </a:r>
          </a:p>
        </p:txBody>
      </p:sp>
      <p:sp>
        <p:nvSpPr>
          <p:cNvPr id="126" name="Text 126"/>
          <p:cNvSpPr txBox="1"/>
          <p:nvPr/>
        </p:nvSpPr>
        <p:spPr>
          <a:xfrm>
            <a:off x="7571232" y="306324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447 m2</a:t>
            </a:r>
          </a:p>
        </p:txBody>
      </p:sp>
      <p:sp>
        <p:nvSpPr>
          <p:cNvPr id="127" name="Text 127"/>
          <p:cNvSpPr txBox="1"/>
          <p:nvPr/>
        </p:nvSpPr>
        <p:spPr>
          <a:xfrm>
            <a:off x="8439912" y="306324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R$ 1.067</a:t>
            </a:r>
          </a:p>
        </p:txBody>
      </p:sp>
      <p:sp>
        <p:nvSpPr>
          <p:cNvPr id="128" name="Text 128"/>
          <p:cNvSpPr txBox="1"/>
          <p:nvPr/>
        </p:nvSpPr>
        <p:spPr>
          <a:xfrm>
            <a:off x="566928" y="333756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4032.Reabertura do HS Layr Maia</a:t>
            </a:r>
          </a:p>
        </p:txBody>
      </p:sp>
      <p:sp>
        <p:nvSpPr>
          <p:cNvPr id="129" name="Text 129"/>
          <p:cNvSpPr txBox="1"/>
          <p:nvPr/>
        </p:nvSpPr>
        <p:spPr>
          <a:xfrm>
            <a:off x="4544568" y="333756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PA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4956048" y="333756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Abr/25</a:t>
            </a:r>
          </a:p>
        </p:txBody>
      </p:sp>
      <p:sp>
        <p:nvSpPr>
          <p:cNvPr id="131" name="Text 131"/>
          <p:cNvSpPr txBox="1"/>
          <p:nvPr/>
        </p:nvSpPr>
        <p:spPr>
          <a:xfrm>
            <a:off x="5577840" y="333756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32" name="Text 132"/>
          <p:cNvSpPr txBox="1"/>
          <p:nvPr/>
        </p:nvSpPr>
        <p:spPr>
          <a:xfrm>
            <a:off x="6492240" y="333756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R$ 14,5 mi</a:t>
            </a:r>
          </a:p>
        </p:txBody>
      </p:sp>
      <p:sp>
        <p:nvSpPr>
          <p:cNvPr id="133" name="Text 133"/>
          <p:cNvSpPr txBox="1"/>
          <p:nvPr/>
        </p:nvSpPr>
        <p:spPr>
          <a:xfrm>
            <a:off x="7571232" y="333756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5,1 mil m2</a:t>
            </a:r>
          </a:p>
        </p:txBody>
      </p:sp>
      <p:sp>
        <p:nvSpPr>
          <p:cNvPr id="134" name="Text 134"/>
          <p:cNvSpPr txBox="1"/>
          <p:nvPr/>
        </p:nvSpPr>
        <p:spPr>
          <a:xfrm>
            <a:off x="8439912" y="333756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R$ 2.943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Hospitais | 2026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800">
                <a:solidFill>
                  <a:srgbClr val="50617F"/>
                </a:solidFill>
              </a:rPr>
              <a:t>5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66928" y="713232"/>
            <a:ext cx="7955280" cy="384048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2000" b="1">
                <a:solidFill>
                  <a:srgbClr val="15253F"/>
                </a:solidFill>
              </a:rPr>
              <a:t>Hospitais | 2026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8595360" y="786384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900">
                <a:solidFill>
                  <a:srgbClr val="50617F"/>
                </a:solidFill>
              </a:rPr>
              <a:t>Pagina 1/1 da listagem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66928" y="118872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715768" y="1188720"/>
            <a:ext cx="1920240" cy="530352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Area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11,0 mil m2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4864608" y="1188720"/>
            <a:ext cx="1920240" cy="530352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R$ 24,2 mi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7013448" y="118872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Preco m2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R$ 2.207/m2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640080" y="193852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100" b="1">
                <a:solidFill>
                  <a:srgbClr val="253F8E"/>
                </a:solidFill>
              </a:rPr>
              <a:t>Todas as obras da pagina, sem consolidacao</a:t>
            </a:r>
          </a:p>
        </p:txBody>
      </p:sp>
      <p:sp>
        <p:nvSpPr>
          <p:cNvPr id="100" name="Text 100"/>
          <p:cNvSpPr txBox="1"/>
          <p:nvPr/>
        </p:nvSpPr>
        <p:spPr>
          <a:xfrm>
            <a:off x="566928" y="2240280"/>
            <a:ext cx="397764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Obra</a:t>
            </a:r>
          </a:p>
        </p:txBody>
      </p:sp>
      <p:sp>
        <p:nvSpPr>
          <p:cNvPr id="101" name="Text 101"/>
          <p:cNvSpPr txBox="1"/>
          <p:nvPr/>
        </p:nvSpPr>
        <p:spPr>
          <a:xfrm>
            <a:off x="4544568" y="2240280"/>
            <a:ext cx="4114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UF</a:t>
            </a:r>
          </a:p>
        </p:txBody>
      </p:sp>
      <p:sp>
        <p:nvSpPr>
          <p:cNvPr id="102" name="Text 102"/>
          <p:cNvSpPr txBox="1"/>
          <p:nvPr/>
        </p:nvSpPr>
        <p:spPr>
          <a:xfrm>
            <a:off x="4956048" y="2240280"/>
            <a:ext cx="621792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Fim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5577840" y="2240280"/>
            <a:ext cx="91440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04" name="Text 104"/>
          <p:cNvSpPr txBox="1"/>
          <p:nvPr/>
        </p:nvSpPr>
        <p:spPr>
          <a:xfrm>
            <a:off x="6492240" y="2240280"/>
            <a:ext cx="1078992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105" name="Text 105"/>
          <p:cNvSpPr txBox="1"/>
          <p:nvPr/>
        </p:nvSpPr>
        <p:spPr>
          <a:xfrm>
            <a:off x="7571232" y="2240280"/>
            <a:ext cx="8686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m2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8439912" y="2240280"/>
            <a:ext cx="8686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R$/m2</a:t>
            </a:r>
          </a:p>
        </p:txBody>
      </p:sp>
      <p:sp>
        <p:nvSpPr>
          <p:cNvPr id="107" name="Text 107"/>
          <p:cNvSpPr txBox="1"/>
          <p:nvPr/>
        </p:nvSpPr>
        <p:spPr>
          <a:xfrm>
            <a:off x="566928" y="251460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0000.Transformação PA em Hospital UASA</a:t>
            </a:r>
          </a:p>
        </p:txBody>
      </p:sp>
      <p:sp>
        <p:nvSpPr>
          <p:cNvPr id="108" name="Text 108"/>
          <p:cNvSpPr txBox="1"/>
          <p:nvPr/>
        </p:nvSpPr>
        <p:spPr>
          <a:xfrm>
            <a:off x="4544568" y="251460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4956048" y="251460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Mar/26</a:t>
            </a:r>
          </a:p>
        </p:txBody>
      </p:sp>
      <p:sp>
        <p:nvSpPr>
          <p:cNvPr id="110" name="Text 110"/>
          <p:cNvSpPr txBox="1"/>
          <p:nvPr/>
        </p:nvSpPr>
        <p:spPr>
          <a:xfrm>
            <a:off x="5577840" y="251460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6492240" y="251460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R$ 23,2 mi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7571232" y="25146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10,4 mil m2</a:t>
            </a:r>
          </a:p>
        </p:txBody>
      </p:sp>
      <p:sp>
        <p:nvSpPr>
          <p:cNvPr id="113" name="Text 113"/>
          <p:cNvSpPr txBox="1"/>
          <p:nvPr/>
        </p:nvSpPr>
        <p:spPr>
          <a:xfrm>
            <a:off x="8439912" y="25146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R$ 2.234</a:t>
            </a:r>
          </a:p>
        </p:txBody>
      </p:sp>
      <p:sp>
        <p:nvSpPr>
          <p:cNvPr id="114" name="Text 114"/>
          <p:cNvSpPr txBox="1"/>
          <p:nvPr/>
        </p:nvSpPr>
        <p:spPr>
          <a:xfrm>
            <a:off x="566928" y="278892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0000.Ampliação de Leitos HS Nossa Senhora do Rosário (SP) (Vi...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4544568" y="278892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4956048" y="278892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Abr/26</a:t>
            </a:r>
          </a:p>
        </p:txBody>
      </p:sp>
      <p:sp>
        <p:nvSpPr>
          <p:cNvPr id="117" name="Text 117"/>
          <p:cNvSpPr txBox="1"/>
          <p:nvPr/>
        </p:nvSpPr>
        <p:spPr>
          <a:xfrm>
            <a:off x="5577840" y="278892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8" name="Text 118"/>
          <p:cNvSpPr txBox="1"/>
          <p:nvPr/>
        </p:nvSpPr>
        <p:spPr>
          <a:xfrm>
            <a:off x="6492240" y="278892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R$ 598,6 mil</a:t>
            </a:r>
          </a:p>
        </p:txBody>
      </p:sp>
      <p:sp>
        <p:nvSpPr>
          <p:cNvPr id="119" name="Text 119"/>
          <p:cNvSpPr txBox="1"/>
          <p:nvPr/>
        </p:nvSpPr>
        <p:spPr>
          <a:xfrm>
            <a:off x="7571232" y="278892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362 m2</a:t>
            </a:r>
          </a:p>
        </p:txBody>
      </p:sp>
      <p:sp>
        <p:nvSpPr>
          <p:cNvPr id="120" name="Text 120"/>
          <p:cNvSpPr txBox="1"/>
          <p:nvPr/>
        </p:nvSpPr>
        <p:spPr>
          <a:xfrm>
            <a:off x="8439912" y="278892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R$ 1.655</a:t>
            </a:r>
          </a:p>
        </p:txBody>
      </p:sp>
      <p:sp>
        <p:nvSpPr>
          <p:cNvPr id="121" name="Text 121"/>
          <p:cNvSpPr txBox="1"/>
          <p:nvPr/>
        </p:nvSpPr>
        <p:spPr>
          <a:xfrm>
            <a:off x="566928" y="306324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0000.Ampliação de Leitos HS Santana (SP) (Virose)</a:t>
            </a:r>
          </a:p>
        </p:txBody>
      </p:sp>
      <p:sp>
        <p:nvSpPr>
          <p:cNvPr id="122" name="Text 122"/>
          <p:cNvSpPr txBox="1"/>
          <p:nvPr/>
        </p:nvSpPr>
        <p:spPr>
          <a:xfrm>
            <a:off x="4544568" y="306324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23" name="Text 123"/>
          <p:cNvSpPr txBox="1"/>
          <p:nvPr/>
        </p:nvSpPr>
        <p:spPr>
          <a:xfrm>
            <a:off x="4956048" y="306324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Abr/26</a:t>
            </a:r>
          </a:p>
        </p:txBody>
      </p:sp>
      <p:sp>
        <p:nvSpPr>
          <p:cNvPr id="124" name="Text 124"/>
          <p:cNvSpPr txBox="1"/>
          <p:nvPr/>
        </p:nvSpPr>
        <p:spPr>
          <a:xfrm>
            <a:off x="5577840" y="306324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25" name="Text 125"/>
          <p:cNvSpPr txBox="1"/>
          <p:nvPr/>
        </p:nvSpPr>
        <p:spPr>
          <a:xfrm>
            <a:off x="6492240" y="306324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R$ 426,7 mil</a:t>
            </a:r>
          </a:p>
        </p:txBody>
      </p:sp>
      <p:sp>
        <p:nvSpPr>
          <p:cNvPr id="126" name="Text 126"/>
          <p:cNvSpPr txBox="1"/>
          <p:nvPr/>
        </p:nvSpPr>
        <p:spPr>
          <a:xfrm>
            <a:off x="7571232" y="306324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231 m2</a:t>
            </a:r>
          </a:p>
        </p:txBody>
      </p:sp>
      <p:sp>
        <p:nvSpPr>
          <p:cNvPr id="127" name="Text 127"/>
          <p:cNvSpPr txBox="1"/>
          <p:nvPr/>
        </p:nvSpPr>
        <p:spPr>
          <a:xfrm>
            <a:off x="8439912" y="306324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R$ 1.846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Pronto Atendimento | 2023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800">
                <a:solidFill>
                  <a:srgbClr val="50617F"/>
                </a:solidFill>
              </a:rPr>
              <a:t>6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66928" y="713232"/>
            <a:ext cx="7955280" cy="384048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2000" b="1">
                <a:solidFill>
                  <a:srgbClr val="15253F"/>
                </a:solidFill>
              </a:rPr>
              <a:t>Pronto Atendimento | 2023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8595360" y="786384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900">
                <a:solidFill>
                  <a:srgbClr val="50617F"/>
                </a:solidFill>
              </a:rPr>
              <a:t>Pagina 1/1 da listagem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66928" y="118872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715768" y="1188720"/>
            <a:ext cx="1920240" cy="530352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Area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12,3 mil m2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4864608" y="1188720"/>
            <a:ext cx="1920240" cy="530352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R$ 47,6 mi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7013448" y="118872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Preco m2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R$ 3.985/m2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640080" y="193852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100" b="1">
                <a:solidFill>
                  <a:srgbClr val="253F8E"/>
                </a:solidFill>
              </a:rPr>
              <a:t>Todas as obras da pagina, sem consolidacao</a:t>
            </a:r>
          </a:p>
        </p:txBody>
      </p:sp>
      <p:sp>
        <p:nvSpPr>
          <p:cNvPr id="100" name="Text 100"/>
          <p:cNvSpPr txBox="1"/>
          <p:nvPr/>
        </p:nvSpPr>
        <p:spPr>
          <a:xfrm>
            <a:off x="566928" y="2240280"/>
            <a:ext cx="397764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Obra</a:t>
            </a:r>
          </a:p>
        </p:txBody>
      </p:sp>
      <p:sp>
        <p:nvSpPr>
          <p:cNvPr id="101" name="Text 101"/>
          <p:cNvSpPr txBox="1"/>
          <p:nvPr/>
        </p:nvSpPr>
        <p:spPr>
          <a:xfrm>
            <a:off x="4544568" y="2240280"/>
            <a:ext cx="4114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UF</a:t>
            </a:r>
          </a:p>
        </p:txBody>
      </p:sp>
      <p:sp>
        <p:nvSpPr>
          <p:cNvPr id="102" name="Text 102"/>
          <p:cNvSpPr txBox="1"/>
          <p:nvPr/>
        </p:nvSpPr>
        <p:spPr>
          <a:xfrm>
            <a:off x="4956048" y="2240280"/>
            <a:ext cx="621792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Fim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5577840" y="2240280"/>
            <a:ext cx="91440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04" name="Text 104"/>
          <p:cNvSpPr txBox="1"/>
          <p:nvPr/>
        </p:nvSpPr>
        <p:spPr>
          <a:xfrm>
            <a:off x="6492240" y="2240280"/>
            <a:ext cx="1078992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105" name="Text 105"/>
          <p:cNvSpPr txBox="1"/>
          <p:nvPr/>
        </p:nvSpPr>
        <p:spPr>
          <a:xfrm>
            <a:off x="7571232" y="2240280"/>
            <a:ext cx="8686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m2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8439912" y="2240280"/>
            <a:ext cx="8686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R$/m2</a:t>
            </a:r>
          </a:p>
        </p:txBody>
      </p:sp>
      <p:sp>
        <p:nvSpPr>
          <p:cNvPr id="107" name="Text 107"/>
          <p:cNvSpPr txBox="1"/>
          <p:nvPr/>
        </p:nvSpPr>
        <p:spPr>
          <a:xfrm>
            <a:off x="566928" y="251460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9012.PA Lifecenter Contagem</a:t>
            </a:r>
          </a:p>
        </p:txBody>
      </p:sp>
      <p:sp>
        <p:nvSpPr>
          <p:cNvPr id="108" name="Text 108"/>
          <p:cNvSpPr txBox="1"/>
          <p:nvPr/>
        </p:nvSpPr>
        <p:spPr>
          <a:xfrm>
            <a:off x="4544568" y="251460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MG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4956048" y="251460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Mar/23</a:t>
            </a:r>
          </a:p>
        </p:txBody>
      </p:sp>
      <p:sp>
        <p:nvSpPr>
          <p:cNvPr id="110" name="Text 110"/>
          <p:cNvSpPr txBox="1"/>
          <p:nvPr/>
        </p:nvSpPr>
        <p:spPr>
          <a:xfrm>
            <a:off x="5577840" y="251460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6492240" y="251460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R$ 21,9 mi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7571232" y="25146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5,5 mil m2</a:t>
            </a:r>
          </a:p>
        </p:txBody>
      </p:sp>
      <p:sp>
        <p:nvSpPr>
          <p:cNvPr id="113" name="Text 113"/>
          <p:cNvSpPr txBox="1"/>
          <p:nvPr/>
        </p:nvSpPr>
        <p:spPr>
          <a:xfrm>
            <a:off x="8439912" y="25146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R$ 3.996</a:t>
            </a:r>
          </a:p>
        </p:txBody>
      </p:sp>
      <p:sp>
        <p:nvSpPr>
          <p:cNvPr id="114" name="Text 114"/>
          <p:cNvSpPr txBox="1"/>
          <p:nvPr/>
        </p:nvSpPr>
        <p:spPr>
          <a:xfrm>
            <a:off x="566928" y="278892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2013.HC Santa Efigênia (Contorno) - 2ª fase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4544568" y="278892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MG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4956048" y="278892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Mai/23</a:t>
            </a:r>
          </a:p>
        </p:txBody>
      </p:sp>
      <p:sp>
        <p:nvSpPr>
          <p:cNvPr id="117" name="Text 117"/>
          <p:cNvSpPr txBox="1"/>
          <p:nvPr/>
        </p:nvSpPr>
        <p:spPr>
          <a:xfrm>
            <a:off x="5577840" y="278892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8" name="Text 118"/>
          <p:cNvSpPr txBox="1"/>
          <p:nvPr/>
        </p:nvSpPr>
        <p:spPr>
          <a:xfrm>
            <a:off x="6492240" y="278892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R$ 14,7 mi</a:t>
            </a:r>
          </a:p>
        </p:txBody>
      </p:sp>
      <p:sp>
        <p:nvSpPr>
          <p:cNvPr id="119" name="Text 119"/>
          <p:cNvSpPr txBox="1"/>
          <p:nvPr/>
        </p:nvSpPr>
        <p:spPr>
          <a:xfrm>
            <a:off x="7571232" y="278892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3,7 mil m2</a:t>
            </a:r>
          </a:p>
        </p:txBody>
      </p:sp>
      <p:sp>
        <p:nvSpPr>
          <p:cNvPr id="120" name="Text 120"/>
          <p:cNvSpPr txBox="1"/>
          <p:nvPr/>
        </p:nvSpPr>
        <p:spPr>
          <a:xfrm>
            <a:off x="8439912" y="278892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R$ 3.995</a:t>
            </a:r>
          </a:p>
        </p:txBody>
      </p:sp>
      <p:sp>
        <p:nvSpPr>
          <p:cNvPr id="121" name="Text 121"/>
          <p:cNvSpPr txBox="1"/>
          <p:nvPr/>
        </p:nvSpPr>
        <p:spPr>
          <a:xfrm>
            <a:off x="566928" y="306324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9040.Novo PA Venda Nova</a:t>
            </a:r>
          </a:p>
        </p:txBody>
      </p:sp>
      <p:sp>
        <p:nvSpPr>
          <p:cNvPr id="122" name="Text 122"/>
          <p:cNvSpPr txBox="1"/>
          <p:nvPr/>
        </p:nvSpPr>
        <p:spPr>
          <a:xfrm>
            <a:off x="4544568" y="306324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MG</a:t>
            </a:r>
          </a:p>
        </p:txBody>
      </p:sp>
      <p:sp>
        <p:nvSpPr>
          <p:cNvPr id="123" name="Text 123"/>
          <p:cNvSpPr txBox="1"/>
          <p:nvPr/>
        </p:nvSpPr>
        <p:spPr>
          <a:xfrm>
            <a:off x="4956048" y="306324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Jun/23</a:t>
            </a:r>
          </a:p>
        </p:txBody>
      </p:sp>
      <p:sp>
        <p:nvSpPr>
          <p:cNvPr id="124" name="Text 124"/>
          <p:cNvSpPr txBox="1"/>
          <p:nvPr/>
        </p:nvSpPr>
        <p:spPr>
          <a:xfrm>
            <a:off x="5577840" y="306324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25" name="Text 125"/>
          <p:cNvSpPr txBox="1"/>
          <p:nvPr/>
        </p:nvSpPr>
        <p:spPr>
          <a:xfrm>
            <a:off x="6492240" y="306324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R$ 11,0 mi</a:t>
            </a:r>
          </a:p>
        </p:txBody>
      </p:sp>
      <p:sp>
        <p:nvSpPr>
          <p:cNvPr id="126" name="Text 126"/>
          <p:cNvSpPr txBox="1"/>
          <p:nvPr/>
        </p:nvSpPr>
        <p:spPr>
          <a:xfrm>
            <a:off x="7571232" y="306324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3,0 mil m2</a:t>
            </a:r>
          </a:p>
        </p:txBody>
      </p:sp>
      <p:sp>
        <p:nvSpPr>
          <p:cNvPr id="127" name="Text 127"/>
          <p:cNvSpPr txBox="1"/>
          <p:nvPr/>
        </p:nvSpPr>
        <p:spPr>
          <a:xfrm>
            <a:off x="8439912" y="306324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R$ 3.953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Pronto Atendimento | 2025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800">
                <a:solidFill>
                  <a:srgbClr val="50617F"/>
                </a:solidFill>
              </a:rPr>
              <a:t>7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66928" y="713232"/>
            <a:ext cx="7955280" cy="384048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2000" b="1">
                <a:solidFill>
                  <a:srgbClr val="15253F"/>
                </a:solidFill>
              </a:rPr>
              <a:t>Pronto Atendimento | 2025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8595360" y="786384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900">
                <a:solidFill>
                  <a:srgbClr val="50617F"/>
                </a:solidFill>
              </a:rPr>
              <a:t>Pagina 1/1 da listagem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66928" y="118872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715768" y="1188720"/>
            <a:ext cx="1920240" cy="530352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Area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1,2 mil m2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4864608" y="1188720"/>
            <a:ext cx="1920240" cy="530352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R$ 2,8 mi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7013448" y="118872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Preco m2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R$ 2.302/m2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640080" y="193852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100" b="1">
                <a:solidFill>
                  <a:srgbClr val="253F8E"/>
                </a:solidFill>
              </a:rPr>
              <a:t>Todas as obras da pagina, sem consolidacao</a:t>
            </a:r>
          </a:p>
        </p:txBody>
      </p:sp>
      <p:sp>
        <p:nvSpPr>
          <p:cNvPr id="100" name="Text 100"/>
          <p:cNvSpPr txBox="1"/>
          <p:nvPr/>
        </p:nvSpPr>
        <p:spPr>
          <a:xfrm>
            <a:off x="566928" y="2240280"/>
            <a:ext cx="397764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Obra</a:t>
            </a:r>
          </a:p>
        </p:txBody>
      </p:sp>
      <p:sp>
        <p:nvSpPr>
          <p:cNvPr id="101" name="Text 101"/>
          <p:cNvSpPr txBox="1"/>
          <p:nvPr/>
        </p:nvSpPr>
        <p:spPr>
          <a:xfrm>
            <a:off x="4544568" y="2240280"/>
            <a:ext cx="4114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UF</a:t>
            </a:r>
          </a:p>
        </p:txBody>
      </p:sp>
      <p:sp>
        <p:nvSpPr>
          <p:cNvPr id="102" name="Text 102"/>
          <p:cNvSpPr txBox="1"/>
          <p:nvPr/>
        </p:nvSpPr>
        <p:spPr>
          <a:xfrm>
            <a:off x="4956048" y="2240280"/>
            <a:ext cx="621792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Fim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5577840" y="2240280"/>
            <a:ext cx="91440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04" name="Text 104"/>
          <p:cNvSpPr txBox="1"/>
          <p:nvPr/>
        </p:nvSpPr>
        <p:spPr>
          <a:xfrm>
            <a:off x="6492240" y="2240280"/>
            <a:ext cx="1078992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105" name="Text 105"/>
          <p:cNvSpPr txBox="1"/>
          <p:nvPr/>
        </p:nvSpPr>
        <p:spPr>
          <a:xfrm>
            <a:off x="7571232" y="2240280"/>
            <a:ext cx="8686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m2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8439912" y="2240280"/>
            <a:ext cx="8686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R$/m2</a:t>
            </a:r>
          </a:p>
        </p:txBody>
      </p:sp>
      <p:sp>
        <p:nvSpPr>
          <p:cNvPr id="107" name="Text 107"/>
          <p:cNvSpPr txBox="1"/>
          <p:nvPr/>
        </p:nvSpPr>
        <p:spPr>
          <a:xfrm>
            <a:off x="566928" y="251460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3593.Adequação PA Pediátrico HS América</a:t>
            </a:r>
          </a:p>
        </p:txBody>
      </p:sp>
      <p:sp>
        <p:nvSpPr>
          <p:cNvPr id="108" name="Text 108"/>
          <p:cNvSpPr txBox="1"/>
          <p:nvPr/>
        </p:nvSpPr>
        <p:spPr>
          <a:xfrm>
            <a:off x="4544568" y="251460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GO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4956048" y="251460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Jan/25</a:t>
            </a:r>
          </a:p>
        </p:txBody>
      </p:sp>
      <p:sp>
        <p:nvSpPr>
          <p:cNvPr id="110" name="Text 110"/>
          <p:cNvSpPr txBox="1"/>
          <p:nvPr/>
        </p:nvSpPr>
        <p:spPr>
          <a:xfrm>
            <a:off x="5577840" y="251460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6492240" y="251460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R$ 2,8 mi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7571232" y="25146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1,2 mil m2</a:t>
            </a:r>
          </a:p>
        </p:txBody>
      </p:sp>
      <p:sp>
        <p:nvSpPr>
          <p:cNvPr id="113" name="Text 113"/>
          <p:cNvSpPr txBox="1"/>
          <p:nvPr/>
        </p:nvSpPr>
        <p:spPr>
          <a:xfrm>
            <a:off x="8439912" y="25146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R$ 2.302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Pronto Atendimento | 2026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800">
                <a:solidFill>
                  <a:srgbClr val="50617F"/>
                </a:solidFill>
              </a:rPr>
              <a:t>8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66928" y="713232"/>
            <a:ext cx="7955280" cy="384048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2000" b="1">
                <a:solidFill>
                  <a:srgbClr val="15253F"/>
                </a:solidFill>
              </a:rPr>
              <a:t>Pronto Atendimento | 2026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8595360" y="786384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900">
                <a:solidFill>
                  <a:srgbClr val="50617F"/>
                </a:solidFill>
              </a:rPr>
              <a:t>Pagina 1/1 da listagem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66928" y="118872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715768" y="1188720"/>
            <a:ext cx="1920240" cy="530352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Area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2,5 mil m2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4864608" y="1188720"/>
            <a:ext cx="1920240" cy="530352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R$ 7,6 mi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7013448" y="118872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Preco m2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R$ 3.062/m2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640080" y="193852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100" b="1">
                <a:solidFill>
                  <a:srgbClr val="253F8E"/>
                </a:solidFill>
              </a:rPr>
              <a:t>Todas as obras da pagina, sem consolidacao</a:t>
            </a:r>
          </a:p>
        </p:txBody>
      </p:sp>
      <p:sp>
        <p:nvSpPr>
          <p:cNvPr id="100" name="Text 100"/>
          <p:cNvSpPr txBox="1"/>
          <p:nvPr/>
        </p:nvSpPr>
        <p:spPr>
          <a:xfrm>
            <a:off x="566928" y="2240280"/>
            <a:ext cx="397764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Obra</a:t>
            </a:r>
          </a:p>
        </p:txBody>
      </p:sp>
      <p:sp>
        <p:nvSpPr>
          <p:cNvPr id="101" name="Text 101"/>
          <p:cNvSpPr txBox="1"/>
          <p:nvPr/>
        </p:nvSpPr>
        <p:spPr>
          <a:xfrm>
            <a:off x="4544568" y="2240280"/>
            <a:ext cx="4114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UF</a:t>
            </a:r>
          </a:p>
        </p:txBody>
      </p:sp>
      <p:sp>
        <p:nvSpPr>
          <p:cNvPr id="102" name="Text 102"/>
          <p:cNvSpPr txBox="1"/>
          <p:nvPr/>
        </p:nvSpPr>
        <p:spPr>
          <a:xfrm>
            <a:off x="4956048" y="2240280"/>
            <a:ext cx="621792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Fim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5577840" y="2240280"/>
            <a:ext cx="91440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04" name="Text 104"/>
          <p:cNvSpPr txBox="1"/>
          <p:nvPr/>
        </p:nvSpPr>
        <p:spPr>
          <a:xfrm>
            <a:off x="6492240" y="2240280"/>
            <a:ext cx="1078992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105" name="Text 105"/>
          <p:cNvSpPr txBox="1"/>
          <p:nvPr/>
        </p:nvSpPr>
        <p:spPr>
          <a:xfrm>
            <a:off x="7571232" y="2240280"/>
            <a:ext cx="8686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m2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8439912" y="2240280"/>
            <a:ext cx="8686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R$/m2</a:t>
            </a:r>
          </a:p>
        </p:txBody>
      </p:sp>
      <p:sp>
        <p:nvSpPr>
          <p:cNvPr id="107" name="Text 107"/>
          <p:cNvSpPr txBox="1"/>
          <p:nvPr/>
        </p:nvSpPr>
        <p:spPr>
          <a:xfrm>
            <a:off x="566928" y="251460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0000.Pronto Atendimento Penha (RJ)</a:t>
            </a:r>
          </a:p>
        </p:txBody>
      </p:sp>
      <p:sp>
        <p:nvSpPr>
          <p:cNvPr id="108" name="Text 108"/>
          <p:cNvSpPr txBox="1"/>
          <p:nvPr/>
        </p:nvSpPr>
        <p:spPr>
          <a:xfrm>
            <a:off x="4544568" y="251460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RJ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4956048" y="251460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Fev/26</a:t>
            </a:r>
          </a:p>
        </p:txBody>
      </p:sp>
      <p:sp>
        <p:nvSpPr>
          <p:cNvPr id="110" name="Text 110"/>
          <p:cNvSpPr txBox="1"/>
          <p:nvPr/>
        </p:nvSpPr>
        <p:spPr>
          <a:xfrm>
            <a:off x="5577840" y="251460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6492240" y="251460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R$ 7,6 mi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7571232" y="25146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2,5 mil m2</a:t>
            </a:r>
          </a:p>
        </p:txBody>
      </p:sp>
      <p:sp>
        <p:nvSpPr>
          <p:cNvPr id="113" name="Text 113"/>
          <p:cNvSpPr txBox="1"/>
          <p:nvPr/>
        </p:nvSpPr>
        <p:spPr>
          <a:xfrm>
            <a:off x="8439912" y="25146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R$ 3.062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Clínicas, Diagnósticos, TEA e Laboratórios | 2023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800">
                <a:solidFill>
                  <a:srgbClr val="50617F"/>
                </a:solidFill>
              </a:rPr>
              <a:t>9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66928" y="713232"/>
            <a:ext cx="7955280" cy="384048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2000" b="1">
                <a:solidFill>
                  <a:srgbClr val="15253F"/>
                </a:solidFill>
              </a:rPr>
              <a:t>Clínicas, Diagnósticos, TEA e Laboratórios | 2023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8595360" y="786384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900">
                <a:solidFill>
                  <a:srgbClr val="50617F"/>
                </a:solidFill>
              </a:rPr>
              <a:t>Pagina 1/1 da listagem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66928" y="118872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715768" y="1188720"/>
            <a:ext cx="1920240" cy="530352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Area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6,1 mil m2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4864608" y="1188720"/>
            <a:ext cx="1920240" cy="530352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R$ 12,3 mi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7013448" y="118872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Preco m2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R$ 2.043/m2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640080" y="193852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100" b="1">
                <a:solidFill>
                  <a:srgbClr val="253F8E"/>
                </a:solidFill>
              </a:rPr>
              <a:t>Todas as obras da pagina, sem consolidacao</a:t>
            </a:r>
          </a:p>
        </p:txBody>
      </p:sp>
      <p:sp>
        <p:nvSpPr>
          <p:cNvPr id="100" name="Text 100"/>
          <p:cNvSpPr txBox="1"/>
          <p:nvPr/>
        </p:nvSpPr>
        <p:spPr>
          <a:xfrm>
            <a:off x="566928" y="2240280"/>
            <a:ext cx="397764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Obra</a:t>
            </a:r>
          </a:p>
        </p:txBody>
      </p:sp>
      <p:sp>
        <p:nvSpPr>
          <p:cNvPr id="101" name="Text 101"/>
          <p:cNvSpPr txBox="1"/>
          <p:nvPr/>
        </p:nvSpPr>
        <p:spPr>
          <a:xfrm>
            <a:off x="4544568" y="2240280"/>
            <a:ext cx="4114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UF</a:t>
            </a:r>
          </a:p>
        </p:txBody>
      </p:sp>
      <p:sp>
        <p:nvSpPr>
          <p:cNvPr id="102" name="Text 102"/>
          <p:cNvSpPr txBox="1"/>
          <p:nvPr/>
        </p:nvSpPr>
        <p:spPr>
          <a:xfrm>
            <a:off x="4956048" y="2240280"/>
            <a:ext cx="621792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Fim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5577840" y="2240280"/>
            <a:ext cx="91440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04" name="Text 104"/>
          <p:cNvSpPr txBox="1"/>
          <p:nvPr/>
        </p:nvSpPr>
        <p:spPr>
          <a:xfrm>
            <a:off x="6492240" y="2240280"/>
            <a:ext cx="1078992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105" name="Text 105"/>
          <p:cNvSpPr txBox="1"/>
          <p:nvPr/>
        </p:nvSpPr>
        <p:spPr>
          <a:xfrm>
            <a:off x="7571232" y="2240280"/>
            <a:ext cx="8686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m2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8439912" y="2240280"/>
            <a:ext cx="8686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R$/m2</a:t>
            </a:r>
          </a:p>
        </p:txBody>
      </p:sp>
      <p:sp>
        <p:nvSpPr>
          <p:cNvPr id="107" name="Text 107"/>
          <p:cNvSpPr txBox="1"/>
          <p:nvPr/>
        </p:nvSpPr>
        <p:spPr>
          <a:xfrm>
            <a:off x="566928" y="251460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1397.Substituição HC Pituba 2</a:t>
            </a:r>
          </a:p>
        </p:txBody>
      </p:sp>
      <p:sp>
        <p:nvSpPr>
          <p:cNvPr id="108" name="Text 108"/>
          <p:cNvSpPr txBox="1"/>
          <p:nvPr/>
        </p:nvSpPr>
        <p:spPr>
          <a:xfrm>
            <a:off x="4544568" y="251460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BA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4956048" y="251460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Mar/23</a:t>
            </a:r>
          </a:p>
        </p:txBody>
      </p:sp>
      <p:sp>
        <p:nvSpPr>
          <p:cNvPr id="110" name="Text 110"/>
          <p:cNvSpPr txBox="1"/>
          <p:nvPr/>
        </p:nvSpPr>
        <p:spPr>
          <a:xfrm>
            <a:off x="5577840" y="251460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6492240" y="251460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R$ 3,1 mi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7571232" y="25146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1,6 mil m2</a:t>
            </a:r>
          </a:p>
        </p:txBody>
      </p:sp>
      <p:sp>
        <p:nvSpPr>
          <p:cNvPr id="113" name="Text 113"/>
          <p:cNvSpPr txBox="1"/>
          <p:nvPr/>
        </p:nvSpPr>
        <p:spPr>
          <a:xfrm>
            <a:off x="8439912" y="25146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R$ 1.950</a:t>
            </a:r>
          </a:p>
        </p:txBody>
      </p:sp>
      <p:sp>
        <p:nvSpPr>
          <p:cNvPr id="114" name="Text 114"/>
          <p:cNvSpPr txBox="1"/>
          <p:nvPr/>
        </p:nvSpPr>
        <p:spPr>
          <a:xfrm>
            <a:off x="566928" y="278892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3291.TEA Fortaleza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4544568" y="278892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CE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4956048" y="278892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Mai/23</a:t>
            </a:r>
          </a:p>
        </p:txBody>
      </p:sp>
      <p:sp>
        <p:nvSpPr>
          <p:cNvPr id="117" name="Text 117"/>
          <p:cNvSpPr txBox="1"/>
          <p:nvPr/>
        </p:nvSpPr>
        <p:spPr>
          <a:xfrm>
            <a:off x="5577840" y="278892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8" name="Text 118"/>
          <p:cNvSpPr txBox="1"/>
          <p:nvPr/>
        </p:nvSpPr>
        <p:spPr>
          <a:xfrm>
            <a:off x="6492240" y="278892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R$ 717,4 mil</a:t>
            </a:r>
          </a:p>
        </p:txBody>
      </p:sp>
      <p:sp>
        <p:nvSpPr>
          <p:cNvPr id="119" name="Text 119"/>
          <p:cNvSpPr txBox="1"/>
          <p:nvPr/>
        </p:nvSpPr>
        <p:spPr>
          <a:xfrm>
            <a:off x="7571232" y="278892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609 m2</a:t>
            </a:r>
          </a:p>
        </p:txBody>
      </p:sp>
      <p:sp>
        <p:nvSpPr>
          <p:cNvPr id="120" name="Text 120"/>
          <p:cNvSpPr txBox="1"/>
          <p:nvPr/>
        </p:nvSpPr>
        <p:spPr>
          <a:xfrm>
            <a:off x="8439912" y="278892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R$ 1.178</a:t>
            </a:r>
          </a:p>
        </p:txBody>
      </p:sp>
      <p:sp>
        <p:nvSpPr>
          <p:cNvPr id="121" name="Text 121"/>
          <p:cNvSpPr txBox="1"/>
          <p:nvPr/>
        </p:nvSpPr>
        <p:spPr>
          <a:xfrm>
            <a:off x="566928" y="306324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3288.TEA Maceió</a:t>
            </a:r>
          </a:p>
        </p:txBody>
      </p:sp>
      <p:sp>
        <p:nvSpPr>
          <p:cNvPr id="122" name="Text 122"/>
          <p:cNvSpPr txBox="1"/>
          <p:nvPr/>
        </p:nvSpPr>
        <p:spPr>
          <a:xfrm>
            <a:off x="4544568" y="306324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AL</a:t>
            </a:r>
          </a:p>
        </p:txBody>
      </p:sp>
      <p:sp>
        <p:nvSpPr>
          <p:cNvPr id="123" name="Text 123"/>
          <p:cNvSpPr txBox="1"/>
          <p:nvPr/>
        </p:nvSpPr>
        <p:spPr>
          <a:xfrm>
            <a:off x="4956048" y="306324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Jun/23</a:t>
            </a:r>
          </a:p>
        </p:txBody>
      </p:sp>
      <p:sp>
        <p:nvSpPr>
          <p:cNvPr id="124" name="Text 124"/>
          <p:cNvSpPr txBox="1"/>
          <p:nvPr/>
        </p:nvSpPr>
        <p:spPr>
          <a:xfrm>
            <a:off x="5577840" y="306324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25" name="Text 125"/>
          <p:cNvSpPr txBox="1"/>
          <p:nvPr/>
        </p:nvSpPr>
        <p:spPr>
          <a:xfrm>
            <a:off x="6492240" y="306324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R$ 278,3 mil</a:t>
            </a:r>
          </a:p>
        </p:txBody>
      </p:sp>
      <p:sp>
        <p:nvSpPr>
          <p:cNvPr id="126" name="Text 126"/>
          <p:cNvSpPr txBox="1"/>
          <p:nvPr/>
        </p:nvSpPr>
        <p:spPr>
          <a:xfrm>
            <a:off x="7571232" y="306324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217 m2</a:t>
            </a:r>
          </a:p>
        </p:txBody>
      </p:sp>
      <p:sp>
        <p:nvSpPr>
          <p:cNvPr id="127" name="Text 127"/>
          <p:cNvSpPr txBox="1"/>
          <p:nvPr/>
        </p:nvSpPr>
        <p:spPr>
          <a:xfrm>
            <a:off x="8439912" y="306324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R$ 1.280</a:t>
            </a:r>
          </a:p>
        </p:txBody>
      </p:sp>
      <p:sp>
        <p:nvSpPr>
          <p:cNvPr id="128" name="Text 128"/>
          <p:cNvSpPr txBox="1"/>
          <p:nvPr/>
        </p:nvSpPr>
        <p:spPr>
          <a:xfrm>
            <a:off x="566928" y="333756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3568.TEA Santo André</a:t>
            </a:r>
          </a:p>
        </p:txBody>
      </p:sp>
      <p:sp>
        <p:nvSpPr>
          <p:cNvPr id="129" name="Text 129"/>
          <p:cNvSpPr txBox="1"/>
          <p:nvPr/>
        </p:nvSpPr>
        <p:spPr>
          <a:xfrm>
            <a:off x="4544568" y="333756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4956048" y="333756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Jul/23</a:t>
            </a:r>
          </a:p>
        </p:txBody>
      </p:sp>
      <p:sp>
        <p:nvSpPr>
          <p:cNvPr id="131" name="Text 131"/>
          <p:cNvSpPr txBox="1"/>
          <p:nvPr/>
        </p:nvSpPr>
        <p:spPr>
          <a:xfrm>
            <a:off x="5577840" y="333756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32" name="Text 132"/>
          <p:cNvSpPr txBox="1"/>
          <p:nvPr/>
        </p:nvSpPr>
        <p:spPr>
          <a:xfrm>
            <a:off x="6492240" y="333756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R$ 2,8 mi</a:t>
            </a:r>
          </a:p>
        </p:txBody>
      </p:sp>
      <p:sp>
        <p:nvSpPr>
          <p:cNvPr id="133" name="Text 133"/>
          <p:cNvSpPr txBox="1"/>
          <p:nvPr/>
        </p:nvSpPr>
        <p:spPr>
          <a:xfrm>
            <a:off x="7571232" y="333756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967 m2</a:t>
            </a:r>
          </a:p>
        </p:txBody>
      </p:sp>
      <p:sp>
        <p:nvSpPr>
          <p:cNvPr id="134" name="Text 134"/>
          <p:cNvSpPr txBox="1"/>
          <p:nvPr/>
        </p:nvSpPr>
        <p:spPr>
          <a:xfrm>
            <a:off x="8439912" y="333756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R$ 2.904</a:t>
            </a:r>
          </a:p>
        </p:txBody>
      </p:sp>
      <p:sp>
        <p:nvSpPr>
          <p:cNvPr id="135" name="Text 135"/>
          <p:cNvSpPr txBox="1"/>
          <p:nvPr/>
        </p:nvSpPr>
        <p:spPr>
          <a:xfrm>
            <a:off x="566928" y="361188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3034.Transferência HC Piracicaba</a:t>
            </a:r>
          </a:p>
        </p:txBody>
      </p:sp>
      <p:sp>
        <p:nvSpPr>
          <p:cNvPr id="136" name="Text 136"/>
          <p:cNvSpPr txBox="1"/>
          <p:nvPr/>
        </p:nvSpPr>
        <p:spPr>
          <a:xfrm>
            <a:off x="4544568" y="361188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37" name="Text 137"/>
          <p:cNvSpPr txBox="1"/>
          <p:nvPr/>
        </p:nvSpPr>
        <p:spPr>
          <a:xfrm>
            <a:off x="4956048" y="361188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Jul/23</a:t>
            </a:r>
          </a:p>
        </p:txBody>
      </p:sp>
      <p:sp>
        <p:nvSpPr>
          <p:cNvPr id="138" name="Text 138"/>
          <p:cNvSpPr txBox="1"/>
          <p:nvPr/>
        </p:nvSpPr>
        <p:spPr>
          <a:xfrm>
            <a:off x="5577840" y="361188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39" name="Text 139"/>
          <p:cNvSpPr txBox="1"/>
          <p:nvPr/>
        </p:nvSpPr>
        <p:spPr>
          <a:xfrm>
            <a:off x="6492240" y="361188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R$ 2,6 mi</a:t>
            </a:r>
          </a:p>
        </p:txBody>
      </p:sp>
      <p:sp>
        <p:nvSpPr>
          <p:cNvPr id="140" name="Text 140"/>
          <p:cNvSpPr txBox="1"/>
          <p:nvPr/>
        </p:nvSpPr>
        <p:spPr>
          <a:xfrm>
            <a:off x="7571232" y="361188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1,2 mil m2</a:t>
            </a:r>
          </a:p>
        </p:txBody>
      </p:sp>
      <p:sp>
        <p:nvSpPr>
          <p:cNvPr id="141" name="Text 141"/>
          <p:cNvSpPr txBox="1"/>
          <p:nvPr/>
        </p:nvSpPr>
        <p:spPr>
          <a:xfrm>
            <a:off x="8439912" y="361188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R$ 2.089</a:t>
            </a:r>
          </a:p>
        </p:txBody>
      </p:sp>
      <p:sp>
        <p:nvSpPr>
          <p:cNvPr id="142" name="Text 142"/>
          <p:cNvSpPr txBox="1"/>
          <p:nvPr/>
        </p:nvSpPr>
        <p:spPr>
          <a:xfrm>
            <a:off x="566928" y="388620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3569.TEA Arujá</a:t>
            </a:r>
          </a:p>
        </p:txBody>
      </p:sp>
      <p:sp>
        <p:nvSpPr>
          <p:cNvPr id="143" name="Text 143"/>
          <p:cNvSpPr txBox="1"/>
          <p:nvPr/>
        </p:nvSpPr>
        <p:spPr>
          <a:xfrm>
            <a:off x="4544568" y="388620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44" name="Text 144"/>
          <p:cNvSpPr txBox="1"/>
          <p:nvPr/>
        </p:nvSpPr>
        <p:spPr>
          <a:xfrm>
            <a:off x="4956048" y="388620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Jul/23</a:t>
            </a:r>
          </a:p>
        </p:txBody>
      </p:sp>
      <p:sp>
        <p:nvSpPr>
          <p:cNvPr id="145" name="Text 145"/>
          <p:cNvSpPr txBox="1"/>
          <p:nvPr/>
        </p:nvSpPr>
        <p:spPr>
          <a:xfrm>
            <a:off x="5577840" y="388620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46" name="Text 146"/>
          <p:cNvSpPr txBox="1"/>
          <p:nvPr/>
        </p:nvSpPr>
        <p:spPr>
          <a:xfrm>
            <a:off x="6492240" y="388620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R$ 1,5 mi</a:t>
            </a:r>
          </a:p>
        </p:txBody>
      </p:sp>
      <p:sp>
        <p:nvSpPr>
          <p:cNvPr id="147" name="Text 147"/>
          <p:cNvSpPr txBox="1"/>
          <p:nvPr/>
        </p:nvSpPr>
        <p:spPr>
          <a:xfrm>
            <a:off x="7571232" y="388620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495 m2</a:t>
            </a:r>
          </a:p>
        </p:txBody>
      </p:sp>
      <p:sp>
        <p:nvSpPr>
          <p:cNvPr id="148" name="Text 148"/>
          <p:cNvSpPr txBox="1"/>
          <p:nvPr/>
        </p:nvSpPr>
        <p:spPr>
          <a:xfrm>
            <a:off x="8439912" y="388620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R$ 3.025</a:t>
            </a:r>
          </a:p>
        </p:txBody>
      </p:sp>
      <p:sp>
        <p:nvSpPr>
          <p:cNvPr id="149" name="Text 149"/>
          <p:cNvSpPr txBox="1"/>
          <p:nvPr/>
        </p:nvSpPr>
        <p:spPr>
          <a:xfrm>
            <a:off x="566928" y="416052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3579.Adequação Capelas CC Mercês</a:t>
            </a:r>
          </a:p>
        </p:txBody>
      </p:sp>
      <p:sp>
        <p:nvSpPr>
          <p:cNvPr id="150" name="Text 150"/>
          <p:cNvSpPr txBox="1"/>
          <p:nvPr/>
        </p:nvSpPr>
        <p:spPr>
          <a:xfrm>
            <a:off x="4544568" y="416052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PR</a:t>
            </a:r>
          </a:p>
        </p:txBody>
      </p:sp>
      <p:sp>
        <p:nvSpPr>
          <p:cNvPr id="151" name="Text 151"/>
          <p:cNvSpPr txBox="1"/>
          <p:nvPr/>
        </p:nvSpPr>
        <p:spPr>
          <a:xfrm>
            <a:off x="4956048" y="416052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Jul/23</a:t>
            </a:r>
          </a:p>
        </p:txBody>
      </p:sp>
      <p:sp>
        <p:nvSpPr>
          <p:cNvPr id="152" name="Text 152"/>
          <p:cNvSpPr txBox="1"/>
          <p:nvPr/>
        </p:nvSpPr>
        <p:spPr>
          <a:xfrm>
            <a:off x="5577840" y="416052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53" name="Text 153"/>
          <p:cNvSpPr txBox="1"/>
          <p:nvPr/>
        </p:nvSpPr>
        <p:spPr>
          <a:xfrm>
            <a:off x="6492240" y="416052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R$ 201,0 mil</a:t>
            </a:r>
          </a:p>
        </p:txBody>
      </p:sp>
      <p:sp>
        <p:nvSpPr>
          <p:cNvPr id="154" name="Text 154"/>
          <p:cNvSpPr txBox="1"/>
          <p:nvPr/>
        </p:nvSpPr>
        <p:spPr>
          <a:xfrm>
            <a:off x="7571232" y="416052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55 m2</a:t>
            </a:r>
          </a:p>
        </p:txBody>
      </p:sp>
      <p:sp>
        <p:nvSpPr>
          <p:cNvPr id="155" name="Text 155"/>
          <p:cNvSpPr txBox="1"/>
          <p:nvPr/>
        </p:nvSpPr>
        <p:spPr>
          <a:xfrm>
            <a:off x="8439912" y="416052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R$ 3.678</a:t>
            </a:r>
          </a:p>
        </p:txBody>
      </p:sp>
      <p:sp>
        <p:nvSpPr>
          <p:cNvPr id="156" name="Text 156"/>
          <p:cNvSpPr txBox="1"/>
          <p:nvPr/>
        </p:nvSpPr>
        <p:spPr>
          <a:xfrm>
            <a:off x="566928" y="443484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3227.TEA HC Bucarein</a:t>
            </a:r>
          </a:p>
        </p:txBody>
      </p:sp>
      <p:sp>
        <p:nvSpPr>
          <p:cNvPr id="157" name="Text 157"/>
          <p:cNvSpPr txBox="1"/>
          <p:nvPr/>
        </p:nvSpPr>
        <p:spPr>
          <a:xfrm>
            <a:off x="4544568" y="443484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SC</a:t>
            </a:r>
          </a:p>
        </p:txBody>
      </p:sp>
      <p:sp>
        <p:nvSpPr>
          <p:cNvPr id="158" name="Text 158"/>
          <p:cNvSpPr txBox="1"/>
          <p:nvPr/>
        </p:nvSpPr>
        <p:spPr>
          <a:xfrm>
            <a:off x="4956048" y="443484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Jan/23</a:t>
            </a:r>
          </a:p>
        </p:txBody>
      </p:sp>
      <p:sp>
        <p:nvSpPr>
          <p:cNvPr id="159" name="Text 159"/>
          <p:cNvSpPr txBox="1"/>
          <p:nvPr/>
        </p:nvSpPr>
        <p:spPr>
          <a:xfrm>
            <a:off x="5577840" y="443484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60" name="Text 160"/>
          <p:cNvSpPr txBox="1"/>
          <p:nvPr/>
        </p:nvSpPr>
        <p:spPr>
          <a:xfrm>
            <a:off x="6492240" y="443484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R$ 283,5 mil</a:t>
            </a:r>
          </a:p>
        </p:txBody>
      </p:sp>
      <p:sp>
        <p:nvSpPr>
          <p:cNvPr id="161" name="Text 161"/>
          <p:cNvSpPr txBox="1"/>
          <p:nvPr/>
        </p:nvSpPr>
        <p:spPr>
          <a:xfrm>
            <a:off x="7571232" y="443484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133 m2</a:t>
            </a:r>
          </a:p>
        </p:txBody>
      </p:sp>
      <p:sp>
        <p:nvSpPr>
          <p:cNvPr id="162" name="Text 162"/>
          <p:cNvSpPr txBox="1"/>
          <p:nvPr/>
        </p:nvSpPr>
        <p:spPr>
          <a:xfrm>
            <a:off x="8439912" y="443484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R$ 2.133</a:t>
            </a:r>
          </a:p>
        </p:txBody>
      </p:sp>
      <p:sp>
        <p:nvSpPr>
          <p:cNvPr id="163" name="Text 163"/>
          <p:cNvSpPr txBox="1"/>
          <p:nvPr/>
        </p:nvSpPr>
        <p:spPr>
          <a:xfrm>
            <a:off x="566928" y="470916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3287.TEA HS Celina Guimarães</a:t>
            </a:r>
          </a:p>
        </p:txBody>
      </p:sp>
      <p:sp>
        <p:nvSpPr>
          <p:cNvPr id="164" name="Text 164"/>
          <p:cNvSpPr txBox="1"/>
          <p:nvPr/>
        </p:nvSpPr>
        <p:spPr>
          <a:xfrm>
            <a:off x="4544568" y="470916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RN</a:t>
            </a:r>
          </a:p>
        </p:txBody>
      </p:sp>
      <p:sp>
        <p:nvSpPr>
          <p:cNvPr id="165" name="Text 165"/>
          <p:cNvSpPr txBox="1"/>
          <p:nvPr/>
        </p:nvSpPr>
        <p:spPr>
          <a:xfrm>
            <a:off x="4956048" y="470916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Fev/23</a:t>
            </a:r>
          </a:p>
        </p:txBody>
      </p:sp>
      <p:sp>
        <p:nvSpPr>
          <p:cNvPr id="166" name="Text 166"/>
          <p:cNvSpPr txBox="1"/>
          <p:nvPr/>
        </p:nvSpPr>
        <p:spPr>
          <a:xfrm>
            <a:off x="5577840" y="470916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67" name="Text 167"/>
          <p:cNvSpPr txBox="1"/>
          <p:nvPr/>
        </p:nvSpPr>
        <p:spPr>
          <a:xfrm>
            <a:off x="6492240" y="470916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R$ 363,9 mil</a:t>
            </a:r>
          </a:p>
        </p:txBody>
      </p:sp>
      <p:sp>
        <p:nvSpPr>
          <p:cNvPr id="168" name="Text 168"/>
          <p:cNvSpPr txBox="1"/>
          <p:nvPr/>
        </p:nvSpPr>
        <p:spPr>
          <a:xfrm>
            <a:off x="7571232" y="470916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289 m2</a:t>
            </a:r>
          </a:p>
        </p:txBody>
      </p:sp>
      <p:sp>
        <p:nvSpPr>
          <p:cNvPr id="169" name="Text 169"/>
          <p:cNvSpPr txBox="1"/>
          <p:nvPr/>
        </p:nvSpPr>
        <p:spPr>
          <a:xfrm>
            <a:off x="8439912" y="470916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R$ 1.259</a:t>
            </a:r>
          </a:p>
        </p:txBody>
      </p:sp>
      <p:sp>
        <p:nvSpPr>
          <p:cNvPr id="170" name="Text 170"/>
          <p:cNvSpPr txBox="1"/>
          <p:nvPr/>
        </p:nvSpPr>
        <p:spPr>
          <a:xfrm>
            <a:off x="566928" y="498348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3236.Nova Coleta Campina Grande</a:t>
            </a:r>
          </a:p>
        </p:txBody>
      </p:sp>
      <p:sp>
        <p:nvSpPr>
          <p:cNvPr id="171" name="Text 171"/>
          <p:cNvSpPr txBox="1"/>
          <p:nvPr/>
        </p:nvSpPr>
        <p:spPr>
          <a:xfrm>
            <a:off x="4544568" y="498348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PB</a:t>
            </a:r>
          </a:p>
        </p:txBody>
      </p:sp>
      <p:sp>
        <p:nvSpPr>
          <p:cNvPr id="172" name="Text 172"/>
          <p:cNvSpPr txBox="1"/>
          <p:nvPr/>
        </p:nvSpPr>
        <p:spPr>
          <a:xfrm>
            <a:off x="4956048" y="498348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Fev/23</a:t>
            </a:r>
          </a:p>
        </p:txBody>
      </p:sp>
      <p:sp>
        <p:nvSpPr>
          <p:cNvPr id="173" name="Text 173"/>
          <p:cNvSpPr txBox="1"/>
          <p:nvPr/>
        </p:nvSpPr>
        <p:spPr>
          <a:xfrm>
            <a:off x="5577840" y="498348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74" name="Text 174"/>
          <p:cNvSpPr txBox="1"/>
          <p:nvPr/>
        </p:nvSpPr>
        <p:spPr>
          <a:xfrm>
            <a:off x="6492240" y="498348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R$ 179,4 mil</a:t>
            </a:r>
          </a:p>
        </p:txBody>
      </p:sp>
      <p:sp>
        <p:nvSpPr>
          <p:cNvPr id="175" name="Text 175"/>
          <p:cNvSpPr txBox="1"/>
          <p:nvPr/>
        </p:nvSpPr>
        <p:spPr>
          <a:xfrm>
            <a:off x="7571232" y="498348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163 m2</a:t>
            </a:r>
          </a:p>
        </p:txBody>
      </p:sp>
      <p:sp>
        <p:nvSpPr>
          <p:cNvPr id="176" name="Text 176"/>
          <p:cNvSpPr txBox="1"/>
          <p:nvPr/>
        </p:nvSpPr>
        <p:spPr>
          <a:xfrm>
            <a:off x="8439912" y="498348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R$ 1.100</a:t>
            </a:r>
          </a:p>
        </p:txBody>
      </p:sp>
      <p:sp>
        <p:nvSpPr>
          <p:cNvPr id="177" name="Text 177"/>
          <p:cNvSpPr txBox="1"/>
          <p:nvPr/>
        </p:nvSpPr>
        <p:spPr>
          <a:xfrm>
            <a:off x="566928" y="525780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3545.TEA Taboão da Serra</a:t>
            </a:r>
          </a:p>
        </p:txBody>
      </p:sp>
      <p:sp>
        <p:nvSpPr>
          <p:cNvPr id="178" name="Text 178"/>
          <p:cNvSpPr txBox="1"/>
          <p:nvPr/>
        </p:nvSpPr>
        <p:spPr>
          <a:xfrm>
            <a:off x="4544568" y="525780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79" name="Text 179"/>
          <p:cNvSpPr txBox="1"/>
          <p:nvPr/>
        </p:nvSpPr>
        <p:spPr>
          <a:xfrm>
            <a:off x="4956048" y="525780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Ago/23</a:t>
            </a:r>
          </a:p>
        </p:txBody>
      </p:sp>
      <p:sp>
        <p:nvSpPr>
          <p:cNvPr id="180" name="Text 180"/>
          <p:cNvSpPr txBox="1"/>
          <p:nvPr/>
        </p:nvSpPr>
        <p:spPr>
          <a:xfrm>
            <a:off x="5577840" y="525780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81" name="Text 181"/>
          <p:cNvSpPr txBox="1"/>
          <p:nvPr/>
        </p:nvSpPr>
        <p:spPr>
          <a:xfrm>
            <a:off x="6492240" y="525780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R$ 305,7 mil</a:t>
            </a:r>
          </a:p>
        </p:txBody>
      </p:sp>
      <p:sp>
        <p:nvSpPr>
          <p:cNvPr id="182" name="Text 182"/>
          <p:cNvSpPr txBox="1"/>
          <p:nvPr/>
        </p:nvSpPr>
        <p:spPr>
          <a:xfrm>
            <a:off x="7571232" y="52578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274 m2</a:t>
            </a:r>
          </a:p>
        </p:txBody>
      </p:sp>
      <p:sp>
        <p:nvSpPr>
          <p:cNvPr id="183" name="Text 183"/>
          <p:cNvSpPr txBox="1"/>
          <p:nvPr/>
        </p:nvSpPr>
        <p:spPr>
          <a:xfrm>
            <a:off x="8439912" y="52578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R$ 1.116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Clínicas, Diagnósticos, TEA e Laboratórios | 2024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800">
                <a:solidFill>
                  <a:srgbClr val="50617F"/>
                </a:solidFill>
              </a:rPr>
              <a:t>10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66928" y="713232"/>
            <a:ext cx="7955280" cy="384048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2000" b="1">
                <a:solidFill>
                  <a:srgbClr val="15253F"/>
                </a:solidFill>
              </a:rPr>
              <a:t>Clínicas, Diagnósticos, TEA e Laboratórios | 2024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8595360" y="786384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900">
                <a:solidFill>
                  <a:srgbClr val="50617F"/>
                </a:solidFill>
              </a:rPr>
              <a:t>Pagina 1/1 da listagem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66928" y="118872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715768" y="1188720"/>
            <a:ext cx="1920240" cy="530352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Area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3,0 mil m2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4864608" y="1188720"/>
            <a:ext cx="1920240" cy="530352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R$ 4,5 mi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7013448" y="118872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Preco m2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R$ 1.538/m2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640080" y="193852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100" b="1">
                <a:solidFill>
                  <a:srgbClr val="253F8E"/>
                </a:solidFill>
              </a:rPr>
              <a:t>Todas as obras da pagina, sem consolidacao</a:t>
            </a:r>
          </a:p>
        </p:txBody>
      </p:sp>
      <p:sp>
        <p:nvSpPr>
          <p:cNvPr id="100" name="Text 100"/>
          <p:cNvSpPr txBox="1"/>
          <p:nvPr/>
        </p:nvSpPr>
        <p:spPr>
          <a:xfrm>
            <a:off x="566928" y="2240280"/>
            <a:ext cx="397764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Obra</a:t>
            </a:r>
          </a:p>
        </p:txBody>
      </p:sp>
      <p:sp>
        <p:nvSpPr>
          <p:cNvPr id="101" name="Text 101"/>
          <p:cNvSpPr txBox="1"/>
          <p:nvPr/>
        </p:nvSpPr>
        <p:spPr>
          <a:xfrm>
            <a:off x="4544568" y="2240280"/>
            <a:ext cx="4114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UF</a:t>
            </a:r>
          </a:p>
        </p:txBody>
      </p:sp>
      <p:sp>
        <p:nvSpPr>
          <p:cNvPr id="102" name="Text 102"/>
          <p:cNvSpPr txBox="1"/>
          <p:nvPr/>
        </p:nvSpPr>
        <p:spPr>
          <a:xfrm>
            <a:off x="4956048" y="2240280"/>
            <a:ext cx="621792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Fim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5577840" y="2240280"/>
            <a:ext cx="91440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04" name="Text 104"/>
          <p:cNvSpPr txBox="1"/>
          <p:nvPr/>
        </p:nvSpPr>
        <p:spPr>
          <a:xfrm>
            <a:off x="6492240" y="2240280"/>
            <a:ext cx="1078992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105" name="Text 105"/>
          <p:cNvSpPr txBox="1"/>
          <p:nvPr/>
        </p:nvSpPr>
        <p:spPr>
          <a:xfrm>
            <a:off x="7571232" y="2240280"/>
            <a:ext cx="8686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m2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8439912" y="2240280"/>
            <a:ext cx="8686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R$/m2</a:t>
            </a:r>
          </a:p>
        </p:txBody>
      </p:sp>
      <p:sp>
        <p:nvSpPr>
          <p:cNvPr id="107" name="Text 107"/>
          <p:cNvSpPr txBox="1"/>
          <p:nvPr/>
        </p:nvSpPr>
        <p:spPr>
          <a:xfrm>
            <a:off x="566928" y="251460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3895.Novo TEA Belém (2024)</a:t>
            </a:r>
          </a:p>
        </p:txBody>
      </p:sp>
      <p:sp>
        <p:nvSpPr>
          <p:cNvPr id="108" name="Text 108"/>
          <p:cNvSpPr txBox="1"/>
          <p:nvPr/>
        </p:nvSpPr>
        <p:spPr>
          <a:xfrm>
            <a:off x="4544568" y="251460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PA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4956048" y="251460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Set/24</a:t>
            </a:r>
          </a:p>
        </p:txBody>
      </p:sp>
      <p:sp>
        <p:nvSpPr>
          <p:cNvPr id="110" name="Text 110"/>
          <p:cNvSpPr txBox="1"/>
          <p:nvPr/>
        </p:nvSpPr>
        <p:spPr>
          <a:xfrm>
            <a:off x="5577840" y="251460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6492240" y="251460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R$ 602,6 mil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7571232" y="25146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381 m2</a:t>
            </a:r>
          </a:p>
        </p:txBody>
      </p:sp>
      <p:sp>
        <p:nvSpPr>
          <p:cNvPr id="113" name="Text 113"/>
          <p:cNvSpPr txBox="1"/>
          <p:nvPr/>
        </p:nvSpPr>
        <p:spPr>
          <a:xfrm>
            <a:off x="8439912" y="25146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R$ 1.626</a:t>
            </a:r>
          </a:p>
        </p:txBody>
      </p:sp>
      <p:sp>
        <p:nvSpPr>
          <p:cNvPr id="114" name="Text 114"/>
          <p:cNvSpPr txBox="1"/>
          <p:nvPr/>
        </p:nvSpPr>
        <p:spPr>
          <a:xfrm>
            <a:off x="566928" y="278892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3915.Novo TEA Zona Sul SP (2024)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4544568" y="278892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4956048" y="278892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Set/24</a:t>
            </a:r>
          </a:p>
        </p:txBody>
      </p:sp>
      <p:sp>
        <p:nvSpPr>
          <p:cNvPr id="117" name="Text 117"/>
          <p:cNvSpPr txBox="1"/>
          <p:nvPr/>
        </p:nvSpPr>
        <p:spPr>
          <a:xfrm>
            <a:off x="5577840" y="278892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8" name="Text 118"/>
          <p:cNvSpPr txBox="1"/>
          <p:nvPr/>
        </p:nvSpPr>
        <p:spPr>
          <a:xfrm>
            <a:off x="6492240" y="278892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R$ 259,3 mil</a:t>
            </a:r>
          </a:p>
        </p:txBody>
      </p:sp>
      <p:sp>
        <p:nvSpPr>
          <p:cNvPr id="119" name="Text 119"/>
          <p:cNvSpPr txBox="1"/>
          <p:nvPr/>
        </p:nvSpPr>
        <p:spPr>
          <a:xfrm>
            <a:off x="7571232" y="278892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143 m2</a:t>
            </a:r>
          </a:p>
        </p:txBody>
      </p:sp>
      <p:sp>
        <p:nvSpPr>
          <p:cNvPr id="120" name="Text 120"/>
          <p:cNvSpPr txBox="1"/>
          <p:nvPr/>
        </p:nvSpPr>
        <p:spPr>
          <a:xfrm>
            <a:off x="8439912" y="278892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R$ 1.830</a:t>
            </a:r>
          </a:p>
        </p:txBody>
      </p:sp>
      <p:sp>
        <p:nvSpPr>
          <p:cNvPr id="121" name="Text 121"/>
          <p:cNvSpPr txBox="1"/>
          <p:nvPr/>
        </p:nvSpPr>
        <p:spPr>
          <a:xfrm>
            <a:off x="566928" y="306324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3904.Novo TEA Campina Grande (2024)</a:t>
            </a:r>
          </a:p>
        </p:txBody>
      </p:sp>
      <p:sp>
        <p:nvSpPr>
          <p:cNvPr id="122" name="Text 122"/>
          <p:cNvSpPr txBox="1"/>
          <p:nvPr/>
        </p:nvSpPr>
        <p:spPr>
          <a:xfrm>
            <a:off x="4544568" y="306324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PB</a:t>
            </a:r>
          </a:p>
        </p:txBody>
      </p:sp>
      <p:sp>
        <p:nvSpPr>
          <p:cNvPr id="123" name="Text 123"/>
          <p:cNvSpPr txBox="1"/>
          <p:nvPr/>
        </p:nvSpPr>
        <p:spPr>
          <a:xfrm>
            <a:off x="4956048" y="306324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Out/24</a:t>
            </a:r>
          </a:p>
        </p:txBody>
      </p:sp>
      <p:sp>
        <p:nvSpPr>
          <p:cNvPr id="124" name="Text 124"/>
          <p:cNvSpPr txBox="1"/>
          <p:nvPr/>
        </p:nvSpPr>
        <p:spPr>
          <a:xfrm>
            <a:off x="5577840" y="306324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25" name="Text 125"/>
          <p:cNvSpPr txBox="1"/>
          <p:nvPr/>
        </p:nvSpPr>
        <p:spPr>
          <a:xfrm>
            <a:off x="6492240" y="306324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R$ 431,4 mil</a:t>
            </a:r>
          </a:p>
        </p:txBody>
      </p:sp>
      <p:sp>
        <p:nvSpPr>
          <p:cNvPr id="126" name="Text 126"/>
          <p:cNvSpPr txBox="1"/>
          <p:nvPr/>
        </p:nvSpPr>
        <p:spPr>
          <a:xfrm>
            <a:off x="7571232" y="306324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409 m2</a:t>
            </a:r>
          </a:p>
        </p:txBody>
      </p:sp>
      <p:sp>
        <p:nvSpPr>
          <p:cNvPr id="127" name="Text 127"/>
          <p:cNvSpPr txBox="1"/>
          <p:nvPr/>
        </p:nvSpPr>
        <p:spPr>
          <a:xfrm>
            <a:off x="8439912" y="306324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R$ 1.054</a:t>
            </a:r>
          </a:p>
        </p:txBody>
      </p:sp>
      <p:sp>
        <p:nvSpPr>
          <p:cNvPr id="128" name="Text 128"/>
          <p:cNvSpPr txBox="1"/>
          <p:nvPr/>
        </p:nvSpPr>
        <p:spPr>
          <a:xfrm>
            <a:off x="566928" y="333756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3759.TEA Manaus (STO Centro Médico)</a:t>
            </a:r>
          </a:p>
        </p:txBody>
      </p:sp>
      <p:sp>
        <p:nvSpPr>
          <p:cNvPr id="129" name="Text 129"/>
          <p:cNvSpPr txBox="1"/>
          <p:nvPr/>
        </p:nvSpPr>
        <p:spPr>
          <a:xfrm>
            <a:off x="4544568" y="333756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AM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4956048" y="333756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Mar/24</a:t>
            </a:r>
          </a:p>
        </p:txBody>
      </p:sp>
      <p:sp>
        <p:nvSpPr>
          <p:cNvPr id="131" name="Text 131"/>
          <p:cNvSpPr txBox="1"/>
          <p:nvPr/>
        </p:nvSpPr>
        <p:spPr>
          <a:xfrm>
            <a:off x="5577840" y="333756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32" name="Text 132"/>
          <p:cNvSpPr txBox="1"/>
          <p:nvPr/>
        </p:nvSpPr>
        <p:spPr>
          <a:xfrm>
            <a:off x="6492240" y="333756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R$ 270,0 mil</a:t>
            </a:r>
          </a:p>
        </p:txBody>
      </p:sp>
      <p:sp>
        <p:nvSpPr>
          <p:cNvPr id="133" name="Text 133"/>
          <p:cNvSpPr txBox="1"/>
          <p:nvPr/>
        </p:nvSpPr>
        <p:spPr>
          <a:xfrm>
            <a:off x="7571232" y="333756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199 m2</a:t>
            </a:r>
          </a:p>
        </p:txBody>
      </p:sp>
      <p:sp>
        <p:nvSpPr>
          <p:cNvPr id="134" name="Text 134"/>
          <p:cNvSpPr txBox="1"/>
          <p:nvPr/>
        </p:nvSpPr>
        <p:spPr>
          <a:xfrm>
            <a:off x="8439912" y="333756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R$ 1.359</a:t>
            </a:r>
          </a:p>
        </p:txBody>
      </p:sp>
      <p:sp>
        <p:nvSpPr>
          <p:cNvPr id="135" name="Text 135"/>
          <p:cNvSpPr txBox="1"/>
          <p:nvPr/>
        </p:nvSpPr>
        <p:spPr>
          <a:xfrm>
            <a:off x="566928" y="361188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3919.Novo TEA Santo André (2024)</a:t>
            </a:r>
          </a:p>
        </p:txBody>
      </p:sp>
      <p:sp>
        <p:nvSpPr>
          <p:cNvPr id="136" name="Text 136"/>
          <p:cNvSpPr txBox="1"/>
          <p:nvPr/>
        </p:nvSpPr>
        <p:spPr>
          <a:xfrm>
            <a:off x="4544568" y="361188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37" name="Text 137"/>
          <p:cNvSpPr txBox="1"/>
          <p:nvPr/>
        </p:nvSpPr>
        <p:spPr>
          <a:xfrm>
            <a:off x="4956048" y="361188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Jun/24</a:t>
            </a:r>
          </a:p>
        </p:txBody>
      </p:sp>
      <p:sp>
        <p:nvSpPr>
          <p:cNvPr id="138" name="Text 138"/>
          <p:cNvSpPr txBox="1"/>
          <p:nvPr/>
        </p:nvSpPr>
        <p:spPr>
          <a:xfrm>
            <a:off x="5577840" y="361188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39" name="Text 139"/>
          <p:cNvSpPr txBox="1"/>
          <p:nvPr/>
        </p:nvSpPr>
        <p:spPr>
          <a:xfrm>
            <a:off x="6492240" y="361188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R$ 101,4 mil</a:t>
            </a:r>
          </a:p>
        </p:txBody>
      </p:sp>
      <p:sp>
        <p:nvSpPr>
          <p:cNvPr id="140" name="Text 140"/>
          <p:cNvSpPr txBox="1"/>
          <p:nvPr/>
        </p:nvSpPr>
        <p:spPr>
          <a:xfrm>
            <a:off x="7571232" y="361188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53 m2</a:t>
            </a:r>
          </a:p>
        </p:txBody>
      </p:sp>
      <p:sp>
        <p:nvSpPr>
          <p:cNvPr id="141" name="Text 141"/>
          <p:cNvSpPr txBox="1"/>
          <p:nvPr/>
        </p:nvSpPr>
        <p:spPr>
          <a:xfrm>
            <a:off x="8439912" y="361188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R$ 1.929</a:t>
            </a:r>
          </a:p>
        </p:txBody>
      </p:sp>
      <p:sp>
        <p:nvSpPr>
          <p:cNvPr id="142" name="Text 142"/>
          <p:cNvSpPr txBox="1"/>
          <p:nvPr/>
        </p:nvSpPr>
        <p:spPr>
          <a:xfrm>
            <a:off x="566928" y="388620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3774.Novo TEA Maracanaú (2024)</a:t>
            </a:r>
          </a:p>
        </p:txBody>
      </p:sp>
      <p:sp>
        <p:nvSpPr>
          <p:cNvPr id="143" name="Text 143"/>
          <p:cNvSpPr txBox="1"/>
          <p:nvPr/>
        </p:nvSpPr>
        <p:spPr>
          <a:xfrm>
            <a:off x="4544568" y="388620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CE</a:t>
            </a:r>
          </a:p>
        </p:txBody>
      </p:sp>
      <p:sp>
        <p:nvSpPr>
          <p:cNvPr id="144" name="Text 144"/>
          <p:cNvSpPr txBox="1"/>
          <p:nvPr/>
        </p:nvSpPr>
        <p:spPr>
          <a:xfrm>
            <a:off x="4956048" y="388620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Jul/24</a:t>
            </a:r>
          </a:p>
        </p:txBody>
      </p:sp>
      <p:sp>
        <p:nvSpPr>
          <p:cNvPr id="145" name="Text 145"/>
          <p:cNvSpPr txBox="1"/>
          <p:nvPr/>
        </p:nvSpPr>
        <p:spPr>
          <a:xfrm>
            <a:off x="5577840" y="388620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46" name="Text 146"/>
          <p:cNvSpPr txBox="1"/>
          <p:nvPr/>
        </p:nvSpPr>
        <p:spPr>
          <a:xfrm>
            <a:off x="6492240" y="388620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R$ 537,8 mil</a:t>
            </a:r>
          </a:p>
        </p:txBody>
      </p:sp>
      <p:sp>
        <p:nvSpPr>
          <p:cNvPr id="147" name="Text 147"/>
          <p:cNvSpPr txBox="1"/>
          <p:nvPr/>
        </p:nvSpPr>
        <p:spPr>
          <a:xfrm>
            <a:off x="7571232" y="388620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171 m2</a:t>
            </a:r>
          </a:p>
        </p:txBody>
      </p:sp>
      <p:sp>
        <p:nvSpPr>
          <p:cNvPr id="148" name="Text 148"/>
          <p:cNvSpPr txBox="1"/>
          <p:nvPr/>
        </p:nvSpPr>
        <p:spPr>
          <a:xfrm>
            <a:off x="8439912" y="388620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R$ 3.581</a:t>
            </a:r>
          </a:p>
        </p:txBody>
      </p:sp>
      <p:sp>
        <p:nvSpPr>
          <p:cNvPr id="149" name="Text 149"/>
          <p:cNvSpPr txBox="1"/>
          <p:nvPr/>
        </p:nvSpPr>
        <p:spPr>
          <a:xfrm>
            <a:off x="566928" y="416052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3900.Novo TEA Mossoró (2024)</a:t>
            </a:r>
          </a:p>
        </p:txBody>
      </p:sp>
      <p:sp>
        <p:nvSpPr>
          <p:cNvPr id="150" name="Text 150"/>
          <p:cNvSpPr txBox="1"/>
          <p:nvPr/>
        </p:nvSpPr>
        <p:spPr>
          <a:xfrm>
            <a:off x="4544568" y="416052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RN</a:t>
            </a:r>
          </a:p>
        </p:txBody>
      </p:sp>
      <p:sp>
        <p:nvSpPr>
          <p:cNvPr id="151" name="Text 151"/>
          <p:cNvSpPr txBox="1"/>
          <p:nvPr/>
        </p:nvSpPr>
        <p:spPr>
          <a:xfrm>
            <a:off x="4956048" y="416052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Jul/24</a:t>
            </a:r>
          </a:p>
        </p:txBody>
      </p:sp>
      <p:sp>
        <p:nvSpPr>
          <p:cNvPr id="152" name="Text 152"/>
          <p:cNvSpPr txBox="1"/>
          <p:nvPr/>
        </p:nvSpPr>
        <p:spPr>
          <a:xfrm>
            <a:off x="5577840" y="416052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53" name="Text 153"/>
          <p:cNvSpPr txBox="1"/>
          <p:nvPr/>
        </p:nvSpPr>
        <p:spPr>
          <a:xfrm>
            <a:off x="6492240" y="416052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R$ 537,5 mil</a:t>
            </a:r>
          </a:p>
        </p:txBody>
      </p:sp>
      <p:sp>
        <p:nvSpPr>
          <p:cNvPr id="154" name="Text 154"/>
          <p:cNvSpPr txBox="1"/>
          <p:nvPr/>
        </p:nvSpPr>
        <p:spPr>
          <a:xfrm>
            <a:off x="7571232" y="416052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283 m2</a:t>
            </a:r>
          </a:p>
        </p:txBody>
      </p:sp>
      <p:sp>
        <p:nvSpPr>
          <p:cNvPr id="155" name="Text 155"/>
          <p:cNvSpPr txBox="1"/>
          <p:nvPr/>
        </p:nvSpPr>
        <p:spPr>
          <a:xfrm>
            <a:off x="8439912" y="416052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R$ 1.922</a:t>
            </a:r>
          </a:p>
        </p:txBody>
      </p:sp>
      <p:sp>
        <p:nvSpPr>
          <p:cNvPr id="156" name="Text 156"/>
          <p:cNvSpPr txBox="1"/>
          <p:nvPr/>
        </p:nvSpPr>
        <p:spPr>
          <a:xfrm>
            <a:off x="566928" y="443484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3924.Novo TEA Guarulhos (2024)</a:t>
            </a:r>
          </a:p>
        </p:txBody>
      </p:sp>
      <p:sp>
        <p:nvSpPr>
          <p:cNvPr id="157" name="Text 157"/>
          <p:cNvSpPr txBox="1"/>
          <p:nvPr/>
        </p:nvSpPr>
        <p:spPr>
          <a:xfrm>
            <a:off x="4544568" y="443484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58" name="Text 158"/>
          <p:cNvSpPr txBox="1"/>
          <p:nvPr/>
        </p:nvSpPr>
        <p:spPr>
          <a:xfrm>
            <a:off x="4956048" y="443484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Jul/24</a:t>
            </a:r>
          </a:p>
        </p:txBody>
      </p:sp>
      <p:sp>
        <p:nvSpPr>
          <p:cNvPr id="159" name="Text 159"/>
          <p:cNvSpPr txBox="1"/>
          <p:nvPr/>
        </p:nvSpPr>
        <p:spPr>
          <a:xfrm>
            <a:off x="5577840" y="443484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60" name="Text 160"/>
          <p:cNvSpPr txBox="1"/>
          <p:nvPr/>
        </p:nvSpPr>
        <p:spPr>
          <a:xfrm>
            <a:off x="6492240" y="443484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R$ 441,4 mil</a:t>
            </a:r>
          </a:p>
        </p:txBody>
      </p:sp>
      <p:sp>
        <p:nvSpPr>
          <p:cNvPr id="161" name="Text 161"/>
          <p:cNvSpPr txBox="1"/>
          <p:nvPr/>
        </p:nvSpPr>
        <p:spPr>
          <a:xfrm>
            <a:off x="7571232" y="443484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346 m2</a:t>
            </a:r>
          </a:p>
        </p:txBody>
      </p:sp>
      <p:sp>
        <p:nvSpPr>
          <p:cNvPr id="162" name="Text 162"/>
          <p:cNvSpPr txBox="1"/>
          <p:nvPr/>
        </p:nvSpPr>
        <p:spPr>
          <a:xfrm>
            <a:off x="8439912" y="443484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R$ 1.276</a:t>
            </a:r>
          </a:p>
        </p:txBody>
      </p:sp>
      <p:sp>
        <p:nvSpPr>
          <p:cNvPr id="163" name="Text 163"/>
          <p:cNvSpPr txBox="1"/>
          <p:nvPr/>
        </p:nvSpPr>
        <p:spPr>
          <a:xfrm>
            <a:off x="566928" y="470916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3914.Novo TEA Ferraz (2024)</a:t>
            </a:r>
          </a:p>
        </p:txBody>
      </p:sp>
      <p:sp>
        <p:nvSpPr>
          <p:cNvPr id="164" name="Text 164"/>
          <p:cNvSpPr txBox="1"/>
          <p:nvPr/>
        </p:nvSpPr>
        <p:spPr>
          <a:xfrm>
            <a:off x="4544568" y="470916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65" name="Text 165"/>
          <p:cNvSpPr txBox="1"/>
          <p:nvPr/>
        </p:nvSpPr>
        <p:spPr>
          <a:xfrm>
            <a:off x="4956048" y="470916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Jul/24</a:t>
            </a:r>
          </a:p>
        </p:txBody>
      </p:sp>
      <p:sp>
        <p:nvSpPr>
          <p:cNvPr id="166" name="Text 166"/>
          <p:cNvSpPr txBox="1"/>
          <p:nvPr/>
        </p:nvSpPr>
        <p:spPr>
          <a:xfrm>
            <a:off x="5577840" y="470916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67" name="Text 167"/>
          <p:cNvSpPr txBox="1"/>
          <p:nvPr/>
        </p:nvSpPr>
        <p:spPr>
          <a:xfrm>
            <a:off x="6492240" y="470916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R$ 145,2 mil</a:t>
            </a:r>
          </a:p>
        </p:txBody>
      </p:sp>
      <p:sp>
        <p:nvSpPr>
          <p:cNvPr id="168" name="Text 168"/>
          <p:cNvSpPr txBox="1"/>
          <p:nvPr/>
        </p:nvSpPr>
        <p:spPr>
          <a:xfrm>
            <a:off x="7571232" y="470916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106 m2</a:t>
            </a:r>
          </a:p>
        </p:txBody>
      </p:sp>
      <p:sp>
        <p:nvSpPr>
          <p:cNvPr id="169" name="Text 169"/>
          <p:cNvSpPr txBox="1"/>
          <p:nvPr/>
        </p:nvSpPr>
        <p:spPr>
          <a:xfrm>
            <a:off x="8439912" y="470916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R$ 1.426</a:t>
            </a:r>
          </a:p>
        </p:txBody>
      </p:sp>
      <p:sp>
        <p:nvSpPr>
          <p:cNvPr id="170" name="Text 170"/>
          <p:cNvSpPr txBox="1"/>
          <p:nvPr/>
        </p:nvSpPr>
        <p:spPr>
          <a:xfrm>
            <a:off x="566928" y="498348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3713.TEA Guarulhos</a:t>
            </a:r>
          </a:p>
        </p:txBody>
      </p:sp>
      <p:sp>
        <p:nvSpPr>
          <p:cNvPr id="171" name="Text 171"/>
          <p:cNvSpPr txBox="1"/>
          <p:nvPr/>
        </p:nvSpPr>
        <p:spPr>
          <a:xfrm>
            <a:off x="4544568" y="498348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72" name="Text 172"/>
          <p:cNvSpPr txBox="1"/>
          <p:nvPr/>
        </p:nvSpPr>
        <p:spPr>
          <a:xfrm>
            <a:off x="4956048" y="498348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Jan/24</a:t>
            </a:r>
          </a:p>
        </p:txBody>
      </p:sp>
      <p:sp>
        <p:nvSpPr>
          <p:cNvPr id="173" name="Text 173"/>
          <p:cNvSpPr txBox="1"/>
          <p:nvPr/>
        </p:nvSpPr>
        <p:spPr>
          <a:xfrm>
            <a:off x="5577840" y="498348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74" name="Text 174"/>
          <p:cNvSpPr txBox="1"/>
          <p:nvPr/>
        </p:nvSpPr>
        <p:spPr>
          <a:xfrm>
            <a:off x="6492240" y="498348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R$ 338,6 mil</a:t>
            </a:r>
          </a:p>
        </p:txBody>
      </p:sp>
      <p:sp>
        <p:nvSpPr>
          <p:cNvPr id="175" name="Text 175"/>
          <p:cNvSpPr txBox="1"/>
          <p:nvPr/>
        </p:nvSpPr>
        <p:spPr>
          <a:xfrm>
            <a:off x="7571232" y="498348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270 m2</a:t>
            </a:r>
          </a:p>
        </p:txBody>
      </p:sp>
      <p:sp>
        <p:nvSpPr>
          <p:cNvPr id="176" name="Text 176"/>
          <p:cNvSpPr txBox="1"/>
          <p:nvPr/>
        </p:nvSpPr>
        <p:spPr>
          <a:xfrm>
            <a:off x="8439912" y="498348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R$ 1.254</a:t>
            </a:r>
          </a:p>
        </p:txBody>
      </p:sp>
      <p:sp>
        <p:nvSpPr>
          <p:cNvPr id="177" name="Text 177"/>
          <p:cNvSpPr txBox="1"/>
          <p:nvPr/>
        </p:nvSpPr>
        <p:spPr>
          <a:xfrm>
            <a:off x="566928" y="525780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3716.TEA Mogi das Cruzes 2</a:t>
            </a:r>
          </a:p>
        </p:txBody>
      </p:sp>
      <p:sp>
        <p:nvSpPr>
          <p:cNvPr id="178" name="Text 178"/>
          <p:cNvSpPr txBox="1"/>
          <p:nvPr/>
        </p:nvSpPr>
        <p:spPr>
          <a:xfrm>
            <a:off x="4544568" y="525780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79" name="Text 179"/>
          <p:cNvSpPr txBox="1"/>
          <p:nvPr/>
        </p:nvSpPr>
        <p:spPr>
          <a:xfrm>
            <a:off x="4956048" y="525780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Jan/24</a:t>
            </a:r>
          </a:p>
        </p:txBody>
      </p:sp>
      <p:sp>
        <p:nvSpPr>
          <p:cNvPr id="180" name="Text 180"/>
          <p:cNvSpPr txBox="1"/>
          <p:nvPr/>
        </p:nvSpPr>
        <p:spPr>
          <a:xfrm>
            <a:off x="5577840" y="525780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81" name="Text 181"/>
          <p:cNvSpPr txBox="1"/>
          <p:nvPr/>
        </p:nvSpPr>
        <p:spPr>
          <a:xfrm>
            <a:off x="6492240" y="525780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R$ 262,6 mil</a:t>
            </a:r>
          </a:p>
        </p:txBody>
      </p:sp>
      <p:sp>
        <p:nvSpPr>
          <p:cNvPr id="182" name="Text 182"/>
          <p:cNvSpPr txBox="1"/>
          <p:nvPr/>
        </p:nvSpPr>
        <p:spPr>
          <a:xfrm>
            <a:off x="7571232" y="52578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258 m2</a:t>
            </a:r>
          </a:p>
        </p:txBody>
      </p:sp>
      <p:sp>
        <p:nvSpPr>
          <p:cNvPr id="183" name="Text 183"/>
          <p:cNvSpPr txBox="1"/>
          <p:nvPr/>
        </p:nvSpPr>
        <p:spPr>
          <a:xfrm>
            <a:off x="8439912" y="52578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R$ 1.018</a:t>
            </a:r>
          </a:p>
        </p:txBody>
      </p:sp>
      <p:sp>
        <p:nvSpPr>
          <p:cNvPr id="184" name="Text 184"/>
          <p:cNvSpPr txBox="1"/>
          <p:nvPr/>
        </p:nvSpPr>
        <p:spPr>
          <a:xfrm>
            <a:off x="566928" y="553212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3541.TEA Fortaleza 2 (Pereira Filgueiras)</a:t>
            </a:r>
          </a:p>
        </p:txBody>
      </p:sp>
      <p:sp>
        <p:nvSpPr>
          <p:cNvPr id="185" name="Text 185"/>
          <p:cNvSpPr txBox="1"/>
          <p:nvPr/>
        </p:nvSpPr>
        <p:spPr>
          <a:xfrm>
            <a:off x="4544568" y="553212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CE</a:t>
            </a:r>
          </a:p>
        </p:txBody>
      </p:sp>
      <p:sp>
        <p:nvSpPr>
          <p:cNvPr id="186" name="Text 186"/>
          <p:cNvSpPr txBox="1"/>
          <p:nvPr/>
        </p:nvSpPr>
        <p:spPr>
          <a:xfrm>
            <a:off x="4956048" y="553212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Jan/24</a:t>
            </a:r>
          </a:p>
        </p:txBody>
      </p:sp>
      <p:sp>
        <p:nvSpPr>
          <p:cNvPr id="187" name="Text 187"/>
          <p:cNvSpPr txBox="1"/>
          <p:nvPr/>
        </p:nvSpPr>
        <p:spPr>
          <a:xfrm>
            <a:off x="5577840" y="553212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88" name="Text 188"/>
          <p:cNvSpPr txBox="1"/>
          <p:nvPr/>
        </p:nvSpPr>
        <p:spPr>
          <a:xfrm>
            <a:off x="6492240" y="553212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R$ 97,5 mil</a:t>
            </a:r>
          </a:p>
        </p:txBody>
      </p:sp>
      <p:sp>
        <p:nvSpPr>
          <p:cNvPr id="189" name="Text 189"/>
          <p:cNvSpPr txBox="1"/>
          <p:nvPr/>
        </p:nvSpPr>
        <p:spPr>
          <a:xfrm>
            <a:off x="7571232" y="553212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67 m2</a:t>
            </a:r>
          </a:p>
        </p:txBody>
      </p:sp>
      <p:sp>
        <p:nvSpPr>
          <p:cNvPr id="190" name="Text 190"/>
          <p:cNvSpPr txBox="1"/>
          <p:nvPr/>
        </p:nvSpPr>
        <p:spPr>
          <a:xfrm>
            <a:off x="8439912" y="553212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R$ 1.455</a:t>
            </a:r>
          </a:p>
        </p:txBody>
      </p:sp>
      <p:sp>
        <p:nvSpPr>
          <p:cNvPr id="191" name="Text 191"/>
          <p:cNvSpPr txBox="1"/>
          <p:nvPr/>
        </p:nvSpPr>
        <p:spPr>
          <a:xfrm>
            <a:off x="566928" y="580644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3928.Novo TEA Limeira (2024)</a:t>
            </a:r>
          </a:p>
        </p:txBody>
      </p:sp>
      <p:sp>
        <p:nvSpPr>
          <p:cNvPr id="192" name="Text 192"/>
          <p:cNvSpPr txBox="1"/>
          <p:nvPr/>
        </p:nvSpPr>
        <p:spPr>
          <a:xfrm>
            <a:off x="4544568" y="580644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93" name="Text 193"/>
          <p:cNvSpPr txBox="1"/>
          <p:nvPr/>
        </p:nvSpPr>
        <p:spPr>
          <a:xfrm>
            <a:off x="4956048" y="580644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Ago/24</a:t>
            </a:r>
          </a:p>
        </p:txBody>
      </p:sp>
      <p:sp>
        <p:nvSpPr>
          <p:cNvPr id="194" name="Text 194"/>
          <p:cNvSpPr txBox="1"/>
          <p:nvPr/>
        </p:nvSpPr>
        <p:spPr>
          <a:xfrm>
            <a:off x="5577840" y="580644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95" name="Text 195"/>
          <p:cNvSpPr txBox="1"/>
          <p:nvPr/>
        </p:nvSpPr>
        <p:spPr>
          <a:xfrm>
            <a:off x="6492240" y="580644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R$ 462,2 mil</a:t>
            </a:r>
          </a:p>
        </p:txBody>
      </p:sp>
      <p:sp>
        <p:nvSpPr>
          <p:cNvPr id="196" name="Text 196"/>
          <p:cNvSpPr txBox="1"/>
          <p:nvPr/>
        </p:nvSpPr>
        <p:spPr>
          <a:xfrm>
            <a:off x="7571232" y="580644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304 m2</a:t>
            </a:r>
          </a:p>
        </p:txBody>
      </p:sp>
      <p:sp>
        <p:nvSpPr>
          <p:cNvPr id="197" name="Text 197"/>
          <p:cNvSpPr txBox="1"/>
          <p:nvPr/>
        </p:nvSpPr>
        <p:spPr>
          <a:xfrm>
            <a:off x="8439912" y="580644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R$ 1.541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Clínicas, Diagnósticos, TEA e Laboratórios | 2025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800">
                <a:solidFill>
                  <a:srgbClr val="50617F"/>
                </a:solidFill>
              </a:rPr>
              <a:t>11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66928" y="713232"/>
            <a:ext cx="7955280" cy="384048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2000" b="1">
                <a:solidFill>
                  <a:srgbClr val="15253F"/>
                </a:solidFill>
              </a:rPr>
              <a:t>Clínicas, Diagnósticos, TEA e Laboratórios | 2025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8595360" y="786384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900">
                <a:solidFill>
                  <a:srgbClr val="50617F"/>
                </a:solidFill>
              </a:rPr>
              <a:t>Pagina 1/3 da listagem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66928" y="118872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715768" y="1188720"/>
            <a:ext cx="1920240" cy="530352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Area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41,4 mil m2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4864608" y="1188720"/>
            <a:ext cx="1920240" cy="530352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R$ 87,4 mi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7013448" y="118872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Preco m2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R$ 2.157/m2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640080" y="193852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100" b="1">
                <a:solidFill>
                  <a:srgbClr val="253F8E"/>
                </a:solidFill>
              </a:rPr>
              <a:t>Todas as obras da pagina, sem consolidacao</a:t>
            </a:r>
          </a:p>
        </p:txBody>
      </p:sp>
      <p:sp>
        <p:nvSpPr>
          <p:cNvPr id="100" name="Text 100"/>
          <p:cNvSpPr txBox="1"/>
          <p:nvPr/>
        </p:nvSpPr>
        <p:spPr>
          <a:xfrm>
            <a:off x="566928" y="2240280"/>
            <a:ext cx="397764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Obra</a:t>
            </a:r>
          </a:p>
        </p:txBody>
      </p:sp>
      <p:sp>
        <p:nvSpPr>
          <p:cNvPr id="101" name="Text 101"/>
          <p:cNvSpPr txBox="1"/>
          <p:nvPr/>
        </p:nvSpPr>
        <p:spPr>
          <a:xfrm>
            <a:off x="4544568" y="2240280"/>
            <a:ext cx="4114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UF</a:t>
            </a:r>
          </a:p>
        </p:txBody>
      </p:sp>
      <p:sp>
        <p:nvSpPr>
          <p:cNvPr id="102" name="Text 102"/>
          <p:cNvSpPr txBox="1"/>
          <p:nvPr/>
        </p:nvSpPr>
        <p:spPr>
          <a:xfrm>
            <a:off x="4956048" y="2240280"/>
            <a:ext cx="621792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Fim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5577840" y="2240280"/>
            <a:ext cx="91440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04" name="Text 104"/>
          <p:cNvSpPr txBox="1"/>
          <p:nvPr/>
        </p:nvSpPr>
        <p:spPr>
          <a:xfrm>
            <a:off x="6492240" y="2240280"/>
            <a:ext cx="1078992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105" name="Text 105"/>
          <p:cNvSpPr txBox="1"/>
          <p:nvPr/>
        </p:nvSpPr>
        <p:spPr>
          <a:xfrm>
            <a:off x="7571232" y="2240280"/>
            <a:ext cx="8686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m2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8439912" y="2240280"/>
            <a:ext cx="8686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R$/m2</a:t>
            </a:r>
          </a:p>
        </p:txBody>
      </p:sp>
      <p:sp>
        <p:nvSpPr>
          <p:cNvPr id="107" name="Text 107"/>
          <p:cNvSpPr txBox="1"/>
          <p:nvPr/>
        </p:nvSpPr>
        <p:spPr>
          <a:xfrm>
            <a:off x="566928" y="251460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0000.Nova Coleta Parque 10 (Nilton Lins)</a:t>
            </a:r>
          </a:p>
        </p:txBody>
      </p:sp>
      <p:sp>
        <p:nvSpPr>
          <p:cNvPr id="108" name="Text 108"/>
          <p:cNvSpPr txBox="1"/>
          <p:nvPr/>
        </p:nvSpPr>
        <p:spPr>
          <a:xfrm>
            <a:off x="4544568" y="251460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AM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4956048" y="251460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Set/25</a:t>
            </a:r>
          </a:p>
        </p:txBody>
      </p:sp>
      <p:sp>
        <p:nvSpPr>
          <p:cNvPr id="110" name="Text 110"/>
          <p:cNvSpPr txBox="1"/>
          <p:nvPr/>
        </p:nvSpPr>
        <p:spPr>
          <a:xfrm>
            <a:off x="5577840" y="251460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6492240" y="251460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R$ 634,0 mil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7571232" y="25146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235 m2</a:t>
            </a:r>
          </a:p>
        </p:txBody>
      </p:sp>
      <p:sp>
        <p:nvSpPr>
          <p:cNvPr id="113" name="Text 113"/>
          <p:cNvSpPr txBox="1"/>
          <p:nvPr/>
        </p:nvSpPr>
        <p:spPr>
          <a:xfrm>
            <a:off x="8439912" y="25146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R$ 2.698</a:t>
            </a:r>
          </a:p>
        </p:txBody>
      </p:sp>
      <p:sp>
        <p:nvSpPr>
          <p:cNvPr id="114" name="Text 114"/>
          <p:cNvSpPr txBox="1"/>
          <p:nvPr/>
        </p:nvSpPr>
        <p:spPr>
          <a:xfrm>
            <a:off x="566928" y="278892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0000.Novo NTE SP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4544568" y="278892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4956048" y="278892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Out/25</a:t>
            </a:r>
          </a:p>
        </p:txBody>
      </p:sp>
      <p:sp>
        <p:nvSpPr>
          <p:cNvPr id="117" name="Text 117"/>
          <p:cNvSpPr txBox="1"/>
          <p:nvPr/>
        </p:nvSpPr>
        <p:spPr>
          <a:xfrm>
            <a:off x="5577840" y="278892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8" name="Text 118"/>
          <p:cNvSpPr txBox="1"/>
          <p:nvPr/>
        </p:nvSpPr>
        <p:spPr>
          <a:xfrm>
            <a:off x="6492240" y="278892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R$ 7,5 mi</a:t>
            </a:r>
          </a:p>
        </p:txBody>
      </p:sp>
      <p:sp>
        <p:nvSpPr>
          <p:cNvPr id="119" name="Text 119"/>
          <p:cNvSpPr txBox="1"/>
          <p:nvPr/>
        </p:nvSpPr>
        <p:spPr>
          <a:xfrm>
            <a:off x="7571232" y="278892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2,5 mil m2</a:t>
            </a:r>
          </a:p>
        </p:txBody>
      </p:sp>
      <p:sp>
        <p:nvSpPr>
          <p:cNvPr id="120" name="Text 120"/>
          <p:cNvSpPr txBox="1"/>
          <p:nvPr/>
        </p:nvSpPr>
        <p:spPr>
          <a:xfrm>
            <a:off x="8439912" y="278892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R$ 3.078</a:t>
            </a:r>
          </a:p>
        </p:txBody>
      </p:sp>
      <p:sp>
        <p:nvSpPr>
          <p:cNvPr id="121" name="Text 121"/>
          <p:cNvSpPr txBox="1"/>
          <p:nvPr/>
        </p:nvSpPr>
        <p:spPr>
          <a:xfrm>
            <a:off x="566928" y="306324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4197.Transferência Clínica Areião</a:t>
            </a:r>
          </a:p>
        </p:txBody>
      </p:sp>
      <p:sp>
        <p:nvSpPr>
          <p:cNvPr id="122" name="Text 122"/>
          <p:cNvSpPr txBox="1"/>
          <p:nvPr/>
        </p:nvSpPr>
        <p:spPr>
          <a:xfrm>
            <a:off x="4544568" y="306324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GO</a:t>
            </a:r>
          </a:p>
        </p:txBody>
      </p:sp>
      <p:sp>
        <p:nvSpPr>
          <p:cNvPr id="123" name="Text 123"/>
          <p:cNvSpPr txBox="1"/>
          <p:nvPr/>
        </p:nvSpPr>
        <p:spPr>
          <a:xfrm>
            <a:off x="4956048" y="306324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Out/25</a:t>
            </a:r>
          </a:p>
        </p:txBody>
      </p:sp>
      <p:sp>
        <p:nvSpPr>
          <p:cNvPr id="124" name="Text 124"/>
          <p:cNvSpPr txBox="1"/>
          <p:nvPr/>
        </p:nvSpPr>
        <p:spPr>
          <a:xfrm>
            <a:off x="5577840" y="306324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25" name="Text 125"/>
          <p:cNvSpPr txBox="1"/>
          <p:nvPr/>
        </p:nvSpPr>
        <p:spPr>
          <a:xfrm>
            <a:off x="6492240" y="306324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R$ 1,6 mi</a:t>
            </a:r>
          </a:p>
        </p:txBody>
      </p:sp>
      <p:sp>
        <p:nvSpPr>
          <p:cNvPr id="126" name="Text 126"/>
          <p:cNvSpPr txBox="1"/>
          <p:nvPr/>
        </p:nvSpPr>
        <p:spPr>
          <a:xfrm>
            <a:off x="7571232" y="306324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581 m2</a:t>
            </a:r>
          </a:p>
        </p:txBody>
      </p:sp>
      <p:sp>
        <p:nvSpPr>
          <p:cNvPr id="127" name="Text 127"/>
          <p:cNvSpPr txBox="1"/>
          <p:nvPr/>
        </p:nvSpPr>
        <p:spPr>
          <a:xfrm>
            <a:off x="8439912" y="306324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R$ 2.905</a:t>
            </a:r>
          </a:p>
        </p:txBody>
      </p:sp>
      <p:sp>
        <p:nvSpPr>
          <p:cNvPr id="128" name="Text 128"/>
          <p:cNvSpPr txBox="1"/>
          <p:nvPr/>
        </p:nvSpPr>
        <p:spPr>
          <a:xfrm>
            <a:off x="566928" y="333756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4082.Nova Coleta Zona Leste (Mooca)</a:t>
            </a:r>
          </a:p>
        </p:txBody>
      </p:sp>
      <p:sp>
        <p:nvSpPr>
          <p:cNvPr id="129" name="Text 129"/>
          <p:cNvSpPr txBox="1"/>
          <p:nvPr/>
        </p:nvSpPr>
        <p:spPr>
          <a:xfrm>
            <a:off x="4544568" y="333756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4956048" y="333756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Out/25</a:t>
            </a:r>
          </a:p>
        </p:txBody>
      </p:sp>
      <p:sp>
        <p:nvSpPr>
          <p:cNvPr id="131" name="Text 131"/>
          <p:cNvSpPr txBox="1"/>
          <p:nvPr/>
        </p:nvSpPr>
        <p:spPr>
          <a:xfrm>
            <a:off x="5577840" y="333756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32" name="Text 132"/>
          <p:cNvSpPr txBox="1"/>
          <p:nvPr/>
        </p:nvSpPr>
        <p:spPr>
          <a:xfrm>
            <a:off x="6492240" y="333756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R$ 528,9 mil</a:t>
            </a:r>
          </a:p>
        </p:txBody>
      </p:sp>
      <p:sp>
        <p:nvSpPr>
          <p:cNvPr id="133" name="Text 133"/>
          <p:cNvSpPr txBox="1"/>
          <p:nvPr/>
        </p:nvSpPr>
        <p:spPr>
          <a:xfrm>
            <a:off x="7571232" y="333756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228 m2</a:t>
            </a:r>
          </a:p>
        </p:txBody>
      </p:sp>
      <p:sp>
        <p:nvSpPr>
          <p:cNvPr id="134" name="Text 134"/>
          <p:cNvSpPr txBox="1"/>
          <p:nvPr/>
        </p:nvSpPr>
        <p:spPr>
          <a:xfrm>
            <a:off x="8439912" y="333756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R$ 2.442</a:t>
            </a:r>
          </a:p>
        </p:txBody>
      </p:sp>
      <p:sp>
        <p:nvSpPr>
          <p:cNvPr id="135" name="Text 135"/>
          <p:cNvSpPr txBox="1"/>
          <p:nvPr/>
        </p:nvSpPr>
        <p:spPr>
          <a:xfrm>
            <a:off x="566928" y="361188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0000.Ampliação TEA Natal (2025)</a:t>
            </a:r>
          </a:p>
        </p:txBody>
      </p:sp>
      <p:sp>
        <p:nvSpPr>
          <p:cNvPr id="136" name="Text 136"/>
          <p:cNvSpPr txBox="1"/>
          <p:nvPr/>
        </p:nvSpPr>
        <p:spPr>
          <a:xfrm>
            <a:off x="4544568" y="361188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RN</a:t>
            </a:r>
          </a:p>
        </p:txBody>
      </p:sp>
      <p:sp>
        <p:nvSpPr>
          <p:cNvPr id="137" name="Text 137"/>
          <p:cNvSpPr txBox="1"/>
          <p:nvPr/>
        </p:nvSpPr>
        <p:spPr>
          <a:xfrm>
            <a:off x="4956048" y="361188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Out/25</a:t>
            </a:r>
          </a:p>
        </p:txBody>
      </p:sp>
      <p:sp>
        <p:nvSpPr>
          <p:cNvPr id="138" name="Text 138"/>
          <p:cNvSpPr txBox="1"/>
          <p:nvPr/>
        </p:nvSpPr>
        <p:spPr>
          <a:xfrm>
            <a:off x="5577840" y="361188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39" name="Text 139"/>
          <p:cNvSpPr txBox="1"/>
          <p:nvPr/>
        </p:nvSpPr>
        <p:spPr>
          <a:xfrm>
            <a:off x="6492240" y="361188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R$ 387,6 mil</a:t>
            </a:r>
          </a:p>
        </p:txBody>
      </p:sp>
      <p:sp>
        <p:nvSpPr>
          <p:cNvPr id="140" name="Text 140"/>
          <p:cNvSpPr txBox="1"/>
          <p:nvPr/>
        </p:nvSpPr>
        <p:spPr>
          <a:xfrm>
            <a:off x="7571232" y="361188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359 m2</a:t>
            </a:r>
          </a:p>
        </p:txBody>
      </p:sp>
      <p:sp>
        <p:nvSpPr>
          <p:cNvPr id="141" name="Text 141"/>
          <p:cNvSpPr txBox="1"/>
          <p:nvPr/>
        </p:nvSpPr>
        <p:spPr>
          <a:xfrm>
            <a:off x="8439912" y="361188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R$ 1.080</a:t>
            </a:r>
          </a:p>
        </p:txBody>
      </p:sp>
      <p:sp>
        <p:nvSpPr>
          <p:cNvPr id="142" name="Text 142"/>
          <p:cNvSpPr txBox="1"/>
          <p:nvPr/>
        </p:nvSpPr>
        <p:spPr>
          <a:xfrm>
            <a:off x="566928" y="388620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4129.Clínica/Lab/Ima Zona Sul 1 e 2 Adolfo Pinheiro (SP) - Fa...</a:t>
            </a:r>
          </a:p>
        </p:txBody>
      </p:sp>
      <p:sp>
        <p:nvSpPr>
          <p:cNvPr id="143" name="Text 143"/>
          <p:cNvSpPr txBox="1"/>
          <p:nvPr/>
        </p:nvSpPr>
        <p:spPr>
          <a:xfrm>
            <a:off x="4544568" y="388620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44" name="Text 144"/>
          <p:cNvSpPr txBox="1"/>
          <p:nvPr/>
        </p:nvSpPr>
        <p:spPr>
          <a:xfrm>
            <a:off x="4956048" y="388620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Nov/25</a:t>
            </a:r>
          </a:p>
        </p:txBody>
      </p:sp>
      <p:sp>
        <p:nvSpPr>
          <p:cNvPr id="145" name="Text 145"/>
          <p:cNvSpPr txBox="1"/>
          <p:nvPr/>
        </p:nvSpPr>
        <p:spPr>
          <a:xfrm>
            <a:off x="5577840" y="388620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46" name="Text 146"/>
          <p:cNvSpPr txBox="1"/>
          <p:nvPr/>
        </p:nvSpPr>
        <p:spPr>
          <a:xfrm>
            <a:off x="6492240" y="388620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R$ 8,2 mi</a:t>
            </a:r>
          </a:p>
        </p:txBody>
      </p:sp>
      <p:sp>
        <p:nvSpPr>
          <p:cNvPr id="147" name="Text 147"/>
          <p:cNvSpPr txBox="1"/>
          <p:nvPr/>
        </p:nvSpPr>
        <p:spPr>
          <a:xfrm>
            <a:off x="7571232" y="388620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3,3 mil m2</a:t>
            </a:r>
          </a:p>
        </p:txBody>
      </p:sp>
      <p:sp>
        <p:nvSpPr>
          <p:cNvPr id="148" name="Text 148"/>
          <p:cNvSpPr txBox="1"/>
          <p:nvPr/>
        </p:nvSpPr>
        <p:spPr>
          <a:xfrm>
            <a:off x="8439912" y="388620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R$ 2.588</a:t>
            </a:r>
          </a:p>
        </p:txBody>
      </p:sp>
      <p:sp>
        <p:nvSpPr>
          <p:cNvPr id="149" name="Text 149"/>
          <p:cNvSpPr txBox="1"/>
          <p:nvPr/>
        </p:nvSpPr>
        <p:spPr>
          <a:xfrm>
            <a:off x="566928" y="416052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4127.Clínica/Lab/Ima Zona Norte Henrique Mazzei Tucuruvi (SP)</a:t>
            </a:r>
          </a:p>
        </p:txBody>
      </p:sp>
      <p:sp>
        <p:nvSpPr>
          <p:cNvPr id="150" name="Text 150"/>
          <p:cNvSpPr txBox="1"/>
          <p:nvPr/>
        </p:nvSpPr>
        <p:spPr>
          <a:xfrm>
            <a:off x="4544568" y="416052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51" name="Text 151"/>
          <p:cNvSpPr txBox="1"/>
          <p:nvPr/>
        </p:nvSpPr>
        <p:spPr>
          <a:xfrm>
            <a:off x="4956048" y="416052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Nov/25</a:t>
            </a:r>
          </a:p>
        </p:txBody>
      </p:sp>
      <p:sp>
        <p:nvSpPr>
          <p:cNvPr id="152" name="Text 152"/>
          <p:cNvSpPr txBox="1"/>
          <p:nvPr/>
        </p:nvSpPr>
        <p:spPr>
          <a:xfrm>
            <a:off x="5577840" y="416052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53" name="Text 153"/>
          <p:cNvSpPr txBox="1"/>
          <p:nvPr/>
        </p:nvSpPr>
        <p:spPr>
          <a:xfrm>
            <a:off x="6492240" y="416052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R$ 4,3 mi</a:t>
            </a:r>
          </a:p>
        </p:txBody>
      </p:sp>
      <p:sp>
        <p:nvSpPr>
          <p:cNvPr id="154" name="Text 154"/>
          <p:cNvSpPr txBox="1"/>
          <p:nvPr/>
        </p:nvSpPr>
        <p:spPr>
          <a:xfrm>
            <a:off x="7571232" y="416052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2,6 mil m2</a:t>
            </a:r>
          </a:p>
        </p:txBody>
      </p:sp>
      <p:sp>
        <p:nvSpPr>
          <p:cNvPr id="155" name="Text 155"/>
          <p:cNvSpPr txBox="1"/>
          <p:nvPr/>
        </p:nvSpPr>
        <p:spPr>
          <a:xfrm>
            <a:off x="8439912" y="416052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R$ 1.694</a:t>
            </a:r>
          </a:p>
        </p:txBody>
      </p:sp>
      <p:sp>
        <p:nvSpPr>
          <p:cNvPr id="156" name="Text 156"/>
          <p:cNvSpPr txBox="1"/>
          <p:nvPr/>
        </p:nvSpPr>
        <p:spPr>
          <a:xfrm>
            <a:off x="566928" y="443484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0000.Nova Clínica da Criança e Mulher Fortaleza Fase 1</a:t>
            </a:r>
          </a:p>
        </p:txBody>
      </p:sp>
      <p:sp>
        <p:nvSpPr>
          <p:cNvPr id="157" name="Text 157"/>
          <p:cNvSpPr txBox="1"/>
          <p:nvPr/>
        </p:nvSpPr>
        <p:spPr>
          <a:xfrm>
            <a:off x="4544568" y="443484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CE</a:t>
            </a:r>
          </a:p>
        </p:txBody>
      </p:sp>
      <p:sp>
        <p:nvSpPr>
          <p:cNvPr id="158" name="Text 158"/>
          <p:cNvSpPr txBox="1"/>
          <p:nvPr/>
        </p:nvSpPr>
        <p:spPr>
          <a:xfrm>
            <a:off x="4956048" y="443484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Nov/25</a:t>
            </a:r>
          </a:p>
        </p:txBody>
      </p:sp>
      <p:sp>
        <p:nvSpPr>
          <p:cNvPr id="159" name="Text 159"/>
          <p:cNvSpPr txBox="1"/>
          <p:nvPr/>
        </p:nvSpPr>
        <p:spPr>
          <a:xfrm>
            <a:off x="5577840" y="443484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60" name="Text 160"/>
          <p:cNvSpPr txBox="1"/>
          <p:nvPr/>
        </p:nvSpPr>
        <p:spPr>
          <a:xfrm>
            <a:off x="6492240" y="443484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R$ 3,6 mi</a:t>
            </a:r>
          </a:p>
        </p:txBody>
      </p:sp>
      <p:sp>
        <p:nvSpPr>
          <p:cNvPr id="161" name="Text 161"/>
          <p:cNvSpPr txBox="1"/>
          <p:nvPr/>
        </p:nvSpPr>
        <p:spPr>
          <a:xfrm>
            <a:off x="7571232" y="443484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1,7 mil m2</a:t>
            </a:r>
          </a:p>
        </p:txBody>
      </p:sp>
      <p:sp>
        <p:nvSpPr>
          <p:cNvPr id="162" name="Text 162"/>
          <p:cNvSpPr txBox="1"/>
          <p:nvPr/>
        </p:nvSpPr>
        <p:spPr>
          <a:xfrm>
            <a:off x="8439912" y="443484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R$ 2.151</a:t>
            </a:r>
          </a:p>
        </p:txBody>
      </p:sp>
      <p:sp>
        <p:nvSpPr>
          <p:cNvPr id="163" name="Text 163"/>
          <p:cNvSpPr txBox="1"/>
          <p:nvPr/>
        </p:nvSpPr>
        <p:spPr>
          <a:xfrm>
            <a:off x="566928" y="470916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4195.Nova Clínica e Coleta Campinas (Bosque Maia)</a:t>
            </a:r>
          </a:p>
        </p:txBody>
      </p:sp>
      <p:sp>
        <p:nvSpPr>
          <p:cNvPr id="164" name="Text 164"/>
          <p:cNvSpPr txBox="1"/>
          <p:nvPr/>
        </p:nvSpPr>
        <p:spPr>
          <a:xfrm>
            <a:off x="4544568" y="470916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65" name="Text 165"/>
          <p:cNvSpPr txBox="1"/>
          <p:nvPr/>
        </p:nvSpPr>
        <p:spPr>
          <a:xfrm>
            <a:off x="4956048" y="470916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Nov/25</a:t>
            </a:r>
          </a:p>
        </p:txBody>
      </p:sp>
      <p:sp>
        <p:nvSpPr>
          <p:cNvPr id="166" name="Text 166"/>
          <p:cNvSpPr txBox="1"/>
          <p:nvPr/>
        </p:nvSpPr>
        <p:spPr>
          <a:xfrm>
            <a:off x="5577840" y="470916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67" name="Text 167"/>
          <p:cNvSpPr txBox="1"/>
          <p:nvPr/>
        </p:nvSpPr>
        <p:spPr>
          <a:xfrm>
            <a:off x="6492240" y="470916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R$ 3,0 mi</a:t>
            </a:r>
          </a:p>
        </p:txBody>
      </p:sp>
      <p:sp>
        <p:nvSpPr>
          <p:cNvPr id="168" name="Text 168"/>
          <p:cNvSpPr txBox="1"/>
          <p:nvPr/>
        </p:nvSpPr>
        <p:spPr>
          <a:xfrm>
            <a:off x="7571232" y="470916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1,2 mil m2</a:t>
            </a:r>
          </a:p>
        </p:txBody>
      </p:sp>
      <p:sp>
        <p:nvSpPr>
          <p:cNvPr id="169" name="Text 169"/>
          <p:cNvSpPr txBox="1"/>
          <p:nvPr/>
        </p:nvSpPr>
        <p:spPr>
          <a:xfrm>
            <a:off x="8439912" y="470916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R$ 2.498</a:t>
            </a:r>
          </a:p>
        </p:txBody>
      </p:sp>
      <p:sp>
        <p:nvSpPr>
          <p:cNvPr id="170" name="Text 170"/>
          <p:cNvSpPr txBox="1"/>
          <p:nvPr/>
        </p:nvSpPr>
        <p:spPr>
          <a:xfrm>
            <a:off x="566928" y="498348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4196.Nova Clínica e Fisioterapia Horto Florestal Salvador</a:t>
            </a:r>
          </a:p>
        </p:txBody>
      </p:sp>
      <p:sp>
        <p:nvSpPr>
          <p:cNvPr id="171" name="Text 171"/>
          <p:cNvSpPr txBox="1"/>
          <p:nvPr/>
        </p:nvSpPr>
        <p:spPr>
          <a:xfrm>
            <a:off x="4544568" y="498348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BA</a:t>
            </a:r>
          </a:p>
        </p:txBody>
      </p:sp>
      <p:sp>
        <p:nvSpPr>
          <p:cNvPr id="172" name="Text 172"/>
          <p:cNvSpPr txBox="1"/>
          <p:nvPr/>
        </p:nvSpPr>
        <p:spPr>
          <a:xfrm>
            <a:off x="4956048" y="498348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Nov/25</a:t>
            </a:r>
          </a:p>
        </p:txBody>
      </p:sp>
      <p:sp>
        <p:nvSpPr>
          <p:cNvPr id="173" name="Text 173"/>
          <p:cNvSpPr txBox="1"/>
          <p:nvPr/>
        </p:nvSpPr>
        <p:spPr>
          <a:xfrm>
            <a:off x="5577840" y="498348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74" name="Text 174"/>
          <p:cNvSpPr txBox="1"/>
          <p:nvPr/>
        </p:nvSpPr>
        <p:spPr>
          <a:xfrm>
            <a:off x="6492240" y="498348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R$ 3,0 mi</a:t>
            </a:r>
          </a:p>
        </p:txBody>
      </p:sp>
      <p:sp>
        <p:nvSpPr>
          <p:cNvPr id="175" name="Text 175"/>
          <p:cNvSpPr txBox="1"/>
          <p:nvPr/>
        </p:nvSpPr>
        <p:spPr>
          <a:xfrm>
            <a:off x="7571232" y="498348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1,8 mil m2</a:t>
            </a:r>
          </a:p>
        </p:txBody>
      </p:sp>
      <p:sp>
        <p:nvSpPr>
          <p:cNvPr id="176" name="Text 176"/>
          <p:cNvSpPr txBox="1"/>
          <p:nvPr/>
        </p:nvSpPr>
        <p:spPr>
          <a:xfrm>
            <a:off x="8439912" y="498348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R$ 1.946</a:t>
            </a:r>
          </a:p>
        </p:txBody>
      </p:sp>
      <p:sp>
        <p:nvSpPr>
          <p:cNvPr id="177" name="Text 177"/>
          <p:cNvSpPr txBox="1"/>
          <p:nvPr/>
        </p:nvSpPr>
        <p:spPr>
          <a:xfrm>
            <a:off x="566928" y="525780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4194.Nova Clínica Nova Iguaçu</a:t>
            </a:r>
          </a:p>
        </p:txBody>
      </p:sp>
      <p:sp>
        <p:nvSpPr>
          <p:cNvPr id="178" name="Text 178"/>
          <p:cNvSpPr txBox="1"/>
          <p:nvPr/>
        </p:nvSpPr>
        <p:spPr>
          <a:xfrm>
            <a:off x="4544568" y="525780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RJ</a:t>
            </a:r>
          </a:p>
        </p:txBody>
      </p:sp>
      <p:sp>
        <p:nvSpPr>
          <p:cNvPr id="179" name="Text 179"/>
          <p:cNvSpPr txBox="1"/>
          <p:nvPr/>
        </p:nvSpPr>
        <p:spPr>
          <a:xfrm>
            <a:off x="4956048" y="525780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Nov/25</a:t>
            </a:r>
          </a:p>
        </p:txBody>
      </p:sp>
      <p:sp>
        <p:nvSpPr>
          <p:cNvPr id="180" name="Text 180"/>
          <p:cNvSpPr txBox="1"/>
          <p:nvPr/>
        </p:nvSpPr>
        <p:spPr>
          <a:xfrm>
            <a:off x="5577840" y="525780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81" name="Text 181"/>
          <p:cNvSpPr txBox="1"/>
          <p:nvPr/>
        </p:nvSpPr>
        <p:spPr>
          <a:xfrm>
            <a:off x="6492240" y="525780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R$ 2,0 mi</a:t>
            </a:r>
          </a:p>
        </p:txBody>
      </p:sp>
      <p:sp>
        <p:nvSpPr>
          <p:cNvPr id="182" name="Text 182"/>
          <p:cNvSpPr txBox="1"/>
          <p:nvPr/>
        </p:nvSpPr>
        <p:spPr>
          <a:xfrm>
            <a:off x="7571232" y="52578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668 m2</a:t>
            </a:r>
          </a:p>
        </p:txBody>
      </p:sp>
      <p:sp>
        <p:nvSpPr>
          <p:cNvPr id="183" name="Text 183"/>
          <p:cNvSpPr txBox="1"/>
          <p:nvPr/>
        </p:nvSpPr>
        <p:spPr>
          <a:xfrm>
            <a:off x="8439912" y="52578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R$ 3.147</a:t>
            </a:r>
          </a:p>
        </p:txBody>
      </p:sp>
      <p:sp>
        <p:nvSpPr>
          <p:cNvPr id="184" name="Text 184"/>
          <p:cNvSpPr txBox="1"/>
          <p:nvPr/>
        </p:nvSpPr>
        <p:spPr>
          <a:xfrm>
            <a:off x="566928" y="553212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4081.Nova Coleta Zona Leste Parque do Carmo (Itaquera)</a:t>
            </a:r>
          </a:p>
        </p:txBody>
      </p:sp>
      <p:sp>
        <p:nvSpPr>
          <p:cNvPr id="185" name="Text 185"/>
          <p:cNvSpPr txBox="1"/>
          <p:nvPr/>
        </p:nvSpPr>
        <p:spPr>
          <a:xfrm>
            <a:off x="4544568" y="553212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86" name="Text 186"/>
          <p:cNvSpPr txBox="1"/>
          <p:nvPr/>
        </p:nvSpPr>
        <p:spPr>
          <a:xfrm>
            <a:off x="4956048" y="553212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Nov/25</a:t>
            </a:r>
          </a:p>
        </p:txBody>
      </p:sp>
      <p:sp>
        <p:nvSpPr>
          <p:cNvPr id="187" name="Text 187"/>
          <p:cNvSpPr txBox="1"/>
          <p:nvPr/>
        </p:nvSpPr>
        <p:spPr>
          <a:xfrm>
            <a:off x="5577840" y="553212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88" name="Text 188"/>
          <p:cNvSpPr txBox="1"/>
          <p:nvPr/>
        </p:nvSpPr>
        <p:spPr>
          <a:xfrm>
            <a:off x="6492240" y="553212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R$ 1,2 mi</a:t>
            </a:r>
          </a:p>
        </p:txBody>
      </p:sp>
      <p:sp>
        <p:nvSpPr>
          <p:cNvPr id="189" name="Text 189"/>
          <p:cNvSpPr txBox="1"/>
          <p:nvPr/>
        </p:nvSpPr>
        <p:spPr>
          <a:xfrm>
            <a:off x="7571232" y="553212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539 m2</a:t>
            </a:r>
          </a:p>
        </p:txBody>
      </p:sp>
      <p:sp>
        <p:nvSpPr>
          <p:cNvPr id="190" name="Text 190"/>
          <p:cNvSpPr txBox="1"/>
          <p:nvPr/>
        </p:nvSpPr>
        <p:spPr>
          <a:xfrm>
            <a:off x="8439912" y="553212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R$ 2.236</a:t>
            </a:r>
          </a:p>
        </p:txBody>
      </p:sp>
      <p:sp>
        <p:nvSpPr>
          <p:cNvPr id="191" name="Text 191"/>
          <p:cNvSpPr txBox="1"/>
          <p:nvPr/>
        </p:nvSpPr>
        <p:spPr>
          <a:xfrm>
            <a:off x="566928" y="580644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0000.Ampliação 03 consultórios UA Cidade Nova</a:t>
            </a:r>
          </a:p>
        </p:txBody>
      </p:sp>
      <p:sp>
        <p:nvSpPr>
          <p:cNvPr id="192" name="Text 192"/>
          <p:cNvSpPr txBox="1"/>
          <p:nvPr/>
        </p:nvSpPr>
        <p:spPr>
          <a:xfrm>
            <a:off x="4544568" y="580644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RJ</a:t>
            </a:r>
          </a:p>
        </p:txBody>
      </p:sp>
      <p:sp>
        <p:nvSpPr>
          <p:cNvPr id="193" name="Text 193"/>
          <p:cNvSpPr txBox="1"/>
          <p:nvPr/>
        </p:nvSpPr>
        <p:spPr>
          <a:xfrm>
            <a:off x="4956048" y="580644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Nov/25</a:t>
            </a:r>
          </a:p>
        </p:txBody>
      </p:sp>
      <p:sp>
        <p:nvSpPr>
          <p:cNvPr id="194" name="Text 194"/>
          <p:cNvSpPr txBox="1"/>
          <p:nvPr/>
        </p:nvSpPr>
        <p:spPr>
          <a:xfrm>
            <a:off x="5577840" y="580644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95" name="Text 195"/>
          <p:cNvSpPr txBox="1"/>
          <p:nvPr/>
        </p:nvSpPr>
        <p:spPr>
          <a:xfrm>
            <a:off x="6492240" y="580644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R$ 265,1 mil</a:t>
            </a:r>
          </a:p>
        </p:txBody>
      </p:sp>
      <p:sp>
        <p:nvSpPr>
          <p:cNvPr id="196" name="Text 196"/>
          <p:cNvSpPr txBox="1"/>
          <p:nvPr/>
        </p:nvSpPr>
        <p:spPr>
          <a:xfrm>
            <a:off x="7571232" y="580644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69 m2</a:t>
            </a:r>
          </a:p>
        </p:txBody>
      </p:sp>
      <p:sp>
        <p:nvSpPr>
          <p:cNvPr id="197" name="Text 197"/>
          <p:cNvSpPr txBox="1"/>
          <p:nvPr/>
        </p:nvSpPr>
        <p:spPr>
          <a:xfrm>
            <a:off x="8439912" y="580644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R$ 3.915</a:t>
            </a:r>
          </a:p>
        </p:txBody>
      </p:sp>
      <p:sp>
        <p:nvSpPr>
          <p:cNvPr id="198" name="Text 198"/>
          <p:cNvSpPr txBox="1"/>
          <p:nvPr/>
        </p:nvSpPr>
        <p:spPr>
          <a:xfrm>
            <a:off x="566928" y="608076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4020.Nova Clínica São Luís (Cohab)</a:t>
            </a:r>
          </a:p>
        </p:txBody>
      </p:sp>
      <p:sp>
        <p:nvSpPr>
          <p:cNvPr id="199" name="Text 199"/>
          <p:cNvSpPr txBox="1"/>
          <p:nvPr/>
        </p:nvSpPr>
        <p:spPr>
          <a:xfrm>
            <a:off x="4544568" y="608076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MA</a:t>
            </a:r>
          </a:p>
        </p:txBody>
      </p:sp>
      <p:sp>
        <p:nvSpPr>
          <p:cNvPr id="200" name="Text 200"/>
          <p:cNvSpPr txBox="1"/>
          <p:nvPr/>
        </p:nvSpPr>
        <p:spPr>
          <a:xfrm>
            <a:off x="4956048" y="608076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Mar/25</a:t>
            </a:r>
          </a:p>
        </p:txBody>
      </p:sp>
      <p:sp>
        <p:nvSpPr>
          <p:cNvPr id="201" name="Text 201"/>
          <p:cNvSpPr txBox="1"/>
          <p:nvPr/>
        </p:nvSpPr>
        <p:spPr>
          <a:xfrm>
            <a:off x="5577840" y="608076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202" name="Text 202"/>
          <p:cNvSpPr txBox="1"/>
          <p:nvPr/>
        </p:nvSpPr>
        <p:spPr>
          <a:xfrm>
            <a:off x="6492240" y="608076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R$ 1,8 mi</a:t>
            </a:r>
          </a:p>
        </p:txBody>
      </p:sp>
      <p:sp>
        <p:nvSpPr>
          <p:cNvPr id="203" name="Text 203"/>
          <p:cNvSpPr txBox="1"/>
          <p:nvPr/>
        </p:nvSpPr>
        <p:spPr>
          <a:xfrm>
            <a:off x="7571232" y="608076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849 m2</a:t>
            </a:r>
          </a:p>
        </p:txBody>
      </p:sp>
      <p:sp>
        <p:nvSpPr>
          <p:cNvPr id="204" name="Text 204"/>
          <p:cNvSpPr txBox="1"/>
          <p:nvPr/>
        </p:nvSpPr>
        <p:spPr>
          <a:xfrm>
            <a:off x="8439912" y="608076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R$ 2.156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Clínicas, Diagnósticos, TEA e Laboratórios | 2025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800">
                <a:solidFill>
                  <a:srgbClr val="50617F"/>
                </a:solidFill>
              </a:rPr>
              <a:t>12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66928" y="713232"/>
            <a:ext cx="7955280" cy="384048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2000" b="1">
                <a:solidFill>
                  <a:srgbClr val="15253F"/>
                </a:solidFill>
              </a:rPr>
              <a:t>Clínicas, Diagnósticos, TEA e Laboratórios | 2025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8595360" y="786384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900">
                <a:solidFill>
                  <a:srgbClr val="50617F"/>
                </a:solidFill>
              </a:rPr>
              <a:t>Pagina 2/3 da listagem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66928" y="118872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715768" y="1188720"/>
            <a:ext cx="1920240" cy="530352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Area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41,4 mil m2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4864608" y="1188720"/>
            <a:ext cx="1920240" cy="530352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R$ 87,4 mi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7013448" y="118872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Preco m2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R$ 2.157/m2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640080" y="193852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100" b="1">
                <a:solidFill>
                  <a:srgbClr val="253F8E"/>
                </a:solidFill>
              </a:rPr>
              <a:t>Todas as obras da pagina, sem consolidacao</a:t>
            </a:r>
          </a:p>
        </p:txBody>
      </p:sp>
      <p:sp>
        <p:nvSpPr>
          <p:cNvPr id="100" name="Text 100"/>
          <p:cNvSpPr txBox="1"/>
          <p:nvPr/>
        </p:nvSpPr>
        <p:spPr>
          <a:xfrm>
            <a:off x="566928" y="2240280"/>
            <a:ext cx="397764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Obra</a:t>
            </a:r>
          </a:p>
        </p:txBody>
      </p:sp>
      <p:sp>
        <p:nvSpPr>
          <p:cNvPr id="101" name="Text 101"/>
          <p:cNvSpPr txBox="1"/>
          <p:nvPr/>
        </p:nvSpPr>
        <p:spPr>
          <a:xfrm>
            <a:off x="4544568" y="2240280"/>
            <a:ext cx="4114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UF</a:t>
            </a:r>
          </a:p>
        </p:txBody>
      </p:sp>
      <p:sp>
        <p:nvSpPr>
          <p:cNvPr id="102" name="Text 102"/>
          <p:cNvSpPr txBox="1"/>
          <p:nvPr/>
        </p:nvSpPr>
        <p:spPr>
          <a:xfrm>
            <a:off x="4956048" y="2240280"/>
            <a:ext cx="621792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Fim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5577840" y="2240280"/>
            <a:ext cx="91440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04" name="Text 104"/>
          <p:cNvSpPr txBox="1"/>
          <p:nvPr/>
        </p:nvSpPr>
        <p:spPr>
          <a:xfrm>
            <a:off x="6492240" y="2240280"/>
            <a:ext cx="1078992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105" name="Text 105"/>
          <p:cNvSpPr txBox="1"/>
          <p:nvPr/>
        </p:nvSpPr>
        <p:spPr>
          <a:xfrm>
            <a:off x="7571232" y="2240280"/>
            <a:ext cx="8686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m2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8439912" y="2240280"/>
            <a:ext cx="8686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R$/m2</a:t>
            </a:r>
          </a:p>
        </p:txBody>
      </p:sp>
      <p:sp>
        <p:nvSpPr>
          <p:cNvPr id="107" name="Text 107"/>
          <p:cNvSpPr txBox="1"/>
          <p:nvPr/>
        </p:nvSpPr>
        <p:spPr>
          <a:xfrm>
            <a:off x="566928" y="251460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4019.Nova Clínica Brasília (Brasiliense)</a:t>
            </a:r>
          </a:p>
        </p:txBody>
      </p:sp>
      <p:sp>
        <p:nvSpPr>
          <p:cNvPr id="108" name="Text 108"/>
          <p:cNvSpPr txBox="1"/>
          <p:nvPr/>
        </p:nvSpPr>
        <p:spPr>
          <a:xfrm>
            <a:off x="4544568" y="251460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DF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4956048" y="251460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Mar/25</a:t>
            </a:r>
          </a:p>
        </p:txBody>
      </p:sp>
      <p:sp>
        <p:nvSpPr>
          <p:cNvPr id="110" name="Text 110"/>
          <p:cNvSpPr txBox="1"/>
          <p:nvPr/>
        </p:nvSpPr>
        <p:spPr>
          <a:xfrm>
            <a:off x="5577840" y="251460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6492240" y="251460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R$ 1,8 mi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7571232" y="25146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903 m2</a:t>
            </a:r>
          </a:p>
        </p:txBody>
      </p:sp>
      <p:sp>
        <p:nvSpPr>
          <p:cNvPr id="113" name="Text 113"/>
          <p:cNvSpPr txBox="1"/>
          <p:nvPr/>
        </p:nvSpPr>
        <p:spPr>
          <a:xfrm>
            <a:off x="8439912" y="25146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R$ 2.024</a:t>
            </a:r>
          </a:p>
        </p:txBody>
      </p:sp>
      <p:sp>
        <p:nvSpPr>
          <p:cNvPr id="114" name="Text 114"/>
          <p:cNvSpPr txBox="1"/>
          <p:nvPr/>
        </p:nvSpPr>
        <p:spPr>
          <a:xfrm>
            <a:off x="566928" y="278892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4015.Nova Clínica Sorocaba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4544568" y="278892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4956048" y="278892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Mar/25</a:t>
            </a:r>
          </a:p>
        </p:txBody>
      </p:sp>
      <p:sp>
        <p:nvSpPr>
          <p:cNvPr id="117" name="Text 117"/>
          <p:cNvSpPr txBox="1"/>
          <p:nvPr/>
        </p:nvSpPr>
        <p:spPr>
          <a:xfrm>
            <a:off x="5577840" y="278892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8" name="Text 118"/>
          <p:cNvSpPr txBox="1"/>
          <p:nvPr/>
        </p:nvSpPr>
        <p:spPr>
          <a:xfrm>
            <a:off x="6492240" y="278892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R$ 1,5 mi</a:t>
            </a:r>
          </a:p>
        </p:txBody>
      </p:sp>
      <p:sp>
        <p:nvSpPr>
          <p:cNvPr id="119" name="Text 119"/>
          <p:cNvSpPr txBox="1"/>
          <p:nvPr/>
        </p:nvSpPr>
        <p:spPr>
          <a:xfrm>
            <a:off x="7571232" y="278892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680 m2</a:t>
            </a:r>
          </a:p>
        </p:txBody>
      </p:sp>
      <p:sp>
        <p:nvSpPr>
          <p:cNvPr id="120" name="Text 120"/>
          <p:cNvSpPr txBox="1"/>
          <p:nvPr/>
        </p:nvSpPr>
        <p:spPr>
          <a:xfrm>
            <a:off x="8439912" y="278892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R$ 2.240</a:t>
            </a:r>
          </a:p>
        </p:txBody>
      </p:sp>
      <p:sp>
        <p:nvSpPr>
          <p:cNvPr id="121" name="Text 121"/>
          <p:cNvSpPr txBox="1"/>
          <p:nvPr/>
        </p:nvSpPr>
        <p:spPr>
          <a:xfrm>
            <a:off x="566928" y="306324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4089.Nova Coleta Zona Sul (Vila Mariana)</a:t>
            </a:r>
          </a:p>
        </p:txBody>
      </p:sp>
      <p:sp>
        <p:nvSpPr>
          <p:cNvPr id="122" name="Text 122"/>
          <p:cNvSpPr txBox="1"/>
          <p:nvPr/>
        </p:nvSpPr>
        <p:spPr>
          <a:xfrm>
            <a:off x="4544568" y="306324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23" name="Text 123"/>
          <p:cNvSpPr txBox="1"/>
          <p:nvPr/>
        </p:nvSpPr>
        <p:spPr>
          <a:xfrm>
            <a:off x="4956048" y="306324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Jun/25</a:t>
            </a:r>
          </a:p>
        </p:txBody>
      </p:sp>
      <p:sp>
        <p:nvSpPr>
          <p:cNvPr id="124" name="Text 124"/>
          <p:cNvSpPr txBox="1"/>
          <p:nvPr/>
        </p:nvSpPr>
        <p:spPr>
          <a:xfrm>
            <a:off x="5577840" y="306324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25" name="Text 125"/>
          <p:cNvSpPr txBox="1"/>
          <p:nvPr/>
        </p:nvSpPr>
        <p:spPr>
          <a:xfrm>
            <a:off x="6492240" y="306324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R$ 856,4 mil</a:t>
            </a:r>
          </a:p>
        </p:txBody>
      </p:sp>
      <p:sp>
        <p:nvSpPr>
          <p:cNvPr id="126" name="Text 126"/>
          <p:cNvSpPr txBox="1"/>
          <p:nvPr/>
        </p:nvSpPr>
        <p:spPr>
          <a:xfrm>
            <a:off x="7571232" y="306324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413 m2</a:t>
            </a:r>
          </a:p>
        </p:txBody>
      </p:sp>
      <p:sp>
        <p:nvSpPr>
          <p:cNvPr id="127" name="Text 127"/>
          <p:cNvSpPr txBox="1"/>
          <p:nvPr/>
        </p:nvSpPr>
        <p:spPr>
          <a:xfrm>
            <a:off x="8439912" y="306324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R$ 2.072</a:t>
            </a:r>
          </a:p>
        </p:txBody>
      </p:sp>
      <p:sp>
        <p:nvSpPr>
          <p:cNvPr id="128" name="Text 128"/>
          <p:cNvSpPr txBox="1"/>
          <p:nvPr/>
        </p:nvSpPr>
        <p:spPr>
          <a:xfrm>
            <a:off x="566928" y="333756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4079.Nova Coleta Zona Leste (Penha)</a:t>
            </a:r>
          </a:p>
        </p:txBody>
      </p:sp>
      <p:sp>
        <p:nvSpPr>
          <p:cNvPr id="129" name="Text 129"/>
          <p:cNvSpPr txBox="1"/>
          <p:nvPr/>
        </p:nvSpPr>
        <p:spPr>
          <a:xfrm>
            <a:off x="4544568" y="333756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4956048" y="333756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Jun/25</a:t>
            </a:r>
          </a:p>
        </p:txBody>
      </p:sp>
      <p:sp>
        <p:nvSpPr>
          <p:cNvPr id="131" name="Text 131"/>
          <p:cNvSpPr txBox="1"/>
          <p:nvPr/>
        </p:nvSpPr>
        <p:spPr>
          <a:xfrm>
            <a:off x="5577840" y="333756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32" name="Text 132"/>
          <p:cNvSpPr txBox="1"/>
          <p:nvPr/>
        </p:nvSpPr>
        <p:spPr>
          <a:xfrm>
            <a:off x="6492240" y="333756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R$ 609,1 mil</a:t>
            </a:r>
          </a:p>
        </p:txBody>
      </p:sp>
      <p:sp>
        <p:nvSpPr>
          <p:cNvPr id="133" name="Text 133"/>
          <p:cNvSpPr txBox="1"/>
          <p:nvPr/>
        </p:nvSpPr>
        <p:spPr>
          <a:xfrm>
            <a:off x="7571232" y="333756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412 m2</a:t>
            </a:r>
          </a:p>
        </p:txBody>
      </p:sp>
      <p:sp>
        <p:nvSpPr>
          <p:cNvPr id="134" name="Text 134"/>
          <p:cNvSpPr txBox="1"/>
          <p:nvPr/>
        </p:nvSpPr>
        <p:spPr>
          <a:xfrm>
            <a:off x="8439912" y="333756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R$ 1.478</a:t>
            </a:r>
          </a:p>
        </p:txBody>
      </p:sp>
      <p:sp>
        <p:nvSpPr>
          <p:cNvPr id="135" name="Text 135"/>
          <p:cNvSpPr txBox="1"/>
          <p:nvPr/>
        </p:nvSpPr>
        <p:spPr>
          <a:xfrm>
            <a:off x="566928" y="361188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4084.Nova Coleta Zona Norte (Santana)</a:t>
            </a:r>
          </a:p>
        </p:txBody>
      </p:sp>
      <p:sp>
        <p:nvSpPr>
          <p:cNvPr id="136" name="Text 136"/>
          <p:cNvSpPr txBox="1"/>
          <p:nvPr/>
        </p:nvSpPr>
        <p:spPr>
          <a:xfrm>
            <a:off x="4544568" y="361188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37" name="Text 137"/>
          <p:cNvSpPr txBox="1"/>
          <p:nvPr/>
        </p:nvSpPr>
        <p:spPr>
          <a:xfrm>
            <a:off x="4956048" y="361188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Jun/25</a:t>
            </a:r>
          </a:p>
        </p:txBody>
      </p:sp>
      <p:sp>
        <p:nvSpPr>
          <p:cNvPr id="138" name="Text 138"/>
          <p:cNvSpPr txBox="1"/>
          <p:nvPr/>
        </p:nvSpPr>
        <p:spPr>
          <a:xfrm>
            <a:off x="5577840" y="361188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39" name="Text 139"/>
          <p:cNvSpPr txBox="1"/>
          <p:nvPr/>
        </p:nvSpPr>
        <p:spPr>
          <a:xfrm>
            <a:off x="6492240" y="361188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R$ 578,7 mil</a:t>
            </a:r>
          </a:p>
        </p:txBody>
      </p:sp>
      <p:sp>
        <p:nvSpPr>
          <p:cNvPr id="140" name="Text 140"/>
          <p:cNvSpPr txBox="1"/>
          <p:nvPr/>
        </p:nvSpPr>
        <p:spPr>
          <a:xfrm>
            <a:off x="7571232" y="361188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338 m2</a:t>
            </a:r>
          </a:p>
        </p:txBody>
      </p:sp>
      <p:sp>
        <p:nvSpPr>
          <p:cNvPr id="141" name="Text 141"/>
          <p:cNvSpPr txBox="1"/>
          <p:nvPr/>
        </p:nvSpPr>
        <p:spPr>
          <a:xfrm>
            <a:off x="8439912" y="361188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R$ 1.711</a:t>
            </a:r>
          </a:p>
        </p:txBody>
      </p:sp>
      <p:sp>
        <p:nvSpPr>
          <p:cNvPr id="142" name="Text 142"/>
          <p:cNvSpPr txBox="1"/>
          <p:nvPr/>
        </p:nvSpPr>
        <p:spPr>
          <a:xfrm>
            <a:off x="566928" y="388620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4090.Nova Coleta Zona Sul (João Dias)</a:t>
            </a:r>
          </a:p>
        </p:txBody>
      </p:sp>
      <p:sp>
        <p:nvSpPr>
          <p:cNvPr id="143" name="Text 143"/>
          <p:cNvSpPr txBox="1"/>
          <p:nvPr/>
        </p:nvSpPr>
        <p:spPr>
          <a:xfrm>
            <a:off x="4544568" y="388620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44" name="Text 144"/>
          <p:cNvSpPr txBox="1"/>
          <p:nvPr/>
        </p:nvSpPr>
        <p:spPr>
          <a:xfrm>
            <a:off x="4956048" y="388620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Jun/25</a:t>
            </a:r>
          </a:p>
        </p:txBody>
      </p:sp>
      <p:sp>
        <p:nvSpPr>
          <p:cNvPr id="145" name="Text 145"/>
          <p:cNvSpPr txBox="1"/>
          <p:nvPr/>
        </p:nvSpPr>
        <p:spPr>
          <a:xfrm>
            <a:off x="5577840" y="388620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46" name="Text 146"/>
          <p:cNvSpPr txBox="1"/>
          <p:nvPr/>
        </p:nvSpPr>
        <p:spPr>
          <a:xfrm>
            <a:off x="6492240" y="388620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R$ 490,3 mil</a:t>
            </a:r>
          </a:p>
        </p:txBody>
      </p:sp>
      <p:sp>
        <p:nvSpPr>
          <p:cNvPr id="147" name="Text 147"/>
          <p:cNvSpPr txBox="1"/>
          <p:nvPr/>
        </p:nvSpPr>
        <p:spPr>
          <a:xfrm>
            <a:off x="7571232" y="388620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406 m2</a:t>
            </a:r>
          </a:p>
        </p:txBody>
      </p:sp>
      <p:sp>
        <p:nvSpPr>
          <p:cNvPr id="148" name="Text 148"/>
          <p:cNvSpPr txBox="1"/>
          <p:nvPr/>
        </p:nvSpPr>
        <p:spPr>
          <a:xfrm>
            <a:off x="8439912" y="388620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R$ 1.209</a:t>
            </a:r>
          </a:p>
        </p:txBody>
      </p:sp>
      <p:sp>
        <p:nvSpPr>
          <p:cNvPr id="149" name="Text 149"/>
          <p:cNvSpPr txBox="1"/>
          <p:nvPr/>
        </p:nvSpPr>
        <p:spPr>
          <a:xfrm>
            <a:off x="566928" y="416052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4088.Nova Coleta Zona Oeste (Lapa)</a:t>
            </a:r>
          </a:p>
        </p:txBody>
      </p:sp>
      <p:sp>
        <p:nvSpPr>
          <p:cNvPr id="150" name="Text 150"/>
          <p:cNvSpPr txBox="1"/>
          <p:nvPr/>
        </p:nvSpPr>
        <p:spPr>
          <a:xfrm>
            <a:off x="4544568" y="416052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51" name="Text 151"/>
          <p:cNvSpPr txBox="1"/>
          <p:nvPr/>
        </p:nvSpPr>
        <p:spPr>
          <a:xfrm>
            <a:off x="4956048" y="416052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Jun/25</a:t>
            </a:r>
          </a:p>
        </p:txBody>
      </p:sp>
      <p:sp>
        <p:nvSpPr>
          <p:cNvPr id="152" name="Text 152"/>
          <p:cNvSpPr txBox="1"/>
          <p:nvPr/>
        </p:nvSpPr>
        <p:spPr>
          <a:xfrm>
            <a:off x="5577840" y="416052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53" name="Text 153"/>
          <p:cNvSpPr txBox="1"/>
          <p:nvPr/>
        </p:nvSpPr>
        <p:spPr>
          <a:xfrm>
            <a:off x="6492240" y="416052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R$ 290,9 mil</a:t>
            </a:r>
          </a:p>
        </p:txBody>
      </p:sp>
      <p:sp>
        <p:nvSpPr>
          <p:cNvPr id="154" name="Text 154"/>
          <p:cNvSpPr txBox="1"/>
          <p:nvPr/>
        </p:nvSpPr>
        <p:spPr>
          <a:xfrm>
            <a:off x="7571232" y="416052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170 m2</a:t>
            </a:r>
          </a:p>
        </p:txBody>
      </p:sp>
      <p:sp>
        <p:nvSpPr>
          <p:cNvPr id="155" name="Text 155"/>
          <p:cNvSpPr txBox="1"/>
          <p:nvPr/>
        </p:nvSpPr>
        <p:spPr>
          <a:xfrm>
            <a:off x="8439912" y="416052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R$ 1.707</a:t>
            </a:r>
          </a:p>
        </p:txBody>
      </p:sp>
      <p:sp>
        <p:nvSpPr>
          <p:cNvPr id="156" name="Text 156"/>
          <p:cNvSpPr txBox="1"/>
          <p:nvPr/>
        </p:nvSpPr>
        <p:spPr>
          <a:xfrm>
            <a:off x="566928" y="443484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4103.Nova Unidade Diagnóstico Flagship SP (Fase 2)</a:t>
            </a:r>
          </a:p>
        </p:txBody>
      </p:sp>
      <p:sp>
        <p:nvSpPr>
          <p:cNvPr id="157" name="Text 157"/>
          <p:cNvSpPr txBox="1"/>
          <p:nvPr/>
        </p:nvSpPr>
        <p:spPr>
          <a:xfrm>
            <a:off x="4544568" y="443484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58" name="Text 158"/>
          <p:cNvSpPr txBox="1"/>
          <p:nvPr/>
        </p:nvSpPr>
        <p:spPr>
          <a:xfrm>
            <a:off x="4956048" y="443484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Jul/25</a:t>
            </a:r>
          </a:p>
        </p:txBody>
      </p:sp>
      <p:sp>
        <p:nvSpPr>
          <p:cNvPr id="159" name="Text 159"/>
          <p:cNvSpPr txBox="1"/>
          <p:nvPr/>
        </p:nvSpPr>
        <p:spPr>
          <a:xfrm>
            <a:off x="5577840" y="443484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60" name="Text 160"/>
          <p:cNvSpPr txBox="1"/>
          <p:nvPr/>
        </p:nvSpPr>
        <p:spPr>
          <a:xfrm>
            <a:off x="6492240" y="443484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R$ 13,7 mi</a:t>
            </a:r>
          </a:p>
        </p:txBody>
      </p:sp>
      <p:sp>
        <p:nvSpPr>
          <p:cNvPr id="161" name="Text 161"/>
          <p:cNvSpPr txBox="1"/>
          <p:nvPr/>
        </p:nvSpPr>
        <p:spPr>
          <a:xfrm>
            <a:off x="7571232" y="443484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4,9 mil m2</a:t>
            </a:r>
          </a:p>
        </p:txBody>
      </p:sp>
      <p:sp>
        <p:nvSpPr>
          <p:cNvPr id="162" name="Text 162"/>
          <p:cNvSpPr txBox="1"/>
          <p:nvPr/>
        </p:nvSpPr>
        <p:spPr>
          <a:xfrm>
            <a:off x="8439912" y="443484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R$ 2.824</a:t>
            </a:r>
          </a:p>
        </p:txBody>
      </p:sp>
      <p:sp>
        <p:nvSpPr>
          <p:cNvPr id="163" name="Text 163"/>
          <p:cNvSpPr txBox="1"/>
          <p:nvPr/>
        </p:nvSpPr>
        <p:spPr>
          <a:xfrm>
            <a:off x="566928" y="470916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4128.Clínica/Lab Zona Oeste Butantã (SP)</a:t>
            </a:r>
          </a:p>
        </p:txBody>
      </p:sp>
      <p:sp>
        <p:nvSpPr>
          <p:cNvPr id="164" name="Text 164"/>
          <p:cNvSpPr txBox="1"/>
          <p:nvPr/>
        </p:nvSpPr>
        <p:spPr>
          <a:xfrm>
            <a:off x="4544568" y="470916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65" name="Text 165"/>
          <p:cNvSpPr txBox="1"/>
          <p:nvPr/>
        </p:nvSpPr>
        <p:spPr>
          <a:xfrm>
            <a:off x="4956048" y="470916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Jul/25</a:t>
            </a:r>
          </a:p>
        </p:txBody>
      </p:sp>
      <p:sp>
        <p:nvSpPr>
          <p:cNvPr id="166" name="Text 166"/>
          <p:cNvSpPr txBox="1"/>
          <p:nvPr/>
        </p:nvSpPr>
        <p:spPr>
          <a:xfrm>
            <a:off x="5577840" y="470916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67" name="Text 167"/>
          <p:cNvSpPr txBox="1"/>
          <p:nvPr/>
        </p:nvSpPr>
        <p:spPr>
          <a:xfrm>
            <a:off x="6492240" y="470916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R$ 1,6 mi</a:t>
            </a:r>
          </a:p>
        </p:txBody>
      </p:sp>
      <p:sp>
        <p:nvSpPr>
          <p:cNvPr id="168" name="Text 168"/>
          <p:cNvSpPr txBox="1"/>
          <p:nvPr/>
        </p:nvSpPr>
        <p:spPr>
          <a:xfrm>
            <a:off x="7571232" y="470916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1,1 mil m2</a:t>
            </a:r>
          </a:p>
        </p:txBody>
      </p:sp>
      <p:sp>
        <p:nvSpPr>
          <p:cNvPr id="169" name="Text 169"/>
          <p:cNvSpPr txBox="1"/>
          <p:nvPr/>
        </p:nvSpPr>
        <p:spPr>
          <a:xfrm>
            <a:off x="8439912" y="470916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R$ 1.499</a:t>
            </a:r>
          </a:p>
        </p:txBody>
      </p:sp>
      <p:sp>
        <p:nvSpPr>
          <p:cNvPr id="170" name="Text 170"/>
          <p:cNvSpPr txBox="1"/>
          <p:nvPr/>
        </p:nvSpPr>
        <p:spPr>
          <a:xfrm>
            <a:off x="566928" y="498348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0000.Capela Oncologia ABC São Bernardo</a:t>
            </a:r>
          </a:p>
        </p:txBody>
      </p:sp>
      <p:sp>
        <p:nvSpPr>
          <p:cNvPr id="171" name="Text 171"/>
          <p:cNvSpPr txBox="1"/>
          <p:nvPr/>
        </p:nvSpPr>
        <p:spPr>
          <a:xfrm>
            <a:off x="4544568" y="498348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72" name="Text 172"/>
          <p:cNvSpPr txBox="1"/>
          <p:nvPr/>
        </p:nvSpPr>
        <p:spPr>
          <a:xfrm>
            <a:off x="4956048" y="498348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Jul/25</a:t>
            </a:r>
          </a:p>
        </p:txBody>
      </p:sp>
      <p:sp>
        <p:nvSpPr>
          <p:cNvPr id="173" name="Text 173"/>
          <p:cNvSpPr txBox="1"/>
          <p:nvPr/>
        </p:nvSpPr>
        <p:spPr>
          <a:xfrm>
            <a:off x="5577840" y="498348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74" name="Text 174"/>
          <p:cNvSpPr txBox="1"/>
          <p:nvPr/>
        </p:nvSpPr>
        <p:spPr>
          <a:xfrm>
            <a:off x="6492240" y="498348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R$ 599,3 mil</a:t>
            </a:r>
          </a:p>
        </p:txBody>
      </p:sp>
      <p:sp>
        <p:nvSpPr>
          <p:cNvPr id="175" name="Text 175"/>
          <p:cNvSpPr txBox="1"/>
          <p:nvPr/>
        </p:nvSpPr>
        <p:spPr>
          <a:xfrm>
            <a:off x="7571232" y="498348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193 m2</a:t>
            </a:r>
          </a:p>
        </p:txBody>
      </p:sp>
      <p:sp>
        <p:nvSpPr>
          <p:cNvPr id="176" name="Text 176"/>
          <p:cNvSpPr txBox="1"/>
          <p:nvPr/>
        </p:nvSpPr>
        <p:spPr>
          <a:xfrm>
            <a:off x="8439912" y="498348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R$ 3.479</a:t>
            </a:r>
          </a:p>
        </p:txBody>
      </p:sp>
      <p:sp>
        <p:nvSpPr>
          <p:cNvPr id="177" name="Text 177"/>
          <p:cNvSpPr txBox="1"/>
          <p:nvPr/>
        </p:nvSpPr>
        <p:spPr>
          <a:xfrm>
            <a:off x="566928" y="525780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4018.Ampliação Clínica Vieiralves</a:t>
            </a:r>
          </a:p>
        </p:txBody>
      </p:sp>
      <p:sp>
        <p:nvSpPr>
          <p:cNvPr id="178" name="Text 178"/>
          <p:cNvSpPr txBox="1"/>
          <p:nvPr/>
        </p:nvSpPr>
        <p:spPr>
          <a:xfrm>
            <a:off x="4544568" y="525780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AM</a:t>
            </a:r>
          </a:p>
        </p:txBody>
      </p:sp>
      <p:sp>
        <p:nvSpPr>
          <p:cNvPr id="179" name="Text 179"/>
          <p:cNvSpPr txBox="1"/>
          <p:nvPr/>
        </p:nvSpPr>
        <p:spPr>
          <a:xfrm>
            <a:off x="4956048" y="525780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Jan/25</a:t>
            </a:r>
          </a:p>
        </p:txBody>
      </p:sp>
      <p:sp>
        <p:nvSpPr>
          <p:cNvPr id="180" name="Text 180"/>
          <p:cNvSpPr txBox="1"/>
          <p:nvPr/>
        </p:nvSpPr>
        <p:spPr>
          <a:xfrm>
            <a:off x="5577840" y="525780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81" name="Text 181"/>
          <p:cNvSpPr txBox="1"/>
          <p:nvPr/>
        </p:nvSpPr>
        <p:spPr>
          <a:xfrm>
            <a:off x="6492240" y="525780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R$ 1,5 mi</a:t>
            </a:r>
          </a:p>
        </p:txBody>
      </p:sp>
      <p:sp>
        <p:nvSpPr>
          <p:cNvPr id="182" name="Text 182"/>
          <p:cNvSpPr txBox="1"/>
          <p:nvPr/>
        </p:nvSpPr>
        <p:spPr>
          <a:xfrm>
            <a:off x="7571232" y="52578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954 m2</a:t>
            </a:r>
          </a:p>
        </p:txBody>
      </p:sp>
      <p:sp>
        <p:nvSpPr>
          <p:cNvPr id="183" name="Text 183"/>
          <p:cNvSpPr txBox="1"/>
          <p:nvPr/>
        </p:nvSpPr>
        <p:spPr>
          <a:xfrm>
            <a:off x="8439912" y="52578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R$ 1.563</a:t>
            </a:r>
          </a:p>
        </p:txBody>
      </p:sp>
      <p:sp>
        <p:nvSpPr>
          <p:cNvPr id="184" name="Text 184"/>
          <p:cNvSpPr txBox="1"/>
          <p:nvPr/>
        </p:nvSpPr>
        <p:spPr>
          <a:xfrm>
            <a:off x="566928" y="553212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4037.Nova Clínica Santo André (UASA)</a:t>
            </a:r>
          </a:p>
        </p:txBody>
      </p:sp>
      <p:sp>
        <p:nvSpPr>
          <p:cNvPr id="185" name="Text 185"/>
          <p:cNvSpPr txBox="1"/>
          <p:nvPr/>
        </p:nvSpPr>
        <p:spPr>
          <a:xfrm>
            <a:off x="4544568" y="553212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86" name="Text 186"/>
          <p:cNvSpPr txBox="1"/>
          <p:nvPr/>
        </p:nvSpPr>
        <p:spPr>
          <a:xfrm>
            <a:off x="4956048" y="553212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Jan/25</a:t>
            </a:r>
          </a:p>
        </p:txBody>
      </p:sp>
      <p:sp>
        <p:nvSpPr>
          <p:cNvPr id="187" name="Text 187"/>
          <p:cNvSpPr txBox="1"/>
          <p:nvPr/>
        </p:nvSpPr>
        <p:spPr>
          <a:xfrm>
            <a:off x="5577840" y="553212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88" name="Text 188"/>
          <p:cNvSpPr txBox="1"/>
          <p:nvPr/>
        </p:nvSpPr>
        <p:spPr>
          <a:xfrm>
            <a:off x="6492240" y="553212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R$ 986,8 mil</a:t>
            </a:r>
          </a:p>
        </p:txBody>
      </p:sp>
      <p:sp>
        <p:nvSpPr>
          <p:cNvPr id="189" name="Text 189"/>
          <p:cNvSpPr txBox="1"/>
          <p:nvPr/>
        </p:nvSpPr>
        <p:spPr>
          <a:xfrm>
            <a:off x="7571232" y="553212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324 m2</a:t>
            </a:r>
          </a:p>
        </p:txBody>
      </p:sp>
      <p:sp>
        <p:nvSpPr>
          <p:cNvPr id="190" name="Text 190"/>
          <p:cNvSpPr txBox="1"/>
          <p:nvPr/>
        </p:nvSpPr>
        <p:spPr>
          <a:xfrm>
            <a:off x="8439912" y="553212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R$ 3.044</a:t>
            </a:r>
          </a:p>
        </p:txBody>
      </p:sp>
      <p:sp>
        <p:nvSpPr>
          <p:cNvPr id="191" name="Text 191"/>
          <p:cNvSpPr txBox="1"/>
          <p:nvPr/>
        </p:nvSpPr>
        <p:spPr>
          <a:xfrm>
            <a:off x="566928" y="580644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4016.Nova Clínica Mogi</a:t>
            </a:r>
          </a:p>
        </p:txBody>
      </p:sp>
      <p:sp>
        <p:nvSpPr>
          <p:cNvPr id="192" name="Text 192"/>
          <p:cNvSpPr txBox="1"/>
          <p:nvPr/>
        </p:nvSpPr>
        <p:spPr>
          <a:xfrm>
            <a:off x="4544568" y="580644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93" name="Text 193"/>
          <p:cNvSpPr txBox="1"/>
          <p:nvPr/>
        </p:nvSpPr>
        <p:spPr>
          <a:xfrm>
            <a:off x="4956048" y="580644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Fev/25</a:t>
            </a:r>
          </a:p>
        </p:txBody>
      </p:sp>
      <p:sp>
        <p:nvSpPr>
          <p:cNvPr id="194" name="Text 194"/>
          <p:cNvSpPr txBox="1"/>
          <p:nvPr/>
        </p:nvSpPr>
        <p:spPr>
          <a:xfrm>
            <a:off x="5577840" y="580644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95" name="Text 195"/>
          <p:cNvSpPr txBox="1"/>
          <p:nvPr/>
        </p:nvSpPr>
        <p:spPr>
          <a:xfrm>
            <a:off x="6492240" y="580644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R$ 1,1 mi</a:t>
            </a:r>
          </a:p>
        </p:txBody>
      </p:sp>
      <p:sp>
        <p:nvSpPr>
          <p:cNvPr id="196" name="Text 196"/>
          <p:cNvSpPr txBox="1"/>
          <p:nvPr/>
        </p:nvSpPr>
        <p:spPr>
          <a:xfrm>
            <a:off x="7571232" y="580644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736 m2</a:t>
            </a:r>
          </a:p>
        </p:txBody>
      </p:sp>
      <p:sp>
        <p:nvSpPr>
          <p:cNvPr id="197" name="Text 197"/>
          <p:cNvSpPr txBox="1"/>
          <p:nvPr/>
        </p:nvSpPr>
        <p:spPr>
          <a:xfrm>
            <a:off x="8439912" y="580644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R$ 1.542</a:t>
            </a:r>
          </a:p>
        </p:txBody>
      </p:sp>
      <p:sp>
        <p:nvSpPr>
          <p:cNvPr id="198" name="Text 198"/>
          <p:cNvSpPr txBox="1"/>
          <p:nvPr/>
        </p:nvSpPr>
        <p:spPr>
          <a:xfrm>
            <a:off x="566928" y="608076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3922.Novo TEA Ribeirão Pires (2024)</a:t>
            </a:r>
          </a:p>
        </p:txBody>
      </p:sp>
      <p:sp>
        <p:nvSpPr>
          <p:cNvPr id="199" name="Text 199"/>
          <p:cNvSpPr txBox="1"/>
          <p:nvPr/>
        </p:nvSpPr>
        <p:spPr>
          <a:xfrm>
            <a:off x="4544568" y="608076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200" name="Text 200"/>
          <p:cNvSpPr txBox="1"/>
          <p:nvPr/>
        </p:nvSpPr>
        <p:spPr>
          <a:xfrm>
            <a:off x="4956048" y="608076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Fev/25</a:t>
            </a:r>
          </a:p>
        </p:txBody>
      </p:sp>
      <p:sp>
        <p:nvSpPr>
          <p:cNvPr id="201" name="Text 201"/>
          <p:cNvSpPr txBox="1"/>
          <p:nvPr/>
        </p:nvSpPr>
        <p:spPr>
          <a:xfrm>
            <a:off x="5577840" y="608076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202" name="Text 202"/>
          <p:cNvSpPr txBox="1"/>
          <p:nvPr/>
        </p:nvSpPr>
        <p:spPr>
          <a:xfrm>
            <a:off x="6492240" y="608076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R$ 583,7 mil</a:t>
            </a:r>
          </a:p>
        </p:txBody>
      </p:sp>
      <p:sp>
        <p:nvSpPr>
          <p:cNvPr id="203" name="Text 203"/>
          <p:cNvSpPr txBox="1"/>
          <p:nvPr/>
        </p:nvSpPr>
        <p:spPr>
          <a:xfrm>
            <a:off x="7571232" y="608076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371 m2</a:t>
            </a:r>
          </a:p>
        </p:txBody>
      </p:sp>
      <p:sp>
        <p:nvSpPr>
          <p:cNvPr id="204" name="Text 204"/>
          <p:cNvSpPr txBox="1"/>
          <p:nvPr/>
        </p:nvSpPr>
        <p:spPr>
          <a:xfrm>
            <a:off x="8439912" y="608076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R$ 1.677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Clínicas, Diagnósticos, TEA e Laboratórios | 2025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800">
                <a:solidFill>
                  <a:srgbClr val="50617F"/>
                </a:solidFill>
              </a:rPr>
              <a:t>13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66928" y="713232"/>
            <a:ext cx="7955280" cy="384048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2000" b="1">
                <a:solidFill>
                  <a:srgbClr val="15253F"/>
                </a:solidFill>
              </a:rPr>
              <a:t>Clínicas, Diagnósticos, TEA e Laboratórios | 2025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8595360" y="786384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900">
                <a:solidFill>
                  <a:srgbClr val="50617F"/>
                </a:solidFill>
              </a:rPr>
              <a:t>Pagina 3/3 da listagem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66928" y="118872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715768" y="1188720"/>
            <a:ext cx="1920240" cy="530352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Area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41,4 mil m2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4864608" y="1188720"/>
            <a:ext cx="1920240" cy="530352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R$ 87,4 mi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7013448" y="118872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Preco m2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R$ 2.157/m2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640080" y="193852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100" b="1">
                <a:solidFill>
                  <a:srgbClr val="253F8E"/>
                </a:solidFill>
              </a:rPr>
              <a:t>Todas as obras da pagina, sem consolidacao</a:t>
            </a:r>
          </a:p>
        </p:txBody>
      </p:sp>
      <p:sp>
        <p:nvSpPr>
          <p:cNvPr id="100" name="Text 100"/>
          <p:cNvSpPr txBox="1"/>
          <p:nvPr/>
        </p:nvSpPr>
        <p:spPr>
          <a:xfrm>
            <a:off x="566928" y="2240280"/>
            <a:ext cx="397764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Obra</a:t>
            </a:r>
          </a:p>
        </p:txBody>
      </p:sp>
      <p:sp>
        <p:nvSpPr>
          <p:cNvPr id="101" name="Text 101"/>
          <p:cNvSpPr txBox="1"/>
          <p:nvPr/>
        </p:nvSpPr>
        <p:spPr>
          <a:xfrm>
            <a:off x="4544568" y="2240280"/>
            <a:ext cx="4114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UF</a:t>
            </a:r>
          </a:p>
        </p:txBody>
      </p:sp>
      <p:sp>
        <p:nvSpPr>
          <p:cNvPr id="102" name="Text 102"/>
          <p:cNvSpPr txBox="1"/>
          <p:nvPr/>
        </p:nvSpPr>
        <p:spPr>
          <a:xfrm>
            <a:off x="4956048" y="2240280"/>
            <a:ext cx="621792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Fim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5577840" y="2240280"/>
            <a:ext cx="91440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04" name="Text 104"/>
          <p:cNvSpPr txBox="1"/>
          <p:nvPr/>
        </p:nvSpPr>
        <p:spPr>
          <a:xfrm>
            <a:off x="6492240" y="2240280"/>
            <a:ext cx="1078992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105" name="Text 105"/>
          <p:cNvSpPr txBox="1"/>
          <p:nvPr/>
        </p:nvSpPr>
        <p:spPr>
          <a:xfrm>
            <a:off x="7571232" y="2240280"/>
            <a:ext cx="8686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m2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8439912" y="2240280"/>
            <a:ext cx="8686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R$/m2</a:t>
            </a:r>
          </a:p>
        </p:txBody>
      </p:sp>
      <p:sp>
        <p:nvSpPr>
          <p:cNvPr id="107" name="Text 107"/>
          <p:cNvSpPr txBox="1"/>
          <p:nvPr/>
        </p:nvSpPr>
        <p:spPr>
          <a:xfrm>
            <a:off x="566928" y="251460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9929.Transferência Notrelife/Clínica Guarulhos</a:t>
            </a:r>
          </a:p>
        </p:txBody>
      </p:sp>
      <p:sp>
        <p:nvSpPr>
          <p:cNvPr id="108" name="Text 108"/>
          <p:cNvSpPr txBox="1"/>
          <p:nvPr/>
        </p:nvSpPr>
        <p:spPr>
          <a:xfrm>
            <a:off x="4544568" y="251460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4956048" y="251460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Dez/25</a:t>
            </a:r>
          </a:p>
        </p:txBody>
      </p:sp>
      <p:sp>
        <p:nvSpPr>
          <p:cNvPr id="110" name="Text 110"/>
          <p:cNvSpPr txBox="1"/>
          <p:nvPr/>
        </p:nvSpPr>
        <p:spPr>
          <a:xfrm>
            <a:off x="5577840" y="251460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6492240" y="251460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R$ 4,9 mi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7571232" y="25146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3,6 mil m2</a:t>
            </a:r>
          </a:p>
        </p:txBody>
      </p:sp>
      <p:sp>
        <p:nvSpPr>
          <p:cNvPr id="113" name="Text 113"/>
          <p:cNvSpPr txBox="1"/>
          <p:nvPr/>
        </p:nvSpPr>
        <p:spPr>
          <a:xfrm>
            <a:off x="8439912" y="25146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R$ 1.379</a:t>
            </a:r>
          </a:p>
        </p:txBody>
      </p:sp>
      <p:sp>
        <p:nvSpPr>
          <p:cNvPr id="114" name="Text 114"/>
          <p:cNvSpPr txBox="1"/>
          <p:nvPr/>
        </p:nvSpPr>
        <p:spPr>
          <a:xfrm>
            <a:off x="566928" y="278892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0000.Nova Clínica da Criança e Mulher Fortaleza Fase 2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4544568" y="278892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CE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4956048" y="278892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Dez/25</a:t>
            </a:r>
          </a:p>
        </p:txBody>
      </p:sp>
      <p:sp>
        <p:nvSpPr>
          <p:cNvPr id="117" name="Text 117"/>
          <p:cNvSpPr txBox="1"/>
          <p:nvPr/>
        </p:nvSpPr>
        <p:spPr>
          <a:xfrm>
            <a:off x="5577840" y="278892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8" name="Text 118"/>
          <p:cNvSpPr txBox="1"/>
          <p:nvPr/>
        </p:nvSpPr>
        <p:spPr>
          <a:xfrm>
            <a:off x="6492240" y="278892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R$ 3,6 mi</a:t>
            </a:r>
          </a:p>
        </p:txBody>
      </p:sp>
      <p:sp>
        <p:nvSpPr>
          <p:cNvPr id="119" name="Text 119"/>
          <p:cNvSpPr txBox="1"/>
          <p:nvPr/>
        </p:nvSpPr>
        <p:spPr>
          <a:xfrm>
            <a:off x="7571232" y="278892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1,7 mil m2</a:t>
            </a:r>
          </a:p>
        </p:txBody>
      </p:sp>
      <p:sp>
        <p:nvSpPr>
          <p:cNvPr id="120" name="Text 120"/>
          <p:cNvSpPr txBox="1"/>
          <p:nvPr/>
        </p:nvSpPr>
        <p:spPr>
          <a:xfrm>
            <a:off x="8439912" y="278892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R$ 2.158</a:t>
            </a:r>
          </a:p>
        </p:txBody>
      </p:sp>
      <p:sp>
        <p:nvSpPr>
          <p:cNvPr id="121" name="Text 121"/>
          <p:cNvSpPr txBox="1"/>
          <p:nvPr/>
        </p:nvSpPr>
        <p:spPr>
          <a:xfrm>
            <a:off x="566928" y="306324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4091.Novo TEA e Coleta Zona Sul Autódromo (2025)</a:t>
            </a:r>
          </a:p>
        </p:txBody>
      </p:sp>
      <p:sp>
        <p:nvSpPr>
          <p:cNvPr id="122" name="Text 122"/>
          <p:cNvSpPr txBox="1"/>
          <p:nvPr/>
        </p:nvSpPr>
        <p:spPr>
          <a:xfrm>
            <a:off x="4544568" y="306324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23" name="Text 123"/>
          <p:cNvSpPr txBox="1"/>
          <p:nvPr/>
        </p:nvSpPr>
        <p:spPr>
          <a:xfrm>
            <a:off x="4956048" y="306324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Dez/25</a:t>
            </a:r>
          </a:p>
        </p:txBody>
      </p:sp>
      <p:sp>
        <p:nvSpPr>
          <p:cNvPr id="124" name="Text 124"/>
          <p:cNvSpPr txBox="1"/>
          <p:nvPr/>
        </p:nvSpPr>
        <p:spPr>
          <a:xfrm>
            <a:off x="5577840" y="306324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25" name="Text 125"/>
          <p:cNvSpPr txBox="1"/>
          <p:nvPr/>
        </p:nvSpPr>
        <p:spPr>
          <a:xfrm>
            <a:off x="6492240" y="306324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R$ 2,9 mi</a:t>
            </a:r>
          </a:p>
        </p:txBody>
      </p:sp>
      <p:sp>
        <p:nvSpPr>
          <p:cNvPr id="126" name="Text 126"/>
          <p:cNvSpPr txBox="1"/>
          <p:nvPr/>
        </p:nvSpPr>
        <p:spPr>
          <a:xfrm>
            <a:off x="7571232" y="306324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982 m2</a:t>
            </a:r>
          </a:p>
        </p:txBody>
      </p:sp>
      <p:sp>
        <p:nvSpPr>
          <p:cNvPr id="127" name="Text 127"/>
          <p:cNvSpPr txBox="1"/>
          <p:nvPr/>
        </p:nvSpPr>
        <p:spPr>
          <a:xfrm>
            <a:off x="8439912" y="306324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R$ 2.990</a:t>
            </a:r>
          </a:p>
        </p:txBody>
      </p:sp>
      <p:sp>
        <p:nvSpPr>
          <p:cNvPr id="128" name="Text 128"/>
          <p:cNvSpPr txBox="1"/>
          <p:nvPr/>
        </p:nvSpPr>
        <p:spPr>
          <a:xfrm>
            <a:off x="566928" y="333756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4190.Novo TEA Zona Sul Jabaquara Cidade Vargas (2025)</a:t>
            </a:r>
          </a:p>
        </p:txBody>
      </p:sp>
      <p:sp>
        <p:nvSpPr>
          <p:cNvPr id="129" name="Text 129"/>
          <p:cNvSpPr txBox="1"/>
          <p:nvPr/>
        </p:nvSpPr>
        <p:spPr>
          <a:xfrm>
            <a:off x="4544568" y="333756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4956048" y="333756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Dez/25</a:t>
            </a:r>
          </a:p>
        </p:txBody>
      </p:sp>
      <p:sp>
        <p:nvSpPr>
          <p:cNvPr id="131" name="Text 131"/>
          <p:cNvSpPr txBox="1"/>
          <p:nvPr/>
        </p:nvSpPr>
        <p:spPr>
          <a:xfrm>
            <a:off x="5577840" y="333756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32" name="Text 132"/>
          <p:cNvSpPr txBox="1"/>
          <p:nvPr/>
        </p:nvSpPr>
        <p:spPr>
          <a:xfrm>
            <a:off x="6492240" y="333756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R$ 2,7 mi</a:t>
            </a:r>
          </a:p>
        </p:txBody>
      </p:sp>
      <p:sp>
        <p:nvSpPr>
          <p:cNvPr id="133" name="Text 133"/>
          <p:cNvSpPr txBox="1"/>
          <p:nvPr/>
        </p:nvSpPr>
        <p:spPr>
          <a:xfrm>
            <a:off x="7571232" y="333756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1,3 mil m2</a:t>
            </a:r>
          </a:p>
        </p:txBody>
      </p:sp>
      <p:sp>
        <p:nvSpPr>
          <p:cNvPr id="134" name="Text 134"/>
          <p:cNvSpPr txBox="1"/>
          <p:nvPr/>
        </p:nvSpPr>
        <p:spPr>
          <a:xfrm>
            <a:off x="8439912" y="333756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R$ 2.120</a:t>
            </a:r>
          </a:p>
        </p:txBody>
      </p:sp>
      <p:sp>
        <p:nvSpPr>
          <p:cNvPr id="135" name="Text 135"/>
          <p:cNvSpPr txBox="1"/>
          <p:nvPr/>
        </p:nvSpPr>
        <p:spPr>
          <a:xfrm>
            <a:off x="566928" y="361188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4181.Novo TEA Recife Madalena (2025)</a:t>
            </a:r>
          </a:p>
        </p:txBody>
      </p:sp>
      <p:sp>
        <p:nvSpPr>
          <p:cNvPr id="136" name="Text 136"/>
          <p:cNvSpPr txBox="1"/>
          <p:nvPr/>
        </p:nvSpPr>
        <p:spPr>
          <a:xfrm>
            <a:off x="4544568" y="361188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PE</a:t>
            </a:r>
          </a:p>
        </p:txBody>
      </p:sp>
      <p:sp>
        <p:nvSpPr>
          <p:cNvPr id="137" name="Text 137"/>
          <p:cNvSpPr txBox="1"/>
          <p:nvPr/>
        </p:nvSpPr>
        <p:spPr>
          <a:xfrm>
            <a:off x="4956048" y="361188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Dez/25</a:t>
            </a:r>
          </a:p>
        </p:txBody>
      </p:sp>
      <p:sp>
        <p:nvSpPr>
          <p:cNvPr id="138" name="Text 138"/>
          <p:cNvSpPr txBox="1"/>
          <p:nvPr/>
        </p:nvSpPr>
        <p:spPr>
          <a:xfrm>
            <a:off x="5577840" y="361188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39" name="Text 139"/>
          <p:cNvSpPr txBox="1"/>
          <p:nvPr/>
        </p:nvSpPr>
        <p:spPr>
          <a:xfrm>
            <a:off x="6492240" y="361188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R$ 2,2 mi</a:t>
            </a:r>
          </a:p>
        </p:txBody>
      </p:sp>
      <p:sp>
        <p:nvSpPr>
          <p:cNvPr id="140" name="Text 140"/>
          <p:cNvSpPr txBox="1"/>
          <p:nvPr/>
        </p:nvSpPr>
        <p:spPr>
          <a:xfrm>
            <a:off x="7571232" y="361188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1,2 mil m2</a:t>
            </a:r>
          </a:p>
        </p:txBody>
      </p:sp>
      <p:sp>
        <p:nvSpPr>
          <p:cNvPr id="141" name="Text 141"/>
          <p:cNvSpPr txBox="1"/>
          <p:nvPr/>
        </p:nvSpPr>
        <p:spPr>
          <a:xfrm>
            <a:off x="8439912" y="361188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R$ 1.837</a:t>
            </a:r>
          </a:p>
        </p:txBody>
      </p:sp>
      <p:sp>
        <p:nvSpPr>
          <p:cNvPr id="142" name="Text 142"/>
          <p:cNvSpPr txBox="1"/>
          <p:nvPr/>
        </p:nvSpPr>
        <p:spPr>
          <a:xfrm>
            <a:off x="566928" y="388620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4183.Novo TEA Curitiba 1 Rep. Argentina (2025)</a:t>
            </a:r>
          </a:p>
        </p:txBody>
      </p:sp>
      <p:sp>
        <p:nvSpPr>
          <p:cNvPr id="143" name="Text 143"/>
          <p:cNvSpPr txBox="1"/>
          <p:nvPr/>
        </p:nvSpPr>
        <p:spPr>
          <a:xfrm>
            <a:off x="4544568" y="388620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PR</a:t>
            </a:r>
          </a:p>
        </p:txBody>
      </p:sp>
      <p:sp>
        <p:nvSpPr>
          <p:cNvPr id="144" name="Text 144"/>
          <p:cNvSpPr txBox="1"/>
          <p:nvPr/>
        </p:nvSpPr>
        <p:spPr>
          <a:xfrm>
            <a:off x="4956048" y="388620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Dez/25</a:t>
            </a:r>
          </a:p>
        </p:txBody>
      </p:sp>
      <p:sp>
        <p:nvSpPr>
          <p:cNvPr id="145" name="Text 145"/>
          <p:cNvSpPr txBox="1"/>
          <p:nvPr/>
        </p:nvSpPr>
        <p:spPr>
          <a:xfrm>
            <a:off x="5577840" y="388620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46" name="Text 146"/>
          <p:cNvSpPr txBox="1"/>
          <p:nvPr/>
        </p:nvSpPr>
        <p:spPr>
          <a:xfrm>
            <a:off x="6492240" y="388620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R$ 1,4 mi</a:t>
            </a:r>
          </a:p>
        </p:txBody>
      </p:sp>
      <p:sp>
        <p:nvSpPr>
          <p:cNvPr id="147" name="Text 147"/>
          <p:cNvSpPr txBox="1"/>
          <p:nvPr/>
        </p:nvSpPr>
        <p:spPr>
          <a:xfrm>
            <a:off x="7571232" y="388620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863 m2</a:t>
            </a:r>
          </a:p>
        </p:txBody>
      </p:sp>
      <p:sp>
        <p:nvSpPr>
          <p:cNvPr id="148" name="Text 148"/>
          <p:cNvSpPr txBox="1"/>
          <p:nvPr/>
        </p:nvSpPr>
        <p:spPr>
          <a:xfrm>
            <a:off x="8439912" y="388620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R$ 1.674</a:t>
            </a:r>
          </a:p>
        </p:txBody>
      </p:sp>
      <p:sp>
        <p:nvSpPr>
          <p:cNvPr id="149" name="Text 149"/>
          <p:cNvSpPr txBox="1"/>
          <p:nvPr/>
        </p:nvSpPr>
        <p:spPr>
          <a:xfrm>
            <a:off x="566928" y="416052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0000.Nova Coleta São Bernardo</a:t>
            </a:r>
          </a:p>
        </p:txBody>
      </p:sp>
      <p:sp>
        <p:nvSpPr>
          <p:cNvPr id="150" name="Text 150"/>
          <p:cNvSpPr txBox="1"/>
          <p:nvPr/>
        </p:nvSpPr>
        <p:spPr>
          <a:xfrm>
            <a:off x="4544568" y="416052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51" name="Text 151"/>
          <p:cNvSpPr txBox="1"/>
          <p:nvPr/>
        </p:nvSpPr>
        <p:spPr>
          <a:xfrm>
            <a:off x="4956048" y="416052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Dez/25</a:t>
            </a:r>
          </a:p>
        </p:txBody>
      </p:sp>
      <p:sp>
        <p:nvSpPr>
          <p:cNvPr id="152" name="Text 152"/>
          <p:cNvSpPr txBox="1"/>
          <p:nvPr/>
        </p:nvSpPr>
        <p:spPr>
          <a:xfrm>
            <a:off x="5577840" y="416052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53" name="Text 153"/>
          <p:cNvSpPr txBox="1"/>
          <p:nvPr/>
        </p:nvSpPr>
        <p:spPr>
          <a:xfrm>
            <a:off x="6492240" y="416052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R$ 1,3 mi</a:t>
            </a:r>
          </a:p>
        </p:txBody>
      </p:sp>
      <p:sp>
        <p:nvSpPr>
          <p:cNvPr id="154" name="Text 154"/>
          <p:cNvSpPr txBox="1"/>
          <p:nvPr/>
        </p:nvSpPr>
        <p:spPr>
          <a:xfrm>
            <a:off x="7571232" y="416052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1,2 mil m2</a:t>
            </a:r>
          </a:p>
        </p:txBody>
      </p:sp>
      <p:sp>
        <p:nvSpPr>
          <p:cNvPr id="155" name="Text 155"/>
          <p:cNvSpPr txBox="1"/>
          <p:nvPr/>
        </p:nvSpPr>
        <p:spPr>
          <a:xfrm>
            <a:off x="8439912" y="416052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R$ 1.055</a:t>
            </a:r>
          </a:p>
        </p:txBody>
      </p:sp>
      <p:sp>
        <p:nvSpPr>
          <p:cNvPr id="156" name="Text 156"/>
          <p:cNvSpPr txBox="1"/>
          <p:nvPr/>
        </p:nvSpPr>
        <p:spPr>
          <a:xfrm>
            <a:off x="566928" y="443484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4166.Novo TEA Manaus Nilton Lins (2025)</a:t>
            </a:r>
          </a:p>
        </p:txBody>
      </p:sp>
      <p:sp>
        <p:nvSpPr>
          <p:cNvPr id="157" name="Text 157"/>
          <p:cNvSpPr txBox="1"/>
          <p:nvPr/>
        </p:nvSpPr>
        <p:spPr>
          <a:xfrm>
            <a:off x="4544568" y="443484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AM</a:t>
            </a:r>
          </a:p>
        </p:txBody>
      </p:sp>
      <p:sp>
        <p:nvSpPr>
          <p:cNvPr id="158" name="Text 158"/>
          <p:cNvSpPr txBox="1"/>
          <p:nvPr/>
        </p:nvSpPr>
        <p:spPr>
          <a:xfrm>
            <a:off x="4956048" y="443484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Dez/25</a:t>
            </a:r>
          </a:p>
        </p:txBody>
      </p:sp>
      <p:sp>
        <p:nvSpPr>
          <p:cNvPr id="159" name="Text 159"/>
          <p:cNvSpPr txBox="1"/>
          <p:nvPr/>
        </p:nvSpPr>
        <p:spPr>
          <a:xfrm>
            <a:off x="5577840" y="443484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60" name="Text 160"/>
          <p:cNvSpPr txBox="1"/>
          <p:nvPr/>
        </p:nvSpPr>
        <p:spPr>
          <a:xfrm>
            <a:off x="6492240" y="443484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R$ 1,2 mi</a:t>
            </a:r>
          </a:p>
        </p:txBody>
      </p:sp>
      <p:sp>
        <p:nvSpPr>
          <p:cNvPr id="161" name="Text 161"/>
          <p:cNvSpPr txBox="1"/>
          <p:nvPr/>
        </p:nvSpPr>
        <p:spPr>
          <a:xfrm>
            <a:off x="7571232" y="443484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569 m2</a:t>
            </a:r>
          </a:p>
        </p:txBody>
      </p:sp>
      <p:sp>
        <p:nvSpPr>
          <p:cNvPr id="162" name="Text 162"/>
          <p:cNvSpPr txBox="1"/>
          <p:nvPr/>
        </p:nvSpPr>
        <p:spPr>
          <a:xfrm>
            <a:off x="8439912" y="443484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R$ 2.146</a:t>
            </a:r>
          </a:p>
        </p:txBody>
      </p:sp>
      <p:sp>
        <p:nvSpPr>
          <p:cNvPr id="163" name="Text 163"/>
          <p:cNvSpPr txBox="1"/>
          <p:nvPr/>
        </p:nvSpPr>
        <p:spPr>
          <a:xfrm>
            <a:off x="566928" y="470916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0000.Novo Medprev Nilton Lins</a:t>
            </a:r>
          </a:p>
        </p:txBody>
      </p:sp>
      <p:sp>
        <p:nvSpPr>
          <p:cNvPr id="164" name="Text 164"/>
          <p:cNvSpPr txBox="1"/>
          <p:nvPr/>
        </p:nvSpPr>
        <p:spPr>
          <a:xfrm>
            <a:off x="4544568" y="470916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AM</a:t>
            </a:r>
          </a:p>
        </p:txBody>
      </p:sp>
      <p:sp>
        <p:nvSpPr>
          <p:cNvPr id="165" name="Text 165"/>
          <p:cNvSpPr txBox="1"/>
          <p:nvPr/>
        </p:nvSpPr>
        <p:spPr>
          <a:xfrm>
            <a:off x="4956048" y="470916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Dez/25</a:t>
            </a:r>
          </a:p>
        </p:txBody>
      </p:sp>
      <p:sp>
        <p:nvSpPr>
          <p:cNvPr id="166" name="Text 166"/>
          <p:cNvSpPr txBox="1"/>
          <p:nvPr/>
        </p:nvSpPr>
        <p:spPr>
          <a:xfrm>
            <a:off x="5577840" y="470916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67" name="Text 167"/>
          <p:cNvSpPr txBox="1"/>
          <p:nvPr/>
        </p:nvSpPr>
        <p:spPr>
          <a:xfrm>
            <a:off x="6492240" y="470916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R$ 897,1 mil</a:t>
            </a:r>
          </a:p>
        </p:txBody>
      </p:sp>
      <p:sp>
        <p:nvSpPr>
          <p:cNvPr id="168" name="Text 168"/>
          <p:cNvSpPr txBox="1"/>
          <p:nvPr/>
        </p:nvSpPr>
        <p:spPr>
          <a:xfrm>
            <a:off x="7571232" y="470916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482 m2</a:t>
            </a:r>
          </a:p>
        </p:txBody>
      </p:sp>
      <p:sp>
        <p:nvSpPr>
          <p:cNvPr id="169" name="Text 169"/>
          <p:cNvSpPr txBox="1"/>
          <p:nvPr/>
        </p:nvSpPr>
        <p:spPr>
          <a:xfrm>
            <a:off x="8439912" y="470916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R$ 1.862</a:t>
            </a:r>
          </a:p>
        </p:txBody>
      </p:sp>
      <p:sp>
        <p:nvSpPr>
          <p:cNvPr id="170" name="Text 170"/>
          <p:cNvSpPr txBox="1"/>
          <p:nvPr/>
        </p:nvSpPr>
        <p:spPr>
          <a:xfrm>
            <a:off x="566928" y="498348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4173.Novo TEA São Luís Jerônimo Albuquerque (2025)</a:t>
            </a:r>
          </a:p>
        </p:txBody>
      </p:sp>
      <p:sp>
        <p:nvSpPr>
          <p:cNvPr id="171" name="Text 171"/>
          <p:cNvSpPr txBox="1"/>
          <p:nvPr/>
        </p:nvSpPr>
        <p:spPr>
          <a:xfrm>
            <a:off x="4544568" y="498348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MA</a:t>
            </a:r>
          </a:p>
        </p:txBody>
      </p:sp>
      <p:sp>
        <p:nvSpPr>
          <p:cNvPr id="172" name="Text 172"/>
          <p:cNvSpPr txBox="1"/>
          <p:nvPr/>
        </p:nvSpPr>
        <p:spPr>
          <a:xfrm>
            <a:off x="4956048" y="498348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Dez/25</a:t>
            </a:r>
          </a:p>
        </p:txBody>
      </p:sp>
      <p:sp>
        <p:nvSpPr>
          <p:cNvPr id="173" name="Text 173"/>
          <p:cNvSpPr txBox="1"/>
          <p:nvPr/>
        </p:nvSpPr>
        <p:spPr>
          <a:xfrm>
            <a:off x="5577840" y="498348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74" name="Text 174"/>
          <p:cNvSpPr txBox="1"/>
          <p:nvPr/>
        </p:nvSpPr>
        <p:spPr>
          <a:xfrm>
            <a:off x="6492240" y="498348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R$ 676,1 mil</a:t>
            </a:r>
          </a:p>
        </p:txBody>
      </p:sp>
      <p:sp>
        <p:nvSpPr>
          <p:cNvPr id="175" name="Text 175"/>
          <p:cNvSpPr txBox="1"/>
          <p:nvPr/>
        </p:nvSpPr>
        <p:spPr>
          <a:xfrm>
            <a:off x="7571232" y="498348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374 m2</a:t>
            </a:r>
          </a:p>
        </p:txBody>
      </p:sp>
      <p:sp>
        <p:nvSpPr>
          <p:cNvPr id="176" name="Text 176"/>
          <p:cNvSpPr txBox="1"/>
          <p:nvPr/>
        </p:nvSpPr>
        <p:spPr>
          <a:xfrm>
            <a:off x="8439912" y="498348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R$ 2.016</a:t>
            </a:r>
          </a:p>
        </p:txBody>
      </p:sp>
      <p:sp>
        <p:nvSpPr>
          <p:cNvPr id="177" name="Text 177"/>
          <p:cNvSpPr txBox="1"/>
          <p:nvPr/>
        </p:nvSpPr>
        <p:spPr>
          <a:xfrm>
            <a:off x="566928" y="525780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0000.Oncologia Clínica Jaraguá do Sul</a:t>
            </a:r>
          </a:p>
        </p:txBody>
      </p:sp>
      <p:sp>
        <p:nvSpPr>
          <p:cNvPr id="178" name="Text 178"/>
          <p:cNvSpPr txBox="1"/>
          <p:nvPr/>
        </p:nvSpPr>
        <p:spPr>
          <a:xfrm>
            <a:off x="4544568" y="525780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SC</a:t>
            </a:r>
          </a:p>
        </p:txBody>
      </p:sp>
      <p:sp>
        <p:nvSpPr>
          <p:cNvPr id="179" name="Text 179"/>
          <p:cNvSpPr txBox="1"/>
          <p:nvPr/>
        </p:nvSpPr>
        <p:spPr>
          <a:xfrm>
            <a:off x="4956048" y="525780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Dez/25</a:t>
            </a:r>
          </a:p>
        </p:txBody>
      </p:sp>
      <p:sp>
        <p:nvSpPr>
          <p:cNvPr id="180" name="Text 180"/>
          <p:cNvSpPr txBox="1"/>
          <p:nvPr/>
        </p:nvSpPr>
        <p:spPr>
          <a:xfrm>
            <a:off x="5577840" y="525780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81" name="Text 181"/>
          <p:cNvSpPr txBox="1"/>
          <p:nvPr/>
        </p:nvSpPr>
        <p:spPr>
          <a:xfrm>
            <a:off x="6492240" y="525780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R$ 349,0 mil</a:t>
            </a:r>
          </a:p>
        </p:txBody>
      </p:sp>
      <p:sp>
        <p:nvSpPr>
          <p:cNvPr id="182" name="Text 182"/>
          <p:cNvSpPr txBox="1"/>
          <p:nvPr/>
        </p:nvSpPr>
        <p:spPr>
          <a:xfrm>
            <a:off x="7571232" y="52578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213 m2</a:t>
            </a:r>
          </a:p>
        </p:txBody>
      </p:sp>
      <p:sp>
        <p:nvSpPr>
          <p:cNvPr id="183" name="Text 183"/>
          <p:cNvSpPr txBox="1"/>
          <p:nvPr/>
        </p:nvSpPr>
        <p:spPr>
          <a:xfrm>
            <a:off x="8439912" y="52578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R$ 1.638</a:t>
            </a:r>
          </a:p>
        </p:txBody>
      </p:sp>
      <p:sp>
        <p:nvSpPr>
          <p:cNvPr id="184" name="Text 184"/>
          <p:cNvSpPr txBox="1"/>
          <p:nvPr/>
        </p:nvSpPr>
        <p:spPr>
          <a:xfrm>
            <a:off x="566928" y="553212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4080.Nova Coleta Zona Leste (Tatuapé)</a:t>
            </a:r>
          </a:p>
        </p:txBody>
      </p:sp>
      <p:sp>
        <p:nvSpPr>
          <p:cNvPr id="185" name="Text 185"/>
          <p:cNvSpPr txBox="1"/>
          <p:nvPr/>
        </p:nvSpPr>
        <p:spPr>
          <a:xfrm>
            <a:off x="4544568" y="553212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86" name="Text 186"/>
          <p:cNvSpPr txBox="1"/>
          <p:nvPr/>
        </p:nvSpPr>
        <p:spPr>
          <a:xfrm>
            <a:off x="4956048" y="553212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Ago/25</a:t>
            </a:r>
          </a:p>
        </p:txBody>
      </p:sp>
      <p:sp>
        <p:nvSpPr>
          <p:cNvPr id="187" name="Text 187"/>
          <p:cNvSpPr txBox="1"/>
          <p:nvPr/>
        </p:nvSpPr>
        <p:spPr>
          <a:xfrm>
            <a:off x="5577840" y="553212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88" name="Text 188"/>
          <p:cNvSpPr txBox="1"/>
          <p:nvPr/>
        </p:nvSpPr>
        <p:spPr>
          <a:xfrm>
            <a:off x="6492240" y="553212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R$ 860,8 mil</a:t>
            </a:r>
          </a:p>
        </p:txBody>
      </p:sp>
      <p:sp>
        <p:nvSpPr>
          <p:cNvPr id="189" name="Text 189"/>
          <p:cNvSpPr txBox="1"/>
          <p:nvPr/>
        </p:nvSpPr>
        <p:spPr>
          <a:xfrm>
            <a:off x="7571232" y="553212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422 m2</a:t>
            </a:r>
          </a:p>
        </p:txBody>
      </p:sp>
      <p:sp>
        <p:nvSpPr>
          <p:cNvPr id="190" name="Text 190"/>
          <p:cNvSpPr txBox="1"/>
          <p:nvPr/>
        </p:nvSpPr>
        <p:spPr>
          <a:xfrm>
            <a:off x="8439912" y="553212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R$ 2.042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Clínicas, Diagnósticos, TEA e Laboratórios | 2026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800">
                <a:solidFill>
                  <a:srgbClr val="50617F"/>
                </a:solidFill>
              </a:rPr>
              <a:t>14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66928" y="713232"/>
            <a:ext cx="7955280" cy="384048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2000" b="1">
                <a:solidFill>
                  <a:srgbClr val="15253F"/>
                </a:solidFill>
              </a:rPr>
              <a:t>Clínicas, Diagnósticos, TEA e Laboratórios | 2026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8595360" y="786384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900">
                <a:solidFill>
                  <a:srgbClr val="50617F"/>
                </a:solidFill>
              </a:rPr>
              <a:t>Pagina 1/2 da listagem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66928" y="118872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20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715768" y="1188720"/>
            <a:ext cx="1920240" cy="530352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Area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18,8 mil m2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4864608" y="1188720"/>
            <a:ext cx="1920240" cy="530352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R$ 40,2 mi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7013448" y="118872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Preco m2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R$ 2.188/m2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640080" y="193852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100" b="1">
                <a:solidFill>
                  <a:srgbClr val="253F8E"/>
                </a:solidFill>
              </a:rPr>
              <a:t>Todas as obras da pagina, sem consolidacao</a:t>
            </a:r>
          </a:p>
        </p:txBody>
      </p:sp>
      <p:sp>
        <p:nvSpPr>
          <p:cNvPr id="100" name="Text 100"/>
          <p:cNvSpPr txBox="1"/>
          <p:nvPr/>
        </p:nvSpPr>
        <p:spPr>
          <a:xfrm>
            <a:off x="566928" y="2240280"/>
            <a:ext cx="397764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Obra</a:t>
            </a:r>
          </a:p>
        </p:txBody>
      </p:sp>
      <p:sp>
        <p:nvSpPr>
          <p:cNvPr id="101" name="Text 101"/>
          <p:cNvSpPr txBox="1"/>
          <p:nvPr/>
        </p:nvSpPr>
        <p:spPr>
          <a:xfrm>
            <a:off x="4544568" y="2240280"/>
            <a:ext cx="4114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UF</a:t>
            </a:r>
          </a:p>
        </p:txBody>
      </p:sp>
      <p:sp>
        <p:nvSpPr>
          <p:cNvPr id="102" name="Text 102"/>
          <p:cNvSpPr txBox="1"/>
          <p:nvPr/>
        </p:nvSpPr>
        <p:spPr>
          <a:xfrm>
            <a:off x="4956048" y="2240280"/>
            <a:ext cx="621792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Fim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5577840" y="2240280"/>
            <a:ext cx="91440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04" name="Text 104"/>
          <p:cNvSpPr txBox="1"/>
          <p:nvPr/>
        </p:nvSpPr>
        <p:spPr>
          <a:xfrm>
            <a:off x="6492240" y="2240280"/>
            <a:ext cx="1078992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105" name="Text 105"/>
          <p:cNvSpPr txBox="1"/>
          <p:nvPr/>
        </p:nvSpPr>
        <p:spPr>
          <a:xfrm>
            <a:off x="7571232" y="2240280"/>
            <a:ext cx="8686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m2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8439912" y="2240280"/>
            <a:ext cx="8686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R$/m2</a:t>
            </a:r>
          </a:p>
        </p:txBody>
      </p:sp>
      <p:sp>
        <p:nvSpPr>
          <p:cNvPr id="107" name="Text 107"/>
          <p:cNvSpPr txBox="1"/>
          <p:nvPr/>
        </p:nvSpPr>
        <p:spPr>
          <a:xfrm>
            <a:off x="566928" y="251460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4179.Novo TEA Paulista Janga PE (2025)</a:t>
            </a:r>
          </a:p>
        </p:txBody>
      </p:sp>
      <p:sp>
        <p:nvSpPr>
          <p:cNvPr id="108" name="Text 108"/>
          <p:cNvSpPr txBox="1"/>
          <p:nvPr/>
        </p:nvSpPr>
        <p:spPr>
          <a:xfrm>
            <a:off x="4544568" y="251460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PE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4956048" y="251460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Mar/26</a:t>
            </a:r>
          </a:p>
        </p:txBody>
      </p:sp>
      <p:sp>
        <p:nvSpPr>
          <p:cNvPr id="110" name="Text 110"/>
          <p:cNvSpPr txBox="1"/>
          <p:nvPr/>
        </p:nvSpPr>
        <p:spPr>
          <a:xfrm>
            <a:off x="5577840" y="251460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6492240" y="251460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R$ 1,9 mi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7571232" y="25146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864 m2</a:t>
            </a:r>
          </a:p>
        </p:txBody>
      </p:sp>
      <p:sp>
        <p:nvSpPr>
          <p:cNvPr id="113" name="Text 113"/>
          <p:cNvSpPr txBox="1"/>
          <p:nvPr/>
        </p:nvSpPr>
        <p:spPr>
          <a:xfrm>
            <a:off x="8439912" y="25146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R$ 2.369</a:t>
            </a:r>
          </a:p>
        </p:txBody>
      </p:sp>
      <p:sp>
        <p:nvSpPr>
          <p:cNvPr id="114" name="Text 114"/>
          <p:cNvSpPr txBox="1"/>
          <p:nvPr/>
        </p:nvSpPr>
        <p:spPr>
          <a:xfrm>
            <a:off x="566928" y="278892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4178.Novo TEA João Pessoa Rui Barbosa (2025)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4544568" y="278892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PB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4956048" y="278892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Mai/26</a:t>
            </a:r>
          </a:p>
        </p:txBody>
      </p:sp>
      <p:sp>
        <p:nvSpPr>
          <p:cNvPr id="117" name="Text 117"/>
          <p:cNvSpPr txBox="1"/>
          <p:nvPr/>
        </p:nvSpPr>
        <p:spPr>
          <a:xfrm>
            <a:off x="5577840" y="278892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8" name="Text 118"/>
          <p:cNvSpPr txBox="1"/>
          <p:nvPr/>
        </p:nvSpPr>
        <p:spPr>
          <a:xfrm>
            <a:off x="6492240" y="278892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R$ 2,0 mi</a:t>
            </a:r>
          </a:p>
        </p:txBody>
      </p:sp>
      <p:sp>
        <p:nvSpPr>
          <p:cNvPr id="119" name="Text 119"/>
          <p:cNvSpPr txBox="1"/>
          <p:nvPr/>
        </p:nvSpPr>
        <p:spPr>
          <a:xfrm>
            <a:off x="7571232" y="278892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743 m2</a:t>
            </a:r>
          </a:p>
        </p:txBody>
      </p:sp>
      <p:sp>
        <p:nvSpPr>
          <p:cNvPr id="120" name="Text 120"/>
          <p:cNvSpPr txBox="1"/>
          <p:nvPr/>
        </p:nvSpPr>
        <p:spPr>
          <a:xfrm>
            <a:off x="8439912" y="278892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R$ 2.668</a:t>
            </a:r>
          </a:p>
        </p:txBody>
      </p:sp>
      <p:sp>
        <p:nvSpPr>
          <p:cNvPr id="121" name="Text 121"/>
          <p:cNvSpPr txBox="1"/>
          <p:nvPr/>
        </p:nvSpPr>
        <p:spPr>
          <a:xfrm>
            <a:off x="566928" y="306324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4198.Nova Clínica Santos Amador Bueno</a:t>
            </a:r>
          </a:p>
        </p:txBody>
      </p:sp>
      <p:sp>
        <p:nvSpPr>
          <p:cNvPr id="122" name="Text 122"/>
          <p:cNvSpPr txBox="1"/>
          <p:nvPr/>
        </p:nvSpPr>
        <p:spPr>
          <a:xfrm>
            <a:off x="4544568" y="306324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23" name="Text 123"/>
          <p:cNvSpPr txBox="1"/>
          <p:nvPr/>
        </p:nvSpPr>
        <p:spPr>
          <a:xfrm>
            <a:off x="4956048" y="306324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Mai/26</a:t>
            </a:r>
          </a:p>
        </p:txBody>
      </p:sp>
      <p:sp>
        <p:nvSpPr>
          <p:cNvPr id="124" name="Text 124"/>
          <p:cNvSpPr txBox="1"/>
          <p:nvPr/>
        </p:nvSpPr>
        <p:spPr>
          <a:xfrm>
            <a:off x="5577840" y="306324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25" name="Text 125"/>
          <p:cNvSpPr txBox="1"/>
          <p:nvPr/>
        </p:nvSpPr>
        <p:spPr>
          <a:xfrm>
            <a:off x="6492240" y="306324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R$ 1,6 mi</a:t>
            </a:r>
          </a:p>
        </p:txBody>
      </p:sp>
      <p:sp>
        <p:nvSpPr>
          <p:cNvPr id="126" name="Text 126"/>
          <p:cNvSpPr txBox="1"/>
          <p:nvPr/>
        </p:nvSpPr>
        <p:spPr>
          <a:xfrm>
            <a:off x="7571232" y="306324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792 m2</a:t>
            </a:r>
          </a:p>
        </p:txBody>
      </p:sp>
      <p:sp>
        <p:nvSpPr>
          <p:cNvPr id="127" name="Text 127"/>
          <p:cNvSpPr txBox="1"/>
          <p:nvPr/>
        </p:nvSpPr>
        <p:spPr>
          <a:xfrm>
            <a:off x="8439912" y="306324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R$ 2.007</a:t>
            </a:r>
          </a:p>
        </p:txBody>
      </p:sp>
      <p:sp>
        <p:nvSpPr>
          <p:cNvPr id="128" name="Text 128"/>
          <p:cNvSpPr txBox="1"/>
          <p:nvPr/>
        </p:nvSpPr>
        <p:spPr>
          <a:xfrm>
            <a:off x="566928" y="333756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0000.Nova Clínica Brasília Asa Norte</a:t>
            </a:r>
          </a:p>
        </p:txBody>
      </p:sp>
      <p:sp>
        <p:nvSpPr>
          <p:cNvPr id="129" name="Text 129"/>
          <p:cNvSpPr txBox="1"/>
          <p:nvPr/>
        </p:nvSpPr>
        <p:spPr>
          <a:xfrm>
            <a:off x="4544568" y="333756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DF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4956048" y="333756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Mai/26</a:t>
            </a:r>
          </a:p>
        </p:txBody>
      </p:sp>
      <p:sp>
        <p:nvSpPr>
          <p:cNvPr id="131" name="Text 131"/>
          <p:cNvSpPr txBox="1"/>
          <p:nvPr/>
        </p:nvSpPr>
        <p:spPr>
          <a:xfrm>
            <a:off x="5577840" y="333756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32" name="Text 132"/>
          <p:cNvSpPr txBox="1"/>
          <p:nvPr/>
        </p:nvSpPr>
        <p:spPr>
          <a:xfrm>
            <a:off x="6492240" y="333756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R$ 1,5 mi</a:t>
            </a:r>
          </a:p>
        </p:txBody>
      </p:sp>
      <p:sp>
        <p:nvSpPr>
          <p:cNvPr id="133" name="Text 133"/>
          <p:cNvSpPr txBox="1"/>
          <p:nvPr/>
        </p:nvSpPr>
        <p:spPr>
          <a:xfrm>
            <a:off x="7571232" y="333756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823 m2</a:t>
            </a:r>
          </a:p>
        </p:txBody>
      </p:sp>
      <p:sp>
        <p:nvSpPr>
          <p:cNvPr id="134" name="Text 134"/>
          <p:cNvSpPr txBox="1"/>
          <p:nvPr/>
        </p:nvSpPr>
        <p:spPr>
          <a:xfrm>
            <a:off x="8439912" y="333756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R$ 1.943</a:t>
            </a:r>
          </a:p>
        </p:txBody>
      </p:sp>
      <p:sp>
        <p:nvSpPr>
          <p:cNvPr id="135" name="Text 135"/>
          <p:cNvSpPr txBox="1"/>
          <p:nvPr/>
        </p:nvSpPr>
        <p:spPr>
          <a:xfrm>
            <a:off x="566928" y="361188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4187.Novo TEA São Vicente Vila Cascatinha (2025)</a:t>
            </a:r>
          </a:p>
        </p:txBody>
      </p:sp>
      <p:sp>
        <p:nvSpPr>
          <p:cNvPr id="136" name="Text 136"/>
          <p:cNvSpPr txBox="1"/>
          <p:nvPr/>
        </p:nvSpPr>
        <p:spPr>
          <a:xfrm>
            <a:off x="4544568" y="361188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37" name="Text 137"/>
          <p:cNvSpPr txBox="1"/>
          <p:nvPr/>
        </p:nvSpPr>
        <p:spPr>
          <a:xfrm>
            <a:off x="4956048" y="361188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Mai/26</a:t>
            </a:r>
          </a:p>
        </p:txBody>
      </p:sp>
      <p:sp>
        <p:nvSpPr>
          <p:cNvPr id="138" name="Text 138"/>
          <p:cNvSpPr txBox="1"/>
          <p:nvPr/>
        </p:nvSpPr>
        <p:spPr>
          <a:xfrm>
            <a:off x="5577840" y="361188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39" name="Text 139"/>
          <p:cNvSpPr txBox="1"/>
          <p:nvPr/>
        </p:nvSpPr>
        <p:spPr>
          <a:xfrm>
            <a:off x="6492240" y="361188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R$ 1,3 mi</a:t>
            </a:r>
          </a:p>
        </p:txBody>
      </p:sp>
      <p:sp>
        <p:nvSpPr>
          <p:cNvPr id="140" name="Text 140"/>
          <p:cNvSpPr txBox="1"/>
          <p:nvPr/>
        </p:nvSpPr>
        <p:spPr>
          <a:xfrm>
            <a:off x="7571232" y="361188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1,2 mil m2</a:t>
            </a:r>
          </a:p>
        </p:txBody>
      </p:sp>
      <p:sp>
        <p:nvSpPr>
          <p:cNvPr id="141" name="Text 141"/>
          <p:cNvSpPr txBox="1"/>
          <p:nvPr/>
        </p:nvSpPr>
        <p:spPr>
          <a:xfrm>
            <a:off x="8439912" y="361188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R$ 1.131</a:t>
            </a:r>
          </a:p>
        </p:txBody>
      </p:sp>
      <p:sp>
        <p:nvSpPr>
          <p:cNvPr id="142" name="Text 142"/>
          <p:cNvSpPr txBox="1"/>
          <p:nvPr/>
        </p:nvSpPr>
        <p:spPr>
          <a:xfrm>
            <a:off x="566928" y="388620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4085.Nova Coleta Zona Central Bela Cintra (Paraíso)</a:t>
            </a:r>
          </a:p>
        </p:txBody>
      </p:sp>
      <p:sp>
        <p:nvSpPr>
          <p:cNvPr id="143" name="Text 143"/>
          <p:cNvSpPr txBox="1"/>
          <p:nvPr/>
        </p:nvSpPr>
        <p:spPr>
          <a:xfrm>
            <a:off x="4544568" y="388620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44" name="Text 144"/>
          <p:cNvSpPr txBox="1"/>
          <p:nvPr/>
        </p:nvSpPr>
        <p:spPr>
          <a:xfrm>
            <a:off x="4956048" y="388620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Mai/26</a:t>
            </a:r>
          </a:p>
        </p:txBody>
      </p:sp>
      <p:sp>
        <p:nvSpPr>
          <p:cNvPr id="145" name="Text 145"/>
          <p:cNvSpPr txBox="1"/>
          <p:nvPr/>
        </p:nvSpPr>
        <p:spPr>
          <a:xfrm>
            <a:off x="5577840" y="388620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46" name="Text 146"/>
          <p:cNvSpPr txBox="1"/>
          <p:nvPr/>
        </p:nvSpPr>
        <p:spPr>
          <a:xfrm>
            <a:off x="6492240" y="388620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R$ 732,5 mil</a:t>
            </a:r>
          </a:p>
        </p:txBody>
      </p:sp>
      <p:sp>
        <p:nvSpPr>
          <p:cNvPr id="147" name="Text 147"/>
          <p:cNvSpPr txBox="1"/>
          <p:nvPr/>
        </p:nvSpPr>
        <p:spPr>
          <a:xfrm>
            <a:off x="7571232" y="388620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409 m2</a:t>
            </a:r>
          </a:p>
        </p:txBody>
      </p:sp>
      <p:sp>
        <p:nvSpPr>
          <p:cNvPr id="148" name="Text 148"/>
          <p:cNvSpPr txBox="1"/>
          <p:nvPr/>
        </p:nvSpPr>
        <p:spPr>
          <a:xfrm>
            <a:off x="8439912" y="388620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R$ 1.790</a:t>
            </a:r>
          </a:p>
        </p:txBody>
      </p:sp>
      <p:sp>
        <p:nvSpPr>
          <p:cNvPr id="149" name="Text 149"/>
          <p:cNvSpPr txBox="1"/>
          <p:nvPr/>
        </p:nvSpPr>
        <p:spPr>
          <a:xfrm>
            <a:off x="566928" y="416052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9067.Coleta Anápolis</a:t>
            </a:r>
          </a:p>
        </p:txBody>
      </p:sp>
      <p:sp>
        <p:nvSpPr>
          <p:cNvPr id="150" name="Text 150"/>
          <p:cNvSpPr txBox="1"/>
          <p:nvPr/>
        </p:nvSpPr>
        <p:spPr>
          <a:xfrm>
            <a:off x="4544568" y="416052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GO</a:t>
            </a:r>
          </a:p>
        </p:txBody>
      </p:sp>
      <p:sp>
        <p:nvSpPr>
          <p:cNvPr id="151" name="Text 151"/>
          <p:cNvSpPr txBox="1"/>
          <p:nvPr/>
        </p:nvSpPr>
        <p:spPr>
          <a:xfrm>
            <a:off x="4956048" y="416052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Jul/26</a:t>
            </a:r>
          </a:p>
        </p:txBody>
      </p:sp>
      <p:sp>
        <p:nvSpPr>
          <p:cNvPr id="152" name="Text 152"/>
          <p:cNvSpPr txBox="1"/>
          <p:nvPr/>
        </p:nvSpPr>
        <p:spPr>
          <a:xfrm>
            <a:off x="5577840" y="416052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53" name="Text 153"/>
          <p:cNvSpPr txBox="1"/>
          <p:nvPr/>
        </p:nvSpPr>
        <p:spPr>
          <a:xfrm>
            <a:off x="6492240" y="416052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R$ 370,2 mil</a:t>
            </a:r>
          </a:p>
        </p:txBody>
      </p:sp>
      <p:sp>
        <p:nvSpPr>
          <p:cNvPr id="154" name="Text 154"/>
          <p:cNvSpPr txBox="1"/>
          <p:nvPr/>
        </p:nvSpPr>
        <p:spPr>
          <a:xfrm>
            <a:off x="7571232" y="416052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288 m2</a:t>
            </a:r>
          </a:p>
        </p:txBody>
      </p:sp>
      <p:sp>
        <p:nvSpPr>
          <p:cNvPr id="155" name="Text 155"/>
          <p:cNvSpPr txBox="1"/>
          <p:nvPr/>
        </p:nvSpPr>
        <p:spPr>
          <a:xfrm>
            <a:off x="8439912" y="416052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R$ 1.355</a:t>
            </a:r>
          </a:p>
        </p:txBody>
      </p:sp>
      <p:sp>
        <p:nvSpPr>
          <p:cNvPr id="156" name="Text 156"/>
          <p:cNvSpPr txBox="1"/>
          <p:nvPr/>
        </p:nvSpPr>
        <p:spPr>
          <a:xfrm>
            <a:off x="566928" y="443484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9064.Ampliação Medprev Fortaleza</a:t>
            </a:r>
          </a:p>
        </p:txBody>
      </p:sp>
      <p:sp>
        <p:nvSpPr>
          <p:cNvPr id="157" name="Text 157"/>
          <p:cNvSpPr txBox="1"/>
          <p:nvPr/>
        </p:nvSpPr>
        <p:spPr>
          <a:xfrm>
            <a:off x="4544568" y="443484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CE</a:t>
            </a:r>
          </a:p>
        </p:txBody>
      </p:sp>
      <p:sp>
        <p:nvSpPr>
          <p:cNvPr id="158" name="Text 158"/>
          <p:cNvSpPr txBox="1"/>
          <p:nvPr/>
        </p:nvSpPr>
        <p:spPr>
          <a:xfrm>
            <a:off x="4956048" y="443484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Jul/26</a:t>
            </a:r>
          </a:p>
        </p:txBody>
      </p:sp>
      <p:sp>
        <p:nvSpPr>
          <p:cNvPr id="159" name="Text 159"/>
          <p:cNvSpPr txBox="1"/>
          <p:nvPr/>
        </p:nvSpPr>
        <p:spPr>
          <a:xfrm>
            <a:off x="5577840" y="443484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60" name="Text 160"/>
          <p:cNvSpPr txBox="1"/>
          <p:nvPr/>
        </p:nvSpPr>
        <p:spPr>
          <a:xfrm>
            <a:off x="6492240" y="443484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R$ 244,0 mil</a:t>
            </a:r>
          </a:p>
        </p:txBody>
      </p:sp>
      <p:sp>
        <p:nvSpPr>
          <p:cNvPr id="161" name="Text 161"/>
          <p:cNvSpPr txBox="1"/>
          <p:nvPr/>
        </p:nvSpPr>
        <p:spPr>
          <a:xfrm>
            <a:off x="7571232" y="443484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159 m2</a:t>
            </a:r>
          </a:p>
        </p:txBody>
      </p:sp>
      <p:sp>
        <p:nvSpPr>
          <p:cNvPr id="162" name="Text 162"/>
          <p:cNvSpPr txBox="1"/>
          <p:nvPr/>
        </p:nvSpPr>
        <p:spPr>
          <a:xfrm>
            <a:off x="8439912" y="443484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R$ 1.546</a:t>
            </a:r>
          </a:p>
        </p:txBody>
      </p:sp>
      <p:sp>
        <p:nvSpPr>
          <p:cNvPr id="163" name="Text 163"/>
          <p:cNvSpPr txBox="1"/>
          <p:nvPr/>
        </p:nvSpPr>
        <p:spPr>
          <a:xfrm>
            <a:off x="566928" y="470916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4025.Hemodiálise HS Recife (Ponte Verde)</a:t>
            </a:r>
          </a:p>
        </p:txBody>
      </p:sp>
      <p:sp>
        <p:nvSpPr>
          <p:cNvPr id="164" name="Text 164"/>
          <p:cNvSpPr txBox="1"/>
          <p:nvPr/>
        </p:nvSpPr>
        <p:spPr>
          <a:xfrm>
            <a:off x="4544568" y="470916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PE</a:t>
            </a:r>
          </a:p>
        </p:txBody>
      </p:sp>
      <p:sp>
        <p:nvSpPr>
          <p:cNvPr id="165" name="Text 165"/>
          <p:cNvSpPr txBox="1"/>
          <p:nvPr/>
        </p:nvSpPr>
        <p:spPr>
          <a:xfrm>
            <a:off x="4956048" y="470916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Jan/26</a:t>
            </a:r>
          </a:p>
        </p:txBody>
      </p:sp>
      <p:sp>
        <p:nvSpPr>
          <p:cNvPr id="166" name="Text 166"/>
          <p:cNvSpPr txBox="1"/>
          <p:nvPr/>
        </p:nvSpPr>
        <p:spPr>
          <a:xfrm>
            <a:off x="5577840" y="470916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67" name="Text 167"/>
          <p:cNvSpPr txBox="1"/>
          <p:nvPr/>
        </p:nvSpPr>
        <p:spPr>
          <a:xfrm>
            <a:off x="6492240" y="470916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R$ 6,1 mi</a:t>
            </a:r>
          </a:p>
        </p:txBody>
      </p:sp>
      <p:sp>
        <p:nvSpPr>
          <p:cNvPr id="168" name="Text 168"/>
          <p:cNvSpPr txBox="1"/>
          <p:nvPr/>
        </p:nvSpPr>
        <p:spPr>
          <a:xfrm>
            <a:off x="7571232" y="470916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2,3 mil m2</a:t>
            </a:r>
          </a:p>
        </p:txBody>
      </p:sp>
      <p:sp>
        <p:nvSpPr>
          <p:cNvPr id="169" name="Text 169"/>
          <p:cNvSpPr txBox="1"/>
          <p:nvPr/>
        </p:nvSpPr>
        <p:spPr>
          <a:xfrm>
            <a:off x="8439912" y="470916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R$ 2.733</a:t>
            </a:r>
          </a:p>
        </p:txBody>
      </p:sp>
      <p:sp>
        <p:nvSpPr>
          <p:cNvPr id="170" name="Text 170"/>
          <p:cNvSpPr txBox="1"/>
          <p:nvPr/>
        </p:nvSpPr>
        <p:spPr>
          <a:xfrm>
            <a:off x="566928" y="498348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4170.Novo Medprev Maracanaú</a:t>
            </a:r>
          </a:p>
        </p:txBody>
      </p:sp>
      <p:sp>
        <p:nvSpPr>
          <p:cNvPr id="171" name="Text 171"/>
          <p:cNvSpPr txBox="1"/>
          <p:nvPr/>
        </p:nvSpPr>
        <p:spPr>
          <a:xfrm>
            <a:off x="4544568" y="498348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CE</a:t>
            </a:r>
          </a:p>
        </p:txBody>
      </p:sp>
      <p:sp>
        <p:nvSpPr>
          <p:cNvPr id="172" name="Text 172"/>
          <p:cNvSpPr txBox="1"/>
          <p:nvPr/>
        </p:nvSpPr>
        <p:spPr>
          <a:xfrm>
            <a:off x="4956048" y="498348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Jan/26</a:t>
            </a:r>
          </a:p>
        </p:txBody>
      </p:sp>
      <p:sp>
        <p:nvSpPr>
          <p:cNvPr id="173" name="Text 173"/>
          <p:cNvSpPr txBox="1"/>
          <p:nvPr/>
        </p:nvSpPr>
        <p:spPr>
          <a:xfrm>
            <a:off x="5577840" y="498348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74" name="Text 174"/>
          <p:cNvSpPr txBox="1"/>
          <p:nvPr/>
        </p:nvSpPr>
        <p:spPr>
          <a:xfrm>
            <a:off x="6492240" y="498348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R$ 2,1 mi</a:t>
            </a:r>
          </a:p>
        </p:txBody>
      </p:sp>
      <p:sp>
        <p:nvSpPr>
          <p:cNvPr id="175" name="Text 175"/>
          <p:cNvSpPr txBox="1"/>
          <p:nvPr/>
        </p:nvSpPr>
        <p:spPr>
          <a:xfrm>
            <a:off x="7571232" y="498348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890 m2</a:t>
            </a:r>
          </a:p>
        </p:txBody>
      </p:sp>
      <p:sp>
        <p:nvSpPr>
          <p:cNvPr id="176" name="Text 176"/>
          <p:cNvSpPr txBox="1"/>
          <p:nvPr/>
        </p:nvSpPr>
        <p:spPr>
          <a:xfrm>
            <a:off x="8439912" y="498348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R$ 2.415</a:t>
            </a:r>
          </a:p>
        </p:txBody>
      </p:sp>
      <p:sp>
        <p:nvSpPr>
          <p:cNvPr id="177" name="Text 177"/>
          <p:cNvSpPr txBox="1"/>
          <p:nvPr/>
        </p:nvSpPr>
        <p:spPr>
          <a:xfrm>
            <a:off x="566928" y="525780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4189.Novo TEA Zona Leste Ermelino Matarazzo (2025)</a:t>
            </a:r>
          </a:p>
        </p:txBody>
      </p:sp>
      <p:sp>
        <p:nvSpPr>
          <p:cNvPr id="178" name="Text 178"/>
          <p:cNvSpPr txBox="1"/>
          <p:nvPr/>
        </p:nvSpPr>
        <p:spPr>
          <a:xfrm>
            <a:off x="4544568" y="525780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79" name="Text 179"/>
          <p:cNvSpPr txBox="1"/>
          <p:nvPr/>
        </p:nvSpPr>
        <p:spPr>
          <a:xfrm>
            <a:off x="4956048" y="525780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Jan/26</a:t>
            </a:r>
          </a:p>
        </p:txBody>
      </p:sp>
      <p:sp>
        <p:nvSpPr>
          <p:cNvPr id="180" name="Text 180"/>
          <p:cNvSpPr txBox="1"/>
          <p:nvPr/>
        </p:nvSpPr>
        <p:spPr>
          <a:xfrm>
            <a:off x="5577840" y="525780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81" name="Text 181"/>
          <p:cNvSpPr txBox="1"/>
          <p:nvPr/>
        </p:nvSpPr>
        <p:spPr>
          <a:xfrm>
            <a:off x="6492240" y="525780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R$ 1,3 mi</a:t>
            </a:r>
          </a:p>
        </p:txBody>
      </p:sp>
      <p:sp>
        <p:nvSpPr>
          <p:cNvPr id="182" name="Text 182"/>
          <p:cNvSpPr txBox="1"/>
          <p:nvPr/>
        </p:nvSpPr>
        <p:spPr>
          <a:xfrm>
            <a:off x="7571232" y="52578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638 m2</a:t>
            </a:r>
          </a:p>
        </p:txBody>
      </p:sp>
      <p:sp>
        <p:nvSpPr>
          <p:cNvPr id="183" name="Text 183"/>
          <p:cNvSpPr txBox="1"/>
          <p:nvPr/>
        </p:nvSpPr>
        <p:spPr>
          <a:xfrm>
            <a:off x="8439912" y="52578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R$ 2.002</a:t>
            </a:r>
          </a:p>
        </p:txBody>
      </p:sp>
      <p:sp>
        <p:nvSpPr>
          <p:cNvPr id="184" name="Text 184"/>
          <p:cNvSpPr txBox="1"/>
          <p:nvPr/>
        </p:nvSpPr>
        <p:spPr>
          <a:xfrm>
            <a:off x="566928" y="553212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4126.Clínica/Lab/Ima Zona Leste 1 Celso Garcia Nasa (SP)</a:t>
            </a:r>
          </a:p>
        </p:txBody>
      </p:sp>
      <p:sp>
        <p:nvSpPr>
          <p:cNvPr id="185" name="Text 185"/>
          <p:cNvSpPr txBox="1"/>
          <p:nvPr/>
        </p:nvSpPr>
        <p:spPr>
          <a:xfrm>
            <a:off x="4544568" y="553212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86" name="Text 186"/>
          <p:cNvSpPr txBox="1"/>
          <p:nvPr/>
        </p:nvSpPr>
        <p:spPr>
          <a:xfrm>
            <a:off x="4956048" y="553212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Fev/26</a:t>
            </a:r>
          </a:p>
        </p:txBody>
      </p:sp>
      <p:sp>
        <p:nvSpPr>
          <p:cNvPr id="187" name="Text 187"/>
          <p:cNvSpPr txBox="1"/>
          <p:nvPr/>
        </p:nvSpPr>
        <p:spPr>
          <a:xfrm>
            <a:off x="5577840" y="553212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88" name="Text 188"/>
          <p:cNvSpPr txBox="1"/>
          <p:nvPr/>
        </p:nvSpPr>
        <p:spPr>
          <a:xfrm>
            <a:off x="6492240" y="553212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R$ 5,8 mi</a:t>
            </a:r>
          </a:p>
        </p:txBody>
      </p:sp>
      <p:sp>
        <p:nvSpPr>
          <p:cNvPr id="189" name="Text 189"/>
          <p:cNvSpPr txBox="1"/>
          <p:nvPr/>
        </p:nvSpPr>
        <p:spPr>
          <a:xfrm>
            <a:off x="7571232" y="553212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3,1 mil m2</a:t>
            </a:r>
          </a:p>
        </p:txBody>
      </p:sp>
      <p:sp>
        <p:nvSpPr>
          <p:cNvPr id="190" name="Text 190"/>
          <p:cNvSpPr txBox="1"/>
          <p:nvPr/>
        </p:nvSpPr>
        <p:spPr>
          <a:xfrm>
            <a:off x="8439912" y="553212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R$ 1.968</a:t>
            </a:r>
          </a:p>
        </p:txBody>
      </p:sp>
      <p:sp>
        <p:nvSpPr>
          <p:cNvPr id="191" name="Text 191"/>
          <p:cNvSpPr txBox="1"/>
          <p:nvPr/>
        </p:nvSpPr>
        <p:spPr>
          <a:xfrm>
            <a:off x="566928" y="580644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0000.Transferência da Clínica Bauru</a:t>
            </a:r>
          </a:p>
        </p:txBody>
      </p:sp>
      <p:sp>
        <p:nvSpPr>
          <p:cNvPr id="192" name="Text 192"/>
          <p:cNvSpPr txBox="1"/>
          <p:nvPr/>
        </p:nvSpPr>
        <p:spPr>
          <a:xfrm>
            <a:off x="4544568" y="580644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93" name="Text 193"/>
          <p:cNvSpPr txBox="1"/>
          <p:nvPr/>
        </p:nvSpPr>
        <p:spPr>
          <a:xfrm>
            <a:off x="4956048" y="580644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Fev/26</a:t>
            </a:r>
          </a:p>
        </p:txBody>
      </p:sp>
      <p:sp>
        <p:nvSpPr>
          <p:cNvPr id="194" name="Text 194"/>
          <p:cNvSpPr txBox="1"/>
          <p:nvPr/>
        </p:nvSpPr>
        <p:spPr>
          <a:xfrm>
            <a:off x="5577840" y="580644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95" name="Text 195"/>
          <p:cNvSpPr txBox="1"/>
          <p:nvPr/>
        </p:nvSpPr>
        <p:spPr>
          <a:xfrm>
            <a:off x="6492240" y="580644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R$ 3,2 mi</a:t>
            </a:r>
          </a:p>
        </p:txBody>
      </p:sp>
      <p:sp>
        <p:nvSpPr>
          <p:cNvPr id="196" name="Text 196"/>
          <p:cNvSpPr txBox="1"/>
          <p:nvPr/>
        </p:nvSpPr>
        <p:spPr>
          <a:xfrm>
            <a:off x="7571232" y="580644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1,3 mil m2</a:t>
            </a:r>
          </a:p>
        </p:txBody>
      </p:sp>
      <p:sp>
        <p:nvSpPr>
          <p:cNvPr id="197" name="Text 197"/>
          <p:cNvSpPr txBox="1"/>
          <p:nvPr/>
        </p:nvSpPr>
        <p:spPr>
          <a:xfrm>
            <a:off x="8439912" y="580644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R$ 2.514</a:t>
            </a:r>
          </a:p>
        </p:txBody>
      </p:sp>
      <p:sp>
        <p:nvSpPr>
          <p:cNvPr id="198" name="Text 198"/>
          <p:cNvSpPr txBox="1"/>
          <p:nvPr/>
        </p:nvSpPr>
        <p:spPr>
          <a:xfrm>
            <a:off x="566928" y="608076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0000.Lab/Ima Zona Leste 2 Ermelino Matarazzo (SP)</a:t>
            </a:r>
          </a:p>
        </p:txBody>
      </p:sp>
      <p:sp>
        <p:nvSpPr>
          <p:cNvPr id="199" name="Text 199"/>
          <p:cNvSpPr txBox="1"/>
          <p:nvPr/>
        </p:nvSpPr>
        <p:spPr>
          <a:xfrm>
            <a:off x="4544568" y="608076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200" name="Text 200"/>
          <p:cNvSpPr txBox="1"/>
          <p:nvPr/>
        </p:nvSpPr>
        <p:spPr>
          <a:xfrm>
            <a:off x="4956048" y="608076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Fev/26</a:t>
            </a:r>
          </a:p>
        </p:txBody>
      </p:sp>
      <p:sp>
        <p:nvSpPr>
          <p:cNvPr id="201" name="Text 201"/>
          <p:cNvSpPr txBox="1"/>
          <p:nvPr/>
        </p:nvSpPr>
        <p:spPr>
          <a:xfrm>
            <a:off x="5577840" y="608076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202" name="Text 202"/>
          <p:cNvSpPr txBox="1"/>
          <p:nvPr/>
        </p:nvSpPr>
        <p:spPr>
          <a:xfrm>
            <a:off x="6492240" y="608076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R$ 3,2 mi</a:t>
            </a:r>
          </a:p>
        </p:txBody>
      </p:sp>
      <p:sp>
        <p:nvSpPr>
          <p:cNvPr id="203" name="Text 203"/>
          <p:cNvSpPr txBox="1"/>
          <p:nvPr/>
        </p:nvSpPr>
        <p:spPr>
          <a:xfrm>
            <a:off x="7571232" y="608076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936 m2</a:t>
            </a:r>
          </a:p>
        </p:txBody>
      </p:sp>
      <p:sp>
        <p:nvSpPr>
          <p:cNvPr id="204" name="Text 204"/>
          <p:cNvSpPr txBox="1"/>
          <p:nvPr/>
        </p:nvSpPr>
        <p:spPr>
          <a:xfrm>
            <a:off x="8439912" y="608076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R$ 3.404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Clínicas, Diagnósticos, TEA e Laboratórios | 2026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800">
                <a:solidFill>
                  <a:srgbClr val="50617F"/>
                </a:solidFill>
              </a:rPr>
              <a:t>15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66928" y="713232"/>
            <a:ext cx="7955280" cy="384048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2000" b="1">
                <a:solidFill>
                  <a:srgbClr val="15253F"/>
                </a:solidFill>
              </a:rPr>
              <a:t>Clínicas, Diagnósticos, TEA e Laboratórios | 2026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8595360" y="786384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900">
                <a:solidFill>
                  <a:srgbClr val="50617F"/>
                </a:solidFill>
              </a:rPr>
              <a:t>Pagina 2/2 da listagem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66928" y="118872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20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715768" y="1188720"/>
            <a:ext cx="1920240" cy="530352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Area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18,8 mil m2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4864608" y="1188720"/>
            <a:ext cx="1920240" cy="530352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R$ 40,2 mi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7013448" y="118872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Preco m2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R$ 2.188/m2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640080" y="193852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100" b="1">
                <a:solidFill>
                  <a:srgbClr val="253F8E"/>
                </a:solidFill>
              </a:rPr>
              <a:t>Todas as obras da pagina, sem consolidacao</a:t>
            </a:r>
          </a:p>
        </p:txBody>
      </p:sp>
      <p:sp>
        <p:nvSpPr>
          <p:cNvPr id="100" name="Text 100"/>
          <p:cNvSpPr txBox="1"/>
          <p:nvPr/>
        </p:nvSpPr>
        <p:spPr>
          <a:xfrm>
            <a:off x="566928" y="2240280"/>
            <a:ext cx="397764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Obra</a:t>
            </a:r>
          </a:p>
        </p:txBody>
      </p:sp>
      <p:sp>
        <p:nvSpPr>
          <p:cNvPr id="101" name="Text 101"/>
          <p:cNvSpPr txBox="1"/>
          <p:nvPr/>
        </p:nvSpPr>
        <p:spPr>
          <a:xfrm>
            <a:off x="4544568" y="2240280"/>
            <a:ext cx="4114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UF</a:t>
            </a:r>
          </a:p>
        </p:txBody>
      </p:sp>
      <p:sp>
        <p:nvSpPr>
          <p:cNvPr id="102" name="Text 102"/>
          <p:cNvSpPr txBox="1"/>
          <p:nvPr/>
        </p:nvSpPr>
        <p:spPr>
          <a:xfrm>
            <a:off x="4956048" y="2240280"/>
            <a:ext cx="621792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Fim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5577840" y="2240280"/>
            <a:ext cx="91440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04" name="Text 104"/>
          <p:cNvSpPr txBox="1"/>
          <p:nvPr/>
        </p:nvSpPr>
        <p:spPr>
          <a:xfrm>
            <a:off x="6492240" y="2240280"/>
            <a:ext cx="1078992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105" name="Text 105"/>
          <p:cNvSpPr txBox="1"/>
          <p:nvPr/>
        </p:nvSpPr>
        <p:spPr>
          <a:xfrm>
            <a:off x="7571232" y="2240280"/>
            <a:ext cx="8686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m2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8439912" y="2240280"/>
            <a:ext cx="8686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R$/m2</a:t>
            </a:r>
          </a:p>
        </p:txBody>
      </p:sp>
      <p:sp>
        <p:nvSpPr>
          <p:cNvPr id="107" name="Text 107"/>
          <p:cNvSpPr txBox="1"/>
          <p:nvPr/>
        </p:nvSpPr>
        <p:spPr>
          <a:xfrm>
            <a:off x="566928" y="251460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0000.Nova Clínica Itupeva</a:t>
            </a:r>
          </a:p>
        </p:txBody>
      </p:sp>
      <p:sp>
        <p:nvSpPr>
          <p:cNvPr id="108" name="Text 108"/>
          <p:cNvSpPr txBox="1"/>
          <p:nvPr/>
        </p:nvSpPr>
        <p:spPr>
          <a:xfrm>
            <a:off x="4544568" y="251460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4956048" y="251460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Fev/26</a:t>
            </a:r>
          </a:p>
        </p:txBody>
      </p:sp>
      <p:sp>
        <p:nvSpPr>
          <p:cNvPr id="110" name="Text 110"/>
          <p:cNvSpPr txBox="1"/>
          <p:nvPr/>
        </p:nvSpPr>
        <p:spPr>
          <a:xfrm>
            <a:off x="5577840" y="251460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6492240" y="251460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R$ 1,9 mi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7571232" y="25146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838 m2</a:t>
            </a:r>
          </a:p>
        </p:txBody>
      </p:sp>
      <p:sp>
        <p:nvSpPr>
          <p:cNvPr id="113" name="Text 113"/>
          <p:cNvSpPr txBox="1"/>
          <p:nvPr/>
        </p:nvSpPr>
        <p:spPr>
          <a:xfrm>
            <a:off x="8439912" y="25146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R$ 2.265</a:t>
            </a:r>
          </a:p>
        </p:txBody>
      </p:sp>
      <p:sp>
        <p:nvSpPr>
          <p:cNvPr id="114" name="Text 114"/>
          <p:cNvSpPr txBox="1"/>
          <p:nvPr/>
        </p:nvSpPr>
        <p:spPr>
          <a:xfrm>
            <a:off x="566928" y="278892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0000.Novo Posto de Coleta Sorocaba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4544568" y="278892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4956048" y="278892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Fev/26</a:t>
            </a:r>
          </a:p>
        </p:txBody>
      </p:sp>
      <p:sp>
        <p:nvSpPr>
          <p:cNvPr id="117" name="Text 117"/>
          <p:cNvSpPr txBox="1"/>
          <p:nvPr/>
        </p:nvSpPr>
        <p:spPr>
          <a:xfrm>
            <a:off x="5577840" y="278892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8" name="Text 118"/>
          <p:cNvSpPr txBox="1"/>
          <p:nvPr/>
        </p:nvSpPr>
        <p:spPr>
          <a:xfrm>
            <a:off x="6492240" y="278892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R$ 1,6 mi</a:t>
            </a:r>
          </a:p>
        </p:txBody>
      </p:sp>
      <p:sp>
        <p:nvSpPr>
          <p:cNvPr id="119" name="Text 119"/>
          <p:cNvSpPr txBox="1"/>
          <p:nvPr/>
        </p:nvSpPr>
        <p:spPr>
          <a:xfrm>
            <a:off x="7571232" y="278892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650 m2</a:t>
            </a:r>
          </a:p>
        </p:txBody>
      </p:sp>
      <p:sp>
        <p:nvSpPr>
          <p:cNvPr id="120" name="Text 120"/>
          <p:cNvSpPr txBox="1"/>
          <p:nvPr/>
        </p:nvSpPr>
        <p:spPr>
          <a:xfrm>
            <a:off x="8439912" y="278892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R$ 2.599</a:t>
            </a:r>
          </a:p>
        </p:txBody>
      </p:sp>
      <p:sp>
        <p:nvSpPr>
          <p:cNvPr id="121" name="Text 121"/>
          <p:cNvSpPr txBox="1"/>
          <p:nvPr/>
        </p:nvSpPr>
        <p:spPr>
          <a:xfrm>
            <a:off x="566928" y="306324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4183.Novo TEA Curitiba 2 Fanny (2025)</a:t>
            </a:r>
          </a:p>
        </p:txBody>
      </p:sp>
      <p:sp>
        <p:nvSpPr>
          <p:cNvPr id="122" name="Text 122"/>
          <p:cNvSpPr txBox="1"/>
          <p:nvPr/>
        </p:nvSpPr>
        <p:spPr>
          <a:xfrm>
            <a:off x="4544568" y="306324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PR</a:t>
            </a:r>
          </a:p>
        </p:txBody>
      </p:sp>
      <p:sp>
        <p:nvSpPr>
          <p:cNvPr id="123" name="Text 123"/>
          <p:cNvSpPr txBox="1"/>
          <p:nvPr/>
        </p:nvSpPr>
        <p:spPr>
          <a:xfrm>
            <a:off x="4956048" y="306324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Fev/26</a:t>
            </a:r>
          </a:p>
        </p:txBody>
      </p:sp>
      <p:sp>
        <p:nvSpPr>
          <p:cNvPr id="124" name="Text 124"/>
          <p:cNvSpPr txBox="1"/>
          <p:nvPr/>
        </p:nvSpPr>
        <p:spPr>
          <a:xfrm>
            <a:off x="5577840" y="306324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25" name="Text 125"/>
          <p:cNvSpPr txBox="1"/>
          <p:nvPr/>
        </p:nvSpPr>
        <p:spPr>
          <a:xfrm>
            <a:off x="6492240" y="306324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R$ 1,4 mi</a:t>
            </a:r>
          </a:p>
        </p:txBody>
      </p:sp>
      <p:sp>
        <p:nvSpPr>
          <p:cNvPr id="126" name="Text 126"/>
          <p:cNvSpPr txBox="1"/>
          <p:nvPr/>
        </p:nvSpPr>
        <p:spPr>
          <a:xfrm>
            <a:off x="7571232" y="306324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863 m2</a:t>
            </a:r>
          </a:p>
        </p:txBody>
      </p:sp>
      <p:sp>
        <p:nvSpPr>
          <p:cNvPr id="127" name="Text 127"/>
          <p:cNvSpPr txBox="1"/>
          <p:nvPr/>
        </p:nvSpPr>
        <p:spPr>
          <a:xfrm>
            <a:off x="8439912" y="306324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R$ 1.821</a:t>
            </a:r>
          </a:p>
        </p:txBody>
      </p:sp>
      <p:sp>
        <p:nvSpPr>
          <p:cNvPr id="128" name="Text 128"/>
          <p:cNvSpPr txBox="1"/>
          <p:nvPr/>
        </p:nvSpPr>
        <p:spPr>
          <a:xfrm>
            <a:off x="566928" y="333756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4189.Novo TEA Zona Leste Belém (2025) - Fase 2</a:t>
            </a:r>
          </a:p>
        </p:txBody>
      </p:sp>
      <p:sp>
        <p:nvSpPr>
          <p:cNvPr id="129" name="Text 129"/>
          <p:cNvSpPr txBox="1"/>
          <p:nvPr/>
        </p:nvSpPr>
        <p:spPr>
          <a:xfrm>
            <a:off x="4544568" y="333756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4956048" y="333756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Fev/26</a:t>
            </a:r>
          </a:p>
        </p:txBody>
      </p:sp>
      <p:sp>
        <p:nvSpPr>
          <p:cNvPr id="131" name="Text 131"/>
          <p:cNvSpPr txBox="1"/>
          <p:nvPr/>
        </p:nvSpPr>
        <p:spPr>
          <a:xfrm>
            <a:off x="5577840" y="333756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32" name="Text 132"/>
          <p:cNvSpPr txBox="1"/>
          <p:nvPr/>
        </p:nvSpPr>
        <p:spPr>
          <a:xfrm>
            <a:off x="6492240" y="333756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R$ 1,3 mi</a:t>
            </a:r>
          </a:p>
        </p:txBody>
      </p:sp>
      <p:sp>
        <p:nvSpPr>
          <p:cNvPr id="133" name="Text 133"/>
          <p:cNvSpPr txBox="1"/>
          <p:nvPr/>
        </p:nvSpPr>
        <p:spPr>
          <a:xfrm>
            <a:off x="7571232" y="333756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638 m2</a:t>
            </a:r>
          </a:p>
        </p:txBody>
      </p:sp>
      <p:sp>
        <p:nvSpPr>
          <p:cNvPr id="134" name="Text 134"/>
          <p:cNvSpPr txBox="1"/>
          <p:nvPr/>
        </p:nvSpPr>
        <p:spPr>
          <a:xfrm>
            <a:off x="8439912" y="333756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R$ 2.002</a:t>
            </a:r>
          </a:p>
        </p:txBody>
      </p:sp>
      <p:sp>
        <p:nvSpPr>
          <p:cNvPr id="135" name="Text 135"/>
          <p:cNvSpPr txBox="1"/>
          <p:nvPr/>
        </p:nvSpPr>
        <p:spPr>
          <a:xfrm>
            <a:off x="566928" y="361188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0000.Transferência TEA São José dos Campos</a:t>
            </a:r>
          </a:p>
        </p:txBody>
      </p:sp>
      <p:sp>
        <p:nvSpPr>
          <p:cNvPr id="136" name="Text 136"/>
          <p:cNvSpPr txBox="1"/>
          <p:nvPr/>
        </p:nvSpPr>
        <p:spPr>
          <a:xfrm>
            <a:off x="4544568" y="361188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37" name="Text 137"/>
          <p:cNvSpPr txBox="1"/>
          <p:nvPr/>
        </p:nvSpPr>
        <p:spPr>
          <a:xfrm>
            <a:off x="4956048" y="361188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Fev/26</a:t>
            </a:r>
          </a:p>
        </p:txBody>
      </p:sp>
      <p:sp>
        <p:nvSpPr>
          <p:cNvPr id="138" name="Text 138"/>
          <p:cNvSpPr txBox="1"/>
          <p:nvPr/>
        </p:nvSpPr>
        <p:spPr>
          <a:xfrm>
            <a:off x="5577840" y="361188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39" name="Text 139"/>
          <p:cNvSpPr txBox="1"/>
          <p:nvPr/>
        </p:nvSpPr>
        <p:spPr>
          <a:xfrm>
            <a:off x="6492240" y="361188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R$ 1,1 mi</a:t>
            </a:r>
          </a:p>
        </p:txBody>
      </p:sp>
      <p:sp>
        <p:nvSpPr>
          <p:cNvPr id="140" name="Text 140"/>
          <p:cNvSpPr txBox="1"/>
          <p:nvPr/>
        </p:nvSpPr>
        <p:spPr>
          <a:xfrm>
            <a:off x="7571232" y="361188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886 m2</a:t>
            </a:r>
          </a:p>
        </p:txBody>
      </p:sp>
      <p:sp>
        <p:nvSpPr>
          <p:cNvPr id="141" name="Text 141"/>
          <p:cNvSpPr txBox="1"/>
          <p:nvPr/>
        </p:nvSpPr>
        <p:spPr>
          <a:xfrm>
            <a:off x="8439912" y="361188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R$ 1.272</a:t>
            </a:r>
          </a:p>
        </p:txBody>
      </p:sp>
      <p:sp>
        <p:nvSpPr>
          <p:cNvPr id="142" name="Text 142"/>
          <p:cNvSpPr txBox="1"/>
          <p:nvPr/>
        </p:nvSpPr>
        <p:spPr>
          <a:xfrm>
            <a:off x="566928" y="388620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4325.Novo TEA Campina Grande (2025)</a:t>
            </a:r>
          </a:p>
        </p:txBody>
      </p:sp>
      <p:sp>
        <p:nvSpPr>
          <p:cNvPr id="143" name="Text 143"/>
          <p:cNvSpPr txBox="1"/>
          <p:nvPr/>
        </p:nvSpPr>
        <p:spPr>
          <a:xfrm>
            <a:off x="4544568" y="388620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PB</a:t>
            </a:r>
          </a:p>
        </p:txBody>
      </p:sp>
      <p:sp>
        <p:nvSpPr>
          <p:cNvPr id="144" name="Text 144"/>
          <p:cNvSpPr txBox="1"/>
          <p:nvPr/>
        </p:nvSpPr>
        <p:spPr>
          <a:xfrm>
            <a:off x="4956048" y="388620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Abr/26</a:t>
            </a:r>
          </a:p>
        </p:txBody>
      </p:sp>
      <p:sp>
        <p:nvSpPr>
          <p:cNvPr id="145" name="Text 145"/>
          <p:cNvSpPr txBox="1"/>
          <p:nvPr/>
        </p:nvSpPr>
        <p:spPr>
          <a:xfrm>
            <a:off x="5577840" y="388620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46" name="Text 146"/>
          <p:cNvSpPr txBox="1"/>
          <p:nvPr/>
        </p:nvSpPr>
        <p:spPr>
          <a:xfrm>
            <a:off x="6492240" y="388620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R$ 1,4 mi</a:t>
            </a:r>
          </a:p>
        </p:txBody>
      </p:sp>
      <p:sp>
        <p:nvSpPr>
          <p:cNvPr id="147" name="Text 147"/>
          <p:cNvSpPr txBox="1"/>
          <p:nvPr/>
        </p:nvSpPr>
        <p:spPr>
          <a:xfrm>
            <a:off x="7571232" y="388620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502 m2</a:t>
            </a:r>
          </a:p>
        </p:txBody>
      </p:sp>
      <p:sp>
        <p:nvSpPr>
          <p:cNvPr id="148" name="Text 148"/>
          <p:cNvSpPr txBox="1"/>
          <p:nvPr/>
        </p:nvSpPr>
        <p:spPr>
          <a:xfrm>
            <a:off x="8439912" y="388620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R$ 2.787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Clínicas, Diagnósticos, TEA e Laboratórios | Sem finalizacao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800">
                <a:solidFill>
                  <a:srgbClr val="50617F"/>
                </a:solidFill>
              </a:rPr>
              <a:t>16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66928" y="713232"/>
            <a:ext cx="7955280" cy="384048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2000" b="1">
                <a:solidFill>
                  <a:srgbClr val="15253F"/>
                </a:solidFill>
              </a:rPr>
              <a:t>Clínicas, Diagnósticos, TEA e Laboratórios | Sem finalizacao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8595360" y="786384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900">
                <a:solidFill>
                  <a:srgbClr val="50617F"/>
                </a:solidFill>
              </a:rPr>
              <a:t>Pagina 1/1 da listagem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66928" y="118872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715768" y="1188720"/>
            <a:ext cx="1920240" cy="530352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Area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3,7 mil m2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4864608" y="1188720"/>
            <a:ext cx="1920240" cy="530352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R$ 6,4 mi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7013448" y="118872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Preco m2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R$ 1.788/m2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640080" y="193852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100" b="1">
                <a:solidFill>
                  <a:srgbClr val="253F8E"/>
                </a:solidFill>
              </a:rPr>
              <a:t>Todas as obras da pagina, sem consolidacao</a:t>
            </a:r>
          </a:p>
        </p:txBody>
      </p:sp>
      <p:sp>
        <p:nvSpPr>
          <p:cNvPr id="100" name="Text 100"/>
          <p:cNvSpPr txBox="1"/>
          <p:nvPr/>
        </p:nvSpPr>
        <p:spPr>
          <a:xfrm>
            <a:off x="566928" y="2240280"/>
            <a:ext cx="397764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Obra</a:t>
            </a:r>
          </a:p>
        </p:txBody>
      </p:sp>
      <p:sp>
        <p:nvSpPr>
          <p:cNvPr id="101" name="Text 101"/>
          <p:cNvSpPr txBox="1"/>
          <p:nvPr/>
        </p:nvSpPr>
        <p:spPr>
          <a:xfrm>
            <a:off x="4544568" y="2240280"/>
            <a:ext cx="4114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UF</a:t>
            </a:r>
          </a:p>
        </p:txBody>
      </p:sp>
      <p:sp>
        <p:nvSpPr>
          <p:cNvPr id="102" name="Text 102"/>
          <p:cNvSpPr txBox="1"/>
          <p:nvPr/>
        </p:nvSpPr>
        <p:spPr>
          <a:xfrm>
            <a:off x="4956048" y="2240280"/>
            <a:ext cx="621792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Fim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5577840" y="2240280"/>
            <a:ext cx="91440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04" name="Text 104"/>
          <p:cNvSpPr txBox="1"/>
          <p:nvPr/>
        </p:nvSpPr>
        <p:spPr>
          <a:xfrm>
            <a:off x="6492240" y="2240280"/>
            <a:ext cx="1078992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105" name="Text 105"/>
          <p:cNvSpPr txBox="1"/>
          <p:nvPr/>
        </p:nvSpPr>
        <p:spPr>
          <a:xfrm>
            <a:off x="7571232" y="2240280"/>
            <a:ext cx="8686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m2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8439912" y="2240280"/>
            <a:ext cx="868680" cy="274320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R$/m2</a:t>
            </a:r>
          </a:p>
        </p:txBody>
      </p:sp>
      <p:sp>
        <p:nvSpPr>
          <p:cNvPr id="107" name="Text 107"/>
          <p:cNvSpPr txBox="1"/>
          <p:nvPr/>
        </p:nvSpPr>
        <p:spPr>
          <a:xfrm>
            <a:off x="566928" y="2514600"/>
            <a:ext cx="3977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4126.Clínica/Lab/Ima Zona Leste 1 Celso Garcia Nasa (SP)</a:t>
            </a:r>
          </a:p>
        </p:txBody>
      </p:sp>
      <p:sp>
        <p:nvSpPr>
          <p:cNvPr id="108" name="Text 108"/>
          <p:cNvSpPr txBox="1"/>
          <p:nvPr/>
        </p:nvSpPr>
        <p:spPr>
          <a:xfrm>
            <a:off x="4544568" y="2514600"/>
            <a:ext cx="411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4956048" y="2514600"/>
            <a:ext cx="6217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-</a:t>
            </a:r>
          </a:p>
        </p:txBody>
      </p:sp>
      <p:sp>
        <p:nvSpPr>
          <p:cNvPr id="110" name="Text 110"/>
          <p:cNvSpPr txBox="1"/>
          <p:nvPr/>
        </p:nvSpPr>
        <p:spPr>
          <a:xfrm>
            <a:off x="5577840" y="251460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Em atraso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6492240" y="2514600"/>
            <a:ext cx="10789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R$ 5,0 mi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7571232" y="25146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3,1 mil m2</a:t>
            </a:r>
          </a:p>
        </p:txBody>
      </p:sp>
      <p:sp>
        <p:nvSpPr>
          <p:cNvPr id="113" name="Text 113"/>
          <p:cNvSpPr txBox="1"/>
          <p:nvPr/>
        </p:nvSpPr>
        <p:spPr>
          <a:xfrm>
            <a:off x="8439912" y="2514600"/>
            <a:ext cx="868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R$ 1.708</a:t>
            </a:r>
          </a:p>
        </p:txBody>
      </p:sp>
      <p:sp>
        <p:nvSpPr>
          <p:cNvPr id="114" name="Text 114"/>
          <p:cNvSpPr txBox="1"/>
          <p:nvPr/>
        </p:nvSpPr>
        <p:spPr>
          <a:xfrm>
            <a:off x="566928" y="2788920"/>
            <a:ext cx="397764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0000.Novo Posto de Coleta Sorocaba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4544568" y="2788920"/>
            <a:ext cx="4114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4956048" y="2788920"/>
            <a:ext cx="6217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-</a:t>
            </a:r>
          </a:p>
        </p:txBody>
      </p:sp>
      <p:sp>
        <p:nvSpPr>
          <p:cNvPr id="117" name="Text 117"/>
          <p:cNvSpPr txBox="1"/>
          <p:nvPr/>
        </p:nvSpPr>
        <p:spPr>
          <a:xfrm>
            <a:off x="5577840" y="2788920"/>
            <a:ext cx="91440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Em atraso</a:t>
            </a:r>
          </a:p>
        </p:txBody>
      </p:sp>
      <p:sp>
        <p:nvSpPr>
          <p:cNvPr id="118" name="Text 118"/>
          <p:cNvSpPr txBox="1"/>
          <p:nvPr/>
        </p:nvSpPr>
        <p:spPr>
          <a:xfrm>
            <a:off x="6492240" y="2788920"/>
            <a:ext cx="1078992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R$ 1,4 mi</a:t>
            </a:r>
          </a:p>
        </p:txBody>
      </p:sp>
      <p:sp>
        <p:nvSpPr>
          <p:cNvPr id="119" name="Text 119"/>
          <p:cNvSpPr txBox="1"/>
          <p:nvPr/>
        </p:nvSpPr>
        <p:spPr>
          <a:xfrm>
            <a:off x="7571232" y="278892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650 m2</a:t>
            </a:r>
          </a:p>
        </p:txBody>
      </p:sp>
      <p:sp>
        <p:nvSpPr>
          <p:cNvPr id="120" name="Text 120"/>
          <p:cNvSpPr txBox="1"/>
          <p:nvPr/>
        </p:nvSpPr>
        <p:spPr>
          <a:xfrm>
            <a:off x="8439912" y="2788920"/>
            <a:ext cx="868680" cy="27432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R$ 2.170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def94a3-6d42-4c9e-8cca-d25e171edf55" xsi:nil="true"/>
    <lcf76f155ced4ddcb4097134ff3c332f xmlns="8c47632e-f6f4-466b-b0d0-588b29b5bf13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2743E72E677B5418F65344B8F9625B8" ma:contentTypeVersion="13" ma:contentTypeDescription="Create a new document." ma:contentTypeScope="" ma:versionID="9b7c6091a8065acca16dbd6d886ea45f">
  <xsd:schema xmlns:xsd="http://www.w3.org/2001/XMLSchema" xmlns:xs="http://www.w3.org/2001/XMLSchema" xmlns:p="http://schemas.microsoft.com/office/2006/metadata/properties" xmlns:ns2="8c47632e-f6f4-466b-b0d0-588b29b5bf13" xmlns:ns3="3def94a3-6d42-4c9e-8cca-d25e171edf55" targetNamespace="http://schemas.microsoft.com/office/2006/metadata/properties" ma:root="true" ma:fieldsID="17b4f5635420ce7267ce584baab8090d" ns2:_="" ns3:_="">
    <xsd:import namespace="8c47632e-f6f4-466b-b0d0-588b29b5bf13"/>
    <xsd:import namespace="3def94a3-6d42-4c9e-8cca-d25e171edf5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47632e-f6f4-466b-b0d0-588b29b5bf1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db9fa872-9146-4a37-bd18-27b38c3134d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ef94a3-6d42-4c9e-8cca-d25e171edf55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203cb831-a9f1-4d46-93c8-45b84de82d74}" ma:internalName="TaxCatchAll" ma:showField="CatchAllData" ma:web="3def94a3-6d42-4c9e-8cca-d25e171edf5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53B927B-966A-4570-8174-F4A062D91A44}">
  <ds:schemaRefs>
    <ds:schemaRef ds:uri="http://schemas.microsoft.com/office/2006/metadata/properties"/>
    <ds:schemaRef ds:uri="http://schemas.microsoft.com/office/infopath/2007/PartnerControls"/>
    <ds:schemaRef ds:uri="3def94a3-6d42-4c9e-8cca-d25e171edf55"/>
    <ds:schemaRef ds:uri="8c47632e-f6f4-466b-b0d0-588b29b5bf13"/>
  </ds:schemaRefs>
</ds:datastoreItem>
</file>

<file path=customXml/itemProps2.xml><?xml version="1.0" encoding="utf-8"?>
<ds:datastoreItem xmlns:ds="http://schemas.openxmlformats.org/officeDocument/2006/customXml" ds:itemID="{0FFE7723-B2FA-4C0D-A1FF-D7E9F08B0CE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F0405F8-7C50-46DE-AAB4-738335D97D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c47632e-f6f4-466b-b0d0-588b29b5bf13"/>
    <ds:schemaRef ds:uri="3def94a3-6d42-4c9e-8cca-d25e171edf5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440</TotalTime>
  <Words>3454</Words>
  <Application>Microsoft Office PowerPoint</Application>
  <PresentationFormat>Widescreen</PresentationFormat>
  <Paragraphs>1136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1" baseType="lpstr">
      <vt:lpstr>Aptos</vt:lpstr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Luís Machado</dc:creator>
  <cp:lastModifiedBy>THALLES DAVIDY GONDIN DA SILVEIRA</cp:lastModifiedBy>
  <cp:revision>10</cp:revision>
  <dcterms:created xsi:type="dcterms:W3CDTF">2025-01-29T18:17:09Z</dcterms:created>
  <dcterms:modified xsi:type="dcterms:W3CDTF">2026-08-17T14:44:41Z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0x01010002743E72E677B5418F65344B8F9625B8</vt:lpwstr>
  </property>
  <property fmtid="{D5CDD505-2E9C-101B-9397-08002B2CF9AE}" pid="3" name="MediaServiceImageTags">
    <vt:lpwstr/>
  </property>
  <property fmtid="{D5CDD505-2E9C-101B-9397-08002B2CF9AE}" pid="4" name="MSIP_Label_f6648805-0676-427f-8b3f-8deff0dc1a0a_Enabled">
    <vt:lpwstr>true</vt:lpwstr>
  </property>
  <property fmtid="{D5CDD505-2E9C-101B-9397-08002B2CF9AE}" pid="5" name="MSIP_Label_f6648805-0676-427f-8b3f-8deff0dc1a0a_SetDate">
    <vt:lpwstr>2026-08-17T14:39:31Z</vt:lpwstr>
  </property>
  <property fmtid="{D5CDD505-2E9C-101B-9397-08002B2CF9AE}" pid="6" name="MSIP_Label_f6648805-0676-427f-8b3f-8deff0dc1a0a_Method">
    <vt:lpwstr>Privileged</vt:lpwstr>
  </property>
  <property fmtid="{D5CDD505-2E9C-101B-9397-08002B2CF9AE}" pid="7" name="MSIP_Label_f6648805-0676-427f-8b3f-8deff0dc1a0a_Name">
    <vt:lpwstr>Público</vt:lpwstr>
  </property>
  <property fmtid="{D5CDD505-2E9C-101B-9397-08002B2CF9AE}" pid="8" name="MSIP_Label_f6648805-0676-427f-8b3f-8deff0dc1a0a_SiteId">
    <vt:lpwstr>77d68323-6f4b-460f-8aae-d32c654ec490</vt:lpwstr>
  </property>
  <property fmtid="{D5CDD505-2E9C-101B-9397-08002B2CF9AE}" pid="9" name="MSIP_Label_f6648805-0676-427f-8b3f-8deff0dc1a0a_ActionId">
    <vt:lpwstr>c24290f5-2465-4102-b1e7-8c0102632efb</vt:lpwstr>
  </property>
  <property fmtid="{D5CDD505-2E9C-101B-9397-08002B2CF9AE}" pid="10" name="MSIP_Label_f6648805-0676-427f-8b3f-8deff0dc1a0a_ContentBits">
    <vt:lpwstr>3</vt:lpwstr>
  </property>
  <property fmtid="{D5CDD505-2E9C-101B-9397-08002B2CF9AE}" pid="11" name="MSIP_Label_f6648805-0676-427f-8b3f-8deff0dc1a0a_Tag">
    <vt:lpwstr>10, 0, 1, 1</vt:lpwstr>
  </property>
  <property fmtid="{D5CDD505-2E9C-101B-9397-08002B2CF9AE}" pid="12" name="ClassificationContentMarkingFooterLocations">
    <vt:lpwstr>Tema do Office:10</vt:lpwstr>
  </property>
  <property fmtid="{D5CDD505-2E9C-101B-9397-08002B2CF9AE}" pid="13" name="ClassificationContentMarkingFooterText">
    <vt:lpwstr>PÚBLICO</vt:lpwstr>
  </property>
  <property fmtid="{D5CDD505-2E9C-101B-9397-08002B2CF9AE}" pid="14" name="ClassificationContentMarkingHeaderLocations">
    <vt:lpwstr>Tema do Office:9</vt:lpwstr>
  </property>
  <property fmtid="{D5CDD505-2E9C-101B-9397-08002B2CF9AE}" pid="15" name="ClassificationContentMarkingHeaderText">
    <vt:lpwstr>PÚBLICO</vt:lpwstr>
  </property>
</Properties>
</file>