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4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540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LLES DAVIDY GONDIN DA SILVEIRA" userId="a3416262-0fac-4856-884e-2c0d7e6e898d" providerId="ADAL" clId="{1418AD27-A7E6-4FFD-8E07-7066023A75C3}"/>
    <pc:docChg chg="custSel mod modSld modMainMaster">
      <pc:chgData name="THALLES DAVIDY GONDIN DA SILVEIRA" userId="a3416262-0fac-4856-884e-2c0d7e6e898d" providerId="ADAL" clId="{1418AD27-A7E6-4FFD-8E07-7066023A75C3}" dt="2026-08-17T17:50:40.100" v="14" actId="478"/>
      <pc:docMkLst>
        <pc:docMk/>
      </pc:docMkLst>
      <pc:sldChg chg="delSp modSp mod">
        <pc:chgData name="THALLES DAVIDY GONDIN DA SILVEIRA" userId="a3416262-0fac-4856-884e-2c0d7e6e898d" providerId="ADAL" clId="{1418AD27-A7E6-4FFD-8E07-7066023A75C3}" dt="2026-08-17T17:50:40.100" v="14" actId="478"/>
        <pc:sldMkLst>
          <pc:docMk/>
          <pc:sldMk cId="0" sldId="256"/>
        </pc:sldMkLst>
        <pc:spChg chg="mod">
          <ac:chgData name="THALLES DAVIDY GONDIN DA SILVEIRA" userId="a3416262-0fac-4856-884e-2c0d7e6e898d" providerId="ADAL" clId="{1418AD27-A7E6-4FFD-8E07-7066023A75C3}" dt="2026-08-17T17:50:17.087" v="12" actId="255"/>
          <ac:spMkLst>
            <pc:docMk/>
            <pc:sldMk cId="0" sldId="256"/>
            <ac:spMk id="8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50:17.087" v="12" actId="255"/>
          <ac:spMkLst>
            <pc:docMk/>
            <pc:sldMk cId="0" sldId="256"/>
            <ac:spMk id="9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50:17.087" v="12" actId="255"/>
          <ac:spMkLst>
            <pc:docMk/>
            <pc:sldMk cId="0" sldId="256"/>
            <ac:spMk id="9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50:17.087" v="12" actId="255"/>
          <ac:spMkLst>
            <pc:docMk/>
            <pc:sldMk cId="0" sldId="256"/>
            <ac:spMk id="10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50:17.087" v="12" actId="255"/>
          <ac:spMkLst>
            <pc:docMk/>
            <pc:sldMk cId="0" sldId="256"/>
            <ac:spMk id="11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50:17.087" v="12" actId="255"/>
          <ac:spMkLst>
            <pc:docMk/>
            <pc:sldMk cId="0" sldId="256"/>
            <ac:spMk id="11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50:17.087" v="12" actId="255"/>
          <ac:spMkLst>
            <pc:docMk/>
            <pc:sldMk cId="0" sldId="256"/>
            <ac:spMk id="11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50:17.087" v="12" actId="255"/>
          <ac:spMkLst>
            <pc:docMk/>
            <pc:sldMk cId="0" sldId="256"/>
            <ac:spMk id="13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50:17.087" v="12" actId="255"/>
          <ac:spMkLst>
            <pc:docMk/>
            <pc:sldMk cId="0" sldId="256"/>
            <ac:spMk id="14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50:17.087" v="12" actId="255"/>
          <ac:spMkLst>
            <pc:docMk/>
            <pc:sldMk cId="0" sldId="256"/>
            <ac:spMk id="149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7:50:40.100" v="14" actId="478"/>
          <ac:spMkLst>
            <pc:docMk/>
            <pc:sldMk cId="0" sldId="256"/>
            <ac:spMk id="152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7:50:40.100" v="14" actId="478"/>
          <ac:spMkLst>
            <pc:docMk/>
            <pc:sldMk cId="0" sldId="256"/>
            <ac:spMk id="153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7:50:40.100" v="14" actId="478"/>
          <ac:spMkLst>
            <pc:docMk/>
            <pc:sldMk cId="0" sldId="256"/>
            <ac:spMk id="154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7:50:40.100" v="14" actId="478"/>
          <ac:spMkLst>
            <pc:docMk/>
            <pc:sldMk cId="0" sldId="256"/>
            <ac:spMk id="155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7:50:40.100" v="14" actId="478"/>
          <ac:spMkLst>
            <pc:docMk/>
            <pc:sldMk cId="0" sldId="256"/>
            <ac:spMk id="156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7:50:40.100" v="14" actId="478"/>
          <ac:spMkLst>
            <pc:docMk/>
            <pc:sldMk cId="0" sldId="256"/>
            <ac:spMk id="157" creationId="{00000000-0000-0000-0000-000000000000}"/>
          </ac:spMkLst>
        </pc:spChg>
        <pc:spChg chg="del mod">
          <ac:chgData name="THALLES DAVIDY GONDIN DA SILVEIRA" userId="a3416262-0fac-4856-884e-2c0d7e6e898d" providerId="ADAL" clId="{1418AD27-A7E6-4FFD-8E07-7066023A75C3}" dt="2026-08-17T17:50:22.759" v="13" actId="478"/>
          <ac:spMkLst>
            <pc:docMk/>
            <pc:sldMk cId="0" sldId="256"/>
            <ac:spMk id="250" creationId="{00000000-0000-0000-0000-000000000000}"/>
          </ac:spMkLst>
        </pc:spChg>
      </pc:sldChg>
      <pc:sldChg chg="modSp mod">
        <pc:chgData name="THALLES DAVIDY GONDIN DA SILVEIRA" userId="a3416262-0fac-4856-884e-2c0d7e6e898d" providerId="ADAL" clId="{1418AD27-A7E6-4FFD-8E07-7066023A75C3}" dt="2026-08-17T17:49:48.331" v="9" actId="255"/>
        <pc:sldMkLst>
          <pc:docMk/>
          <pc:sldMk cId="0" sldId="257"/>
        </pc:sldMkLst>
        <pc:spChg chg="mod">
          <ac:chgData name="THALLES DAVIDY GONDIN DA SILVEIRA" userId="a3416262-0fac-4856-884e-2c0d7e6e898d" providerId="ADAL" clId="{1418AD27-A7E6-4FFD-8E07-7066023A75C3}" dt="2026-08-17T17:49:48.331" v="9" actId="255"/>
          <ac:spMkLst>
            <pc:docMk/>
            <pc:sldMk cId="0" sldId="257"/>
            <ac:spMk id="10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48.331" v="9" actId="255"/>
          <ac:spMkLst>
            <pc:docMk/>
            <pc:sldMk cId="0" sldId="257"/>
            <ac:spMk id="11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48.331" v="9" actId="255"/>
          <ac:spMkLst>
            <pc:docMk/>
            <pc:sldMk cId="0" sldId="257"/>
            <ac:spMk id="11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48.331" v="9" actId="255"/>
          <ac:spMkLst>
            <pc:docMk/>
            <pc:sldMk cId="0" sldId="257"/>
            <ac:spMk id="12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48.331" v="9" actId="255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48.331" v="9" actId="255"/>
          <ac:spMkLst>
            <pc:docMk/>
            <pc:sldMk cId="0" sldId="257"/>
            <ac:spMk id="12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48.331" v="9" actId="255"/>
          <ac:spMkLst>
            <pc:docMk/>
            <pc:sldMk cId="0" sldId="257"/>
            <ac:spMk id="13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48.331" v="9" actId="255"/>
          <ac:spMkLst>
            <pc:docMk/>
            <pc:sldMk cId="0" sldId="257"/>
            <ac:spMk id="13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48.331" v="9" actId="255"/>
          <ac:spMkLst>
            <pc:docMk/>
            <pc:sldMk cId="0" sldId="257"/>
            <ac:spMk id="14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48.331" v="9" actId="255"/>
          <ac:spMkLst>
            <pc:docMk/>
            <pc:sldMk cId="0" sldId="257"/>
            <ac:spMk id="142" creationId="{00000000-0000-0000-0000-000000000000}"/>
          </ac:spMkLst>
        </pc:spChg>
      </pc:sldChg>
      <pc:sldChg chg="modSp mod">
        <pc:chgData name="THALLES DAVIDY GONDIN DA SILVEIRA" userId="a3416262-0fac-4856-884e-2c0d7e6e898d" providerId="ADAL" clId="{1418AD27-A7E6-4FFD-8E07-7066023A75C3}" dt="2026-08-17T17:49:36.591" v="8" actId="255"/>
        <pc:sldMkLst>
          <pc:docMk/>
          <pc:sldMk cId="0" sldId="258"/>
        </pc:sldMkLst>
        <pc:spChg chg="mod">
          <ac:chgData name="THALLES DAVIDY GONDIN DA SILVEIRA" userId="a3416262-0fac-4856-884e-2c0d7e6e898d" providerId="ADAL" clId="{1418AD27-A7E6-4FFD-8E07-7066023A75C3}" dt="2026-08-17T17:49:36.591" v="8" actId="255"/>
          <ac:spMkLst>
            <pc:docMk/>
            <pc:sldMk cId="0" sldId="258"/>
            <ac:spMk id="10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36.591" v="8" actId="255"/>
          <ac:spMkLst>
            <pc:docMk/>
            <pc:sldMk cId="0" sldId="258"/>
            <ac:spMk id="10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36.591" v="8" actId="255"/>
          <ac:spMkLst>
            <pc:docMk/>
            <pc:sldMk cId="0" sldId="258"/>
            <ac:spMk id="10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36.591" v="8" actId="255"/>
          <ac:spMkLst>
            <pc:docMk/>
            <pc:sldMk cId="0" sldId="258"/>
            <ac:spMk id="10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36.591" v="8" actId="255"/>
          <ac:spMkLst>
            <pc:docMk/>
            <pc:sldMk cId="0" sldId="258"/>
            <ac:spMk id="10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36.591" v="8" actId="255"/>
          <ac:spMkLst>
            <pc:docMk/>
            <pc:sldMk cId="0" sldId="258"/>
            <ac:spMk id="11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36.591" v="8" actId="255"/>
          <ac:spMkLst>
            <pc:docMk/>
            <pc:sldMk cId="0" sldId="258"/>
            <ac:spMk id="11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36.591" v="8" actId="255"/>
          <ac:spMkLst>
            <pc:docMk/>
            <pc:sldMk cId="0" sldId="258"/>
            <ac:spMk id="11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36.591" v="8" actId="255"/>
          <ac:spMkLst>
            <pc:docMk/>
            <pc:sldMk cId="0" sldId="258"/>
            <ac:spMk id="11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36.591" v="8" actId="255"/>
          <ac:spMkLst>
            <pc:docMk/>
            <pc:sldMk cId="0" sldId="258"/>
            <ac:spMk id="117" creationId="{00000000-0000-0000-0000-000000000000}"/>
          </ac:spMkLst>
        </pc:spChg>
      </pc:sldChg>
      <pc:sldChg chg="modSp mod">
        <pc:chgData name="THALLES DAVIDY GONDIN DA SILVEIRA" userId="a3416262-0fac-4856-884e-2c0d7e6e898d" providerId="ADAL" clId="{1418AD27-A7E6-4FFD-8E07-7066023A75C3}" dt="2026-08-17T17:49:27.691" v="7" actId="255"/>
        <pc:sldMkLst>
          <pc:docMk/>
          <pc:sldMk cId="0" sldId="259"/>
        </pc:sldMkLst>
        <pc:spChg chg="mod">
          <ac:chgData name="THALLES DAVIDY GONDIN DA SILVEIRA" userId="a3416262-0fac-4856-884e-2c0d7e6e898d" providerId="ADAL" clId="{1418AD27-A7E6-4FFD-8E07-7066023A75C3}" dt="2026-08-17T17:49:27.691" v="7" actId="255"/>
          <ac:spMkLst>
            <pc:docMk/>
            <pc:sldMk cId="0" sldId="259"/>
            <ac:spMk id="10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27.691" v="7" actId="255"/>
          <ac:spMkLst>
            <pc:docMk/>
            <pc:sldMk cId="0" sldId="259"/>
            <ac:spMk id="10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27.691" v="7" actId="255"/>
          <ac:spMkLst>
            <pc:docMk/>
            <pc:sldMk cId="0" sldId="259"/>
            <ac:spMk id="10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27.691" v="7" actId="255"/>
          <ac:spMkLst>
            <pc:docMk/>
            <pc:sldMk cId="0" sldId="259"/>
            <ac:spMk id="11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27.691" v="7" actId="255"/>
          <ac:spMkLst>
            <pc:docMk/>
            <pc:sldMk cId="0" sldId="259"/>
            <ac:spMk id="12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27.691" v="7" actId="255"/>
          <ac:spMkLst>
            <pc:docMk/>
            <pc:sldMk cId="0" sldId="259"/>
            <ac:spMk id="13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27.691" v="7" actId="255"/>
          <ac:spMkLst>
            <pc:docMk/>
            <pc:sldMk cId="0" sldId="259"/>
            <ac:spMk id="14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27.691" v="7" actId="255"/>
          <ac:spMkLst>
            <pc:docMk/>
            <pc:sldMk cId="0" sldId="259"/>
            <ac:spMk id="15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27.691" v="7" actId="255"/>
          <ac:spMkLst>
            <pc:docMk/>
            <pc:sldMk cId="0" sldId="259"/>
            <ac:spMk id="16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27.691" v="7" actId="255"/>
          <ac:spMkLst>
            <pc:docMk/>
            <pc:sldMk cId="0" sldId="259"/>
            <ac:spMk id="163" creationId="{00000000-0000-0000-0000-000000000000}"/>
          </ac:spMkLst>
        </pc:spChg>
      </pc:sldChg>
      <pc:sldChg chg="modSp mod">
        <pc:chgData name="THALLES DAVIDY GONDIN DA SILVEIRA" userId="a3416262-0fac-4856-884e-2c0d7e6e898d" providerId="ADAL" clId="{1418AD27-A7E6-4FFD-8E07-7066023A75C3}" dt="2026-08-17T17:49:16.763" v="6" actId="255"/>
        <pc:sldMkLst>
          <pc:docMk/>
          <pc:sldMk cId="0" sldId="260"/>
        </pc:sldMkLst>
        <pc:spChg chg="mod">
          <ac:chgData name="THALLES DAVIDY GONDIN DA SILVEIRA" userId="a3416262-0fac-4856-884e-2c0d7e6e898d" providerId="ADAL" clId="{1418AD27-A7E6-4FFD-8E07-7066023A75C3}" dt="2026-08-17T17:49:16.763" v="6" actId="255"/>
          <ac:spMkLst>
            <pc:docMk/>
            <pc:sldMk cId="0" sldId="260"/>
            <ac:spMk id="10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16.763" v="6" actId="255"/>
          <ac:spMkLst>
            <pc:docMk/>
            <pc:sldMk cId="0" sldId="260"/>
            <ac:spMk id="10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16.763" v="6" actId="255"/>
          <ac:spMkLst>
            <pc:docMk/>
            <pc:sldMk cId="0" sldId="260"/>
            <ac:spMk id="13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16.763" v="6" actId="255"/>
          <ac:spMkLst>
            <pc:docMk/>
            <pc:sldMk cId="0" sldId="260"/>
            <ac:spMk id="14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16.763" v="6" actId="255"/>
          <ac:spMkLst>
            <pc:docMk/>
            <pc:sldMk cId="0" sldId="260"/>
            <ac:spMk id="14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16.763" v="6" actId="255"/>
          <ac:spMkLst>
            <pc:docMk/>
            <pc:sldMk cId="0" sldId="260"/>
            <ac:spMk id="14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16.763" v="6" actId="255"/>
          <ac:spMkLst>
            <pc:docMk/>
            <pc:sldMk cId="0" sldId="260"/>
            <ac:spMk id="15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16.763" v="6" actId="255"/>
          <ac:spMkLst>
            <pc:docMk/>
            <pc:sldMk cId="0" sldId="260"/>
            <ac:spMk id="15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16.763" v="6" actId="255"/>
          <ac:spMkLst>
            <pc:docMk/>
            <pc:sldMk cId="0" sldId="260"/>
            <ac:spMk id="15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16.763" v="6" actId="255"/>
          <ac:spMkLst>
            <pc:docMk/>
            <pc:sldMk cId="0" sldId="260"/>
            <ac:spMk id="166" creationId="{00000000-0000-0000-0000-000000000000}"/>
          </ac:spMkLst>
        </pc:spChg>
      </pc:sldChg>
      <pc:sldChg chg="modSp mod">
        <pc:chgData name="THALLES DAVIDY GONDIN DA SILVEIRA" userId="a3416262-0fac-4856-884e-2c0d7e6e898d" providerId="ADAL" clId="{1418AD27-A7E6-4FFD-8E07-7066023A75C3}" dt="2026-08-17T17:49:06.318" v="5" actId="255"/>
        <pc:sldMkLst>
          <pc:docMk/>
          <pc:sldMk cId="0" sldId="261"/>
        </pc:sldMkLst>
        <pc:spChg chg="mod">
          <ac:chgData name="THALLES DAVIDY GONDIN DA SILVEIRA" userId="a3416262-0fac-4856-884e-2c0d7e6e898d" providerId="ADAL" clId="{1418AD27-A7E6-4FFD-8E07-7066023A75C3}" dt="2026-08-17T17:48:59.534" v="4" actId="255"/>
          <ac:spMkLst>
            <pc:docMk/>
            <pc:sldMk cId="0" sldId="261"/>
            <ac:spMk id="10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8:59.534" v="4" actId="255"/>
          <ac:spMkLst>
            <pc:docMk/>
            <pc:sldMk cId="0" sldId="261"/>
            <ac:spMk id="10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8:59.534" v="4" actId="255"/>
          <ac:spMkLst>
            <pc:docMk/>
            <pc:sldMk cId="0" sldId="261"/>
            <ac:spMk id="11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8:59.534" v="4" actId="255"/>
          <ac:spMkLst>
            <pc:docMk/>
            <pc:sldMk cId="0" sldId="261"/>
            <ac:spMk id="12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8:59.534" v="4" actId="255"/>
          <ac:spMkLst>
            <pc:docMk/>
            <pc:sldMk cId="0" sldId="261"/>
            <ac:spMk id="12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8:59.534" v="4" actId="255"/>
          <ac:spMkLst>
            <pc:docMk/>
            <pc:sldMk cId="0" sldId="261"/>
            <ac:spMk id="12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8:59.534" v="4" actId="255"/>
          <ac:spMkLst>
            <pc:docMk/>
            <pc:sldMk cId="0" sldId="261"/>
            <ac:spMk id="13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8:59.534" v="4" actId="255"/>
          <ac:spMkLst>
            <pc:docMk/>
            <pc:sldMk cId="0" sldId="261"/>
            <ac:spMk id="13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8:59.534" v="4" actId="255"/>
          <ac:spMkLst>
            <pc:docMk/>
            <pc:sldMk cId="0" sldId="261"/>
            <ac:spMk id="13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8:59.534" v="4" actId="255"/>
          <ac:spMkLst>
            <pc:docMk/>
            <pc:sldMk cId="0" sldId="261"/>
            <ac:spMk id="13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06.318" v="5" actId="255"/>
          <ac:spMkLst>
            <pc:docMk/>
            <pc:sldMk cId="0" sldId="261"/>
            <ac:spMk id="14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06.318" v="5" actId="255"/>
          <ac:spMkLst>
            <pc:docMk/>
            <pc:sldMk cId="0" sldId="261"/>
            <ac:spMk id="14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06.318" v="5" actId="255"/>
          <ac:spMkLst>
            <pc:docMk/>
            <pc:sldMk cId="0" sldId="261"/>
            <ac:spMk id="14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9:06.318" v="5" actId="255"/>
          <ac:spMkLst>
            <pc:docMk/>
            <pc:sldMk cId="0" sldId="261"/>
            <ac:spMk id="143" creationId="{00000000-0000-0000-0000-000000000000}"/>
          </ac:spMkLst>
        </pc:spChg>
      </pc:sldChg>
      <pc:sldChg chg="modSp mod">
        <pc:chgData name="THALLES DAVIDY GONDIN DA SILVEIRA" userId="a3416262-0fac-4856-884e-2c0d7e6e898d" providerId="ADAL" clId="{1418AD27-A7E6-4FFD-8E07-7066023A75C3}" dt="2026-08-17T17:48:44.349" v="3" actId="255"/>
        <pc:sldMkLst>
          <pc:docMk/>
          <pc:sldMk cId="0" sldId="262"/>
        </pc:sldMkLst>
        <pc:spChg chg="mod">
          <ac:chgData name="THALLES DAVIDY GONDIN DA SILVEIRA" userId="a3416262-0fac-4856-884e-2c0d7e6e898d" providerId="ADAL" clId="{1418AD27-A7E6-4FFD-8E07-7066023A75C3}" dt="2026-08-17T17:48:44.349" v="3" actId="255"/>
          <ac:spMkLst>
            <pc:docMk/>
            <pc:sldMk cId="0" sldId="262"/>
            <ac:spMk id="10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8:44.349" v="3" actId="255"/>
          <ac:spMkLst>
            <pc:docMk/>
            <pc:sldMk cId="0" sldId="262"/>
            <ac:spMk id="11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8:44.349" v="3" actId="255"/>
          <ac:spMkLst>
            <pc:docMk/>
            <pc:sldMk cId="0" sldId="262"/>
            <ac:spMk id="11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8:44.349" v="3" actId="255"/>
          <ac:spMkLst>
            <pc:docMk/>
            <pc:sldMk cId="0" sldId="262"/>
            <ac:spMk id="12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8:44.349" v="3" actId="255"/>
          <ac:spMkLst>
            <pc:docMk/>
            <pc:sldMk cId="0" sldId="262"/>
            <ac:spMk id="12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8:44.349" v="3" actId="255"/>
          <ac:spMkLst>
            <pc:docMk/>
            <pc:sldMk cId="0" sldId="262"/>
            <ac:spMk id="13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8:44.349" v="3" actId="255"/>
          <ac:spMkLst>
            <pc:docMk/>
            <pc:sldMk cId="0" sldId="262"/>
            <ac:spMk id="14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8:44.349" v="3" actId="255"/>
          <ac:spMkLst>
            <pc:docMk/>
            <pc:sldMk cId="0" sldId="262"/>
            <ac:spMk id="15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8:44.349" v="3" actId="255"/>
          <ac:spMkLst>
            <pc:docMk/>
            <pc:sldMk cId="0" sldId="262"/>
            <ac:spMk id="16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7:48:44.349" v="3" actId="255"/>
          <ac:spMkLst>
            <pc:docMk/>
            <pc:sldMk cId="0" sldId="262"/>
            <ac:spMk id="903" creationId="{00000000-0000-0000-0000-000000000000}"/>
          </ac:spMkLst>
        </pc:spChg>
      </pc:sldChg>
      <pc:sldMasterChg chg="addSp mod">
        <pc:chgData name="THALLES DAVIDY GONDIN DA SILVEIRA" userId="a3416262-0fac-4856-884e-2c0d7e6e898d" providerId="ADAL" clId="{1418AD27-A7E6-4FFD-8E07-7066023A75C3}" dt="2026-08-17T17:43:26.647" v="0" actId="33475"/>
        <pc:sldMasterMkLst>
          <pc:docMk/>
          <pc:sldMasterMk cId="2640674209" sldId="2147483648"/>
        </pc:sldMasterMkLst>
        <pc:spChg chg="add">
          <ac:chgData name="THALLES DAVIDY GONDIN DA SILVEIRA" userId="a3416262-0fac-4856-884e-2c0d7e6e898d" providerId="ADAL" clId="{1418AD27-A7E6-4FFD-8E07-7066023A75C3}" dt="2026-08-17T17:43:26.647" v="0" actId="33475"/>
          <ac:spMkLst>
            <pc:docMk/>
            <pc:sldMasterMk cId="2640674209" sldId="2147483648"/>
            <ac:spMk id="9" creationId="{17A054E4-A749-15AB-5BD1-4A92D8C65092}"/>
          </ac:spMkLst>
        </pc:spChg>
        <pc:spChg chg="add">
          <ac:chgData name="THALLES DAVIDY GONDIN DA SILVEIRA" userId="a3416262-0fac-4856-884e-2c0d7e6e898d" providerId="ADAL" clId="{1418AD27-A7E6-4FFD-8E07-7066023A75C3}" dt="2026-08-17T17:43:26.647" v="0" actId="33475"/>
          <ac:spMkLst>
            <pc:docMk/>
            <pc:sldMasterMk cId="2640674209" sldId="2147483648"/>
            <ac:spMk id="10" creationId="{1D678470-3F12-20F8-6682-C49CC18F055E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4DD3B-A89E-4F11-BC03-A6EC2D3C3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8CF5F7-8240-46B3-9B58-189CADB89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93F4E7-616C-42E7-AA53-7D53A481B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159AAD-5FFF-4C55-AE91-74879D35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A83A00-C2AA-40AA-9898-26BFCFA98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6492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0A9920-B79B-4806-AFC3-6B18FB41E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9ECF1E-EFE2-407B-94FD-7B20AE919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098B5D-16BC-4861-8D94-245E392B6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A2E305-2544-4735-B639-40C968382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B1A35A-8DF2-47E9-A4EF-4D673FC40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057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DD76B-5BBC-4080-944A-B684B1F43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FA57D6-9D8A-49BD-891D-3FB4A4871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F831F4-C470-46E6-A682-B814BDC5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4C8576-D5A3-49FF-AF46-45B12387E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AD2232-F8D3-426A-AB8B-1A412A619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70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4686D-7C47-4E04-BCEB-3821F5701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724C2B-BFF9-4A25-BD5E-B69CCF793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E242AF-4D20-47AB-9363-BB63DB6AB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1E022C-49BB-4F66-B77E-43D227B3C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816F0F-7FA9-4D3B-9718-4996582E0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EDB9501-C461-4A0B-8450-14546430F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9727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B6E27-5D78-4A69-BDE1-0697A2DBE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E160F9-47B9-45A6-817E-2F638FF61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DA7551-F322-486F-B2CF-8AE5E12C9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6549817-B01A-4F77-B716-B7585BF09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BEC9372-1182-4A24-9C9E-1212F25FC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AA98BF5-B259-4849-B7DA-1588B00F3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779DBB3-C0AD-4FF5-B33D-8C34B09CE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D2CB255-A8B7-40B3-AA33-06D0212FF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7280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D93C1-CF34-49A8-9B7A-A49937BA4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154AD72-C7B6-443E-82B6-262FC8D07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CFE4FF-6A89-4A43-9613-A54FC4323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3BB27D8-2D61-47FA-97F8-A5073722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925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01B2DCF-DD2B-4CAF-83EA-549C9AD47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85AB182-8F1E-4950-809D-15B1CC259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13C851-F495-4E93-BFD1-B862432E1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8125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9FB66-A81D-433B-8C22-6D859CB03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39CC1A-872A-4C6F-823C-8E29BC36C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2A2822-AFE9-4C82-9881-A26FEFCF3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882C72-065F-48D0-8768-1F43AB81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38A36A-44B6-47E9-93AA-CC5E6A223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42288D-CC5B-4A49-99AC-7713E6D2F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5698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6140D-32EC-46F8-A9A5-1C6E75E40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75FC306-4FCB-4B18-B502-AE65826597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F0AC739-A323-4448-B8C4-2762F4FBB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16EFC2-DAD8-4248-8DC5-9A7834778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9E31B2-93F5-4D57-985F-B24ADB4E2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0120D-5868-489F-9D49-B0EE4194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1672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EEBDD-1DA1-4F36-8FC5-71723EF92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60F00C-D951-481E-AFE8-184ED2539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B54D75-17DA-4BEE-B769-B5A63D0EC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97AF13-AB2C-453D-BAC5-8E62BBCD2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65E0CB-E3AE-4604-B4CA-4FBFA1E20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33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BE872F-3A91-4840-97AA-4DC75728E7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410A31-7ADE-4773-A5B3-20BC696D5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40E3D7-B2B7-4538-9B3A-694017475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1CD025-AAA9-4410-9427-D5B8ADFE7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4D7061-3F4E-403C-A1DF-F6263546C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8376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2D13E89-B7E6-4FB1-A198-5BF1FDC08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22D2752-5C57-4465-BE4B-9741DF30E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D3C341-462D-4794-A7BD-062C008AB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123974-86EE-4C0F-9F68-A603C447E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C6F05E-01A6-4646-9137-21207EF986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7A054E4-A749-15AB-5BD1-4A92D8C6509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39587" y="63500"/>
            <a:ext cx="538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D678470-3F12-20F8-6682-C49CC18F055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39587" y="6642100"/>
            <a:ext cx="538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</p:spTree>
    <p:extLst>
      <p:ext uri="{BB962C8B-B14F-4D97-AF65-F5344CB8AC3E}">
        <p14:creationId xmlns:p14="http://schemas.microsoft.com/office/powerpoint/2010/main" val="2640674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Resumo executivo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1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49808"/>
            <a:ext cx="8046720" cy="40233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Obras por tipologia e ano de finalizacao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229600" y="80467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Todas as obras listadas nos slides seguintes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261872"/>
            <a:ext cx="2148840" cy="71323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100" b="1">
                <a:solidFill>
                  <a:srgbClr val="FFFFFF"/>
                </a:solidFill>
              </a:rPr>
              <a:t>108</a:t>
            </a:r>
          </a:p>
          <a:p>
            <a:pPr algn="l"/>
            <a:r>
              <a:rPr lang="pt-BR" sz="1100" b="1">
                <a:solidFill>
                  <a:srgbClr val="FFFFFF"/>
                </a:solidFill>
              </a:rPr>
              <a:t>total da planilha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898648" y="1261872"/>
            <a:ext cx="2148840" cy="71323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100" b="1">
                <a:solidFill>
                  <a:srgbClr val="FFFFFF"/>
                </a:solidFill>
              </a:rPr>
              <a:t>131,5 mil m2</a:t>
            </a:r>
          </a:p>
          <a:p>
            <a:pPr algn="l"/>
            <a:r>
              <a:rPr lang="pt-BR" sz="1100" b="1">
                <a:solidFill>
                  <a:srgbClr val="FFFFFF"/>
                </a:solidFill>
              </a:rPr>
              <a:t>area total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5230368" y="1261872"/>
            <a:ext cx="2148840" cy="71323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100" b="1">
                <a:solidFill>
                  <a:srgbClr val="FFFFFF"/>
                </a:solidFill>
              </a:rPr>
              <a:t>R$ 292,6 mi</a:t>
            </a:r>
          </a:p>
          <a:p>
            <a:pPr algn="l"/>
            <a:r>
              <a:rPr lang="pt-BR" sz="1100" b="1">
                <a:solidFill>
                  <a:srgbClr val="FFFFFF"/>
                </a:solidFill>
              </a:rPr>
              <a:t>valor negociado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562088" y="1261872"/>
            <a:ext cx="2148840" cy="71323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100" b="1">
                <a:solidFill>
                  <a:srgbClr val="FFFFFF"/>
                </a:solidFill>
              </a:rPr>
              <a:t>R$ 2.274/m2</a:t>
            </a:r>
          </a:p>
          <a:p>
            <a:pPr algn="l"/>
            <a:r>
              <a:rPr lang="pt-BR" sz="1100" b="1">
                <a:solidFill>
                  <a:srgbClr val="FFFFFF"/>
                </a:solidFill>
              </a:rPr>
              <a:t>ponderado pela area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658368" y="2331720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253F8E"/>
                </a:solidFill>
              </a:rPr>
              <a:t>Resumo por tipologia e ano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658368" y="2651760"/>
            <a:ext cx="3703320" cy="29260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Tipologia</a:t>
            </a:r>
          </a:p>
        </p:txBody>
      </p:sp>
      <p:sp>
        <p:nvSpPr>
          <p:cNvPr id="81" name="Text 81"/>
          <p:cNvSpPr txBox="1"/>
          <p:nvPr/>
        </p:nvSpPr>
        <p:spPr>
          <a:xfrm>
            <a:off x="4361688" y="2651760"/>
            <a:ext cx="685800" cy="29260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Ano</a:t>
            </a:r>
          </a:p>
        </p:txBody>
      </p:sp>
      <p:sp>
        <p:nvSpPr>
          <p:cNvPr id="82" name="Text 82"/>
          <p:cNvSpPr txBox="1"/>
          <p:nvPr/>
        </p:nvSpPr>
        <p:spPr>
          <a:xfrm>
            <a:off x="5047488" y="2651760"/>
            <a:ext cx="548640" cy="29260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83" name="Text 83"/>
          <p:cNvSpPr txBox="1"/>
          <p:nvPr/>
        </p:nvSpPr>
        <p:spPr>
          <a:xfrm>
            <a:off x="5596128" y="2651760"/>
            <a:ext cx="960120" cy="29260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84" name="Text 84"/>
          <p:cNvSpPr txBox="1"/>
          <p:nvPr/>
        </p:nvSpPr>
        <p:spPr>
          <a:xfrm>
            <a:off x="6556248" y="2651760"/>
            <a:ext cx="1097280" cy="29260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85" name="Text 85"/>
          <p:cNvSpPr txBox="1"/>
          <p:nvPr/>
        </p:nvSpPr>
        <p:spPr>
          <a:xfrm>
            <a:off x="7653528" y="2651760"/>
            <a:ext cx="868680" cy="29260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86" name="Text 86"/>
          <p:cNvSpPr txBox="1"/>
          <p:nvPr/>
        </p:nvSpPr>
        <p:spPr>
          <a:xfrm>
            <a:off x="658368" y="2944368"/>
            <a:ext cx="3703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Hospitais</a:t>
            </a:r>
          </a:p>
        </p:txBody>
      </p:sp>
      <p:sp>
        <p:nvSpPr>
          <p:cNvPr id="87" name="Text 87"/>
          <p:cNvSpPr txBox="1"/>
          <p:nvPr/>
        </p:nvSpPr>
        <p:spPr>
          <a:xfrm>
            <a:off x="4361688" y="2944368"/>
            <a:ext cx="685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2023</a:t>
            </a:r>
          </a:p>
        </p:txBody>
      </p:sp>
      <p:sp>
        <p:nvSpPr>
          <p:cNvPr id="88" name="Text 88"/>
          <p:cNvSpPr txBox="1"/>
          <p:nvPr/>
        </p:nvSpPr>
        <p:spPr>
          <a:xfrm>
            <a:off x="5047488" y="2944368"/>
            <a:ext cx="548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6</a:t>
            </a:r>
          </a:p>
        </p:txBody>
      </p:sp>
      <p:sp>
        <p:nvSpPr>
          <p:cNvPr id="89" name="Text 89"/>
          <p:cNvSpPr txBox="1"/>
          <p:nvPr/>
        </p:nvSpPr>
        <p:spPr>
          <a:xfrm>
            <a:off x="5596128" y="2944368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15,3 mil m2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6556248" y="2944368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R$ 29,7 mi</a:t>
            </a:r>
          </a:p>
        </p:txBody>
      </p:sp>
      <p:sp>
        <p:nvSpPr>
          <p:cNvPr id="91" name="Text 91"/>
          <p:cNvSpPr txBox="1"/>
          <p:nvPr/>
        </p:nvSpPr>
        <p:spPr>
          <a:xfrm>
            <a:off x="7653528" y="2944368"/>
            <a:ext cx="8686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R$ 2.009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658368" y="3236976"/>
            <a:ext cx="37033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Hospitais</a:t>
            </a:r>
          </a:p>
        </p:txBody>
      </p:sp>
      <p:sp>
        <p:nvSpPr>
          <p:cNvPr id="93" name="Text 93"/>
          <p:cNvSpPr txBox="1"/>
          <p:nvPr/>
        </p:nvSpPr>
        <p:spPr>
          <a:xfrm>
            <a:off x="4361688" y="3236976"/>
            <a:ext cx="68580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2024</a:t>
            </a:r>
          </a:p>
        </p:txBody>
      </p:sp>
      <p:sp>
        <p:nvSpPr>
          <p:cNvPr id="94" name="Text 94"/>
          <p:cNvSpPr txBox="1"/>
          <p:nvPr/>
        </p:nvSpPr>
        <p:spPr>
          <a:xfrm>
            <a:off x="5047488" y="3236976"/>
            <a:ext cx="5486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4</a:t>
            </a:r>
          </a:p>
        </p:txBody>
      </p:sp>
      <p:sp>
        <p:nvSpPr>
          <p:cNvPr id="95" name="Text 95"/>
          <p:cNvSpPr txBox="1"/>
          <p:nvPr/>
        </p:nvSpPr>
        <p:spPr>
          <a:xfrm>
            <a:off x="5596128" y="3236976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4,0 mil m2</a:t>
            </a:r>
          </a:p>
        </p:txBody>
      </p:sp>
      <p:sp>
        <p:nvSpPr>
          <p:cNvPr id="96" name="Text 96"/>
          <p:cNvSpPr txBox="1"/>
          <p:nvPr/>
        </p:nvSpPr>
        <p:spPr>
          <a:xfrm>
            <a:off x="6556248" y="3236976"/>
            <a:ext cx="10972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R$ 7,5 mi</a:t>
            </a:r>
          </a:p>
        </p:txBody>
      </p:sp>
      <p:sp>
        <p:nvSpPr>
          <p:cNvPr id="97" name="Text 97"/>
          <p:cNvSpPr txBox="1"/>
          <p:nvPr/>
        </p:nvSpPr>
        <p:spPr>
          <a:xfrm>
            <a:off x="7653528" y="3236976"/>
            <a:ext cx="8686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R$ 1.930</a:t>
            </a:r>
          </a:p>
        </p:txBody>
      </p:sp>
      <p:sp>
        <p:nvSpPr>
          <p:cNvPr id="98" name="Text 98"/>
          <p:cNvSpPr txBox="1"/>
          <p:nvPr/>
        </p:nvSpPr>
        <p:spPr>
          <a:xfrm>
            <a:off x="658368" y="3529584"/>
            <a:ext cx="3703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Hospitais</a:t>
            </a:r>
          </a:p>
        </p:txBody>
      </p:sp>
      <p:sp>
        <p:nvSpPr>
          <p:cNvPr id="99" name="Text 99"/>
          <p:cNvSpPr txBox="1"/>
          <p:nvPr/>
        </p:nvSpPr>
        <p:spPr>
          <a:xfrm>
            <a:off x="4361688" y="3529584"/>
            <a:ext cx="685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2025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047488" y="3529584"/>
            <a:ext cx="548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4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5596128" y="3529584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12,4 mil m2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6556248" y="3529584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R$ 22,7 mi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7653528" y="3529584"/>
            <a:ext cx="8686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R$ 1.874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58368" y="3822192"/>
            <a:ext cx="37033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Hospitais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4361688" y="3822192"/>
            <a:ext cx="68580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2026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5047488" y="3822192"/>
            <a:ext cx="5486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3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596128" y="3822192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11,0 mil m2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6556248" y="3822192"/>
            <a:ext cx="10972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R$ 24,2 mi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7653528" y="3822192"/>
            <a:ext cx="8686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R$ 2.207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658368" y="4114800"/>
            <a:ext cx="3703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Pronto Atendimento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4361688" y="4114800"/>
            <a:ext cx="685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2023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5047488" y="4114800"/>
            <a:ext cx="548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3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5596128" y="4114800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12,3 mil m2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6556248" y="4114800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R$ 47,6 mi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7653528" y="4114800"/>
            <a:ext cx="8686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R$ 3.985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658368" y="4407408"/>
            <a:ext cx="37033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Pronto Atendimento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4361688" y="4407408"/>
            <a:ext cx="68580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2025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5047488" y="4407408"/>
            <a:ext cx="5486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5596128" y="4407408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1,2 mil m2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6556248" y="4407408"/>
            <a:ext cx="10972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R$ 2,8 mi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7653528" y="4407408"/>
            <a:ext cx="8686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R$ 2.302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658368" y="4700016"/>
            <a:ext cx="3703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Pronto Atendimento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361688" y="4700016"/>
            <a:ext cx="685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2026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047488" y="4700016"/>
            <a:ext cx="548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5596128" y="4700016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2,5 mil m2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6556248" y="4700016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R$ 7,6 mi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7653528" y="4700016"/>
            <a:ext cx="8686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R$ 3.062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658368" y="4992624"/>
            <a:ext cx="37033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Clínicas, Diagnósticos, TEA e Laboratórios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4361688" y="4992624"/>
            <a:ext cx="68580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2023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5047488" y="4992624"/>
            <a:ext cx="5486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11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5596128" y="4992624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6,1 mil m2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556248" y="4992624"/>
            <a:ext cx="10972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R$ 12,3 mi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7653528" y="4992624"/>
            <a:ext cx="8686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R$ 2.043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658368" y="5285232"/>
            <a:ext cx="3703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Clínicas, Diagnósticos, TEA e Laboratórios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4361688" y="5285232"/>
            <a:ext cx="685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2024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5047488" y="5285232"/>
            <a:ext cx="548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13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5596128" y="5285232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3,0 mil m2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6556248" y="5285232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R$ 4,5 mi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7653528" y="5285232"/>
            <a:ext cx="8686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R$ 1.538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658368" y="5577840"/>
            <a:ext cx="37033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Clínicas, Diagnósticos, TEA e Laboratórios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4361688" y="5577840"/>
            <a:ext cx="68580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2025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5047488" y="5577840"/>
            <a:ext cx="5486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40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5596128" y="5577840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41,4 mil m2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6556248" y="5577840"/>
            <a:ext cx="10972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R$ 87,4 mi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7653528" y="5577840"/>
            <a:ext cx="8686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R$ 2.157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658368" y="5870448"/>
            <a:ext cx="3703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Clínicas, Diagnósticos, TEA e Laboratórios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4361688" y="5870448"/>
            <a:ext cx="685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2026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5047488" y="5870448"/>
            <a:ext cx="548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20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5596128" y="5870448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18,8 mil m2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6556248" y="5870448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R$ 40,2 mi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7653528" y="5870448"/>
            <a:ext cx="8686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R$ 2.188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Hospitais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2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694944"/>
            <a:ext cx="7635240" cy="3657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800" b="1">
                <a:solidFill>
                  <a:srgbClr val="15253F"/>
                </a:solidFill>
              </a:rPr>
              <a:t>Hospitais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138160" y="768096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Anos: 2023 a 2026 | Pagina 1/1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4300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42,6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4300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R$ 84,0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R$ 2.014/m2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566928" y="1755648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253F8E"/>
                </a:solidFill>
              </a:rPr>
              <a:t>Obras listadas por ano, com nomenclatura completa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02920" y="1965960"/>
            <a:ext cx="5349240" cy="292608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2023 | 6 obras | 15,3 mil m2 | R$ 29,7 mi | R$ 2.009/m2</a:t>
            </a:r>
          </a:p>
        </p:txBody>
      </p:sp>
      <p:sp>
        <p:nvSpPr>
          <p:cNvPr id="101" name="Rect 101"/>
          <p:cNvSpPr/>
          <p:nvPr/>
        </p:nvSpPr>
        <p:spPr>
          <a:xfrm>
            <a:off x="502920" y="228600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02" name="Text 102"/>
          <p:cNvSpPr txBox="1"/>
          <p:nvPr/>
        </p:nvSpPr>
        <p:spPr>
          <a:xfrm>
            <a:off x="539496" y="229514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3622.Maternidade HS Santa Martha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39496" y="244144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RJ | Fim Set/23 | Status Concluída | Valor R$ 1,3 mi | 1,3 mil m2 | R$ 1.025/m2</a:t>
            </a:r>
          </a:p>
        </p:txBody>
      </p:sp>
      <p:sp>
        <p:nvSpPr>
          <p:cNvPr id="104" name="Rect 104"/>
          <p:cNvSpPr/>
          <p:nvPr/>
        </p:nvSpPr>
        <p:spPr>
          <a:xfrm>
            <a:off x="502920" y="260604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05" name="Text 105"/>
          <p:cNvSpPr txBox="1"/>
          <p:nvPr/>
        </p:nvSpPr>
        <p:spPr>
          <a:xfrm>
            <a:off x="539496" y="261518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3131.Retrofit HB Saúde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539496" y="276148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Nov/23 | Status Concluída | Valor R$ 22,7 mi | 13,0 mil m2 | R$ 1.811/m2</a:t>
            </a:r>
          </a:p>
        </p:txBody>
      </p:sp>
      <p:sp>
        <p:nvSpPr>
          <p:cNvPr id="107" name="Rect 107"/>
          <p:cNvSpPr/>
          <p:nvPr/>
        </p:nvSpPr>
        <p:spPr>
          <a:xfrm>
            <a:off x="502920" y="292608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08" name="Text 108"/>
          <p:cNvSpPr txBox="1"/>
          <p:nvPr/>
        </p:nvSpPr>
        <p:spPr>
          <a:xfrm>
            <a:off x="539496" y="293522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9063.PS HS São Lucas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539496" y="308152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Mar/23 | Status Concluída | Valor R$ 1,4 mi | 303 m2 | R$ 4.663/m2</a:t>
            </a:r>
          </a:p>
        </p:txBody>
      </p:sp>
      <p:sp>
        <p:nvSpPr>
          <p:cNvPr id="110" name="Rect 110"/>
          <p:cNvSpPr/>
          <p:nvPr/>
        </p:nvSpPr>
        <p:spPr>
          <a:xfrm>
            <a:off x="502920" y="324612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11" name="Text 111"/>
          <p:cNvSpPr txBox="1"/>
          <p:nvPr/>
        </p:nvSpPr>
        <p:spPr>
          <a:xfrm>
            <a:off x="539496" y="325526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9082.SADT HS Santana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539496" y="340156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Jul/23 | Status Concluída | Valor R$ 3,8 mi | 496 m2 | R$ 7.850/m2</a:t>
            </a:r>
          </a:p>
        </p:txBody>
      </p:sp>
      <p:sp>
        <p:nvSpPr>
          <p:cNvPr id="113" name="Rect 113"/>
          <p:cNvSpPr/>
          <p:nvPr/>
        </p:nvSpPr>
        <p:spPr>
          <a:xfrm>
            <a:off x="502920" y="356616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14" name="Text 114"/>
          <p:cNvSpPr txBox="1"/>
          <p:nvPr/>
        </p:nvSpPr>
        <p:spPr>
          <a:xfrm>
            <a:off x="539496" y="357530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3595.Adequação Capelas HS Santa Martha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539496" y="372160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RJ | Fim Jul/23 | Status Concluída | Valor R$ 286,5 mil | 108 m2 | R$ 2.642/m2</a:t>
            </a:r>
          </a:p>
        </p:txBody>
      </p:sp>
      <p:sp>
        <p:nvSpPr>
          <p:cNvPr id="116" name="Rect 116"/>
          <p:cNvSpPr/>
          <p:nvPr/>
        </p:nvSpPr>
        <p:spPr>
          <a:xfrm>
            <a:off x="502920" y="388620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17" name="Text 117"/>
          <p:cNvSpPr txBox="1"/>
          <p:nvPr/>
        </p:nvSpPr>
        <p:spPr>
          <a:xfrm>
            <a:off x="539496" y="389534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3616.Adequação Capelas HS Salvalus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539496" y="404164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Jul/23 | Status Concluída | Valor R$ 215,1 mil | 81 m2 | R$ 2.650/m2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502920" y="4206240"/>
            <a:ext cx="5349240" cy="292608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2024 | 4 obras | 4,0 mil m2 | R$ 7,5 mi | R$ 1.930/m2</a:t>
            </a:r>
          </a:p>
        </p:txBody>
      </p:sp>
      <p:sp>
        <p:nvSpPr>
          <p:cNvPr id="120" name="Rect 120"/>
          <p:cNvSpPr/>
          <p:nvPr/>
        </p:nvSpPr>
        <p:spPr>
          <a:xfrm>
            <a:off x="502920" y="452628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21" name="Text 121"/>
          <p:cNvSpPr txBox="1"/>
          <p:nvPr/>
        </p:nvSpPr>
        <p:spPr>
          <a:xfrm>
            <a:off x="539496" y="453542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3523.Maternidade e Laboratório HS Humaniza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539496" y="468172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RS | Fim Nov/24 | Status Concluída | Valor R$ 3,8 mi | 2,3 mil m2 | R$ 1.706/m2</a:t>
            </a:r>
          </a:p>
        </p:txBody>
      </p:sp>
      <p:sp>
        <p:nvSpPr>
          <p:cNvPr id="123" name="Rect 123"/>
          <p:cNvSpPr/>
          <p:nvPr/>
        </p:nvSpPr>
        <p:spPr>
          <a:xfrm>
            <a:off x="502920" y="484632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24" name="Text 124"/>
          <p:cNvSpPr txBox="1"/>
          <p:nvPr/>
        </p:nvSpPr>
        <p:spPr>
          <a:xfrm>
            <a:off x="539496" y="485546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3639.Retrofit Maternidade HS São Lucas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539496" y="500176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Mai/24 | Status Concluída | Valor R$ 830,0 mil | 406 m2 | R$ 2.042/m2</a:t>
            </a:r>
          </a:p>
        </p:txBody>
      </p:sp>
      <p:sp>
        <p:nvSpPr>
          <p:cNvPr id="126" name="Rect 126"/>
          <p:cNvSpPr/>
          <p:nvPr/>
        </p:nvSpPr>
        <p:spPr>
          <a:xfrm>
            <a:off x="502920" y="516636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27" name="Text 127"/>
          <p:cNvSpPr txBox="1"/>
          <p:nvPr/>
        </p:nvSpPr>
        <p:spPr>
          <a:xfrm>
            <a:off x="539496" y="517550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3539.Retrofit Maternidade HS Santana (Mogi das Cruzes)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539496" y="532180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Jun/24 | Status Concluída | Valor R$ 2,5 mi | 942 m2 | R$ 2.637/m2</a:t>
            </a:r>
          </a:p>
        </p:txBody>
      </p:sp>
      <p:sp>
        <p:nvSpPr>
          <p:cNvPr id="129" name="Rect 129"/>
          <p:cNvSpPr/>
          <p:nvPr/>
        </p:nvSpPr>
        <p:spPr>
          <a:xfrm>
            <a:off x="502920" y="548640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30" name="Text 130"/>
          <p:cNvSpPr txBox="1"/>
          <p:nvPr/>
        </p:nvSpPr>
        <p:spPr>
          <a:xfrm>
            <a:off x="539496" y="549554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3438.Nova Psiquiatria HS Ana Lima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539496" y="564184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CE | Fim Jul/24 | Status Concluída | Valor R$ 379,0 mil | 298 m2 | R$ 1.271/m2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199632" y="1965960"/>
            <a:ext cx="5349240" cy="292608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2025 | 4 obras | 12,4 mil m2 | R$ 22,7 mi | R$ 1.874/m2</a:t>
            </a:r>
          </a:p>
        </p:txBody>
      </p:sp>
      <p:sp>
        <p:nvSpPr>
          <p:cNvPr id="133" name="Rect 133"/>
          <p:cNvSpPr/>
          <p:nvPr/>
        </p:nvSpPr>
        <p:spPr>
          <a:xfrm>
            <a:off x="6199632" y="228600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34" name="Text 134"/>
          <p:cNvSpPr txBox="1"/>
          <p:nvPr/>
        </p:nvSpPr>
        <p:spPr>
          <a:xfrm>
            <a:off x="6236208" y="229514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4065.Reabertura HS Analia Franco (2ª fase)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6236208" y="244144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Jan/25 | Status Concluída | Valor R$ 6,5 mi | 6,2 mil m2 | R$ 1.064/m2</a:t>
            </a:r>
          </a:p>
        </p:txBody>
      </p:sp>
      <p:sp>
        <p:nvSpPr>
          <p:cNvPr id="136" name="Rect 136"/>
          <p:cNvSpPr/>
          <p:nvPr/>
        </p:nvSpPr>
        <p:spPr>
          <a:xfrm>
            <a:off x="6199632" y="260604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37" name="Text 137"/>
          <p:cNvSpPr txBox="1"/>
          <p:nvPr/>
        </p:nvSpPr>
        <p:spPr>
          <a:xfrm>
            <a:off x="6236208" y="261518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0000.Ampliação de Leitos HS Santa Maria (CE) - UTI (Virose)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6236208" y="276148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CE | Fim Dez/25 | Status Concluída | Valor R$ 1,3 mi | 709 m2 | R$ 1.797/m2</a:t>
            </a:r>
          </a:p>
        </p:txBody>
      </p:sp>
      <p:sp>
        <p:nvSpPr>
          <p:cNvPr id="139" name="Rect 139"/>
          <p:cNvSpPr/>
          <p:nvPr/>
        </p:nvSpPr>
        <p:spPr>
          <a:xfrm>
            <a:off x="6199632" y="292608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40" name="Text 140"/>
          <p:cNvSpPr txBox="1"/>
          <p:nvPr/>
        </p:nvSpPr>
        <p:spPr>
          <a:xfrm>
            <a:off x="6236208" y="293522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0000.Ampliação de Leitos HS Santa Maria (CE) - Enfermaria (Virose)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6236208" y="308152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CE | Fim Dez/25 | Status Concluída | Valor R$ 427,8 mil | 447 m2 | R$ 1.067/m2</a:t>
            </a:r>
          </a:p>
        </p:txBody>
      </p:sp>
      <p:sp>
        <p:nvSpPr>
          <p:cNvPr id="142" name="Rect 142"/>
          <p:cNvSpPr/>
          <p:nvPr/>
        </p:nvSpPr>
        <p:spPr>
          <a:xfrm>
            <a:off x="6199632" y="324612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43" name="Text 143"/>
          <p:cNvSpPr txBox="1"/>
          <p:nvPr/>
        </p:nvSpPr>
        <p:spPr>
          <a:xfrm>
            <a:off x="6236208" y="325526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4032.Reabertura do HS Layr Maia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6236208" y="340156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PA | Fim Abr/25 | Status Concluída | Valor R$ 14,5 mi | 5,1 mil m2 | R$ 2.943/m2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6199632" y="3566160"/>
            <a:ext cx="5349240" cy="292608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2026 | 3 obras | 11,0 mil m2 | R$ 24,2 mi | R$ 2.207/m2</a:t>
            </a:r>
          </a:p>
        </p:txBody>
      </p:sp>
      <p:sp>
        <p:nvSpPr>
          <p:cNvPr id="146" name="Rect 146"/>
          <p:cNvSpPr/>
          <p:nvPr/>
        </p:nvSpPr>
        <p:spPr>
          <a:xfrm>
            <a:off x="6199632" y="388620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47" name="Text 147"/>
          <p:cNvSpPr txBox="1"/>
          <p:nvPr/>
        </p:nvSpPr>
        <p:spPr>
          <a:xfrm>
            <a:off x="6236208" y="389534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0000.Transformação PA em Hospital UASA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6236208" y="404164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Mar/26 | Status Concluída | Valor R$ 23,2 mi | 10,4 mil m2 | R$ 2.234/m2</a:t>
            </a:r>
          </a:p>
        </p:txBody>
      </p:sp>
      <p:sp>
        <p:nvSpPr>
          <p:cNvPr id="149" name="Rect 149"/>
          <p:cNvSpPr/>
          <p:nvPr/>
        </p:nvSpPr>
        <p:spPr>
          <a:xfrm>
            <a:off x="6199632" y="420624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50" name="Text 150"/>
          <p:cNvSpPr txBox="1"/>
          <p:nvPr/>
        </p:nvSpPr>
        <p:spPr>
          <a:xfrm>
            <a:off x="6236208" y="421538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0000.Ampliação de Leitos HS Nossa Senhora do Rosário (SP) (Virose)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6236208" y="436168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Abr/26 | Status Concluída | Valor R$ 598,6 mil | 362 m2 | R$ 1.655/m2</a:t>
            </a:r>
          </a:p>
        </p:txBody>
      </p:sp>
      <p:sp>
        <p:nvSpPr>
          <p:cNvPr id="152" name="Rect 152"/>
          <p:cNvSpPr/>
          <p:nvPr/>
        </p:nvSpPr>
        <p:spPr>
          <a:xfrm>
            <a:off x="6199632" y="452628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53" name="Text 153"/>
          <p:cNvSpPr txBox="1"/>
          <p:nvPr/>
        </p:nvSpPr>
        <p:spPr>
          <a:xfrm>
            <a:off x="6236208" y="453542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0000.Ampliação de Leitos HS Santana (SP) (Virose)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6236208" y="468172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Abr/26 | Status Concluída | Valor R$ 426,7 mil | 231 m2 | R$ 1.846/m2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Pronto Atendimento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3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694944"/>
            <a:ext cx="7635240" cy="3657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800" b="1">
                <a:solidFill>
                  <a:srgbClr val="15253F"/>
                </a:solidFill>
              </a:rPr>
              <a:t>Pronto Atendimento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138160" y="768096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Anos: 2023, 2025, 2026 | Pagina 1/1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4300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15,9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4300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R$ 57,9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R$ 3.715/m2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566928" y="1755648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253F8E"/>
                </a:solidFill>
              </a:rPr>
              <a:t>Obras listadas por ano, com nomenclatura completa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02920" y="1965960"/>
            <a:ext cx="5349240" cy="292608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2023 | 3 obras | 12,3 mil m2 | R$ 47,6 mi | R$ 3.985/m2</a:t>
            </a:r>
          </a:p>
        </p:txBody>
      </p:sp>
      <p:sp>
        <p:nvSpPr>
          <p:cNvPr id="101" name="Rect 101"/>
          <p:cNvSpPr/>
          <p:nvPr/>
        </p:nvSpPr>
        <p:spPr>
          <a:xfrm>
            <a:off x="502920" y="228600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02" name="Text 102"/>
          <p:cNvSpPr txBox="1"/>
          <p:nvPr/>
        </p:nvSpPr>
        <p:spPr>
          <a:xfrm>
            <a:off x="539496" y="229514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9012.PA Lifecenter Contagem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39496" y="244144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MG | Fim Mar/23 | Status Concluída | Valor R$ 21,9 mi | 5,5 mil m2 | R$ 3.996/m2</a:t>
            </a:r>
          </a:p>
        </p:txBody>
      </p:sp>
      <p:sp>
        <p:nvSpPr>
          <p:cNvPr id="104" name="Rect 104"/>
          <p:cNvSpPr/>
          <p:nvPr/>
        </p:nvSpPr>
        <p:spPr>
          <a:xfrm>
            <a:off x="502920" y="260604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05" name="Text 105"/>
          <p:cNvSpPr txBox="1"/>
          <p:nvPr/>
        </p:nvSpPr>
        <p:spPr>
          <a:xfrm>
            <a:off x="539496" y="261518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2013.HC Santa Efigênia (Contorno) - 2ª fase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539496" y="276148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MG | Fim Mai/23 | Status Concluída | Valor R$ 14,7 mi | 3,7 mil m2 | R$ 3.995/m2</a:t>
            </a:r>
          </a:p>
        </p:txBody>
      </p:sp>
      <p:sp>
        <p:nvSpPr>
          <p:cNvPr id="107" name="Rect 107"/>
          <p:cNvSpPr/>
          <p:nvPr/>
        </p:nvSpPr>
        <p:spPr>
          <a:xfrm>
            <a:off x="502920" y="292608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08" name="Text 108"/>
          <p:cNvSpPr txBox="1"/>
          <p:nvPr/>
        </p:nvSpPr>
        <p:spPr>
          <a:xfrm>
            <a:off x="539496" y="293522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9040.Novo PA Venda Nova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539496" y="308152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MG | Fim Jun/23 | Status Concluída | Valor R$ 11,0 mi | 3,0 mil m2 | R$ 3.953/m2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02920" y="3246120"/>
            <a:ext cx="5349240" cy="292608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2025 | 1 obras | 1,2 mil m2 | R$ 2,8 mi | R$ 2.302/m2</a:t>
            </a:r>
          </a:p>
        </p:txBody>
      </p:sp>
      <p:sp>
        <p:nvSpPr>
          <p:cNvPr id="111" name="Rect 111"/>
          <p:cNvSpPr/>
          <p:nvPr/>
        </p:nvSpPr>
        <p:spPr>
          <a:xfrm>
            <a:off x="502920" y="356616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12" name="Text 112"/>
          <p:cNvSpPr txBox="1"/>
          <p:nvPr/>
        </p:nvSpPr>
        <p:spPr>
          <a:xfrm>
            <a:off x="539496" y="357530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3593.Adequação PA Pediátrico HS América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539496" y="372160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GO | Fim Jan/25 | Status Concluída | Valor R$ 2,8 mi | 1,2 mil m2 | R$ 2.302/m2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02920" y="3886200"/>
            <a:ext cx="5349240" cy="292608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2026 | 1 obras | 2,5 mil m2 | R$ 7,6 mi | R$ 3.062/m2</a:t>
            </a:r>
          </a:p>
        </p:txBody>
      </p:sp>
      <p:sp>
        <p:nvSpPr>
          <p:cNvPr id="115" name="Rect 115"/>
          <p:cNvSpPr/>
          <p:nvPr/>
        </p:nvSpPr>
        <p:spPr>
          <a:xfrm>
            <a:off x="502920" y="420624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16" name="Text 116"/>
          <p:cNvSpPr txBox="1"/>
          <p:nvPr/>
        </p:nvSpPr>
        <p:spPr>
          <a:xfrm>
            <a:off x="539496" y="421538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0000.Pronto Atendimento Penha (RJ)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539496" y="436168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RJ | Fim Fev/26 | Status Concluída | Valor R$ 7,6 mi | 2,5 mil m2 | R$ 3.062/m2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Clínicas, Diagnósticos, TEA e Laboratórios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4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694944"/>
            <a:ext cx="7635240" cy="3657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800" b="1">
                <a:solidFill>
                  <a:srgbClr val="15253F"/>
                </a:solidFill>
              </a:rPr>
              <a:t>Clínicas, Diagnósticos, TEA e Laboratórios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138160" y="768096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Anos: 2023 a 2024 | Pagina 1/4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4300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9,1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4300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R$ 16,8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R$ 1.876/m2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566928" y="1755648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253F8E"/>
                </a:solidFill>
              </a:rPr>
              <a:t>Obras listadas por ano, com nomenclatura completa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02920" y="1965960"/>
            <a:ext cx="5349240" cy="292608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2023 | 11 obras | 6,1 mil m2 | R$ 12,3 mi | R$ 2.043/m2</a:t>
            </a:r>
          </a:p>
        </p:txBody>
      </p:sp>
      <p:sp>
        <p:nvSpPr>
          <p:cNvPr id="101" name="Rect 101"/>
          <p:cNvSpPr/>
          <p:nvPr/>
        </p:nvSpPr>
        <p:spPr>
          <a:xfrm>
            <a:off x="502920" y="228600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02" name="Text 102"/>
          <p:cNvSpPr txBox="1"/>
          <p:nvPr/>
        </p:nvSpPr>
        <p:spPr>
          <a:xfrm>
            <a:off x="539496" y="229514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1397.Substituição HC Pituba 2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39496" y="244144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BA | Fim Mar/23 | Status Concluída | Valor R$ 3,1 mi | 1,6 mil m2 | R$ 1.950/m2</a:t>
            </a:r>
          </a:p>
        </p:txBody>
      </p:sp>
      <p:sp>
        <p:nvSpPr>
          <p:cNvPr id="104" name="Rect 104"/>
          <p:cNvSpPr/>
          <p:nvPr/>
        </p:nvSpPr>
        <p:spPr>
          <a:xfrm>
            <a:off x="502920" y="260604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05" name="Text 105"/>
          <p:cNvSpPr txBox="1"/>
          <p:nvPr/>
        </p:nvSpPr>
        <p:spPr>
          <a:xfrm>
            <a:off x="539496" y="261518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3291.TEA Fortaleza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539496" y="276148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CE | Fim Mai/23 | Status Concluída | Valor R$ 717,4 mil | 609 m2 | R$ 1.178/m2</a:t>
            </a:r>
          </a:p>
        </p:txBody>
      </p:sp>
      <p:sp>
        <p:nvSpPr>
          <p:cNvPr id="107" name="Rect 107"/>
          <p:cNvSpPr/>
          <p:nvPr/>
        </p:nvSpPr>
        <p:spPr>
          <a:xfrm>
            <a:off x="502920" y="292608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08" name="Text 108"/>
          <p:cNvSpPr txBox="1"/>
          <p:nvPr/>
        </p:nvSpPr>
        <p:spPr>
          <a:xfrm>
            <a:off x="539496" y="293522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3288.TEA Maceió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539496" y="308152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AL | Fim Jun/23 | Status Concluída | Valor R$ 278,3 mil | 217 m2 | R$ 1.280/m2</a:t>
            </a:r>
          </a:p>
        </p:txBody>
      </p:sp>
      <p:sp>
        <p:nvSpPr>
          <p:cNvPr id="110" name="Rect 110"/>
          <p:cNvSpPr/>
          <p:nvPr/>
        </p:nvSpPr>
        <p:spPr>
          <a:xfrm>
            <a:off x="502920" y="324612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11" name="Text 111"/>
          <p:cNvSpPr txBox="1"/>
          <p:nvPr/>
        </p:nvSpPr>
        <p:spPr>
          <a:xfrm>
            <a:off x="539496" y="325526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3568.TEA Santo André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539496" y="340156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Jul/23 | Status Concluída | Valor R$ 2,8 mi | 967 m2 | R$ 2.904/m2</a:t>
            </a:r>
          </a:p>
        </p:txBody>
      </p:sp>
      <p:sp>
        <p:nvSpPr>
          <p:cNvPr id="113" name="Rect 113"/>
          <p:cNvSpPr/>
          <p:nvPr/>
        </p:nvSpPr>
        <p:spPr>
          <a:xfrm>
            <a:off x="502920" y="356616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14" name="Text 114"/>
          <p:cNvSpPr txBox="1"/>
          <p:nvPr/>
        </p:nvSpPr>
        <p:spPr>
          <a:xfrm>
            <a:off x="539496" y="357530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3034.Transferência HC Piracicaba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539496" y="372160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Jul/23 | Status Concluída | Valor R$ 2,6 mi | 1,2 mil m2 | R$ 2.089/m2</a:t>
            </a:r>
          </a:p>
        </p:txBody>
      </p:sp>
      <p:sp>
        <p:nvSpPr>
          <p:cNvPr id="116" name="Rect 116"/>
          <p:cNvSpPr/>
          <p:nvPr/>
        </p:nvSpPr>
        <p:spPr>
          <a:xfrm>
            <a:off x="502920" y="388620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17" name="Text 117"/>
          <p:cNvSpPr txBox="1"/>
          <p:nvPr/>
        </p:nvSpPr>
        <p:spPr>
          <a:xfrm>
            <a:off x="539496" y="389534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3569.TEA Arujá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539496" y="404164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Jul/23 | Status Concluída | Valor R$ 1,5 mi | 495 m2 | R$ 3.025/m2</a:t>
            </a:r>
          </a:p>
        </p:txBody>
      </p:sp>
      <p:sp>
        <p:nvSpPr>
          <p:cNvPr id="119" name="Rect 119"/>
          <p:cNvSpPr/>
          <p:nvPr/>
        </p:nvSpPr>
        <p:spPr>
          <a:xfrm>
            <a:off x="502920" y="420624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20" name="Text 120"/>
          <p:cNvSpPr txBox="1"/>
          <p:nvPr/>
        </p:nvSpPr>
        <p:spPr>
          <a:xfrm>
            <a:off x="539496" y="421538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3579.Adequação Capelas CC Mercês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39496" y="436168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PR | Fim Jul/23 | Status Concluída | Valor R$ 201,0 mil | 55 m2 | R$ 3.678/m2</a:t>
            </a:r>
          </a:p>
        </p:txBody>
      </p:sp>
      <p:sp>
        <p:nvSpPr>
          <p:cNvPr id="122" name="Rect 122"/>
          <p:cNvSpPr/>
          <p:nvPr/>
        </p:nvSpPr>
        <p:spPr>
          <a:xfrm>
            <a:off x="502920" y="452628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23" name="Text 123"/>
          <p:cNvSpPr txBox="1"/>
          <p:nvPr/>
        </p:nvSpPr>
        <p:spPr>
          <a:xfrm>
            <a:off x="539496" y="453542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3227.TEA HC Bucarein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39496" y="468172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SC | Fim Jan/23 | Status Concluída | Valor R$ 283,5 mil | 133 m2 | R$ 2.133/m2</a:t>
            </a:r>
          </a:p>
        </p:txBody>
      </p:sp>
      <p:sp>
        <p:nvSpPr>
          <p:cNvPr id="125" name="Rect 125"/>
          <p:cNvSpPr/>
          <p:nvPr/>
        </p:nvSpPr>
        <p:spPr>
          <a:xfrm>
            <a:off x="502920" y="484632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26" name="Text 126"/>
          <p:cNvSpPr txBox="1"/>
          <p:nvPr/>
        </p:nvSpPr>
        <p:spPr>
          <a:xfrm>
            <a:off x="539496" y="485546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3287.TEA HS Celina Guimarães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539496" y="500176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RN | Fim Fev/23 | Status Concluída | Valor R$ 363,9 mil | 289 m2 | R$ 1.259/m2</a:t>
            </a:r>
          </a:p>
        </p:txBody>
      </p:sp>
      <p:sp>
        <p:nvSpPr>
          <p:cNvPr id="128" name="Rect 128"/>
          <p:cNvSpPr/>
          <p:nvPr/>
        </p:nvSpPr>
        <p:spPr>
          <a:xfrm>
            <a:off x="502920" y="516636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29" name="Text 129"/>
          <p:cNvSpPr txBox="1"/>
          <p:nvPr/>
        </p:nvSpPr>
        <p:spPr>
          <a:xfrm>
            <a:off x="539496" y="517550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3236.Nova Coleta Campina Grande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539496" y="532180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PB | Fim Fev/23 | Status Concluída | Valor R$ 179,4 mil | 163 m2 | R$ 1.100/m2</a:t>
            </a:r>
          </a:p>
        </p:txBody>
      </p:sp>
      <p:sp>
        <p:nvSpPr>
          <p:cNvPr id="131" name="Rect 131"/>
          <p:cNvSpPr/>
          <p:nvPr/>
        </p:nvSpPr>
        <p:spPr>
          <a:xfrm>
            <a:off x="502920" y="548640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32" name="Text 132"/>
          <p:cNvSpPr txBox="1"/>
          <p:nvPr/>
        </p:nvSpPr>
        <p:spPr>
          <a:xfrm>
            <a:off x="539496" y="549554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3545.TEA Taboão da Serra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539496" y="564184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Ago/23 | Status Concluída | Valor R$ 305,7 mil | 274 m2 | R$ 1.116/m2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6199632" y="1965960"/>
            <a:ext cx="5349240" cy="292608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2024 | 13 obras | 3,0 mil m2 | R$ 4,5 mi | R$ 1.538/m2</a:t>
            </a:r>
          </a:p>
        </p:txBody>
      </p:sp>
      <p:sp>
        <p:nvSpPr>
          <p:cNvPr id="135" name="Rect 135"/>
          <p:cNvSpPr/>
          <p:nvPr/>
        </p:nvSpPr>
        <p:spPr>
          <a:xfrm>
            <a:off x="6199632" y="228600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36" name="Text 136"/>
          <p:cNvSpPr txBox="1"/>
          <p:nvPr/>
        </p:nvSpPr>
        <p:spPr>
          <a:xfrm>
            <a:off x="6236208" y="229514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3895.Novo TEA Belém (2024)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6236208" y="244144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PA | Fim Set/24 | Status Concluída | Valor R$ 602,6 mil | 381 m2 | R$ 1.626/m2</a:t>
            </a:r>
          </a:p>
        </p:txBody>
      </p:sp>
      <p:sp>
        <p:nvSpPr>
          <p:cNvPr id="138" name="Rect 138"/>
          <p:cNvSpPr/>
          <p:nvPr/>
        </p:nvSpPr>
        <p:spPr>
          <a:xfrm>
            <a:off x="6199632" y="260604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39" name="Text 139"/>
          <p:cNvSpPr txBox="1"/>
          <p:nvPr/>
        </p:nvSpPr>
        <p:spPr>
          <a:xfrm>
            <a:off x="6236208" y="261518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3915.Novo TEA Zona Sul SP (2024)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6236208" y="276148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Set/24 | Status Concluída | Valor R$ 259,3 mil | 143 m2 | R$ 1.830/m2</a:t>
            </a:r>
          </a:p>
        </p:txBody>
      </p:sp>
      <p:sp>
        <p:nvSpPr>
          <p:cNvPr id="141" name="Rect 141"/>
          <p:cNvSpPr/>
          <p:nvPr/>
        </p:nvSpPr>
        <p:spPr>
          <a:xfrm>
            <a:off x="6199632" y="292608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42" name="Text 142"/>
          <p:cNvSpPr txBox="1"/>
          <p:nvPr/>
        </p:nvSpPr>
        <p:spPr>
          <a:xfrm>
            <a:off x="6236208" y="293522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3904.Novo TEA Campina Grande (2024)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6236208" y="308152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PB | Fim Out/24 | Status Concluída | Valor R$ 431,4 mil | 409 m2 | R$ 1.054/m2</a:t>
            </a:r>
          </a:p>
        </p:txBody>
      </p:sp>
      <p:sp>
        <p:nvSpPr>
          <p:cNvPr id="144" name="Rect 144"/>
          <p:cNvSpPr/>
          <p:nvPr/>
        </p:nvSpPr>
        <p:spPr>
          <a:xfrm>
            <a:off x="6199632" y="324612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45" name="Text 145"/>
          <p:cNvSpPr txBox="1"/>
          <p:nvPr/>
        </p:nvSpPr>
        <p:spPr>
          <a:xfrm>
            <a:off x="6236208" y="325526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3759.TEA Manaus (STO Centro Médico)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6236208" y="340156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AM | Fim Mar/24 | Status Concluída | Valor R$ 270,0 mil | 199 m2 | R$ 1.359/m2</a:t>
            </a:r>
          </a:p>
        </p:txBody>
      </p:sp>
      <p:sp>
        <p:nvSpPr>
          <p:cNvPr id="147" name="Rect 147"/>
          <p:cNvSpPr/>
          <p:nvPr/>
        </p:nvSpPr>
        <p:spPr>
          <a:xfrm>
            <a:off x="6199632" y="356616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48" name="Text 148"/>
          <p:cNvSpPr txBox="1"/>
          <p:nvPr/>
        </p:nvSpPr>
        <p:spPr>
          <a:xfrm>
            <a:off x="6236208" y="357530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3919.Novo TEA Santo André (2024)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6236208" y="372160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Jun/24 | Status Concluída | Valor R$ 101,4 mil | 53 m2 | R$ 1.929/m2</a:t>
            </a:r>
          </a:p>
        </p:txBody>
      </p:sp>
      <p:sp>
        <p:nvSpPr>
          <p:cNvPr id="150" name="Rect 150"/>
          <p:cNvSpPr/>
          <p:nvPr/>
        </p:nvSpPr>
        <p:spPr>
          <a:xfrm>
            <a:off x="6199632" y="388620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51" name="Text 151"/>
          <p:cNvSpPr txBox="1"/>
          <p:nvPr/>
        </p:nvSpPr>
        <p:spPr>
          <a:xfrm>
            <a:off x="6236208" y="389534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3774.Novo TEA Maracanaú (2024)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6236208" y="404164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CE | Fim Jul/24 | Status Concluída | Valor R$ 537,8 mil | 171 m2 | R$ 3.581/m2</a:t>
            </a:r>
          </a:p>
        </p:txBody>
      </p:sp>
      <p:sp>
        <p:nvSpPr>
          <p:cNvPr id="153" name="Rect 153"/>
          <p:cNvSpPr/>
          <p:nvPr/>
        </p:nvSpPr>
        <p:spPr>
          <a:xfrm>
            <a:off x="6199632" y="420624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54" name="Text 154"/>
          <p:cNvSpPr txBox="1"/>
          <p:nvPr/>
        </p:nvSpPr>
        <p:spPr>
          <a:xfrm>
            <a:off x="6236208" y="421538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3900.Novo TEA Mossoró (2024)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6236208" y="436168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RN | Fim Jul/24 | Status Concluída | Valor R$ 537,5 mil | 283 m2 | R$ 1.922/m2</a:t>
            </a:r>
          </a:p>
        </p:txBody>
      </p:sp>
      <p:sp>
        <p:nvSpPr>
          <p:cNvPr id="156" name="Rect 156"/>
          <p:cNvSpPr/>
          <p:nvPr/>
        </p:nvSpPr>
        <p:spPr>
          <a:xfrm>
            <a:off x="6199632" y="452628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57" name="Text 157"/>
          <p:cNvSpPr txBox="1"/>
          <p:nvPr/>
        </p:nvSpPr>
        <p:spPr>
          <a:xfrm>
            <a:off x="6236208" y="453542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3924.Novo TEA Guarulhos (2024)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6236208" y="468172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Jul/24 | Status Concluída | Valor R$ 441,4 mil | 346 m2 | R$ 1.276/m2</a:t>
            </a:r>
          </a:p>
        </p:txBody>
      </p:sp>
      <p:sp>
        <p:nvSpPr>
          <p:cNvPr id="159" name="Rect 159"/>
          <p:cNvSpPr/>
          <p:nvPr/>
        </p:nvSpPr>
        <p:spPr>
          <a:xfrm>
            <a:off x="6199632" y="484632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60" name="Text 160"/>
          <p:cNvSpPr txBox="1"/>
          <p:nvPr/>
        </p:nvSpPr>
        <p:spPr>
          <a:xfrm>
            <a:off x="6236208" y="485546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3914.Novo TEA Ferraz (2024)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6236208" y="500176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Jul/24 | Status Concluída | Valor R$ 145,2 mil | 106 m2 | R$ 1.426/m2</a:t>
            </a:r>
          </a:p>
        </p:txBody>
      </p:sp>
      <p:sp>
        <p:nvSpPr>
          <p:cNvPr id="162" name="Rect 162"/>
          <p:cNvSpPr/>
          <p:nvPr/>
        </p:nvSpPr>
        <p:spPr>
          <a:xfrm>
            <a:off x="6199632" y="516636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63" name="Text 163"/>
          <p:cNvSpPr txBox="1"/>
          <p:nvPr/>
        </p:nvSpPr>
        <p:spPr>
          <a:xfrm>
            <a:off x="6236208" y="517550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3713.TEA Guarulhos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6236208" y="532180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Jan/24 | Status Concluída | Valor R$ 338,6 mil | 270 m2 | R$ 1.254/m2</a:t>
            </a:r>
          </a:p>
        </p:txBody>
      </p:sp>
      <p:sp>
        <p:nvSpPr>
          <p:cNvPr id="165" name="Rect 165"/>
          <p:cNvSpPr/>
          <p:nvPr/>
        </p:nvSpPr>
        <p:spPr>
          <a:xfrm>
            <a:off x="6199632" y="548640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66" name="Text 166"/>
          <p:cNvSpPr txBox="1"/>
          <p:nvPr/>
        </p:nvSpPr>
        <p:spPr>
          <a:xfrm>
            <a:off x="6236208" y="549554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3716.TEA Mogi das Cruzes 2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6236208" y="564184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Jan/24 | Status Concluída | Valor R$ 262,6 mil | 258 m2 | R$ 1.018/m2</a:t>
            </a:r>
          </a:p>
        </p:txBody>
      </p:sp>
      <p:sp>
        <p:nvSpPr>
          <p:cNvPr id="168" name="Rect 168"/>
          <p:cNvSpPr/>
          <p:nvPr/>
        </p:nvSpPr>
        <p:spPr>
          <a:xfrm>
            <a:off x="6199632" y="580644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69" name="Text 169"/>
          <p:cNvSpPr txBox="1"/>
          <p:nvPr/>
        </p:nvSpPr>
        <p:spPr>
          <a:xfrm>
            <a:off x="6236208" y="581558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3541.TEA Fortaleza 2 (Pereira Filgueiras)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6236208" y="596188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CE | Fim Jan/24 | Status Concluída | Valor R$ 97,5 mil | 67 m2 | R$ 1.455/m2</a:t>
            </a:r>
          </a:p>
        </p:txBody>
      </p:sp>
      <p:sp>
        <p:nvSpPr>
          <p:cNvPr id="171" name="Rect 171"/>
          <p:cNvSpPr/>
          <p:nvPr/>
        </p:nvSpPr>
        <p:spPr>
          <a:xfrm>
            <a:off x="6199632" y="612648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72" name="Text 172"/>
          <p:cNvSpPr txBox="1"/>
          <p:nvPr/>
        </p:nvSpPr>
        <p:spPr>
          <a:xfrm>
            <a:off x="6236208" y="613562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3928.Novo TEA Limeira (2024)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6236208" y="628192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Ago/24 | Status Concluída | Valor R$ 462,2 mil | 304 m2 | R$ 1.541/m2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Clínicas, Diagnósticos, TEA e Laboratórios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5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694944"/>
            <a:ext cx="7635240" cy="3657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800" b="1">
                <a:solidFill>
                  <a:srgbClr val="15253F"/>
                </a:solidFill>
              </a:rPr>
              <a:t>Clínicas, Diagnósticos, TEA e Laboratórios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138160" y="768096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Anos: 2025 | Pagina 2/4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26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4300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27,4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4300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R$ 62,6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R$ 2.343/m2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566928" y="1755648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253F8E"/>
                </a:solidFill>
              </a:rPr>
              <a:t>Obras listadas por ano, com nomenclatura completa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02920" y="1965960"/>
            <a:ext cx="5349240" cy="292608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2025 | 40 obras | 41,4 mil m2 | R$ 87,4 mi | R$ 2.157/m2</a:t>
            </a:r>
          </a:p>
        </p:txBody>
      </p:sp>
      <p:sp>
        <p:nvSpPr>
          <p:cNvPr id="101" name="Rect 101"/>
          <p:cNvSpPr/>
          <p:nvPr/>
        </p:nvSpPr>
        <p:spPr>
          <a:xfrm>
            <a:off x="502920" y="228600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02" name="Text 102"/>
          <p:cNvSpPr txBox="1"/>
          <p:nvPr/>
        </p:nvSpPr>
        <p:spPr>
          <a:xfrm>
            <a:off x="539496" y="229514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0000.Nova Coleta Parque 10 (Nilton Lins)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39496" y="244144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AM | Fim Set/25 | Status Concluída | Valor R$ 634,0 mil | 235 m2 | R$ 2.698/m2</a:t>
            </a:r>
          </a:p>
        </p:txBody>
      </p:sp>
      <p:sp>
        <p:nvSpPr>
          <p:cNvPr id="104" name="Rect 104"/>
          <p:cNvSpPr/>
          <p:nvPr/>
        </p:nvSpPr>
        <p:spPr>
          <a:xfrm>
            <a:off x="502920" y="260604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05" name="Text 105"/>
          <p:cNvSpPr txBox="1"/>
          <p:nvPr/>
        </p:nvSpPr>
        <p:spPr>
          <a:xfrm>
            <a:off x="539496" y="261518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0000.Novo NTE SP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539496" y="276148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Out/25 | Status Concluída | Valor R$ 7,5 mi | 2,5 mil m2 | R$ 3.078/m2</a:t>
            </a:r>
          </a:p>
        </p:txBody>
      </p:sp>
      <p:sp>
        <p:nvSpPr>
          <p:cNvPr id="107" name="Rect 107"/>
          <p:cNvSpPr/>
          <p:nvPr/>
        </p:nvSpPr>
        <p:spPr>
          <a:xfrm>
            <a:off x="502920" y="292608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08" name="Text 108"/>
          <p:cNvSpPr txBox="1"/>
          <p:nvPr/>
        </p:nvSpPr>
        <p:spPr>
          <a:xfrm>
            <a:off x="539496" y="293522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4197.Transferência Clínica Areião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539496" y="308152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GO | Fim Out/25 | Status Concluída | Valor R$ 1,6 mi | 581 m2 | R$ 2.905/m2</a:t>
            </a:r>
          </a:p>
        </p:txBody>
      </p:sp>
      <p:sp>
        <p:nvSpPr>
          <p:cNvPr id="110" name="Rect 110"/>
          <p:cNvSpPr/>
          <p:nvPr/>
        </p:nvSpPr>
        <p:spPr>
          <a:xfrm>
            <a:off x="502920" y="324612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11" name="Text 111"/>
          <p:cNvSpPr txBox="1"/>
          <p:nvPr/>
        </p:nvSpPr>
        <p:spPr>
          <a:xfrm>
            <a:off x="539496" y="325526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4082.Nova Coleta Zona Leste (Mooca)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539496" y="340156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Out/25 | Status Concluída | Valor R$ 528,9 mil | 228 m2 | R$ 2.442/m2</a:t>
            </a:r>
          </a:p>
        </p:txBody>
      </p:sp>
      <p:sp>
        <p:nvSpPr>
          <p:cNvPr id="113" name="Rect 113"/>
          <p:cNvSpPr/>
          <p:nvPr/>
        </p:nvSpPr>
        <p:spPr>
          <a:xfrm>
            <a:off x="502920" y="356616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14" name="Text 114"/>
          <p:cNvSpPr txBox="1"/>
          <p:nvPr/>
        </p:nvSpPr>
        <p:spPr>
          <a:xfrm>
            <a:off x="539496" y="357530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0000.Ampliação TEA Natal (2025)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539496" y="372160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RN | Fim Out/25 | Status Concluída | Valor R$ 387,6 mil | 359 m2 | R$ 1.080/m2</a:t>
            </a:r>
          </a:p>
        </p:txBody>
      </p:sp>
      <p:sp>
        <p:nvSpPr>
          <p:cNvPr id="116" name="Rect 116"/>
          <p:cNvSpPr/>
          <p:nvPr/>
        </p:nvSpPr>
        <p:spPr>
          <a:xfrm>
            <a:off x="502920" y="388620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17" name="Text 117"/>
          <p:cNvSpPr txBox="1"/>
          <p:nvPr/>
        </p:nvSpPr>
        <p:spPr>
          <a:xfrm>
            <a:off x="539496" y="389534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4129.Clínica/Lab/Ima Zona Sul 1 e 2 Adolfo Pinheiro (SP) - Fase 2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539496" y="404164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Nov/25 | Status Concluída | Valor R$ 8,2 mi | 3,3 mil m2 | R$ 2.588/m2</a:t>
            </a:r>
          </a:p>
        </p:txBody>
      </p:sp>
      <p:sp>
        <p:nvSpPr>
          <p:cNvPr id="119" name="Rect 119"/>
          <p:cNvSpPr/>
          <p:nvPr/>
        </p:nvSpPr>
        <p:spPr>
          <a:xfrm>
            <a:off x="502920" y="420624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20" name="Text 120"/>
          <p:cNvSpPr txBox="1"/>
          <p:nvPr/>
        </p:nvSpPr>
        <p:spPr>
          <a:xfrm>
            <a:off x="539496" y="421538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4127.Clínica/Lab/Ima Zona Norte Henrique Mazzei Tucuruvi (SP)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39496" y="436168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Nov/25 | Status Concluída | Valor R$ 4,3 mi | 2,6 mil m2 | R$ 1.694/m2</a:t>
            </a:r>
          </a:p>
        </p:txBody>
      </p:sp>
      <p:sp>
        <p:nvSpPr>
          <p:cNvPr id="122" name="Rect 122"/>
          <p:cNvSpPr/>
          <p:nvPr/>
        </p:nvSpPr>
        <p:spPr>
          <a:xfrm>
            <a:off x="502920" y="452628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23" name="Text 123"/>
          <p:cNvSpPr txBox="1"/>
          <p:nvPr/>
        </p:nvSpPr>
        <p:spPr>
          <a:xfrm>
            <a:off x="539496" y="453542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0000.Nova Clínica da Criança e Mulher Fortaleza Fase 1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39496" y="468172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CE | Fim Nov/25 | Status Concluída | Valor R$ 3,6 mi | 1,7 mil m2 | R$ 2.151/m2</a:t>
            </a:r>
          </a:p>
        </p:txBody>
      </p:sp>
      <p:sp>
        <p:nvSpPr>
          <p:cNvPr id="125" name="Rect 125"/>
          <p:cNvSpPr/>
          <p:nvPr/>
        </p:nvSpPr>
        <p:spPr>
          <a:xfrm>
            <a:off x="502920" y="484632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26" name="Text 126"/>
          <p:cNvSpPr txBox="1"/>
          <p:nvPr/>
        </p:nvSpPr>
        <p:spPr>
          <a:xfrm>
            <a:off x="539496" y="485546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4195.Nova Clínica e Coleta Campinas (Bosque Maia)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539496" y="500176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Nov/25 | Status Concluída | Valor R$ 3,0 mi | 1,2 mil m2 | R$ 2.498/m2</a:t>
            </a:r>
          </a:p>
        </p:txBody>
      </p:sp>
      <p:sp>
        <p:nvSpPr>
          <p:cNvPr id="128" name="Rect 128"/>
          <p:cNvSpPr/>
          <p:nvPr/>
        </p:nvSpPr>
        <p:spPr>
          <a:xfrm>
            <a:off x="502920" y="516636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29" name="Text 129"/>
          <p:cNvSpPr txBox="1"/>
          <p:nvPr/>
        </p:nvSpPr>
        <p:spPr>
          <a:xfrm>
            <a:off x="539496" y="517550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4196.Nova Clínica e Fisioterapia Horto Florestal Salvador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539496" y="532180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BA | Fim Nov/25 | Status Concluída | Valor R$ 3,0 mi | 1,8 mil m2 | R$ 1.946/m2</a:t>
            </a:r>
          </a:p>
        </p:txBody>
      </p:sp>
      <p:sp>
        <p:nvSpPr>
          <p:cNvPr id="131" name="Rect 131"/>
          <p:cNvSpPr/>
          <p:nvPr/>
        </p:nvSpPr>
        <p:spPr>
          <a:xfrm>
            <a:off x="502920" y="548640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32" name="Text 132"/>
          <p:cNvSpPr txBox="1"/>
          <p:nvPr/>
        </p:nvSpPr>
        <p:spPr>
          <a:xfrm>
            <a:off x="539496" y="549554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4194.Nova Clínica Nova Iguaçu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539496" y="564184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RJ | Fim Nov/25 | Status Concluída | Valor R$ 2,0 mi | 668 m2 | R$ 3.147/m2</a:t>
            </a:r>
          </a:p>
        </p:txBody>
      </p:sp>
      <p:sp>
        <p:nvSpPr>
          <p:cNvPr id="134" name="Rect 134"/>
          <p:cNvSpPr/>
          <p:nvPr/>
        </p:nvSpPr>
        <p:spPr>
          <a:xfrm>
            <a:off x="502920" y="580644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35" name="Text 135"/>
          <p:cNvSpPr txBox="1"/>
          <p:nvPr/>
        </p:nvSpPr>
        <p:spPr>
          <a:xfrm>
            <a:off x="539496" y="581558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4081.Nova Coleta Zona Leste Parque do Carmo (Itaquera)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539496" y="596188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Nov/25 | Status Concluída | Valor R$ 1,2 mi | 539 m2 | R$ 2.236/m2</a:t>
            </a:r>
          </a:p>
        </p:txBody>
      </p:sp>
      <p:sp>
        <p:nvSpPr>
          <p:cNvPr id="137" name="Rect 137"/>
          <p:cNvSpPr/>
          <p:nvPr/>
        </p:nvSpPr>
        <p:spPr>
          <a:xfrm>
            <a:off x="502920" y="612648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38" name="Text 138"/>
          <p:cNvSpPr txBox="1"/>
          <p:nvPr/>
        </p:nvSpPr>
        <p:spPr>
          <a:xfrm>
            <a:off x="539496" y="613562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0000.Ampliação 03 consultórios UA Cidade Nova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539496" y="628192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RJ | Fim Nov/25 | Status Concluída | Valor R$ 265,1 mil | 69 m2 | R$ 3.915/m2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6199632" y="1965960"/>
            <a:ext cx="5349240" cy="292608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2025 cont. | 40 obras | 41,4 mil m2 | R$ 87,4 mi | R$ 2.157/m2</a:t>
            </a:r>
          </a:p>
        </p:txBody>
      </p:sp>
      <p:sp>
        <p:nvSpPr>
          <p:cNvPr id="141" name="Rect 141"/>
          <p:cNvSpPr/>
          <p:nvPr/>
        </p:nvSpPr>
        <p:spPr>
          <a:xfrm>
            <a:off x="6199632" y="228600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42" name="Text 142"/>
          <p:cNvSpPr txBox="1"/>
          <p:nvPr/>
        </p:nvSpPr>
        <p:spPr>
          <a:xfrm>
            <a:off x="6236208" y="229514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4020.Nova Clínica São Luís (Cohab)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6236208" y="244144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MA | Fim Mar/25 | Status Concluída | Valor R$ 1,8 mi | 849 m2 | R$ 2.156/m2</a:t>
            </a:r>
          </a:p>
        </p:txBody>
      </p:sp>
      <p:sp>
        <p:nvSpPr>
          <p:cNvPr id="144" name="Rect 144"/>
          <p:cNvSpPr/>
          <p:nvPr/>
        </p:nvSpPr>
        <p:spPr>
          <a:xfrm>
            <a:off x="6199632" y="260604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45" name="Text 145"/>
          <p:cNvSpPr txBox="1"/>
          <p:nvPr/>
        </p:nvSpPr>
        <p:spPr>
          <a:xfrm>
            <a:off x="6236208" y="261518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4019.Nova Clínica Brasília (Brasiliense)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6236208" y="276148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DF | Fim Mar/25 | Status Concluída | Valor R$ 1,8 mi | 903 m2 | R$ 2.024/m2</a:t>
            </a:r>
          </a:p>
        </p:txBody>
      </p:sp>
      <p:sp>
        <p:nvSpPr>
          <p:cNvPr id="147" name="Rect 147"/>
          <p:cNvSpPr/>
          <p:nvPr/>
        </p:nvSpPr>
        <p:spPr>
          <a:xfrm>
            <a:off x="6199632" y="292608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48" name="Text 148"/>
          <p:cNvSpPr txBox="1"/>
          <p:nvPr/>
        </p:nvSpPr>
        <p:spPr>
          <a:xfrm>
            <a:off x="6236208" y="293522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4015.Nova Clínica Sorocaba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6236208" y="308152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Mar/25 | Status Concluída | Valor R$ 1,5 mi | 680 m2 | R$ 2.240/m2</a:t>
            </a:r>
          </a:p>
        </p:txBody>
      </p:sp>
      <p:sp>
        <p:nvSpPr>
          <p:cNvPr id="150" name="Rect 150"/>
          <p:cNvSpPr/>
          <p:nvPr/>
        </p:nvSpPr>
        <p:spPr>
          <a:xfrm>
            <a:off x="6199632" y="324612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51" name="Text 151"/>
          <p:cNvSpPr txBox="1"/>
          <p:nvPr/>
        </p:nvSpPr>
        <p:spPr>
          <a:xfrm>
            <a:off x="6236208" y="325526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4089.Nova Coleta Zona Sul (Vila Mariana)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6236208" y="340156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Jun/25 | Status Concluída | Valor R$ 856,4 mil | 413 m2 | R$ 2.072/m2</a:t>
            </a:r>
          </a:p>
        </p:txBody>
      </p:sp>
      <p:sp>
        <p:nvSpPr>
          <p:cNvPr id="153" name="Rect 153"/>
          <p:cNvSpPr/>
          <p:nvPr/>
        </p:nvSpPr>
        <p:spPr>
          <a:xfrm>
            <a:off x="6199632" y="356616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54" name="Text 154"/>
          <p:cNvSpPr txBox="1"/>
          <p:nvPr/>
        </p:nvSpPr>
        <p:spPr>
          <a:xfrm>
            <a:off x="6236208" y="357530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4079.Nova Coleta Zona Leste (Penha)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6236208" y="372160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Jun/25 | Status Concluída | Valor R$ 609,1 mil | 412 m2 | R$ 1.478/m2</a:t>
            </a:r>
          </a:p>
        </p:txBody>
      </p:sp>
      <p:sp>
        <p:nvSpPr>
          <p:cNvPr id="156" name="Rect 156"/>
          <p:cNvSpPr/>
          <p:nvPr/>
        </p:nvSpPr>
        <p:spPr>
          <a:xfrm>
            <a:off x="6199632" y="388620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57" name="Text 157"/>
          <p:cNvSpPr txBox="1"/>
          <p:nvPr/>
        </p:nvSpPr>
        <p:spPr>
          <a:xfrm>
            <a:off x="6236208" y="389534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4084.Nova Coleta Zona Norte (Santana)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6236208" y="404164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Jun/25 | Status Concluída | Valor R$ 578,7 mil | 338 m2 | R$ 1.711/m2</a:t>
            </a:r>
          </a:p>
        </p:txBody>
      </p:sp>
      <p:sp>
        <p:nvSpPr>
          <p:cNvPr id="159" name="Rect 159"/>
          <p:cNvSpPr/>
          <p:nvPr/>
        </p:nvSpPr>
        <p:spPr>
          <a:xfrm>
            <a:off x="6199632" y="420624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60" name="Text 160"/>
          <p:cNvSpPr txBox="1"/>
          <p:nvPr/>
        </p:nvSpPr>
        <p:spPr>
          <a:xfrm>
            <a:off x="6236208" y="421538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4090.Nova Coleta Zona Sul (João Dias)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6236208" y="436168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Jun/25 | Status Concluída | Valor R$ 490,3 mil | 406 m2 | R$ 1.209/m2</a:t>
            </a:r>
          </a:p>
        </p:txBody>
      </p:sp>
      <p:sp>
        <p:nvSpPr>
          <p:cNvPr id="162" name="Rect 162"/>
          <p:cNvSpPr/>
          <p:nvPr/>
        </p:nvSpPr>
        <p:spPr>
          <a:xfrm>
            <a:off x="6199632" y="452628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63" name="Text 163"/>
          <p:cNvSpPr txBox="1"/>
          <p:nvPr/>
        </p:nvSpPr>
        <p:spPr>
          <a:xfrm>
            <a:off x="6236208" y="453542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4088.Nova Coleta Zona Oeste (Lapa)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6236208" y="468172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Jun/25 | Status Concluída | Valor R$ 290,9 mil | 170 m2 | R$ 1.707/m2</a:t>
            </a:r>
          </a:p>
        </p:txBody>
      </p:sp>
      <p:sp>
        <p:nvSpPr>
          <p:cNvPr id="165" name="Rect 165"/>
          <p:cNvSpPr/>
          <p:nvPr/>
        </p:nvSpPr>
        <p:spPr>
          <a:xfrm>
            <a:off x="6199632" y="484632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66" name="Text 166"/>
          <p:cNvSpPr txBox="1"/>
          <p:nvPr/>
        </p:nvSpPr>
        <p:spPr>
          <a:xfrm>
            <a:off x="6236208" y="485546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4103.Nova Unidade Diagnóstico Flagship SP (Fase 2)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6236208" y="500176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Jul/25 | Status Concluída | Valor R$ 13,7 mi | 4,9 mil m2 | R$ 2.824/m2</a:t>
            </a:r>
          </a:p>
        </p:txBody>
      </p:sp>
      <p:sp>
        <p:nvSpPr>
          <p:cNvPr id="168" name="Rect 168"/>
          <p:cNvSpPr/>
          <p:nvPr/>
        </p:nvSpPr>
        <p:spPr>
          <a:xfrm>
            <a:off x="6199632" y="516636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69" name="Text 169"/>
          <p:cNvSpPr txBox="1"/>
          <p:nvPr/>
        </p:nvSpPr>
        <p:spPr>
          <a:xfrm>
            <a:off x="6236208" y="517550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4128.Clínica/Lab Zona Oeste Butantã (SP)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6236208" y="532180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Jul/25 | Status Concluída | Valor R$ 1,6 mi | 1,1 mil m2 | R$ 1.499/m2</a:t>
            </a:r>
          </a:p>
        </p:txBody>
      </p:sp>
      <p:sp>
        <p:nvSpPr>
          <p:cNvPr id="171" name="Rect 171"/>
          <p:cNvSpPr/>
          <p:nvPr/>
        </p:nvSpPr>
        <p:spPr>
          <a:xfrm>
            <a:off x="6199632" y="548640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72" name="Text 172"/>
          <p:cNvSpPr txBox="1"/>
          <p:nvPr/>
        </p:nvSpPr>
        <p:spPr>
          <a:xfrm>
            <a:off x="6236208" y="549554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0000.Capela Oncologia ABC São Bernardo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6236208" y="564184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Jul/25 | Status Concluída | Valor R$ 599,3 mil | 193 m2 | R$ 3.479/m2</a:t>
            </a:r>
          </a:p>
        </p:txBody>
      </p:sp>
      <p:sp>
        <p:nvSpPr>
          <p:cNvPr id="174" name="Rect 174"/>
          <p:cNvSpPr/>
          <p:nvPr/>
        </p:nvSpPr>
        <p:spPr>
          <a:xfrm>
            <a:off x="6199632" y="580644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75" name="Text 175"/>
          <p:cNvSpPr txBox="1"/>
          <p:nvPr/>
        </p:nvSpPr>
        <p:spPr>
          <a:xfrm>
            <a:off x="6236208" y="581558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4018.Ampliação Clínica Vieiralves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6236208" y="596188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AM | Fim Jan/25 | Status Concluída | Valor R$ 1,5 mi | 954 m2 | R$ 1.563/m2</a:t>
            </a:r>
          </a:p>
        </p:txBody>
      </p:sp>
      <p:sp>
        <p:nvSpPr>
          <p:cNvPr id="177" name="Rect 177"/>
          <p:cNvSpPr/>
          <p:nvPr/>
        </p:nvSpPr>
        <p:spPr>
          <a:xfrm>
            <a:off x="6199632" y="612648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78" name="Text 178"/>
          <p:cNvSpPr txBox="1"/>
          <p:nvPr/>
        </p:nvSpPr>
        <p:spPr>
          <a:xfrm>
            <a:off x="6236208" y="613562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4037.Nova Clínica Santo André (UASA)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6236208" y="628192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Jan/25 | Status Concluída | Valor R$ 986,8 mil | 324 m2 | R$ 3.044/m2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Clínicas, Diagnósticos, TEA e Laboratórios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6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694944"/>
            <a:ext cx="7635240" cy="3657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800" b="1">
                <a:solidFill>
                  <a:srgbClr val="15253F"/>
                </a:solidFill>
              </a:rPr>
              <a:t>Clínicas, Diagnósticos, TEA e Laboratórios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138160" y="768096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Anos: 2025 | Pagina 3/4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4300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14,0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4300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R$ 24,8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R$ 1.790/m2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566928" y="1755648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253F8E"/>
                </a:solidFill>
              </a:rPr>
              <a:t>Obras listadas por ano, com nomenclatura completa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02920" y="1965960"/>
            <a:ext cx="5349240" cy="292608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2025 cont. | 40 obras | 41,4 mil m2 | R$ 87,4 mi | R$ 2.157/m2</a:t>
            </a:r>
          </a:p>
        </p:txBody>
      </p:sp>
      <p:sp>
        <p:nvSpPr>
          <p:cNvPr id="101" name="Rect 101"/>
          <p:cNvSpPr/>
          <p:nvPr/>
        </p:nvSpPr>
        <p:spPr>
          <a:xfrm>
            <a:off x="502920" y="228600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02" name="Text 102"/>
          <p:cNvSpPr txBox="1"/>
          <p:nvPr/>
        </p:nvSpPr>
        <p:spPr>
          <a:xfrm>
            <a:off x="539496" y="229514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4016.Nova Clínica Mogi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39496" y="244144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Fev/25 | Status Concluída | Valor R$ 1,1 mi | 736 m2 | R$ 1.542/m2</a:t>
            </a:r>
          </a:p>
        </p:txBody>
      </p:sp>
      <p:sp>
        <p:nvSpPr>
          <p:cNvPr id="104" name="Rect 104"/>
          <p:cNvSpPr/>
          <p:nvPr/>
        </p:nvSpPr>
        <p:spPr>
          <a:xfrm>
            <a:off x="502920" y="260604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05" name="Text 105"/>
          <p:cNvSpPr txBox="1"/>
          <p:nvPr/>
        </p:nvSpPr>
        <p:spPr>
          <a:xfrm>
            <a:off x="539496" y="261518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3922.Novo TEA Ribeirão Pires (2024)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539496" y="276148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Fev/25 | Status Concluída | Valor R$ 583,7 mil | 371 m2 | R$ 1.677/m2</a:t>
            </a:r>
          </a:p>
        </p:txBody>
      </p:sp>
      <p:sp>
        <p:nvSpPr>
          <p:cNvPr id="107" name="Rect 107"/>
          <p:cNvSpPr/>
          <p:nvPr/>
        </p:nvSpPr>
        <p:spPr>
          <a:xfrm>
            <a:off x="502920" y="292608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08" name="Text 108"/>
          <p:cNvSpPr txBox="1"/>
          <p:nvPr/>
        </p:nvSpPr>
        <p:spPr>
          <a:xfrm>
            <a:off x="539496" y="293522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9929.Transferência Notrelife/Clínica Guarulhos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539496" y="308152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Dez/25 | Status Concluída | Valor R$ 4,9 mi | 3,6 mil m2 | R$ 1.379/m2</a:t>
            </a:r>
          </a:p>
        </p:txBody>
      </p:sp>
      <p:sp>
        <p:nvSpPr>
          <p:cNvPr id="110" name="Rect 110"/>
          <p:cNvSpPr/>
          <p:nvPr/>
        </p:nvSpPr>
        <p:spPr>
          <a:xfrm>
            <a:off x="502920" y="324612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11" name="Text 111"/>
          <p:cNvSpPr txBox="1"/>
          <p:nvPr/>
        </p:nvSpPr>
        <p:spPr>
          <a:xfrm>
            <a:off x="539496" y="325526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0000.Nova Clínica da Criança e Mulher Fortaleza Fase 2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539496" y="340156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CE | Fim Dez/25 | Status Concluída | Valor R$ 3,6 mi | 1,7 mil m2 | R$ 2.158/m2</a:t>
            </a:r>
          </a:p>
        </p:txBody>
      </p:sp>
      <p:sp>
        <p:nvSpPr>
          <p:cNvPr id="113" name="Rect 113"/>
          <p:cNvSpPr/>
          <p:nvPr/>
        </p:nvSpPr>
        <p:spPr>
          <a:xfrm>
            <a:off x="502920" y="356616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14" name="Text 114"/>
          <p:cNvSpPr txBox="1"/>
          <p:nvPr/>
        </p:nvSpPr>
        <p:spPr>
          <a:xfrm>
            <a:off x="539496" y="357530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4091.Novo TEA e Coleta Zona Sul Autódromo (2025)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539496" y="372160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Dez/25 | Status Concluída | Valor R$ 2,9 mi | 982 m2 | R$ 2.990/m2</a:t>
            </a:r>
          </a:p>
        </p:txBody>
      </p:sp>
      <p:sp>
        <p:nvSpPr>
          <p:cNvPr id="116" name="Rect 116"/>
          <p:cNvSpPr/>
          <p:nvPr/>
        </p:nvSpPr>
        <p:spPr>
          <a:xfrm>
            <a:off x="502920" y="388620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17" name="Text 117"/>
          <p:cNvSpPr txBox="1"/>
          <p:nvPr/>
        </p:nvSpPr>
        <p:spPr>
          <a:xfrm>
            <a:off x="539496" y="389534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4190.Novo TEA Zona Sul Jabaquara Cidade Vargas (2025)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539496" y="404164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Dez/25 | Status Concluída | Valor R$ 2,7 mi | 1,3 mil m2 | R$ 2.120/m2</a:t>
            </a:r>
          </a:p>
        </p:txBody>
      </p:sp>
      <p:sp>
        <p:nvSpPr>
          <p:cNvPr id="119" name="Rect 119"/>
          <p:cNvSpPr/>
          <p:nvPr/>
        </p:nvSpPr>
        <p:spPr>
          <a:xfrm>
            <a:off x="502920" y="420624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20" name="Text 120"/>
          <p:cNvSpPr txBox="1"/>
          <p:nvPr/>
        </p:nvSpPr>
        <p:spPr>
          <a:xfrm>
            <a:off x="539496" y="421538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4181.Novo TEA Recife Madalena (2025)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39496" y="436168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PE | Fim Dez/25 | Status Concluída | Valor R$ 2,2 mi | 1,2 mil m2 | R$ 1.837/m2</a:t>
            </a:r>
          </a:p>
        </p:txBody>
      </p:sp>
      <p:sp>
        <p:nvSpPr>
          <p:cNvPr id="122" name="Rect 122"/>
          <p:cNvSpPr/>
          <p:nvPr/>
        </p:nvSpPr>
        <p:spPr>
          <a:xfrm>
            <a:off x="502920" y="452628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23" name="Text 123"/>
          <p:cNvSpPr txBox="1"/>
          <p:nvPr/>
        </p:nvSpPr>
        <p:spPr>
          <a:xfrm>
            <a:off x="539496" y="453542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4183.Novo TEA Curitiba 1 Rep. Argentina (2025)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39496" y="468172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PR | Fim Dez/25 | Status Concluída | Valor R$ 1,4 mi | 863 m2 | R$ 1.674/m2</a:t>
            </a:r>
          </a:p>
        </p:txBody>
      </p:sp>
      <p:sp>
        <p:nvSpPr>
          <p:cNvPr id="125" name="Rect 125"/>
          <p:cNvSpPr/>
          <p:nvPr/>
        </p:nvSpPr>
        <p:spPr>
          <a:xfrm>
            <a:off x="502920" y="484632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26" name="Text 126"/>
          <p:cNvSpPr txBox="1"/>
          <p:nvPr/>
        </p:nvSpPr>
        <p:spPr>
          <a:xfrm>
            <a:off x="539496" y="485546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0000.Nova Coleta São Bernardo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539496" y="500176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Dez/25 | Status Concluída | Valor R$ 1,3 mi | 1,2 mil m2 | R$ 1.055/m2</a:t>
            </a:r>
          </a:p>
        </p:txBody>
      </p:sp>
      <p:sp>
        <p:nvSpPr>
          <p:cNvPr id="128" name="Rect 128"/>
          <p:cNvSpPr/>
          <p:nvPr/>
        </p:nvSpPr>
        <p:spPr>
          <a:xfrm>
            <a:off x="502920" y="516636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29" name="Text 129"/>
          <p:cNvSpPr txBox="1"/>
          <p:nvPr/>
        </p:nvSpPr>
        <p:spPr>
          <a:xfrm>
            <a:off x="539496" y="517550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4166.Novo TEA Manaus Nilton Lins (2025)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539496" y="532180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AM | Fim Dez/25 | Status Concluída | Valor R$ 1,2 mi | 569 m2 | R$ 2.146/m2</a:t>
            </a:r>
          </a:p>
        </p:txBody>
      </p:sp>
      <p:sp>
        <p:nvSpPr>
          <p:cNvPr id="131" name="Rect 131"/>
          <p:cNvSpPr/>
          <p:nvPr/>
        </p:nvSpPr>
        <p:spPr>
          <a:xfrm>
            <a:off x="502920" y="548640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32" name="Text 132"/>
          <p:cNvSpPr txBox="1"/>
          <p:nvPr/>
        </p:nvSpPr>
        <p:spPr>
          <a:xfrm>
            <a:off x="539496" y="549554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0000.Novo Medprev Nilton Lins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539496" y="564184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AM | Fim Dez/25 | Status Concluída | Valor R$ 897,1 mil | 482 m2 | R$ 1.862/m2</a:t>
            </a:r>
          </a:p>
        </p:txBody>
      </p:sp>
      <p:sp>
        <p:nvSpPr>
          <p:cNvPr id="134" name="Rect 134"/>
          <p:cNvSpPr/>
          <p:nvPr/>
        </p:nvSpPr>
        <p:spPr>
          <a:xfrm>
            <a:off x="502920" y="580644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35" name="Text 135"/>
          <p:cNvSpPr txBox="1"/>
          <p:nvPr/>
        </p:nvSpPr>
        <p:spPr>
          <a:xfrm>
            <a:off x="539496" y="581558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4173.Novo TEA São Luís Jerônimo Albuquerque (2025)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539496" y="596188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MA | Fim Dez/25 | Status Concluída | Valor R$ 676,1 mil | 374 m2 | R$ 2.016/m2</a:t>
            </a:r>
          </a:p>
        </p:txBody>
      </p:sp>
      <p:sp>
        <p:nvSpPr>
          <p:cNvPr id="137" name="Rect 137"/>
          <p:cNvSpPr/>
          <p:nvPr/>
        </p:nvSpPr>
        <p:spPr>
          <a:xfrm>
            <a:off x="502920" y="612648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38" name="Text 138"/>
          <p:cNvSpPr txBox="1"/>
          <p:nvPr/>
        </p:nvSpPr>
        <p:spPr>
          <a:xfrm>
            <a:off x="539496" y="613562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0000.Oncologia Clínica Jaraguá do Sul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539496" y="628192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SC | Fim Dez/25 | Status Concluída | Valor R$ 349,0 mil | 213 m2 | R$ 1.638/m2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6199632" y="1965960"/>
            <a:ext cx="5349240" cy="292608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2025 cont. | 40 obras | 41,4 mil m2 | R$ 87,4 mi | R$ 2.157/m2</a:t>
            </a:r>
          </a:p>
        </p:txBody>
      </p:sp>
      <p:sp>
        <p:nvSpPr>
          <p:cNvPr id="141" name="Rect 141"/>
          <p:cNvSpPr/>
          <p:nvPr/>
        </p:nvSpPr>
        <p:spPr>
          <a:xfrm>
            <a:off x="6199632" y="228600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42" name="Text 142"/>
          <p:cNvSpPr txBox="1"/>
          <p:nvPr/>
        </p:nvSpPr>
        <p:spPr>
          <a:xfrm>
            <a:off x="6236208" y="229514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4080.Nova Coleta Zona Leste (Tatuapé)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6236208" y="244144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Ago/25 | Status Concluída | Valor R$ 860,8 mil | 422 m2 | R$ 2.042/m2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Clínicas, Diagnósticos, TEA e Laboratórios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7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694944"/>
            <a:ext cx="7635240" cy="3657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800" b="1">
                <a:solidFill>
                  <a:srgbClr val="15253F"/>
                </a:solidFill>
              </a:rPr>
              <a:t>Clínicas, Diagnósticos, TEA e Laboratórios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138160" y="768096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Anos: 2026, Sem finalizacao | Pagina 4/4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4300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22,5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4300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R$ 46,6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R$ 2.122/m2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566928" y="1755648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253F8E"/>
                </a:solidFill>
              </a:rPr>
              <a:t>Obras listadas por ano, com nomenclatura completa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02920" y="1965960"/>
            <a:ext cx="5349240" cy="292608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2026 | 20 obras | 18,8 mil m2 | R$ 40,2 mi | R$ 2.188/m2</a:t>
            </a:r>
          </a:p>
        </p:txBody>
      </p:sp>
      <p:sp>
        <p:nvSpPr>
          <p:cNvPr id="101" name="Rect 101"/>
          <p:cNvSpPr/>
          <p:nvPr/>
        </p:nvSpPr>
        <p:spPr>
          <a:xfrm>
            <a:off x="502920" y="228600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02" name="Text 102"/>
          <p:cNvSpPr txBox="1"/>
          <p:nvPr/>
        </p:nvSpPr>
        <p:spPr>
          <a:xfrm>
            <a:off x="539496" y="229514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4179.Novo TEA Paulista Janga PE (2025)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39496" y="244144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PE | Fim Mar/26 | Status Concluída | Valor R$ 1,9 mi | 864 m2 | R$ 2.369/m2</a:t>
            </a:r>
          </a:p>
        </p:txBody>
      </p:sp>
      <p:sp>
        <p:nvSpPr>
          <p:cNvPr id="104" name="Rect 104"/>
          <p:cNvSpPr/>
          <p:nvPr/>
        </p:nvSpPr>
        <p:spPr>
          <a:xfrm>
            <a:off x="502920" y="260604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05" name="Text 105"/>
          <p:cNvSpPr txBox="1"/>
          <p:nvPr/>
        </p:nvSpPr>
        <p:spPr>
          <a:xfrm>
            <a:off x="539496" y="261518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4178.Novo TEA João Pessoa Rui Barbosa (2025)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539496" y="276148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PB | Fim Mai/26 | Status Concluída | Valor R$ 2,0 mi | 743 m2 | R$ 2.668/m2</a:t>
            </a:r>
          </a:p>
        </p:txBody>
      </p:sp>
      <p:sp>
        <p:nvSpPr>
          <p:cNvPr id="107" name="Rect 107"/>
          <p:cNvSpPr/>
          <p:nvPr/>
        </p:nvSpPr>
        <p:spPr>
          <a:xfrm>
            <a:off x="502920" y="292608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08" name="Text 108"/>
          <p:cNvSpPr txBox="1"/>
          <p:nvPr/>
        </p:nvSpPr>
        <p:spPr>
          <a:xfrm>
            <a:off x="539496" y="293522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4198.Nova Clínica Santos Amador Bueno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539496" y="308152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Mai/26 | Status Concluída | Valor R$ 1,6 mi | 792 m2 | R$ 2.007/m2</a:t>
            </a:r>
          </a:p>
        </p:txBody>
      </p:sp>
      <p:sp>
        <p:nvSpPr>
          <p:cNvPr id="110" name="Rect 110"/>
          <p:cNvSpPr/>
          <p:nvPr/>
        </p:nvSpPr>
        <p:spPr>
          <a:xfrm>
            <a:off x="502920" y="324612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11" name="Text 111"/>
          <p:cNvSpPr txBox="1"/>
          <p:nvPr/>
        </p:nvSpPr>
        <p:spPr>
          <a:xfrm>
            <a:off x="539496" y="325526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0000.Nova Clínica Brasília Asa Norte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539496" y="340156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DF | Fim Mai/26 | Status Concluída | Valor R$ 1,5 mi | 823 m2 | R$ 1.943/m2</a:t>
            </a:r>
          </a:p>
        </p:txBody>
      </p:sp>
      <p:sp>
        <p:nvSpPr>
          <p:cNvPr id="113" name="Rect 113"/>
          <p:cNvSpPr/>
          <p:nvPr/>
        </p:nvSpPr>
        <p:spPr>
          <a:xfrm>
            <a:off x="502920" y="356616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14" name="Text 114"/>
          <p:cNvSpPr txBox="1"/>
          <p:nvPr/>
        </p:nvSpPr>
        <p:spPr>
          <a:xfrm>
            <a:off x="539496" y="357530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4187.Novo TEA São Vicente Vila Cascatinha (2025)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539496" y="372160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Mai/26 | Status Concluída | Valor R$ 1,3 mi | 1,2 mil m2 | R$ 1.131/m2</a:t>
            </a:r>
          </a:p>
        </p:txBody>
      </p:sp>
      <p:sp>
        <p:nvSpPr>
          <p:cNvPr id="116" name="Rect 116"/>
          <p:cNvSpPr/>
          <p:nvPr/>
        </p:nvSpPr>
        <p:spPr>
          <a:xfrm>
            <a:off x="502920" y="388620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17" name="Text 117"/>
          <p:cNvSpPr txBox="1"/>
          <p:nvPr/>
        </p:nvSpPr>
        <p:spPr>
          <a:xfrm>
            <a:off x="539496" y="389534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4085.Nova Coleta Zona Central Bela Cintra (Paraíso)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539496" y="404164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Mai/26 | Status Concluída | Valor R$ 732,5 mil | 409 m2 | R$ 1.790/m2</a:t>
            </a:r>
          </a:p>
        </p:txBody>
      </p:sp>
      <p:sp>
        <p:nvSpPr>
          <p:cNvPr id="119" name="Rect 119"/>
          <p:cNvSpPr/>
          <p:nvPr/>
        </p:nvSpPr>
        <p:spPr>
          <a:xfrm>
            <a:off x="502920" y="420624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20" name="Text 120"/>
          <p:cNvSpPr txBox="1"/>
          <p:nvPr/>
        </p:nvSpPr>
        <p:spPr>
          <a:xfrm>
            <a:off x="539496" y="421538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9067.Coleta Anápolis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39496" y="436168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GO | Fim Jul/26 | Status Concluída | Valor R$ 370,2 mil | 288 m2 | R$ 1.355/m2</a:t>
            </a:r>
          </a:p>
        </p:txBody>
      </p:sp>
      <p:sp>
        <p:nvSpPr>
          <p:cNvPr id="122" name="Rect 122"/>
          <p:cNvSpPr/>
          <p:nvPr/>
        </p:nvSpPr>
        <p:spPr>
          <a:xfrm>
            <a:off x="502920" y="452628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23" name="Text 123"/>
          <p:cNvSpPr txBox="1"/>
          <p:nvPr/>
        </p:nvSpPr>
        <p:spPr>
          <a:xfrm>
            <a:off x="539496" y="453542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9064.Ampliação Medprev Fortaleza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539496" y="468172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CE | Fim Jul/26 | Status Concluída | Valor R$ 244,0 mil | 159 m2 | R$ 1.546/m2</a:t>
            </a:r>
          </a:p>
        </p:txBody>
      </p:sp>
      <p:sp>
        <p:nvSpPr>
          <p:cNvPr id="125" name="Rect 125"/>
          <p:cNvSpPr/>
          <p:nvPr/>
        </p:nvSpPr>
        <p:spPr>
          <a:xfrm>
            <a:off x="502920" y="484632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26" name="Text 126"/>
          <p:cNvSpPr txBox="1"/>
          <p:nvPr/>
        </p:nvSpPr>
        <p:spPr>
          <a:xfrm>
            <a:off x="539496" y="485546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4025.Hemodiálise HS Recife (Ponte Verde)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539496" y="500176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PE | Fim Jan/26 | Status Concluída | Valor R$ 6,1 mi | 2,3 mil m2 | R$ 2.733/m2</a:t>
            </a:r>
          </a:p>
        </p:txBody>
      </p:sp>
      <p:sp>
        <p:nvSpPr>
          <p:cNvPr id="128" name="Rect 128"/>
          <p:cNvSpPr/>
          <p:nvPr/>
        </p:nvSpPr>
        <p:spPr>
          <a:xfrm>
            <a:off x="502920" y="516636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29" name="Text 129"/>
          <p:cNvSpPr txBox="1"/>
          <p:nvPr/>
        </p:nvSpPr>
        <p:spPr>
          <a:xfrm>
            <a:off x="539496" y="517550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4170.Novo Medprev Maracanaú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539496" y="532180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CE | Fim Jan/26 | Status Concluída | Valor R$ 2,1 mi | 890 m2 | R$ 2.415/m2</a:t>
            </a:r>
          </a:p>
        </p:txBody>
      </p:sp>
      <p:sp>
        <p:nvSpPr>
          <p:cNvPr id="131" name="Rect 131"/>
          <p:cNvSpPr/>
          <p:nvPr/>
        </p:nvSpPr>
        <p:spPr>
          <a:xfrm>
            <a:off x="502920" y="548640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32" name="Text 132"/>
          <p:cNvSpPr txBox="1"/>
          <p:nvPr/>
        </p:nvSpPr>
        <p:spPr>
          <a:xfrm>
            <a:off x="539496" y="549554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4189.Novo TEA Zona Leste Ermelino Matarazzo (2025)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539496" y="564184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Jan/26 | Status Concluída | Valor R$ 1,3 mi | 638 m2 | R$ 2.002/m2</a:t>
            </a:r>
          </a:p>
        </p:txBody>
      </p:sp>
      <p:sp>
        <p:nvSpPr>
          <p:cNvPr id="134" name="Rect 134"/>
          <p:cNvSpPr/>
          <p:nvPr/>
        </p:nvSpPr>
        <p:spPr>
          <a:xfrm>
            <a:off x="502920" y="580644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35" name="Text 135"/>
          <p:cNvSpPr txBox="1"/>
          <p:nvPr/>
        </p:nvSpPr>
        <p:spPr>
          <a:xfrm>
            <a:off x="539496" y="581558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4126.Clínica/Lab/Ima Zona Leste 1 Celso Garcia Nasa (SP)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539496" y="596188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Fev/26 | Status Concluída | Valor R$ 5,8 mi | 3,1 mil m2 | R$ 1.968/m2</a:t>
            </a:r>
          </a:p>
        </p:txBody>
      </p:sp>
      <p:sp>
        <p:nvSpPr>
          <p:cNvPr id="137" name="Rect 137"/>
          <p:cNvSpPr/>
          <p:nvPr/>
        </p:nvSpPr>
        <p:spPr>
          <a:xfrm>
            <a:off x="502920" y="612648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38" name="Text 138"/>
          <p:cNvSpPr txBox="1"/>
          <p:nvPr/>
        </p:nvSpPr>
        <p:spPr>
          <a:xfrm>
            <a:off x="539496" y="613562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0000.Transferência da Clínica Bauru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539496" y="628192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Fev/26 | Status Concluída | Valor R$ 3,2 mi | 1,3 mil m2 | R$ 2.514/m2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6199632" y="1965960"/>
            <a:ext cx="5349240" cy="292608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2026 cont. | 20 obras | 18,8 mil m2 | R$ 40,2 mi | R$ 2.188/m2</a:t>
            </a:r>
          </a:p>
        </p:txBody>
      </p:sp>
      <p:sp>
        <p:nvSpPr>
          <p:cNvPr id="141" name="Rect 141"/>
          <p:cNvSpPr/>
          <p:nvPr/>
        </p:nvSpPr>
        <p:spPr>
          <a:xfrm>
            <a:off x="6199632" y="228600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42" name="Text 142"/>
          <p:cNvSpPr txBox="1"/>
          <p:nvPr/>
        </p:nvSpPr>
        <p:spPr>
          <a:xfrm>
            <a:off x="6236208" y="229514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0000.Lab/Ima Zona Leste 2 Ermelino Matarazzo (SP)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6236208" y="244144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Fev/26 | Status Concluída | Valor R$ 3,2 mi | 936 m2 | R$ 3.404/m2</a:t>
            </a:r>
          </a:p>
        </p:txBody>
      </p:sp>
      <p:sp>
        <p:nvSpPr>
          <p:cNvPr id="144" name="Rect 144"/>
          <p:cNvSpPr/>
          <p:nvPr/>
        </p:nvSpPr>
        <p:spPr>
          <a:xfrm>
            <a:off x="6199632" y="260604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45" name="Text 145"/>
          <p:cNvSpPr txBox="1"/>
          <p:nvPr/>
        </p:nvSpPr>
        <p:spPr>
          <a:xfrm>
            <a:off x="6236208" y="261518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0000.Nova Clínica Itupeva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6236208" y="276148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Fev/26 | Status Concluída | Valor R$ 1,9 mi | 838 m2 | R$ 2.265/m2</a:t>
            </a:r>
          </a:p>
        </p:txBody>
      </p:sp>
      <p:sp>
        <p:nvSpPr>
          <p:cNvPr id="147" name="Rect 147"/>
          <p:cNvSpPr/>
          <p:nvPr/>
        </p:nvSpPr>
        <p:spPr>
          <a:xfrm>
            <a:off x="6199632" y="292608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48" name="Text 148"/>
          <p:cNvSpPr txBox="1"/>
          <p:nvPr/>
        </p:nvSpPr>
        <p:spPr>
          <a:xfrm>
            <a:off x="6236208" y="293522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0000.Novo Posto de Coleta Sorocaba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6236208" y="308152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Fev/26 | Status Concluída | Valor R$ 1,6 mi | 650 m2 | R$ 2.599/m2</a:t>
            </a:r>
          </a:p>
        </p:txBody>
      </p:sp>
      <p:sp>
        <p:nvSpPr>
          <p:cNvPr id="150" name="Rect 150"/>
          <p:cNvSpPr/>
          <p:nvPr/>
        </p:nvSpPr>
        <p:spPr>
          <a:xfrm>
            <a:off x="6199632" y="324612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51" name="Text 151"/>
          <p:cNvSpPr txBox="1"/>
          <p:nvPr/>
        </p:nvSpPr>
        <p:spPr>
          <a:xfrm>
            <a:off x="6236208" y="325526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4183.Novo TEA Curitiba 2 Fanny (2025)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6236208" y="340156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PR | Fim Fev/26 | Status Concluída | Valor R$ 1,4 mi | 863 m2 | R$ 1.821/m2</a:t>
            </a:r>
          </a:p>
        </p:txBody>
      </p:sp>
      <p:sp>
        <p:nvSpPr>
          <p:cNvPr id="153" name="Rect 153"/>
          <p:cNvSpPr/>
          <p:nvPr/>
        </p:nvSpPr>
        <p:spPr>
          <a:xfrm>
            <a:off x="6199632" y="356616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54" name="Text 154"/>
          <p:cNvSpPr txBox="1"/>
          <p:nvPr/>
        </p:nvSpPr>
        <p:spPr>
          <a:xfrm>
            <a:off x="6236208" y="357530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4189.Novo TEA Zona Leste Belém (2025) - Fase 2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6236208" y="372160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Fev/26 | Status Concluída | Valor R$ 1,3 mi | 638 m2 | R$ 2.002/m2</a:t>
            </a:r>
          </a:p>
        </p:txBody>
      </p:sp>
      <p:sp>
        <p:nvSpPr>
          <p:cNvPr id="156" name="Rect 156"/>
          <p:cNvSpPr/>
          <p:nvPr/>
        </p:nvSpPr>
        <p:spPr>
          <a:xfrm>
            <a:off x="6199632" y="388620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57" name="Text 157"/>
          <p:cNvSpPr txBox="1"/>
          <p:nvPr/>
        </p:nvSpPr>
        <p:spPr>
          <a:xfrm>
            <a:off x="6236208" y="389534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0000.Transferência TEA São José dos Campos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6236208" y="404164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Fev/26 | Status Concluída | Valor R$ 1,1 mi | 886 m2 | R$ 1.272/m2</a:t>
            </a:r>
          </a:p>
        </p:txBody>
      </p:sp>
      <p:sp>
        <p:nvSpPr>
          <p:cNvPr id="159" name="Rect 159"/>
          <p:cNvSpPr/>
          <p:nvPr/>
        </p:nvSpPr>
        <p:spPr>
          <a:xfrm>
            <a:off x="6199632" y="420624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60" name="Text 160"/>
          <p:cNvSpPr txBox="1"/>
          <p:nvPr/>
        </p:nvSpPr>
        <p:spPr>
          <a:xfrm>
            <a:off x="6236208" y="421538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4325.Novo TEA Campina Grande (2025)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6236208" y="436168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PB | Fim Abr/26 | Status Concluída | Valor R$ 1,4 mi | 502 m2 | R$ 2.787/m2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6199632" y="4526280"/>
            <a:ext cx="5349240" cy="292608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Sem finalizacao | 2 obras | 3,7 mil m2 | R$ 6,4 mi | R$ 1.788/m2</a:t>
            </a:r>
          </a:p>
        </p:txBody>
      </p:sp>
      <p:sp>
        <p:nvSpPr>
          <p:cNvPr id="163" name="Rect 163"/>
          <p:cNvSpPr/>
          <p:nvPr/>
        </p:nvSpPr>
        <p:spPr>
          <a:xfrm>
            <a:off x="6199632" y="4846320"/>
            <a:ext cx="5349240" cy="297180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64" name="Text 164"/>
          <p:cNvSpPr txBox="1"/>
          <p:nvPr/>
        </p:nvSpPr>
        <p:spPr>
          <a:xfrm>
            <a:off x="6236208" y="485546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4126.Clínica/Lab/Ima Zona Leste 1 Celso Garcia Nasa (SP)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6236208" y="500176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- | Status Em atraso | Valor R$ 5,0 mi | 3,1 mil m2 | R$ 1.708/m2</a:t>
            </a:r>
          </a:p>
        </p:txBody>
      </p:sp>
      <p:sp>
        <p:nvSpPr>
          <p:cNvPr id="166" name="Rect 166"/>
          <p:cNvSpPr/>
          <p:nvPr/>
        </p:nvSpPr>
        <p:spPr>
          <a:xfrm>
            <a:off x="6199632" y="5166360"/>
            <a:ext cx="534924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/>
          <a:lstStyle/>
          <a:p>
            <a:endParaRPr lang="pt-BR" sz="800"/>
          </a:p>
        </p:txBody>
      </p:sp>
      <p:sp>
        <p:nvSpPr>
          <p:cNvPr id="167" name="Text 167"/>
          <p:cNvSpPr txBox="1"/>
          <p:nvPr/>
        </p:nvSpPr>
        <p:spPr>
          <a:xfrm>
            <a:off x="6236208" y="5175504"/>
            <a:ext cx="5276088" cy="146304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 b="1">
                <a:solidFill>
                  <a:srgbClr val="15253F"/>
                </a:solidFill>
              </a:rPr>
              <a:t>0000.Novo Posto de Coleta Sorocaba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6236208" y="5321808"/>
            <a:ext cx="5276088" cy="1371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800">
                <a:solidFill>
                  <a:srgbClr val="50617F"/>
                </a:solidFill>
              </a:rPr>
              <a:t>UF SP | Fim - | Status Em atraso | Valor R$ 1,4 mi | 650 m2 | R$ 2.170/m2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def94a3-6d42-4c9e-8cca-d25e171edf55" xsi:nil="true"/>
    <lcf76f155ced4ddcb4097134ff3c332f xmlns="8c47632e-f6f4-466b-b0d0-588b29b5bf1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743E72E677B5418F65344B8F9625B8" ma:contentTypeVersion="13" ma:contentTypeDescription="Create a new document." ma:contentTypeScope="" ma:versionID="9b7c6091a8065acca16dbd6d886ea45f">
  <xsd:schema xmlns:xsd="http://www.w3.org/2001/XMLSchema" xmlns:xs="http://www.w3.org/2001/XMLSchema" xmlns:p="http://schemas.microsoft.com/office/2006/metadata/properties" xmlns:ns2="8c47632e-f6f4-466b-b0d0-588b29b5bf13" xmlns:ns3="3def94a3-6d42-4c9e-8cca-d25e171edf55" targetNamespace="http://schemas.microsoft.com/office/2006/metadata/properties" ma:root="true" ma:fieldsID="17b4f5635420ce7267ce584baab8090d" ns2:_="" ns3:_="">
    <xsd:import namespace="8c47632e-f6f4-466b-b0d0-588b29b5bf13"/>
    <xsd:import namespace="3def94a3-6d42-4c9e-8cca-d25e171edf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47632e-f6f4-466b-b0d0-588b29b5bf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db9fa872-9146-4a37-bd18-27b38c3134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ef94a3-6d42-4c9e-8cca-d25e171edf5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203cb831-a9f1-4d46-93c8-45b84de82d74}" ma:internalName="TaxCatchAll" ma:showField="CatchAllData" ma:web="3def94a3-6d42-4c9e-8cca-d25e171edf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53B927B-966A-4570-8174-F4A062D91A44}">
  <ds:schemaRefs>
    <ds:schemaRef ds:uri="http://schemas.microsoft.com/office/2006/metadata/properties"/>
    <ds:schemaRef ds:uri="http://schemas.microsoft.com/office/infopath/2007/PartnerControls"/>
    <ds:schemaRef ds:uri="3def94a3-6d42-4c9e-8cca-d25e171edf55"/>
    <ds:schemaRef ds:uri="8c47632e-f6f4-466b-b0d0-588b29b5bf13"/>
  </ds:schemaRefs>
</ds:datastoreItem>
</file>

<file path=customXml/itemProps2.xml><?xml version="1.0" encoding="utf-8"?>
<ds:datastoreItem xmlns:ds="http://schemas.openxmlformats.org/officeDocument/2006/customXml" ds:itemID="{0FFE7723-B2FA-4C0D-A1FF-D7E9F08B0C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0405F8-7C50-46DE-AAB4-738335D97D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47632e-f6f4-466b-b0d0-588b29b5bf13"/>
    <ds:schemaRef ds:uri="3def94a3-6d42-4c9e-8cca-d25e171edf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4460</Words>
  <Application>Microsoft Office PowerPoint</Application>
  <PresentationFormat>Widescreen</PresentationFormat>
  <Paragraphs>399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Luís Machado</dc:creator>
  <cp:lastModifiedBy>THALLES DAVIDY GONDIN DA SILVEIRA</cp:lastModifiedBy>
  <cp:revision>10</cp:revision>
  <dcterms:created xsi:type="dcterms:W3CDTF">2025-01-29T18:17:09Z</dcterms:created>
  <dcterms:modified xsi:type="dcterms:W3CDTF">2026-08-17T17:50:44Z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0x01010002743E72E677B5418F65344B8F9625B8</vt:lpwstr>
  </property>
  <property fmtid="{D5CDD505-2E9C-101B-9397-08002B2CF9AE}" pid="3" name="MediaServiceImageTags">
    <vt:lpwstr/>
  </property>
  <property fmtid="{D5CDD505-2E9C-101B-9397-08002B2CF9AE}" pid="4" name="MSIP_Label_f6648805-0676-427f-8b3f-8deff0dc1a0a_Enabled">
    <vt:lpwstr>true</vt:lpwstr>
  </property>
  <property fmtid="{D5CDD505-2E9C-101B-9397-08002B2CF9AE}" pid="5" name="MSIP_Label_f6648805-0676-427f-8b3f-8deff0dc1a0a_SetDate">
    <vt:lpwstr>2026-08-17T17:43:26Z</vt:lpwstr>
  </property>
  <property fmtid="{D5CDD505-2E9C-101B-9397-08002B2CF9AE}" pid="6" name="MSIP_Label_f6648805-0676-427f-8b3f-8deff0dc1a0a_Method">
    <vt:lpwstr>Privileged</vt:lpwstr>
  </property>
  <property fmtid="{D5CDD505-2E9C-101B-9397-08002B2CF9AE}" pid="7" name="MSIP_Label_f6648805-0676-427f-8b3f-8deff0dc1a0a_Name">
    <vt:lpwstr>Público</vt:lpwstr>
  </property>
  <property fmtid="{D5CDD505-2E9C-101B-9397-08002B2CF9AE}" pid="8" name="MSIP_Label_f6648805-0676-427f-8b3f-8deff0dc1a0a_SiteId">
    <vt:lpwstr>77d68323-6f4b-460f-8aae-d32c654ec490</vt:lpwstr>
  </property>
  <property fmtid="{D5CDD505-2E9C-101B-9397-08002B2CF9AE}" pid="9" name="MSIP_Label_f6648805-0676-427f-8b3f-8deff0dc1a0a_ActionId">
    <vt:lpwstr>0662ef69-508b-41ae-b609-6efa175d7812</vt:lpwstr>
  </property>
  <property fmtid="{D5CDD505-2E9C-101B-9397-08002B2CF9AE}" pid="10" name="MSIP_Label_f6648805-0676-427f-8b3f-8deff0dc1a0a_ContentBits">
    <vt:lpwstr>3</vt:lpwstr>
  </property>
  <property fmtid="{D5CDD505-2E9C-101B-9397-08002B2CF9AE}" pid="11" name="MSIP_Label_f6648805-0676-427f-8b3f-8deff0dc1a0a_Tag">
    <vt:lpwstr>10, 0, 1, 1</vt:lpwstr>
  </property>
  <property fmtid="{D5CDD505-2E9C-101B-9397-08002B2CF9AE}" pid="12" name="ClassificationContentMarkingFooterLocations">
    <vt:lpwstr>Tema do Office:10</vt:lpwstr>
  </property>
  <property fmtid="{D5CDD505-2E9C-101B-9397-08002B2CF9AE}" pid="13" name="ClassificationContentMarkingFooterText">
    <vt:lpwstr>PÚBLICO</vt:lpwstr>
  </property>
  <property fmtid="{D5CDD505-2E9C-101B-9397-08002B2CF9AE}" pid="14" name="ClassificationContentMarkingHeaderLocations">
    <vt:lpwstr>Tema do Office:9</vt:lpwstr>
  </property>
  <property fmtid="{D5CDD505-2E9C-101B-9397-08002B2CF9AE}" pid="15" name="ClassificationContentMarkingHeaderText">
    <vt:lpwstr>PÚBLICO</vt:lpwstr>
  </property>
</Properties>
</file>