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A4E9B5-AC0A-41CF-ADC2-835BB52C4D23}" v="3" dt="2026-08-14T14:29:22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undo custSel mod modSld modMainMaster">
      <pc:chgData name="THALLES DAVIDY GONDIN DA SILVEIRA" userId="a3416262-0fac-4856-884e-2c0d7e6e898d" providerId="ADAL" clId="{1418AD27-A7E6-4FFD-8E07-7066023A75C3}" dt="2026-08-14T14:29:49.465" v="22" actId="1076"/>
      <pc:docMkLst>
        <pc:docMk/>
      </pc:docMkLst>
      <pc:sldChg chg="addSp modSp mod">
        <pc:chgData name="THALLES DAVIDY GONDIN DA SILVEIRA" userId="a3416262-0fac-4856-884e-2c0d7e6e898d" providerId="ADAL" clId="{1418AD27-A7E6-4FFD-8E07-7066023A75C3}" dt="2026-08-14T14:28:39.553" v="9" actId="1076"/>
        <pc:sldMkLst>
          <pc:docMk/>
          <pc:sldMk cId="0" sldId="259"/>
        </pc:sldMkLst>
        <pc:spChg chg="mod">
          <ac:chgData name="THALLES DAVIDY GONDIN DA SILVEIRA" userId="a3416262-0fac-4856-884e-2c0d7e6e898d" providerId="ADAL" clId="{1418AD27-A7E6-4FFD-8E07-7066023A75C3}" dt="2026-08-14T14:28:39.553" v="9" actId="1076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5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26.796" v="6" actId="1076"/>
          <ac:spMkLst>
            <pc:docMk/>
            <pc:sldMk cId="0" sldId="259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5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7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8:34.339" v="7" actId="164"/>
          <ac:spMkLst>
            <pc:docMk/>
            <pc:sldMk cId="0" sldId="259"/>
            <ac:spMk id="181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4:28:36.496" v="8" actId="1076"/>
          <ac:grpSpMkLst>
            <pc:docMk/>
            <pc:sldMk cId="0" sldId="259"/>
            <ac:grpSpMk id="2" creationId="{235CF5BD-3161-076A-E431-1CDBD6254F8D}"/>
          </ac:grpSpMkLst>
        </pc:grpChg>
        <pc:picChg chg="mod">
          <ac:chgData name="THALLES DAVIDY GONDIN DA SILVEIRA" userId="a3416262-0fac-4856-884e-2c0d7e6e898d" providerId="ADAL" clId="{1418AD27-A7E6-4FFD-8E07-7066023A75C3}" dt="2026-08-14T14:28:23.790" v="4" actId="14100"/>
          <ac:picMkLst>
            <pc:docMk/>
            <pc:sldMk cId="0" sldId="259"/>
            <ac:picMk id="132" creationId="{00000000-0000-0000-0000-000000000000}"/>
          </ac:picMkLst>
        </pc:picChg>
      </pc:sldChg>
      <pc:sldChg chg="addSp modSp mod">
        <pc:chgData name="THALLES DAVIDY GONDIN DA SILVEIRA" userId="a3416262-0fac-4856-884e-2c0d7e6e898d" providerId="ADAL" clId="{1418AD27-A7E6-4FFD-8E07-7066023A75C3}" dt="2026-08-14T14:29:12.803" v="14" actId="1076"/>
        <pc:sldMkLst>
          <pc:docMk/>
          <pc:sldMk cId="0" sldId="260"/>
        </pc:sldMkLst>
        <pc:spChg chg="mod">
          <ac:chgData name="THALLES DAVIDY GONDIN DA SILVEIRA" userId="a3416262-0fac-4856-884e-2c0d7e6e898d" providerId="ADAL" clId="{1418AD27-A7E6-4FFD-8E07-7066023A75C3}" dt="2026-08-14T14:28:56.010" v="11" actId="1076"/>
          <ac:spMkLst>
            <pc:docMk/>
            <pc:sldMk cId="0" sldId="260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12.803" v="14" actId="1076"/>
          <ac:spMkLst>
            <pc:docMk/>
            <pc:sldMk cId="0" sldId="260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6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06.340" v="12" actId="164"/>
          <ac:spMkLst>
            <pc:docMk/>
            <pc:sldMk cId="0" sldId="260"/>
            <ac:spMk id="169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4:29:09.243" v="13" actId="1076"/>
          <ac:grpSpMkLst>
            <pc:docMk/>
            <pc:sldMk cId="0" sldId="260"/>
            <ac:grpSpMk id="2" creationId="{102A9A66-7345-A9B8-957A-E505990B87FB}"/>
          </ac:grpSpMkLst>
        </pc:grpChg>
        <pc:picChg chg="mod">
          <ac:chgData name="THALLES DAVIDY GONDIN DA SILVEIRA" userId="a3416262-0fac-4856-884e-2c0d7e6e898d" providerId="ADAL" clId="{1418AD27-A7E6-4FFD-8E07-7066023A75C3}" dt="2026-08-14T14:28:53.436" v="10" actId="1076"/>
          <ac:picMkLst>
            <pc:docMk/>
            <pc:sldMk cId="0" sldId="260"/>
            <ac:picMk id="132" creationId="{00000000-0000-0000-0000-000000000000}"/>
          </ac:picMkLst>
        </pc:picChg>
      </pc:sldChg>
      <pc:sldChg chg="addSp modSp mod">
        <pc:chgData name="THALLES DAVIDY GONDIN DA SILVEIRA" userId="a3416262-0fac-4856-884e-2c0d7e6e898d" providerId="ADAL" clId="{1418AD27-A7E6-4FFD-8E07-7066023A75C3}" dt="2026-08-14T14:29:49.465" v="22" actId="1076"/>
        <pc:sldMkLst>
          <pc:docMk/>
          <pc:sldMk cId="0" sldId="261"/>
        </pc:sldMkLst>
        <pc:spChg chg="mod">
          <ac:chgData name="THALLES DAVIDY GONDIN DA SILVEIRA" userId="a3416262-0fac-4856-884e-2c0d7e6e898d" providerId="ADAL" clId="{1418AD27-A7E6-4FFD-8E07-7066023A75C3}" dt="2026-08-14T14:29:43.994" v="20" actId="1076"/>
          <ac:spMkLst>
            <pc:docMk/>
            <pc:sldMk cId="0" sldId="261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49.465" v="22" actId="1076"/>
          <ac:spMkLst>
            <pc:docMk/>
            <pc:sldMk cId="0" sldId="261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5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6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7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29:22.691" v="15" actId="164"/>
          <ac:spMkLst>
            <pc:docMk/>
            <pc:sldMk cId="0" sldId="261"/>
            <ac:spMk id="178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4:29:46.585" v="21" actId="1076"/>
          <ac:grpSpMkLst>
            <pc:docMk/>
            <pc:sldMk cId="0" sldId="261"/>
            <ac:grpSpMk id="2" creationId="{766B5586-90F4-6DBF-9D9A-72658B2F6754}"/>
          </ac:grpSpMkLst>
        </pc:grpChg>
        <pc:picChg chg="mod">
          <ac:chgData name="THALLES DAVIDY GONDIN DA SILVEIRA" userId="a3416262-0fac-4856-884e-2c0d7e6e898d" providerId="ADAL" clId="{1418AD27-A7E6-4FFD-8E07-7066023A75C3}" dt="2026-08-14T14:29:40.812" v="19" actId="1076"/>
          <ac:picMkLst>
            <pc:docMk/>
            <pc:sldMk cId="0" sldId="261"/>
            <ac:picMk id="132" creationId="{00000000-0000-0000-0000-000000000000}"/>
          </ac:picMkLst>
        </pc:picChg>
      </pc:sldChg>
      <pc:sldMasterChg chg="addSp mod">
        <pc:chgData name="THALLES DAVIDY GONDIN DA SILVEIRA" userId="a3416262-0fac-4856-884e-2c0d7e6e898d" providerId="ADAL" clId="{1418AD27-A7E6-4FFD-8E07-7066023A75C3}" dt="2026-08-14T14:28:07.451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4T14:28:07.451" v="0" actId="33475"/>
          <ac:spMkLst>
            <pc:docMk/>
            <pc:sldMasterMk cId="2640674209" sldId="2147483648"/>
            <ac:spMk id="9" creationId="{B7909233-B5C3-4864-7C06-F6C047DFFEE2}"/>
          </ac:spMkLst>
        </pc:spChg>
        <pc:spChg chg="add">
          <ac:chgData name="THALLES DAVIDY GONDIN DA SILVEIRA" userId="a3416262-0fac-4856-884e-2c0d7e6e898d" providerId="ADAL" clId="{1418AD27-A7E6-4FFD-8E07-7066023A75C3}" dt="2026-08-14T14:28:07.451" v="0" actId="33475"/>
          <ac:spMkLst>
            <pc:docMk/>
            <pc:sldMasterMk cId="2640674209" sldId="2147483648"/>
            <ac:spMk id="10" creationId="{7F1BA4FF-17C6-B9AB-D3C8-4E487A2D932F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909233-B5C3-4864-7C06-F6C047DFFEE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1BA4FF-17C6-B9AB-D3C8-4E487A2D93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2" name="Hapvi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500" b="1">
                <a:solidFill>
                  <a:srgbClr val="FFFFFF"/>
                </a:solidFill>
              </a:rPr>
              <a:t>Obras concluídas</a:t>
            </a:r>
          </a:p>
          <a:p>
            <a:pPr algn="l"/>
            <a:r>
              <a:rPr lang="pt-BR" sz="3500" b="1">
                <a:solidFill>
                  <a:srgbClr val="FFFFFF"/>
                </a:solidFill>
              </a:rPr>
              <a:t>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172.9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R$ 245.0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69748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Retrofit</a:t>
            </a:r>
          </a:p>
          <a:p>
            <a:pPr algn="l"/>
            <a:r>
              <a:rPr lang="pt-BR" sz="1400" b="1">
                <a:solidFill>
                  <a:srgbClr val="FFFFFF"/>
                </a:solidFill>
              </a:rPr>
              <a:t>tipologia líder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220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172.9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Área (m²)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R$ 245.0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Tipologia líder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Retrofit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maior área construída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618488" y="3163824"/>
            <a:ext cx="10515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670048" y="3163824"/>
            <a:ext cx="15544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224528" y="3163824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65836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1618488" y="3474720"/>
            <a:ext cx="10515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153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2670048" y="3474720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108.6 mil m²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4224528" y="347472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R$ 151.4 mi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65836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1618488" y="3785616"/>
            <a:ext cx="10515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67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2670048" y="3785616"/>
            <a:ext cx="15544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64.3 mil m²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4224528" y="378561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R$ 93.6 mi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400800" y="3145536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fev/26, com 28.7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Adequação Regulatória (62.2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Eficiência Operacional, com R$ 2.576/m².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Tipologia de Obra mais representativa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Tipo Obra (3) mais representativo em área: Obra regulatória com baixa intervenção.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construída</a:t>
            </a:r>
          </a:p>
        </p:txBody>
      </p:sp>
      <p:pic>
        <p:nvPicPr>
          <p:cNvPr id="101" name="Curva mens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1234440"/>
            <a:ext cx="11018520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Classificação de Obra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8287512" y="1371600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 dirty="0">
                <a:solidFill>
                  <a:srgbClr val="64748B"/>
                </a:solidFill>
              </a:rPr>
              <a:t>Classificação de Obra</a:t>
            </a:r>
          </a:p>
        </p:txBody>
      </p:sp>
      <p:pic>
        <p:nvPicPr>
          <p:cNvPr id="132" name="R$/m² por Classificação de Ob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608" y="1161288"/>
            <a:ext cx="7142234" cy="4919472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35CF5BD-3161-076A-E431-1CDBD6254F8D}"/>
              </a:ext>
            </a:extLst>
          </p:cNvPr>
          <p:cNvGrpSpPr/>
          <p:nvPr/>
        </p:nvGrpSpPr>
        <p:grpSpPr>
          <a:xfrm>
            <a:off x="7482840" y="1700784"/>
            <a:ext cx="4416552" cy="2487168"/>
            <a:chOff x="7973568" y="1353312"/>
            <a:chExt cx="4416552" cy="2487168"/>
          </a:xfrm>
        </p:grpSpPr>
        <p:sp>
          <p:nvSpPr>
            <p:cNvPr id="150" name="Text 150"/>
            <p:cNvSpPr txBox="1"/>
            <p:nvPr/>
          </p:nvSpPr>
          <p:spPr>
            <a:xfrm>
              <a:off x="7973568" y="1353312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9756648" y="1353312"/>
              <a:ext cx="640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10396728" y="1353312"/>
              <a:ext cx="9144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11311128" y="1353312"/>
              <a:ext cx="1078992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973568" y="1664208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Adequação Regulatória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9756648" y="1664208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93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10396728" y="1664208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62.2 mil m²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11311128" y="1664208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R$ 581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7973568" y="1975104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Suficiência de Rede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9756648" y="1975104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30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0396728" y="1975104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42.0 mil m²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11311128" y="1975104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R$ 2.016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7973568" y="228600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Verticalização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756648" y="2286000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31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396728" y="2286000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33.2 mil m²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11311128" y="2286000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R$ 1.797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73568" y="259689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Eficiência Operacional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9756648" y="2596896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39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10396728" y="2596896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14.5 mil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1311128" y="2596896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R$ 2.576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7973568" y="2907792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Estratégica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9756648" y="2907792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10396728" y="2907792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6.4 mil m²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11311128" y="2907792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R$ 2.427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7973568" y="3218688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Fachada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9756648" y="3218688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10396728" y="3218688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4.9 mil m²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11311128" y="3218688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R$ 353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7973568" y="3529584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Padronização de Unidade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9756648" y="3529584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10396728" y="3529584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3.9 mil m²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11311128" y="3529584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R$ 452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Tipologia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329184" y="815269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R$/m² por Tipologia de Obra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8378952" y="1387154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 dirty="0">
                <a:solidFill>
                  <a:srgbClr val="64748B"/>
                </a:solidFill>
              </a:rPr>
              <a:t>Tipologia de Obra</a:t>
            </a:r>
          </a:p>
        </p:txBody>
      </p:sp>
      <p:pic>
        <p:nvPicPr>
          <p:cNvPr id="132" name="R$/m² por Tipologia de Ob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" y="1318189"/>
            <a:ext cx="7315200" cy="4919472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102A9A66-7345-A9B8-957A-E505990B87FB}"/>
              </a:ext>
            </a:extLst>
          </p:cNvPr>
          <p:cNvGrpSpPr/>
          <p:nvPr/>
        </p:nvGrpSpPr>
        <p:grpSpPr>
          <a:xfrm>
            <a:off x="7574280" y="1797694"/>
            <a:ext cx="4416552" cy="1554480"/>
            <a:chOff x="7973568" y="1353312"/>
            <a:chExt cx="4416552" cy="1554480"/>
          </a:xfrm>
        </p:grpSpPr>
        <p:sp>
          <p:nvSpPr>
            <p:cNvPr id="150" name="Text 150"/>
            <p:cNvSpPr txBox="1"/>
            <p:nvPr/>
          </p:nvSpPr>
          <p:spPr>
            <a:xfrm>
              <a:off x="7973568" y="1353312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9756648" y="1353312"/>
              <a:ext cx="640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10396728" y="1353312"/>
              <a:ext cx="9144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11311128" y="1353312"/>
              <a:ext cx="1078992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973568" y="1664208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Retrofit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9756648" y="1664208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159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10396728" y="1664208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110.3 mil m²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11311128" y="1664208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R$ 1.048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7973568" y="1975104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Nova Unidade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9756648" y="1975104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53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0396728" y="1975104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57.1 mil m²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11311128" y="1975104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R$ 2.115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7973568" y="228600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Nova/R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756648" y="2286000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7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396728" y="2286000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5.4 mil m²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11311128" y="2286000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R$ 1.574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73568" y="259689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Ampliação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9756648" y="2596896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10396728" y="2596896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159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1311128" y="2596896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R$ 1.535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Tipo Obra (3)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358281" y="922091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R$/m² por Tipo Obra (3)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8430981" y="1455733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 dirty="0">
                <a:solidFill>
                  <a:srgbClr val="64748B"/>
                </a:solidFill>
              </a:rPr>
              <a:t>Tipo Obra (3)</a:t>
            </a:r>
          </a:p>
        </p:txBody>
      </p:sp>
      <p:pic>
        <p:nvPicPr>
          <p:cNvPr id="132" name="R$/m² por Tipo Obra (3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281" y="1333571"/>
            <a:ext cx="6934483" cy="4663440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766B5586-90F4-6DBF-9D9A-72658B2F6754}"/>
              </a:ext>
            </a:extLst>
          </p:cNvPr>
          <p:cNvGrpSpPr/>
          <p:nvPr/>
        </p:nvGrpSpPr>
        <p:grpSpPr>
          <a:xfrm>
            <a:off x="7539441" y="1823330"/>
            <a:ext cx="4416552" cy="2487168"/>
            <a:chOff x="7973568" y="1353312"/>
            <a:chExt cx="4416552" cy="2487168"/>
          </a:xfrm>
        </p:grpSpPr>
        <p:sp>
          <p:nvSpPr>
            <p:cNvPr id="150" name="Text 150"/>
            <p:cNvSpPr txBox="1"/>
            <p:nvPr/>
          </p:nvSpPr>
          <p:spPr>
            <a:xfrm>
              <a:off x="7973568" y="1353312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9756648" y="1353312"/>
              <a:ext cx="640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10396728" y="1353312"/>
              <a:ext cx="9144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11311128" y="1353312"/>
              <a:ext cx="1078992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973568" y="1664208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baixa intervenção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9756648" y="1664208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67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10396728" y="1664208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54.5 mil m²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11311128" y="1664208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R$ 374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7973568" y="1975104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Clínicas Ambulatoriais, Laboratórios e Coletas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9756648" y="1975104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88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0396728" y="1975104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52.8 mil m²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11311128" y="1975104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R$ 1.861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7973568" y="228600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756648" y="2286000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24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396728" y="2286000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34.6 mil m²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11311128" y="2286000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R$ 1.645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73568" y="259689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Pronto Atendimentos e Clínicas Complexas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9756648" y="2596896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10396728" y="2596896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22.6 mil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1311128" y="2596896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R$ 2.351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7973568" y="2907792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média intervenção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9756648" y="2907792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16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10396728" y="2907792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4.8 mil m²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11311128" y="2907792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R$ 1.450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7973568" y="3218688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alta intervenção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9756648" y="3218688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11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10396728" y="3218688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2.3 mil m²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11311128" y="3218688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R$ 3.023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7973568" y="3529584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Adm e Outros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9756648" y="3529584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10396728" y="3529584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1.2 mil m²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11311128" y="3529584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R$ 1.878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Indicadores geográficos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00" name="Text 6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Indicadores por Região e Estado</a:t>
            </a:r>
          </a:p>
        </p:txBody>
      </p:sp>
      <p:sp>
        <p:nvSpPr>
          <p:cNvPr id="601" name="Text 601"/>
          <p:cNvSpPr txBox="1"/>
          <p:nvPr/>
        </p:nvSpPr>
        <p:spPr>
          <a:xfrm>
            <a:off x="658368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008F5A"/>
                </a:solidFill>
              </a:rPr>
              <a:t>Região</a:t>
            </a:r>
          </a:p>
        </p:txBody>
      </p:sp>
      <p:sp>
        <p:nvSpPr>
          <p:cNvPr id="610" name="Text 610"/>
          <p:cNvSpPr txBox="1"/>
          <p:nvPr/>
        </p:nvSpPr>
        <p:spPr>
          <a:xfrm>
            <a:off x="65836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Região</a:t>
            </a:r>
          </a:p>
        </p:txBody>
      </p:sp>
      <p:sp>
        <p:nvSpPr>
          <p:cNvPr id="611" name="Text 611"/>
          <p:cNvSpPr txBox="1"/>
          <p:nvPr/>
        </p:nvSpPr>
        <p:spPr>
          <a:xfrm>
            <a:off x="1984248" y="1600200"/>
            <a:ext cx="7772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12" name="Text 612"/>
          <p:cNvSpPr txBox="1"/>
          <p:nvPr/>
        </p:nvSpPr>
        <p:spPr>
          <a:xfrm>
            <a:off x="2761488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13" name="Text 613"/>
          <p:cNvSpPr txBox="1"/>
          <p:nvPr/>
        </p:nvSpPr>
        <p:spPr>
          <a:xfrm>
            <a:off x="390448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14" name="Text 614"/>
          <p:cNvSpPr txBox="1"/>
          <p:nvPr/>
        </p:nvSpPr>
        <p:spPr>
          <a:xfrm>
            <a:off x="5230368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15" name="Text 615"/>
          <p:cNvSpPr txBox="1"/>
          <p:nvPr/>
        </p:nvSpPr>
        <p:spPr>
          <a:xfrm>
            <a:off x="65836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SE</a:t>
            </a:r>
          </a:p>
        </p:txBody>
      </p:sp>
      <p:sp>
        <p:nvSpPr>
          <p:cNvPr id="616" name="Text 616"/>
          <p:cNvSpPr txBox="1"/>
          <p:nvPr/>
        </p:nvSpPr>
        <p:spPr>
          <a:xfrm>
            <a:off x="1984248" y="1911096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95</a:t>
            </a:r>
          </a:p>
        </p:txBody>
      </p:sp>
      <p:sp>
        <p:nvSpPr>
          <p:cNvPr id="617" name="Text 617"/>
          <p:cNvSpPr txBox="1"/>
          <p:nvPr/>
        </p:nvSpPr>
        <p:spPr>
          <a:xfrm>
            <a:off x="2761488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96.4 mil m²</a:t>
            </a:r>
          </a:p>
        </p:txBody>
      </p:sp>
      <p:sp>
        <p:nvSpPr>
          <p:cNvPr id="618" name="Text 618"/>
          <p:cNvSpPr txBox="1"/>
          <p:nvPr/>
        </p:nvSpPr>
        <p:spPr>
          <a:xfrm>
            <a:off x="390448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R$ 149.7 mi</a:t>
            </a:r>
          </a:p>
        </p:txBody>
      </p:sp>
      <p:sp>
        <p:nvSpPr>
          <p:cNvPr id="619" name="Text 619"/>
          <p:cNvSpPr txBox="1"/>
          <p:nvPr/>
        </p:nvSpPr>
        <p:spPr>
          <a:xfrm>
            <a:off x="5230368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R$ 1.554</a:t>
            </a:r>
          </a:p>
        </p:txBody>
      </p:sp>
      <p:sp>
        <p:nvSpPr>
          <p:cNvPr id="620" name="Text 620"/>
          <p:cNvSpPr txBox="1"/>
          <p:nvPr/>
        </p:nvSpPr>
        <p:spPr>
          <a:xfrm>
            <a:off x="65836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NE</a:t>
            </a:r>
          </a:p>
        </p:txBody>
      </p:sp>
      <p:sp>
        <p:nvSpPr>
          <p:cNvPr id="621" name="Text 621"/>
          <p:cNvSpPr txBox="1"/>
          <p:nvPr/>
        </p:nvSpPr>
        <p:spPr>
          <a:xfrm>
            <a:off x="1984248" y="2221992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82</a:t>
            </a:r>
          </a:p>
        </p:txBody>
      </p:sp>
      <p:sp>
        <p:nvSpPr>
          <p:cNvPr id="622" name="Text 622"/>
          <p:cNvSpPr txBox="1"/>
          <p:nvPr/>
        </p:nvSpPr>
        <p:spPr>
          <a:xfrm>
            <a:off x="2761488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44.8 mil m²</a:t>
            </a:r>
          </a:p>
        </p:txBody>
      </p:sp>
      <p:sp>
        <p:nvSpPr>
          <p:cNvPr id="623" name="Text 623"/>
          <p:cNvSpPr txBox="1"/>
          <p:nvPr/>
        </p:nvSpPr>
        <p:spPr>
          <a:xfrm>
            <a:off x="390448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R$ 52.7 mi</a:t>
            </a:r>
          </a:p>
        </p:txBody>
      </p:sp>
      <p:sp>
        <p:nvSpPr>
          <p:cNvPr id="624" name="Text 624"/>
          <p:cNvSpPr txBox="1"/>
          <p:nvPr/>
        </p:nvSpPr>
        <p:spPr>
          <a:xfrm>
            <a:off x="5230368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R$ 1.175</a:t>
            </a:r>
          </a:p>
        </p:txBody>
      </p:sp>
      <p:sp>
        <p:nvSpPr>
          <p:cNvPr id="625" name="Text 625"/>
          <p:cNvSpPr txBox="1"/>
          <p:nvPr/>
        </p:nvSpPr>
        <p:spPr>
          <a:xfrm>
            <a:off x="65836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</a:t>
            </a:r>
          </a:p>
        </p:txBody>
      </p:sp>
      <p:sp>
        <p:nvSpPr>
          <p:cNvPr id="626" name="Text 626"/>
          <p:cNvSpPr txBox="1"/>
          <p:nvPr/>
        </p:nvSpPr>
        <p:spPr>
          <a:xfrm>
            <a:off x="1984248" y="253288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</a:t>
            </a:r>
          </a:p>
        </p:txBody>
      </p:sp>
      <p:sp>
        <p:nvSpPr>
          <p:cNvPr id="627" name="Text 627"/>
          <p:cNvSpPr txBox="1"/>
          <p:nvPr/>
        </p:nvSpPr>
        <p:spPr>
          <a:xfrm>
            <a:off x="2761488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21.0 mil m²</a:t>
            </a:r>
          </a:p>
        </p:txBody>
      </p:sp>
      <p:sp>
        <p:nvSpPr>
          <p:cNvPr id="628" name="Text 628"/>
          <p:cNvSpPr txBox="1"/>
          <p:nvPr/>
        </p:nvSpPr>
        <p:spPr>
          <a:xfrm>
            <a:off x="390448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R$ 24.6 mi</a:t>
            </a:r>
          </a:p>
        </p:txBody>
      </p:sp>
      <p:sp>
        <p:nvSpPr>
          <p:cNvPr id="629" name="Text 629"/>
          <p:cNvSpPr txBox="1"/>
          <p:nvPr/>
        </p:nvSpPr>
        <p:spPr>
          <a:xfrm>
            <a:off x="5230368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R$ 1.169</a:t>
            </a:r>
          </a:p>
        </p:txBody>
      </p:sp>
      <p:sp>
        <p:nvSpPr>
          <p:cNvPr id="630" name="Text 630"/>
          <p:cNvSpPr txBox="1"/>
          <p:nvPr/>
        </p:nvSpPr>
        <p:spPr>
          <a:xfrm>
            <a:off x="65836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CO</a:t>
            </a:r>
          </a:p>
        </p:txBody>
      </p:sp>
      <p:sp>
        <p:nvSpPr>
          <p:cNvPr id="631" name="Text 631"/>
          <p:cNvSpPr txBox="1"/>
          <p:nvPr/>
        </p:nvSpPr>
        <p:spPr>
          <a:xfrm>
            <a:off x="1984248" y="2843784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632" name="Text 632"/>
          <p:cNvSpPr txBox="1"/>
          <p:nvPr/>
        </p:nvSpPr>
        <p:spPr>
          <a:xfrm>
            <a:off x="2761488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633" name="Text 633"/>
          <p:cNvSpPr txBox="1"/>
          <p:nvPr/>
        </p:nvSpPr>
        <p:spPr>
          <a:xfrm>
            <a:off x="390448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R$ 9.8 mi</a:t>
            </a:r>
          </a:p>
        </p:txBody>
      </p:sp>
      <p:sp>
        <p:nvSpPr>
          <p:cNvPr id="634" name="Text 634"/>
          <p:cNvSpPr txBox="1"/>
          <p:nvPr/>
        </p:nvSpPr>
        <p:spPr>
          <a:xfrm>
            <a:off x="5230368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R$ 1.815</a:t>
            </a:r>
          </a:p>
        </p:txBody>
      </p:sp>
      <p:sp>
        <p:nvSpPr>
          <p:cNvPr id="635" name="Text 635"/>
          <p:cNvSpPr txBox="1"/>
          <p:nvPr/>
        </p:nvSpPr>
        <p:spPr>
          <a:xfrm>
            <a:off x="65836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</a:t>
            </a:r>
          </a:p>
        </p:txBody>
      </p:sp>
      <p:sp>
        <p:nvSpPr>
          <p:cNvPr id="636" name="Text 636"/>
          <p:cNvSpPr txBox="1"/>
          <p:nvPr/>
        </p:nvSpPr>
        <p:spPr>
          <a:xfrm>
            <a:off x="1984248" y="3154680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637" name="Text 637"/>
          <p:cNvSpPr txBox="1"/>
          <p:nvPr/>
        </p:nvSpPr>
        <p:spPr>
          <a:xfrm>
            <a:off x="2761488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5.3 mil m²</a:t>
            </a:r>
          </a:p>
        </p:txBody>
      </p:sp>
      <p:sp>
        <p:nvSpPr>
          <p:cNvPr id="638" name="Text 638"/>
          <p:cNvSpPr txBox="1"/>
          <p:nvPr/>
        </p:nvSpPr>
        <p:spPr>
          <a:xfrm>
            <a:off x="390448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 mi</a:t>
            </a:r>
          </a:p>
        </p:txBody>
      </p:sp>
      <p:sp>
        <p:nvSpPr>
          <p:cNvPr id="639" name="Text 639"/>
          <p:cNvSpPr txBox="1"/>
          <p:nvPr/>
        </p:nvSpPr>
        <p:spPr>
          <a:xfrm>
            <a:off x="5230368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R$ 1.560</a:t>
            </a:r>
          </a:p>
        </p:txBody>
      </p:sp>
      <p:sp>
        <p:nvSpPr>
          <p:cNvPr id="670" name="Text 670"/>
          <p:cNvSpPr txBox="1"/>
          <p:nvPr/>
        </p:nvSpPr>
        <p:spPr>
          <a:xfrm>
            <a:off x="6446520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Top Estados por valor negociado</a:t>
            </a:r>
          </a:p>
        </p:txBody>
      </p:sp>
      <p:sp>
        <p:nvSpPr>
          <p:cNvPr id="680" name="Text 680"/>
          <p:cNvSpPr txBox="1"/>
          <p:nvPr/>
        </p:nvSpPr>
        <p:spPr>
          <a:xfrm>
            <a:off x="64465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681" name="Text 681"/>
          <p:cNvSpPr txBox="1"/>
          <p:nvPr/>
        </p:nvSpPr>
        <p:spPr>
          <a:xfrm>
            <a:off x="7589520" y="1600200"/>
            <a:ext cx="6858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82" name="Text 682"/>
          <p:cNvSpPr txBox="1"/>
          <p:nvPr/>
        </p:nvSpPr>
        <p:spPr>
          <a:xfrm>
            <a:off x="82753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83" name="Text 683"/>
          <p:cNvSpPr txBox="1"/>
          <p:nvPr/>
        </p:nvSpPr>
        <p:spPr>
          <a:xfrm>
            <a:off x="9418320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84" name="Text 684"/>
          <p:cNvSpPr txBox="1"/>
          <p:nvPr/>
        </p:nvSpPr>
        <p:spPr>
          <a:xfrm>
            <a:off x="10744200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85" name="Text 685"/>
          <p:cNvSpPr txBox="1"/>
          <p:nvPr/>
        </p:nvSpPr>
        <p:spPr>
          <a:xfrm>
            <a:off x="64465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686" name="Text 686"/>
          <p:cNvSpPr txBox="1"/>
          <p:nvPr/>
        </p:nvSpPr>
        <p:spPr>
          <a:xfrm>
            <a:off x="7589520" y="1911096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73</a:t>
            </a:r>
          </a:p>
        </p:txBody>
      </p:sp>
      <p:sp>
        <p:nvSpPr>
          <p:cNvPr id="687" name="Text 687"/>
          <p:cNvSpPr txBox="1"/>
          <p:nvPr/>
        </p:nvSpPr>
        <p:spPr>
          <a:xfrm>
            <a:off x="82753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82.7 mil m²</a:t>
            </a:r>
          </a:p>
        </p:txBody>
      </p:sp>
      <p:sp>
        <p:nvSpPr>
          <p:cNvPr id="688" name="Text 688"/>
          <p:cNvSpPr txBox="1"/>
          <p:nvPr/>
        </p:nvSpPr>
        <p:spPr>
          <a:xfrm>
            <a:off x="9418320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R$ 131.7 mi</a:t>
            </a:r>
          </a:p>
        </p:txBody>
      </p:sp>
      <p:sp>
        <p:nvSpPr>
          <p:cNvPr id="689" name="Text 689"/>
          <p:cNvSpPr txBox="1"/>
          <p:nvPr/>
        </p:nvSpPr>
        <p:spPr>
          <a:xfrm>
            <a:off x="10744200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R$ 1.593</a:t>
            </a:r>
          </a:p>
        </p:txBody>
      </p:sp>
      <p:sp>
        <p:nvSpPr>
          <p:cNvPr id="690" name="Text 690"/>
          <p:cNvSpPr txBox="1"/>
          <p:nvPr/>
        </p:nvSpPr>
        <p:spPr>
          <a:xfrm>
            <a:off x="64465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691" name="Text 691"/>
          <p:cNvSpPr txBox="1"/>
          <p:nvPr/>
        </p:nvSpPr>
        <p:spPr>
          <a:xfrm>
            <a:off x="7589520" y="2221992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692" name="Text 692"/>
          <p:cNvSpPr txBox="1"/>
          <p:nvPr/>
        </p:nvSpPr>
        <p:spPr>
          <a:xfrm>
            <a:off x="82753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9.8 mil m²</a:t>
            </a:r>
          </a:p>
        </p:txBody>
      </p:sp>
      <p:sp>
        <p:nvSpPr>
          <p:cNvPr id="693" name="Text 693"/>
          <p:cNvSpPr txBox="1"/>
          <p:nvPr/>
        </p:nvSpPr>
        <p:spPr>
          <a:xfrm>
            <a:off x="9418320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R$ 19.8 mi</a:t>
            </a:r>
          </a:p>
        </p:txBody>
      </p:sp>
      <p:sp>
        <p:nvSpPr>
          <p:cNvPr id="694" name="Text 694"/>
          <p:cNvSpPr txBox="1"/>
          <p:nvPr/>
        </p:nvSpPr>
        <p:spPr>
          <a:xfrm>
            <a:off x="10744200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R$ 2.013</a:t>
            </a:r>
          </a:p>
        </p:txBody>
      </p:sp>
      <p:sp>
        <p:nvSpPr>
          <p:cNvPr id="695" name="Text 695"/>
          <p:cNvSpPr txBox="1"/>
          <p:nvPr/>
        </p:nvSpPr>
        <p:spPr>
          <a:xfrm>
            <a:off x="64465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696" name="Text 696"/>
          <p:cNvSpPr txBox="1"/>
          <p:nvPr/>
        </p:nvSpPr>
        <p:spPr>
          <a:xfrm>
            <a:off x="7589520" y="2532888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697" name="Text 697"/>
          <p:cNvSpPr txBox="1"/>
          <p:nvPr/>
        </p:nvSpPr>
        <p:spPr>
          <a:xfrm>
            <a:off x="82753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698" name="Text 698"/>
          <p:cNvSpPr txBox="1"/>
          <p:nvPr/>
        </p:nvSpPr>
        <p:spPr>
          <a:xfrm>
            <a:off x="9418320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R$ 16.1 mi</a:t>
            </a:r>
          </a:p>
        </p:txBody>
      </p:sp>
      <p:sp>
        <p:nvSpPr>
          <p:cNvPr id="699" name="Text 699"/>
          <p:cNvSpPr txBox="1"/>
          <p:nvPr/>
        </p:nvSpPr>
        <p:spPr>
          <a:xfrm>
            <a:off x="10744200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R$ 2.932</a:t>
            </a:r>
          </a:p>
        </p:txBody>
      </p:sp>
      <p:sp>
        <p:nvSpPr>
          <p:cNvPr id="700" name="Text 700"/>
          <p:cNvSpPr txBox="1"/>
          <p:nvPr/>
        </p:nvSpPr>
        <p:spPr>
          <a:xfrm>
            <a:off x="64465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701" name="Text 701"/>
          <p:cNvSpPr txBox="1"/>
          <p:nvPr/>
        </p:nvSpPr>
        <p:spPr>
          <a:xfrm>
            <a:off x="7589520" y="2843784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</a:t>
            </a:r>
          </a:p>
        </p:txBody>
      </p:sp>
      <p:sp>
        <p:nvSpPr>
          <p:cNvPr id="702" name="Text 702"/>
          <p:cNvSpPr txBox="1"/>
          <p:nvPr/>
        </p:nvSpPr>
        <p:spPr>
          <a:xfrm>
            <a:off x="82753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14.0 mil m²</a:t>
            </a:r>
          </a:p>
        </p:txBody>
      </p:sp>
      <p:sp>
        <p:nvSpPr>
          <p:cNvPr id="703" name="Text 703"/>
          <p:cNvSpPr txBox="1"/>
          <p:nvPr/>
        </p:nvSpPr>
        <p:spPr>
          <a:xfrm>
            <a:off x="9418320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R$ 14.4 mi</a:t>
            </a:r>
          </a:p>
        </p:txBody>
      </p:sp>
      <p:sp>
        <p:nvSpPr>
          <p:cNvPr id="704" name="Text 704"/>
          <p:cNvSpPr txBox="1"/>
          <p:nvPr/>
        </p:nvSpPr>
        <p:spPr>
          <a:xfrm>
            <a:off x="10744200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R$ 1.030</a:t>
            </a:r>
          </a:p>
        </p:txBody>
      </p:sp>
      <p:sp>
        <p:nvSpPr>
          <p:cNvPr id="705" name="Text 705"/>
          <p:cNvSpPr txBox="1"/>
          <p:nvPr/>
        </p:nvSpPr>
        <p:spPr>
          <a:xfrm>
            <a:off x="64465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706" name="Text 706"/>
          <p:cNvSpPr txBox="1"/>
          <p:nvPr/>
        </p:nvSpPr>
        <p:spPr>
          <a:xfrm>
            <a:off x="7589520" y="3154680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7" name="Text 707"/>
          <p:cNvSpPr txBox="1"/>
          <p:nvPr/>
        </p:nvSpPr>
        <p:spPr>
          <a:xfrm>
            <a:off x="82753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3.7 mil m²</a:t>
            </a:r>
          </a:p>
        </p:txBody>
      </p:sp>
      <p:sp>
        <p:nvSpPr>
          <p:cNvPr id="708" name="Text 708"/>
          <p:cNvSpPr txBox="1"/>
          <p:nvPr/>
        </p:nvSpPr>
        <p:spPr>
          <a:xfrm>
            <a:off x="9418320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 mi</a:t>
            </a:r>
          </a:p>
        </p:txBody>
      </p:sp>
      <p:sp>
        <p:nvSpPr>
          <p:cNvPr id="709" name="Text 709"/>
          <p:cNvSpPr txBox="1"/>
          <p:nvPr/>
        </p:nvSpPr>
        <p:spPr>
          <a:xfrm>
            <a:off x="10744200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R$ 2.726</a:t>
            </a:r>
          </a:p>
        </p:txBody>
      </p:sp>
      <p:sp>
        <p:nvSpPr>
          <p:cNvPr id="710" name="Text 710"/>
          <p:cNvSpPr txBox="1"/>
          <p:nvPr/>
        </p:nvSpPr>
        <p:spPr>
          <a:xfrm>
            <a:off x="64465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711" name="Text 711"/>
          <p:cNvSpPr txBox="1"/>
          <p:nvPr/>
        </p:nvSpPr>
        <p:spPr>
          <a:xfrm>
            <a:off x="7589520" y="3465576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</a:t>
            </a:r>
          </a:p>
        </p:txBody>
      </p:sp>
      <p:sp>
        <p:nvSpPr>
          <p:cNvPr id="712" name="Text 712"/>
          <p:cNvSpPr txBox="1"/>
          <p:nvPr/>
        </p:nvSpPr>
        <p:spPr>
          <a:xfrm>
            <a:off x="82753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15.5 mil m²</a:t>
            </a:r>
          </a:p>
        </p:txBody>
      </p:sp>
      <p:sp>
        <p:nvSpPr>
          <p:cNvPr id="713" name="Text 713"/>
          <p:cNvSpPr txBox="1"/>
          <p:nvPr/>
        </p:nvSpPr>
        <p:spPr>
          <a:xfrm>
            <a:off x="9418320" y="346557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R$ 8.5 mi</a:t>
            </a:r>
          </a:p>
        </p:txBody>
      </p:sp>
      <p:sp>
        <p:nvSpPr>
          <p:cNvPr id="714" name="Text 714"/>
          <p:cNvSpPr txBox="1"/>
          <p:nvPr/>
        </p:nvSpPr>
        <p:spPr>
          <a:xfrm>
            <a:off x="10744200" y="346557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R$ 546</a:t>
            </a:r>
          </a:p>
        </p:txBody>
      </p:sp>
      <p:sp>
        <p:nvSpPr>
          <p:cNvPr id="715" name="Text 715"/>
          <p:cNvSpPr txBox="1"/>
          <p:nvPr/>
        </p:nvSpPr>
        <p:spPr>
          <a:xfrm>
            <a:off x="64465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716" name="Text 716"/>
          <p:cNvSpPr txBox="1"/>
          <p:nvPr/>
        </p:nvSpPr>
        <p:spPr>
          <a:xfrm>
            <a:off x="7589520" y="3776472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</a:t>
            </a:r>
          </a:p>
        </p:txBody>
      </p:sp>
      <p:sp>
        <p:nvSpPr>
          <p:cNvPr id="717" name="Text 717"/>
          <p:cNvSpPr txBox="1"/>
          <p:nvPr/>
        </p:nvSpPr>
        <p:spPr>
          <a:xfrm>
            <a:off x="82753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9.7 mil m²</a:t>
            </a:r>
          </a:p>
        </p:txBody>
      </p:sp>
      <p:sp>
        <p:nvSpPr>
          <p:cNvPr id="718" name="Text 718"/>
          <p:cNvSpPr txBox="1"/>
          <p:nvPr/>
        </p:nvSpPr>
        <p:spPr>
          <a:xfrm>
            <a:off x="9418320" y="377647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R$ 7.9 mi</a:t>
            </a:r>
          </a:p>
        </p:txBody>
      </p:sp>
      <p:sp>
        <p:nvSpPr>
          <p:cNvPr id="719" name="Text 719"/>
          <p:cNvSpPr txBox="1"/>
          <p:nvPr/>
        </p:nvSpPr>
        <p:spPr>
          <a:xfrm>
            <a:off x="10744200" y="377647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R$ 819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64465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721" name="Text 721"/>
          <p:cNvSpPr txBox="1"/>
          <p:nvPr/>
        </p:nvSpPr>
        <p:spPr>
          <a:xfrm>
            <a:off x="7589520" y="4087368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722" name="Text 722"/>
          <p:cNvSpPr txBox="1"/>
          <p:nvPr/>
        </p:nvSpPr>
        <p:spPr>
          <a:xfrm>
            <a:off x="82753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3.7 mil m²</a:t>
            </a:r>
          </a:p>
        </p:txBody>
      </p:sp>
      <p:sp>
        <p:nvSpPr>
          <p:cNvPr id="723" name="Text 723"/>
          <p:cNvSpPr txBox="1"/>
          <p:nvPr/>
        </p:nvSpPr>
        <p:spPr>
          <a:xfrm>
            <a:off x="9418320" y="408736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R$ 6.7 mi</a:t>
            </a:r>
          </a:p>
        </p:txBody>
      </p:sp>
      <p:sp>
        <p:nvSpPr>
          <p:cNvPr id="724" name="Text 724"/>
          <p:cNvSpPr txBox="1"/>
          <p:nvPr/>
        </p:nvSpPr>
        <p:spPr>
          <a:xfrm>
            <a:off x="10744200" y="4087368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R$ 1.805</a:t>
            </a:r>
          </a:p>
        </p:txBody>
      </p:sp>
      <p:sp>
        <p:nvSpPr>
          <p:cNvPr id="725" name="Text 725"/>
          <p:cNvSpPr txBox="1"/>
          <p:nvPr/>
        </p:nvSpPr>
        <p:spPr>
          <a:xfrm>
            <a:off x="64465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</a:t>
            </a:r>
          </a:p>
        </p:txBody>
      </p:sp>
      <p:sp>
        <p:nvSpPr>
          <p:cNvPr id="726" name="Text 726"/>
          <p:cNvSpPr txBox="1"/>
          <p:nvPr/>
        </p:nvSpPr>
        <p:spPr>
          <a:xfrm>
            <a:off x="7589520" y="4398264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27" name="Text 727"/>
          <p:cNvSpPr txBox="1"/>
          <p:nvPr/>
        </p:nvSpPr>
        <p:spPr>
          <a:xfrm>
            <a:off x="82753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3.8 mil m²</a:t>
            </a:r>
          </a:p>
        </p:txBody>
      </p:sp>
      <p:sp>
        <p:nvSpPr>
          <p:cNvPr id="728" name="Text 728"/>
          <p:cNvSpPr txBox="1"/>
          <p:nvPr/>
        </p:nvSpPr>
        <p:spPr>
          <a:xfrm>
            <a:off x="9418320" y="439826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R$ 5.6 mi</a:t>
            </a:r>
          </a:p>
        </p:txBody>
      </p:sp>
      <p:sp>
        <p:nvSpPr>
          <p:cNvPr id="729" name="Text 729"/>
          <p:cNvSpPr txBox="1"/>
          <p:nvPr/>
        </p:nvSpPr>
        <p:spPr>
          <a:xfrm>
            <a:off x="10744200" y="439826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Obra: Retrofit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 | Retrofit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159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110.3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R$ 115.7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R$ 1.048/m²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somente 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008F5A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93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62.2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R$ 36.1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R$ 581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24.7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R$ 49.5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R$ 2.005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4.7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R$ 3.199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R$ 3.2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R$ 825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658368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715768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310128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315968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 mi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504688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R$ 452</a:t>
            </a:r>
          </a:p>
        </p:txBody>
      </p:sp>
      <p:sp>
        <p:nvSpPr>
          <p:cNvPr id="795" name="Text 795"/>
          <p:cNvSpPr txBox="1"/>
          <p:nvPr/>
        </p:nvSpPr>
        <p:spPr>
          <a:xfrm>
            <a:off x="658368" y="48646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96" name="Text 796"/>
          <p:cNvSpPr txBox="1"/>
          <p:nvPr/>
        </p:nvSpPr>
        <p:spPr>
          <a:xfrm>
            <a:off x="2715768" y="48646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97" name="Text 797"/>
          <p:cNvSpPr txBox="1"/>
          <p:nvPr/>
        </p:nvSpPr>
        <p:spPr>
          <a:xfrm>
            <a:off x="3310128" y="486460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2.4 mil m²</a:t>
            </a:r>
          </a:p>
        </p:txBody>
      </p:sp>
      <p:sp>
        <p:nvSpPr>
          <p:cNvPr id="798" name="Text 798"/>
          <p:cNvSpPr txBox="1"/>
          <p:nvPr/>
        </p:nvSpPr>
        <p:spPr>
          <a:xfrm>
            <a:off x="4315968" y="486460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R$ 4.3 mi</a:t>
            </a:r>
          </a:p>
        </p:txBody>
      </p:sp>
      <p:sp>
        <p:nvSpPr>
          <p:cNvPr id="799" name="Text 799"/>
          <p:cNvSpPr txBox="1"/>
          <p:nvPr/>
        </p:nvSpPr>
        <p:spPr>
          <a:xfrm>
            <a:off x="5504688" y="48646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R$ 1.810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Tipo Obra (3)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R$ 20.4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R$ 374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23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34.5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R$ 55.7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R$ 1.615</a:t>
            </a:r>
          </a:p>
        </p:txBody>
      </p:sp>
      <p:sp>
        <p:nvSpPr>
          <p:cNvPr id="855" name="Text 855"/>
          <p:cNvSpPr txBox="1"/>
          <p:nvPr/>
        </p:nvSpPr>
        <p:spPr>
          <a:xfrm>
            <a:off x="6446520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856" name="Text 856"/>
          <p:cNvSpPr txBox="1"/>
          <p:nvPr/>
        </p:nvSpPr>
        <p:spPr>
          <a:xfrm>
            <a:off x="8503920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</a:t>
            </a:r>
          </a:p>
        </p:txBody>
      </p:sp>
      <p:sp>
        <p:nvSpPr>
          <p:cNvPr id="857" name="Text 857"/>
          <p:cNvSpPr txBox="1"/>
          <p:nvPr/>
        </p:nvSpPr>
        <p:spPr>
          <a:xfrm>
            <a:off x="9098280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11.8 mil m²</a:t>
            </a:r>
          </a:p>
        </p:txBody>
      </p:sp>
      <p:sp>
        <p:nvSpPr>
          <p:cNvPr id="858" name="Text 858"/>
          <p:cNvSpPr txBox="1"/>
          <p:nvPr/>
        </p:nvSpPr>
        <p:spPr>
          <a:xfrm>
            <a:off x="10104120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R$ 20.7 mi</a:t>
            </a:r>
          </a:p>
        </p:txBody>
      </p:sp>
      <p:sp>
        <p:nvSpPr>
          <p:cNvPr id="859" name="Text 859"/>
          <p:cNvSpPr txBox="1"/>
          <p:nvPr/>
        </p:nvSpPr>
        <p:spPr>
          <a:xfrm>
            <a:off x="11292840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R$ 1.745</a:t>
            </a:r>
          </a:p>
        </p:txBody>
      </p:sp>
      <p:sp>
        <p:nvSpPr>
          <p:cNvPr id="860" name="Text 860"/>
          <p:cNvSpPr txBox="1"/>
          <p:nvPr/>
        </p:nvSpPr>
        <p:spPr>
          <a:xfrm>
            <a:off x="6446520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861" name="Text 861"/>
          <p:cNvSpPr txBox="1"/>
          <p:nvPr/>
        </p:nvSpPr>
        <p:spPr>
          <a:xfrm>
            <a:off x="8503920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</a:t>
            </a:r>
          </a:p>
        </p:txBody>
      </p:sp>
      <p:sp>
        <p:nvSpPr>
          <p:cNvPr id="862" name="Text 862"/>
          <p:cNvSpPr txBox="1"/>
          <p:nvPr/>
        </p:nvSpPr>
        <p:spPr>
          <a:xfrm>
            <a:off x="9098280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4.8 mil m²</a:t>
            </a:r>
          </a:p>
        </p:txBody>
      </p:sp>
      <p:sp>
        <p:nvSpPr>
          <p:cNvPr id="863" name="Text 863"/>
          <p:cNvSpPr txBox="1"/>
          <p:nvPr/>
        </p:nvSpPr>
        <p:spPr>
          <a:xfrm>
            <a:off x="10104120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 mi</a:t>
            </a:r>
          </a:p>
        </p:txBody>
      </p:sp>
      <p:sp>
        <p:nvSpPr>
          <p:cNvPr id="864" name="Text 864"/>
          <p:cNvSpPr txBox="1"/>
          <p:nvPr/>
        </p:nvSpPr>
        <p:spPr>
          <a:xfrm>
            <a:off x="11292840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R$ 1.450</a:t>
            </a:r>
          </a:p>
        </p:txBody>
      </p:sp>
      <p:sp>
        <p:nvSpPr>
          <p:cNvPr id="865" name="Text 865"/>
          <p:cNvSpPr txBox="1"/>
          <p:nvPr/>
        </p:nvSpPr>
        <p:spPr>
          <a:xfrm>
            <a:off x="6446520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866" name="Text 866"/>
          <p:cNvSpPr txBox="1"/>
          <p:nvPr/>
        </p:nvSpPr>
        <p:spPr>
          <a:xfrm>
            <a:off x="8503920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867" name="Text 867"/>
          <p:cNvSpPr txBox="1"/>
          <p:nvPr/>
        </p:nvSpPr>
        <p:spPr>
          <a:xfrm>
            <a:off x="9098280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2.3 mil m²</a:t>
            </a:r>
          </a:p>
        </p:txBody>
      </p:sp>
      <p:sp>
        <p:nvSpPr>
          <p:cNvPr id="868" name="Text 868"/>
          <p:cNvSpPr txBox="1"/>
          <p:nvPr/>
        </p:nvSpPr>
        <p:spPr>
          <a:xfrm>
            <a:off x="10104120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R$ 7.0 mi</a:t>
            </a:r>
          </a:p>
        </p:txBody>
      </p:sp>
      <p:sp>
        <p:nvSpPr>
          <p:cNvPr id="869" name="Text 869"/>
          <p:cNvSpPr txBox="1"/>
          <p:nvPr/>
        </p:nvSpPr>
        <p:spPr>
          <a:xfrm>
            <a:off x="11292840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R$ 3.023</a:t>
            </a:r>
          </a:p>
        </p:txBody>
      </p:sp>
      <p:sp>
        <p:nvSpPr>
          <p:cNvPr id="870" name="Text 870"/>
          <p:cNvSpPr txBox="1"/>
          <p:nvPr/>
        </p:nvSpPr>
        <p:spPr>
          <a:xfrm>
            <a:off x="6446520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871" name="Text 871"/>
          <p:cNvSpPr txBox="1"/>
          <p:nvPr/>
        </p:nvSpPr>
        <p:spPr>
          <a:xfrm>
            <a:off x="8503920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72" name="Text 872"/>
          <p:cNvSpPr txBox="1"/>
          <p:nvPr/>
        </p:nvSpPr>
        <p:spPr>
          <a:xfrm>
            <a:off x="9098280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73" name="Text 873"/>
          <p:cNvSpPr txBox="1"/>
          <p:nvPr/>
        </p:nvSpPr>
        <p:spPr>
          <a:xfrm>
            <a:off x="10104120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874" name="Text 874"/>
          <p:cNvSpPr txBox="1"/>
          <p:nvPr/>
        </p:nvSpPr>
        <p:spPr>
          <a:xfrm>
            <a:off x="11292840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875" name="Text 875"/>
          <p:cNvSpPr txBox="1"/>
          <p:nvPr/>
        </p:nvSpPr>
        <p:spPr>
          <a:xfrm>
            <a:off x="6446520" y="48646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876" name="Text 876"/>
          <p:cNvSpPr txBox="1"/>
          <p:nvPr/>
        </p:nvSpPr>
        <p:spPr>
          <a:xfrm>
            <a:off x="8503920" y="48646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877" name="Text 877"/>
          <p:cNvSpPr txBox="1"/>
          <p:nvPr/>
        </p:nvSpPr>
        <p:spPr>
          <a:xfrm>
            <a:off x="9098280" y="486460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78" name="Text 878"/>
          <p:cNvSpPr txBox="1"/>
          <p:nvPr/>
        </p:nvSpPr>
        <p:spPr>
          <a:xfrm>
            <a:off x="10104120" y="486460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 mi</a:t>
            </a:r>
          </a:p>
        </p:txBody>
      </p:sp>
      <p:sp>
        <p:nvSpPr>
          <p:cNvPr id="879" name="Text 879"/>
          <p:cNvSpPr txBox="1"/>
          <p:nvPr/>
        </p:nvSpPr>
        <p:spPr>
          <a:xfrm>
            <a:off x="11292840" y="48646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R$ 1.878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(R$ 48.2 mi) | AM (R$ 7.0 mi) | RN (R$ 5.3 mi) | PE (R$ 10.3 mi) | MG (R$ 7.9 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Obra: Nova Unidade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 | Nova Unidade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53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57.1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R$ 120.7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R$ 2.115/m²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somente 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008F5A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24.2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R$ 48.6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R$ 2.009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19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R$ 34.3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R$ 2.033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658368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715768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310128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9.8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315968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R$ 22.4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504688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R$ 2.279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658368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715768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310128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4.0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315968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R$ 11.1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504688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R$ 2.799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658368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715768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310128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2.2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315968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R$ 4.3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504688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R$ 1.956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Tipo Obra (3)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43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35.5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R$ 69.0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R$ 1.944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446520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503920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9098280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21.4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10104120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R$ 50.5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292840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R$ 2.353</a:t>
            </a:r>
          </a:p>
        </p:txBody>
      </p:sp>
      <p:sp>
        <p:nvSpPr>
          <p:cNvPr id="855" name="Text 855"/>
          <p:cNvSpPr txBox="1"/>
          <p:nvPr/>
        </p:nvSpPr>
        <p:spPr>
          <a:xfrm>
            <a:off x="6446520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856" name="Text 856"/>
          <p:cNvSpPr txBox="1"/>
          <p:nvPr/>
        </p:nvSpPr>
        <p:spPr>
          <a:xfrm>
            <a:off x="8503920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7" name="Text 857"/>
          <p:cNvSpPr txBox="1"/>
          <p:nvPr/>
        </p:nvSpPr>
        <p:spPr>
          <a:xfrm>
            <a:off x="9098280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 m²</a:t>
            </a:r>
          </a:p>
        </p:txBody>
      </p:sp>
      <p:sp>
        <p:nvSpPr>
          <p:cNvPr id="858" name="Text 858"/>
          <p:cNvSpPr txBox="1"/>
          <p:nvPr/>
        </p:nvSpPr>
        <p:spPr>
          <a:xfrm>
            <a:off x="10104120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859" name="Text 859"/>
          <p:cNvSpPr txBox="1"/>
          <p:nvPr/>
        </p:nvSpPr>
        <p:spPr>
          <a:xfrm>
            <a:off x="11292840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(R$ 80.3 mi) | CE (R$ 10.7 mi) | RJ (R$ 9.6 mi) | PR (R$ 4.0 mi) | PE (R$ 4.1 mi)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Obra: Nova/R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 | Nova/R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7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5.4 mil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R$ 8.4 mi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R$ 1.574/m²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somente 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008F5A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5.1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R$ 7.9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R$ 1.543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658368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715768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310128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252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315968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R$ 558.1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504688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R$ 2.214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Tipo Obra (3)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(R$ 3.2 mi) | CE (R$ 1.1 mi) | DF (R$ 1.8 mi) | MA (R$ 1.8 mi) | PI (R$ 484.3 mil)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Obra: Ampliação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 | Ampliação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159 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R$ 244.0 mil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R$ 1.535/m²</a:t>
            </a:r>
          </a:p>
          <a:p>
            <a:pPr algn="l"/>
            <a:r>
              <a:rPr lang="pt-BR" sz="1200" b="1">
                <a:solidFill>
                  <a:srgbClr val="FFFFFF"/>
                </a:solidFill>
              </a:rPr>
              <a:t>somente 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658368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008F5A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658368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715768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310128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315968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504688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658368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715768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310128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315968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504688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446520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Tipo Obra (3)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446520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503920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9098280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10104120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292840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446520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503920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9098280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10104120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292840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CE (R$ 244.0 mil)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008F5A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4.895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R$ 13.7 mi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R$ 2.805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4055.Adequação PPCI HS Lins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4.529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R$ 287.8 mil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PPCI Hapnatal (2ª fase torre nova)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4.500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Status = Concluída e Mês entre 01/01/2025 e 14/08/2026.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apresentado somente dentro dos cortes analíticos: soma do Valor Negociado dividida pela soma da Área (m²).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Cortes principais: Classificação de Obra, Tipologia de Obra, Tipo Obra (3), Estado e Região.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1772</Words>
  <Application>Microsoft Office PowerPoint</Application>
  <PresentationFormat>Widescreen</PresentationFormat>
  <Paragraphs>568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2026-08-14T14:29:54Z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2026-08-14T14:28:07Z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6bbd669e-6171-4dec-bd9c-1064d0b3b0a7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