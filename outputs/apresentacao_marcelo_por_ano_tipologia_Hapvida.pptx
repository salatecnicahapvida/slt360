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LLES DAVIDY GONDIN DA SILVEIRA" userId="a3416262-0fac-4856-884e-2c0d7e6e898d" providerId="ADAL" clId="{1418AD27-A7E6-4FFD-8E07-7066023A75C3}"/>
    <pc:docChg chg="mod modMainMaster">
      <pc:chgData name="THALLES DAVIDY GONDIN DA SILVEIRA" userId="a3416262-0fac-4856-884e-2c0d7e6e898d" providerId="ADAL" clId="{1418AD27-A7E6-4FFD-8E07-7066023A75C3}" dt="2026-08-17T14:32:00.011" v="1" actId="33475"/>
      <pc:docMkLst>
        <pc:docMk/>
      </pc:docMkLst>
      <pc:sldMasterChg chg="addSp mod">
        <pc:chgData name="THALLES DAVIDY GONDIN DA SILVEIRA" userId="a3416262-0fac-4856-884e-2c0d7e6e898d" providerId="ADAL" clId="{1418AD27-A7E6-4FFD-8E07-7066023A75C3}" dt="2026-08-17T14:32:00.007" v="0" actId="33475"/>
        <pc:sldMasterMkLst>
          <pc:docMk/>
          <pc:sldMasterMk cId="2640674209" sldId="2147483648"/>
        </pc:sldMasterMkLst>
        <pc:spChg chg="add">
          <ac:chgData name="THALLES DAVIDY GONDIN DA SILVEIRA" userId="a3416262-0fac-4856-884e-2c0d7e6e898d" providerId="ADAL" clId="{1418AD27-A7E6-4FFD-8E07-7066023A75C3}" dt="2026-08-17T14:32:00.007" v="0" actId="33475"/>
          <ac:spMkLst>
            <pc:docMk/>
            <pc:sldMasterMk cId="2640674209" sldId="2147483648"/>
            <ac:spMk id="9" creationId="{ED67DB45-8C0B-056E-AD28-F4927EF07789}"/>
          </ac:spMkLst>
        </pc:spChg>
        <pc:spChg chg="add">
          <ac:chgData name="THALLES DAVIDY GONDIN DA SILVEIRA" userId="a3416262-0fac-4856-884e-2c0d7e6e898d" providerId="ADAL" clId="{1418AD27-A7E6-4FFD-8E07-7066023A75C3}" dt="2026-08-17T14:32:00.007" v="0" actId="33475"/>
          <ac:spMkLst>
            <pc:docMk/>
            <pc:sldMasterMk cId="2640674209" sldId="2147483648"/>
            <ac:spMk id="10" creationId="{B03642CF-E712-79D4-20DA-CDB07CD01CCC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D3B-A89E-4F11-BC03-A6EC2D3C3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CF5F7-8240-46B3-9B58-189CADB8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F4E7-616C-42E7-AA53-7D53A481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59AAD-5FFF-4C55-AE91-74879D35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A83A00-C2AA-40AA-9898-26BFCFA9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9920-B79B-4806-AFC3-6B18FB41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ECF1E-EFE2-407B-94FD-7B20AE91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98B5D-16BC-4861-8D94-245E392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2E305-2544-4735-B639-40C96838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B1A35A-8DF2-47E9-A4EF-4D673FC4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DD76B-5BBC-4080-944A-B684B1F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A57D6-9D8A-49BD-891D-3FB4A487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831F4-C470-46E6-A682-B814BD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C8576-D5A3-49FF-AF46-45B1238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D2232-F8D3-426A-AB8B-1A412A61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4686D-7C47-4E04-BCEB-3821F570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24C2B-BFF9-4A25-BD5E-B69CCF793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242AF-4D20-47AB-9363-BB63DB6A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E022C-49BB-4F66-B77E-43D227B3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16F0F-7FA9-4D3B-9718-4996582E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B9501-C461-4A0B-8450-14546430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7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6E27-5D78-4A69-BDE1-0697A2D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160F9-47B9-45A6-817E-2F638FF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A7551-F322-486F-B2CF-8AE5E12C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549817-B01A-4F77-B716-B7585BF09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EC9372-1182-4A24-9C9E-1212F25FC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A98BF5-B259-4849-B7DA-1588B00F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79DBB3-C0AD-4FF5-B33D-8C34B09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CB255-A8B7-40B3-AA33-06D0212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93C1-CF34-49A8-9B7A-A49937BA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4AD72-C7B6-443E-82B6-262FC8D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CFE4FF-6A89-4A43-9613-A54FC432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BB27D8-2D61-47FA-97F8-A507372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1B2DCF-DD2B-4CAF-83EA-549C9A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5AB182-8F1E-4950-809D-15B1CC2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3C851-F495-4E93-BFD1-B862432E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2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9FB66-A81D-433B-8C22-6D859CB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9CC1A-872A-4C6F-823C-8E29BC36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A2822-AFE9-4C82-9881-A26FEFCF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882C72-065F-48D0-8768-1F43AB81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8A36A-44B6-47E9-93AA-CC5E6A22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42288D-CC5B-4A49-99AC-7713E6D2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6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140D-32EC-46F8-A9A5-1C6E75E4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5FC306-4FCB-4B18-B502-AE658265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C739-A323-4448-B8C4-2762F4FB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EFC2-DAD8-4248-8DC5-9A78347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E31B2-93F5-4D57-985F-B24ADB4E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0120D-5868-489F-9D49-B0EE4194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6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EBDD-1DA1-4F36-8FC5-71723EF9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0F00C-D951-481E-AFE8-184ED253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54D75-17DA-4BEE-B769-B5A63D0E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7AF13-AB2C-453D-BAC5-8E62BBCD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5E0CB-E3AE-4604-B4CA-4FBFA1E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BE872F-3A91-4840-97AA-4DC75728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10A31-7ADE-4773-A5B3-20BC696D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0E3D7-B2B7-4538-9B3A-69401747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CD025-AAA9-4410-9427-D5B8AD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D7061-3F4E-403C-A1DF-F626354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13E89-B7E6-4FB1-A198-5BF1FDC0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D2752-5C57-4465-BE4B-9741DF30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3C341-462D-4794-A7BD-062C008A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123974-86EE-4C0F-9F68-A603C447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6F05E-01A6-4646-9137-21207EF9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67DB45-8C0B-056E-AD28-F4927EF0778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9587" y="635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03642CF-E712-79D4-20DA-CDB07CD01CC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9587" y="66421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264067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Resumo executivo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49808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Obras por ano de finalizacao e tipologia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229600" y="80467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Todas as obras listadas nos slides seguintes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261872"/>
            <a:ext cx="2148840" cy="71323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109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total da planilha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98648" y="1261872"/>
            <a:ext cx="2148840" cy="71323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131,8 mil m2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area total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230368" y="1261872"/>
            <a:ext cx="2148840" cy="71323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R$ 293,3 mi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valor negociado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562088" y="1261872"/>
            <a:ext cx="2148840" cy="71323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R$ 2.274/m2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ponderado pela area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658368" y="233172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Resumo por ano e tipologia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658368" y="2651760"/>
            <a:ext cx="96012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 b="1">
                <a:solidFill>
                  <a:srgbClr val="FFFFFF"/>
                </a:solidFill>
              </a:rPr>
              <a:t>Ano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1618488" y="2651760"/>
            <a:ext cx="306324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 b="1">
                <a:solidFill>
                  <a:srgbClr val="FFFFFF"/>
                </a:solidFill>
              </a:rPr>
              <a:t>Tipologia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4681728" y="2651760"/>
            <a:ext cx="64008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5321808" y="2651760"/>
            <a:ext cx="109728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6419088" y="2651760"/>
            <a:ext cx="123444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7653528" y="2651760"/>
            <a:ext cx="96012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7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658368" y="2944368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15253F"/>
                </a:solidFill>
              </a:rPr>
              <a:t>2023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1618488" y="2944368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4681728" y="2944368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5321808" y="2944368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15,3 mil m2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6419088" y="2944368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R$ 29,7 mi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7653528" y="2944368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R$ 2.009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658368" y="3236976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15253F"/>
                </a:solidFill>
              </a:rPr>
              <a:t>2023</a:t>
            </a:r>
          </a:p>
        </p:txBody>
      </p:sp>
      <p:sp>
        <p:nvSpPr>
          <p:cNvPr id="93" name="Text 93"/>
          <p:cNvSpPr txBox="1"/>
          <p:nvPr/>
        </p:nvSpPr>
        <p:spPr>
          <a:xfrm>
            <a:off x="1618488" y="3236976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94" name="Text 94"/>
          <p:cNvSpPr txBox="1"/>
          <p:nvPr/>
        </p:nvSpPr>
        <p:spPr>
          <a:xfrm>
            <a:off x="4681728" y="3236976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5321808" y="3236976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12,3 mil m2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6419088" y="3236976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R$ 47,6 mi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7653528" y="3236976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R$ 3.985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658368" y="3529584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15253F"/>
                </a:solidFill>
              </a:rPr>
              <a:t>2023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1618488" y="3529584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Clínicas, Diagnósticos, TEA e Laborat...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4681728" y="3529584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11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5321808" y="3529584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6,1 mil m2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6419088" y="3529584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R$ 12,3 mi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7653528" y="3529584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R$ 2.043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58368" y="3822192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15253F"/>
                </a:solidFill>
              </a:rPr>
              <a:t>2024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1618488" y="3822192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4681728" y="3822192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5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321808" y="3822192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4,2 mil m2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6419088" y="3822192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R$ 8,1 mi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7653528" y="3822192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R$ 1.965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658368" y="4114800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15253F"/>
                </a:solidFill>
              </a:rPr>
              <a:t>2024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1618488" y="4114800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Clínicas, Diagnósticos, TEA e Laborat...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4681728" y="4114800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13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5321808" y="4114800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3,0 mil 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6419088" y="4114800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R$ 4,5 mi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7653528" y="4114800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R$ 1.538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658368" y="4407408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1618488" y="4407408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4681728" y="4407408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5321808" y="4407408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12,4 mil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6419088" y="4407408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R$ 22,7 mi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7653528" y="4407408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R$ 1.874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58368" y="4700016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1618488" y="4700016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4681728" y="4700016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321808" y="4700016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419088" y="4700016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R$ 2,8 mi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7653528" y="4700016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R$ 2.302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658368" y="4992624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1618488" y="4992624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Clínicas, Diagnósticos, TEA e Laborat...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681728" y="4992624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40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321808" y="4992624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41,4 mil m2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19088" y="4992624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R$ 87,4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653528" y="4992624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R$ 2.157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658368" y="5285232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1618488" y="5285232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681728" y="5285232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5321808" y="5285232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11,0 mil m2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6419088" y="5285232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R$ 24,2 mi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7653528" y="5285232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R$ 2.207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58368" y="5577840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1618488" y="5577840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4681728" y="5577840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5321808" y="5577840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2,5 mil m2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6419088" y="5577840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R$ 7,6 mi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7653528" y="5577840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R$ 3.062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58368" y="5870448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1618488" y="5870448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Clínicas, Diagnósticos, TEA e Laborat...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4681728" y="5870448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20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321808" y="5870448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18,8 mil m2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6419088" y="5870448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R$ 40,2 mi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7653528" y="5870448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R$ 2.188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658368" y="6163056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700">
                <a:solidFill>
                  <a:srgbClr val="15253F"/>
                </a:solidFill>
              </a:rPr>
              <a:t>Sem finalizacao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1618488" y="6163056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Clínicas, Diagnósticos, TEA e Laborat...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4681728" y="6163056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5321808" y="6163056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3,7 mil m2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6419088" y="6163056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R$ 6,4 mi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7653528" y="6163056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700">
                <a:solidFill>
                  <a:srgbClr val="15253F"/>
                </a:solidFill>
              </a:rPr>
              <a:t>R$ 1.788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8321040" y="2414016"/>
            <a:ext cx="2971800" cy="1874520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Criterio de separacao</a:t>
            </a:r>
          </a:p>
          <a:p>
            <a:pPr algn="l"/>
            <a:r>
              <a:rPr lang="pt-BR" sz="1000">
                <a:solidFill>
                  <a:srgbClr val="15253F"/>
                </a:solidFill>
              </a:rPr>
              <a:t>- Ano: campo Fim Obra; quando ausente, Termino Real.</a:t>
            </a:r>
          </a:p>
          <a:p>
            <a:pPr algn="l"/>
            <a:r>
              <a:rPr lang="pt-BR" sz="1000">
                <a:solidFill>
                  <a:srgbClr val="15253F"/>
                </a:solidFill>
              </a:rPr>
              <a:t>- Tipologia: as 3 abas originais da planilha.</a:t>
            </a:r>
          </a:p>
          <a:p>
            <a:pPr algn="l"/>
            <a:r>
              <a:rPr lang="pt-BR" sz="1000">
                <a:solidFill>
                  <a:srgbClr val="15253F"/>
                </a:solidFill>
              </a:rPr>
              <a:t>- Nao ha consolidacao de obras na listagem.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2023 | Hospitais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2023 | Hospitais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15,3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R$ 29,7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R$ 2.009/m2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3622.Maternidade HS Santa Martha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Set/23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1,3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R$ 1.025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3131.Retrofit HB Saúde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Nov/23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R$ 22,7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13,0 mil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R$ 1.811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9063.PS HS São Lucas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Mar/23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303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R$ 4.663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9082.SADT HS Santana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R$ 3,8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496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R$ 7.850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3595.Adequação Capelas HS Santa Martha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R$ 286,5 mil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108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R$ 2.642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3616.Adequação Capelas HS Salvalus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R$ 215,1 mil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81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R$ 2.650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2023 | Pronto Atendimento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3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2023 | Pronto Atendimento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12,3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R$ 47,6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R$ 3.985/m2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9012.PA Lifecenter Contagem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Mar/23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R$ 21,9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5,5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R$ 3.996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2013.HC Santa Efigênia (Contorno) - 2ª fase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Mai/23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R$ 14,7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3,7 mil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R$ 3.995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9040.Novo PA Venda Nova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Jun/23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R$ 11,0 mi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3,0 mil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R$ 3.953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2023 | 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4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2023 | 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6,1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R$ 12,3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R$ 2.043/m2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1397.Substituição HC Pituba 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BA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Mar/23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R$ 3,1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1,6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R$ 1.950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3291.TEA Fortaleza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Mai/23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R$ 717,4 mil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609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R$ 1.178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3288.TEA Maceió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AL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Jun/23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R$ 278,3 mil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217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R$ 1.280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3568.TEA Santo André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R$ 2,8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967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R$ 2.904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3034.Transferência HC Piracicaba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R$ 2,6 mi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R$ 2.089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3569.TEA Arujá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R$ 1,5 mi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495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R$ 3.025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66928" y="416052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3579.Adequação Capelas CC Mercês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544568" y="416052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PR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956048" y="416052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5577840" y="41605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6492240" y="416052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R$ 201,0 mil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57123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55 m2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843991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R$ 3.678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566928" y="443484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3227.TEA HC Bucarein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4544568" y="443484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SC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956048" y="443484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Jan/23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5577840" y="443484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492240" y="443484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R$ 283,5 mil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757123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133 m2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43991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R$ 2.133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6928" y="470916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3287.TEA HS Celina Guimarães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4544568" y="470916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RN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956048" y="470916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Fev/23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577840" y="47091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6492240" y="470916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R$ 363,9 mil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757123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289 m2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843991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R$ 1.259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566928" y="498348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3236.Nova Coleta Campina Grande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4544568" y="498348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956048" y="498348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Fev/23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5577840" y="498348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6492240" y="498348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R$ 179,4 mil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757123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163 m2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43991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R$ 1.100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566928" y="52578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3545.TEA Taboão da Serra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4544568" y="52578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956048" y="52578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Ago/23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5577840" y="52578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492240" y="52578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R$ 305,7 mil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757123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274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843991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R$ 1.116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2024 | Hospitais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5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2024 | Hospitais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4,2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R$ 8,1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R$ 1.965/m2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3523.Maternidade e Laboratório HS Humaniza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RS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Nov/24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R$ 3,8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2,3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R$ 1.706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3881.Nova Ressonância HS Lifecenter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Nov/24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R$ 629,7 mil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250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R$ 2.519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3639.Retrofit Maternidade HS São Lucas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Mai/24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R$ 830,0 mil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406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R$ 2.042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3539.Retrofit Maternidade HS Santana (Mogi das Cruzes)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Jun/24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R$ 2,5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942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R$ 2.637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3438.Nova Psiquiatria HS Ana Lima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R$ 379,0 mil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298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R$ 1.271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2024 | 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6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2024 | 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3,0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R$ 4,5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R$ 1.538/m2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3895.Novo TEA Belém (2024)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PA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Set/24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R$ 602,6 mil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381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R$ 1.626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3915.Novo TEA Zona Sul SP (2024)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Set/24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R$ 259,3 mil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143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R$ 1.830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3904.Novo TEA Campina Grande (2024)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Out/24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R$ 431,4 mil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409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R$ 1.054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3759.TEA Manaus (STO Centro Médico)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Mar/24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R$ 270,0 mil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199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R$ 1.359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3919.Novo TEA Santo André (2024)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Jun/24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R$ 101,4 mil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53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R$ 1.929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3774.Novo TEA Maracanaú (2024)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R$ 537,8 mil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171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R$ 3.581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66928" y="416052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3900.Novo TEA Mossoró (2024)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544568" y="416052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RN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956048" y="416052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5577840" y="41605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6492240" y="416052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R$ 537,5 mil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57123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283 m2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843991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R$ 1.922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566928" y="443484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3924.Novo TEA Guarulhos (2024)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4544568" y="443484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956048" y="443484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5577840" y="443484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492240" y="443484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R$ 441,4 mil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757123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346 m2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43991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R$ 1.276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6928" y="470916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3914.Novo TEA Ferraz (2024)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4544568" y="470916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956048" y="470916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577840" y="47091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6492240" y="470916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R$ 145,2 mil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757123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106 m2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843991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R$ 1.426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566928" y="498348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3713.TEA Guarulhos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4544568" y="498348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956048" y="498348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Jan/24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5577840" y="498348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6492240" y="498348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R$ 338,6 mil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757123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270 m2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43991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R$ 1.254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566928" y="52578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3716.TEA Mogi das Cruzes 2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4544568" y="52578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956048" y="52578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Jan/24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5577840" y="52578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492240" y="52578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R$ 262,6 mil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757123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258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843991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R$ 1.018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566928" y="55321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3541.TEA Fortaleza 2 (Pereira Filgueiras)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4544568" y="55321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4956048" y="55321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Jan/24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5577840" y="55321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6492240" y="55321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R$ 97,5 mil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757123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67 m2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843991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R$ 1.455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566928" y="58064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3928.Novo TEA Limeira (2024)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4544568" y="58064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4956048" y="58064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Ago/24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5577840" y="58064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6492240" y="58064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R$ 462,2 mil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757123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304 m2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843991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R$ 1.541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2025 | Hospitais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7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2025 | Hospitais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12,4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R$ 22,7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R$ 1.874/m2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4065.Reabertura HS Analia Franco (2ª fase)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Jan/25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R$ 6,5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6,2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R$ 1.064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de Leitos HS Santa Maria (CE) - UTI (Virose)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709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R$ 1.797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de Leitos HS Santa Maria (CE) - Enfermaria (Vi...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R$ 427,8 mil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447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R$ 1.067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4032.Reabertura do HS Layr Maia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PA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Abr/25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R$ 14,5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5,1 mil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R$ 2.943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2025 | Pronto Atendimento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8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2025 | Pronto Atendimento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1,2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R$ 2,8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R$ 2.302/m2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3593.Adequação PA Pediátrico HS América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Jan/25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R$ 2,8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R$ 2.302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2025 | 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9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2025 | 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1/3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41,4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R$ 87,4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R$ 2.157/m2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Coleta Parque 10 (Nilton Lins)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Set/25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R$ 634,0 mil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235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R$ 2.698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0000.Novo NTE SP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R$ 7,5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2,5 mil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R$ 3.078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4197.Transferência Clínica Areião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R$ 1,6 mi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581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R$ 2.905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4082.Nova Coleta Zona Leste (Mooca)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R$ 528,9 mil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228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R$ 2.442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TEA Natal (2025)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RN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R$ 387,6 mil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359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R$ 1.080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4129.Clínica/Lab/Ima Zona Sul 1 e 2 Adolfo Pinheiro (SP) - Fa...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R$ 8,2 mi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3,3 mil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R$ 2.588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66928" y="416052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4127.Clínica/Lab/Ima Zona Norte Henrique Mazzei Tucuruvi (SP)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544568" y="416052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956048" y="416052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5577840" y="41605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6492240" y="416052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R$ 4,3 mi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57123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2,6 mil m2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843991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R$ 1.694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566928" y="443484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Clínica da Criança e Mulher Fortaleza Fase 1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4544568" y="443484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956048" y="443484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5577840" y="443484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492240" y="443484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R$ 3,6 mi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757123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1,7 mil m2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43991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R$ 2.151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6928" y="470916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4195.Nova Clínica e Coleta Campinas (Bosque Maia)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4544568" y="470916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956048" y="470916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577840" y="47091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6492240" y="470916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R$ 3,0 mi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757123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843991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R$ 2.498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566928" y="498348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4196.Nova Clínica e Fisioterapia Horto Florestal Salvador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4544568" y="498348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BA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956048" y="498348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5577840" y="498348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6492240" y="498348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R$ 3,0 mi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757123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1,8 mil m2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43991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R$ 1.946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566928" y="52578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4194.Nova Clínica Nova Iguaçu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4544568" y="52578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956048" y="52578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5577840" y="52578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492240" y="52578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R$ 2,0 mi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757123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668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843991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R$ 3.147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566928" y="55321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4081.Nova Coleta Zona Leste Parque do Carmo (Itaquera)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4544568" y="55321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4956048" y="55321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5577840" y="55321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6492240" y="55321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R$ 1,2 mi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757123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539 m2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843991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R$ 2.236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566928" y="58064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03 consultórios UA Cidade Nova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4544568" y="58064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4956048" y="58064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5577840" y="58064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6492240" y="58064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R$ 265,1 mil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757123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69 m2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843991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R$ 3.915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566928" y="60807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4020.Nova Clínica São Luís (Cohab)</a:t>
            </a:r>
          </a:p>
        </p:txBody>
      </p:sp>
      <p:sp>
        <p:nvSpPr>
          <p:cNvPr id="199" name="Text 199"/>
          <p:cNvSpPr txBox="1"/>
          <p:nvPr/>
        </p:nvSpPr>
        <p:spPr>
          <a:xfrm>
            <a:off x="4544568" y="60807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4956048" y="60807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Mar/25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5577840" y="60807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6492240" y="60807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R$ 1,8 mi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7571232" y="60807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849 m2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8439912" y="60807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2025 | 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10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2025 | 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2/3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41,4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R$ 87,4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R$ 2.157/m2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4019.Nova Clínica Brasília (Brasiliense)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DF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Mar/25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R$ 1,8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903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R$ 2.024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4015.Nova Clínica Sorocaba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Mar/25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R$ 1,5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680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R$ 2.240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4089.Nova Coleta Zona Sul (Vila Mariana)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R$ 856,4 mil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413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R$ 2.072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4079.Nova Coleta Zona Leste (Penha)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R$ 609,1 mil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412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R$ 1.478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4084.Nova Coleta Zona Norte (Santana)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R$ 578,7 mil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338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R$ 1.711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4090.Nova Coleta Zona Sul (João Dias)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R$ 490,3 mil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406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R$ 1.209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66928" y="416052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4088.Nova Coleta Zona Oeste (Lapa)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544568" y="416052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956048" y="416052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5577840" y="41605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6492240" y="416052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R$ 290,9 mil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57123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170 m2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843991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R$ 1.707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566928" y="443484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4103.Nova Unidade Diagnóstico Flagship SP (Fase 2)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4544568" y="443484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956048" y="443484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Jul/25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5577840" y="443484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492240" y="443484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R$ 13,7 mi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757123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4,9 mil m2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43991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R$ 2.824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6928" y="470916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4128.Clínica/Lab Zona Oeste Butantã (SP)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4544568" y="470916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956048" y="470916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Jul/25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577840" y="47091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6492240" y="470916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R$ 1,6 mi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757123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1,1 mil m2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843991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R$ 1.499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566928" y="498348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0000.Capela Oncologia ABC São Bernardo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4544568" y="498348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956048" y="498348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Jul/25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5577840" y="498348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6492240" y="498348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R$ 599,3 mil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757123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193 m2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43991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R$ 3.479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566928" y="52578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4018.Ampliação Clínica Vieiralves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4544568" y="52578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956048" y="52578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Jan/25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5577840" y="52578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492240" y="52578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R$ 1,5 mi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757123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954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843991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R$ 1.563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566928" y="55321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4037.Nova Clínica Santo André (UASA)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4544568" y="55321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4956048" y="55321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Jan/25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5577840" y="55321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6492240" y="55321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R$ 986,8 mil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757123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324 m2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843991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R$ 3.044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566928" y="58064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4016.Nova Clínica Mogi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4544568" y="58064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4956048" y="58064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Fev/25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5577840" y="58064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6492240" y="58064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R$ 1,1 mi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757123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736 m2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843991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R$ 1.542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566928" y="60807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3922.Novo TEA Ribeirão Pires (2024)</a:t>
            </a:r>
          </a:p>
        </p:txBody>
      </p:sp>
      <p:sp>
        <p:nvSpPr>
          <p:cNvPr id="199" name="Text 199"/>
          <p:cNvSpPr txBox="1"/>
          <p:nvPr/>
        </p:nvSpPr>
        <p:spPr>
          <a:xfrm>
            <a:off x="4544568" y="60807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4956048" y="60807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Fev/25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5577840" y="60807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6492240" y="60807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R$ 583,7 mil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7571232" y="60807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371 m2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8439912" y="60807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2025 | 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2025 | 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3/3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41,4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R$ 87,4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R$ 2.157/m2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9929.Transferência Notrelife/Clínica Guarulhos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R$ 4,9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3,6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R$ 1.379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Clínica da Criança e Mulher Fortaleza Fase 2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R$ 3,6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1,7 mil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R$ 2.158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4091.Novo TEA e Coleta Zona Sul Autódromo (2025)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R$ 2,9 mi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982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R$ 2.990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4190.Novo TEA Zona Sul Jabaquara Cidade Vargas (2025)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R$ 2,7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1,3 mil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R$ 2.120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4181.Novo TEA Recife Madalena (2025)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R$ 2,2 mi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R$ 1.837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4183.Novo TEA Curitiba 1 Rep. Argentina (2025)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PR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863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R$ 1.674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66928" y="416052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Coleta São Bernardo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544568" y="416052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956048" y="416052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5577840" y="41605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6492240" y="416052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57123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843991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R$ 1.055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566928" y="443484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4166.Novo TEA Manaus Nilton Lins (2025)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4544568" y="443484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956048" y="443484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5577840" y="443484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492240" y="443484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R$ 1,2 mi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757123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569 m2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43991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R$ 2.146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6928" y="470916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0000.Novo Medprev Nilton Lins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4544568" y="470916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956048" y="470916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577840" y="47091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6492240" y="470916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R$ 897,1 mil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757123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482 m2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843991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R$ 1.862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566928" y="498348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4173.Novo TEA São Luís Jerônimo Albuquerque (2025)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4544568" y="498348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956048" y="498348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5577840" y="498348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6492240" y="498348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R$ 676,1 mil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757123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374 m2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43991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R$ 2.016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566928" y="52578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0000.Oncologia Clínica Jaraguá do Sul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4544568" y="52578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SC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956048" y="52578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5577840" y="52578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492240" y="52578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R$ 349,0 mil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757123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213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843991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R$ 1.638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566928" y="55321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4080.Nova Coleta Zona Leste (Tatuapé)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4544568" y="55321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4956048" y="55321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Ago/25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5577840" y="55321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6492240" y="55321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R$ 860,8 mil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757123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422 m2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843991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2026 | Hospitais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2026 | Hospitais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11,0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R$ 24,2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R$ 2.207/m2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0000.Transformação PA em Hospital UASA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Mar/26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R$ 23,2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10,4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R$ 2.234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de Leitos HS Nossa Senhora do Rosário (SP) (Vi...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Abr/26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R$ 598,6 mil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362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R$ 1.655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de Leitos HS Santana (SP) (Virose)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Abr/26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R$ 426,7 mil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231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2026 | Pronto Atendimento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13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2026 | Pronto Atendimento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2,5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R$ 7,6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R$ 3.062/m2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0000.Pronto Atendimento Penha (RJ)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R$ 7,6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2,5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R$ 3.062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2026 | 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14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2026 | 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1/2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18,8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R$ 40,2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R$ 2.188/m2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4179.Novo TEA Paulista Janga PE (2025)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Mar/26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R$ 1,9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864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R$ 2.369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4178.Novo TEA João Pessoa Rui Barbosa (2025)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R$ 2,0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743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R$ 2.668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4198.Nova Clínica Santos Amador Bueno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R$ 1,6 mi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792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R$ 2.007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Clínica Brasília Asa Norte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DF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R$ 1,5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823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R$ 1.943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4187.Novo TEA São Vicente Vila Cascatinha (2025)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R$ 1.131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4085.Nova Coleta Zona Central Bela Cintra (Paraíso)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R$ 732,5 mil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409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R$ 1.790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66928" y="416052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9067.Coleta Anápolis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544568" y="416052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956048" y="416052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Jul/26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5577840" y="41605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6492240" y="416052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R$ 370,2 mil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57123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288 m2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843991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R$ 1.355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566928" y="443484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9064.Ampliação Medprev Fortaleza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4544568" y="443484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956048" y="443484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Jul/26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5577840" y="443484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492240" y="443484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R$ 244,0 mil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757123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159 m2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43991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R$ 1.546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6928" y="470916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4025.Hemodiálise HS Recife (Ponte Verde)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4544568" y="470916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956048" y="470916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Jan/26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577840" y="47091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6492240" y="470916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R$ 6,1 mi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757123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2,3 mil m2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843991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R$ 2.733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566928" y="498348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4170.Novo Medprev Maracanaú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4544568" y="498348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956048" y="498348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Jan/26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5577840" y="498348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6492240" y="498348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R$ 2,1 mi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757123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890 m2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43991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R$ 2.415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566928" y="52578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4189.Novo TEA Zona Leste Ermelino Matarazzo (2025)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4544568" y="52578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956048" y="52578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Jan/26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5577840" y="52578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492240" y="52578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757123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638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843991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R$ 2.002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566928" y="55321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4126.Clínica/Lab/Ima Zona Leste 1 Celso Garcia Nasa (SP)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4544568" y="55321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4956048" y="55321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5577840" y="55321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6492240" y="55321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R$ 5,8 mi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757123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3,1 mil m2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843991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R$ 1.968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566928" y="58064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0000.Transferência da Clínica Bauru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4544568" y="58064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4956048" y="58064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5577840" y="58064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6492240" y="58064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R$ 3,2 mi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757123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1,3 mil m2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843991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R$ 2.514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566928" y="60807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0000.Lab/Ima Zona Leste 2 Ermelino Matarazzo (SP)</a:t>
            </a:r>
          </a:p>
        </p:txBody>
      </p:sp>
      <p:sp>
        <p:nvSpPr>
          <p:cNvPr id="199" name="Text 199"/>
          <p:cNvSpPr txBox="1"/>
          <p:nvPr/>
        </p:nvSpPr>
        <p:spPr>
          <a:xfrm>
            <a:off x="4544568" y="60807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4956048" y="60807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5577840" y="60807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6492240" y="60807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R$ 3,2 mi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7571232" y="60807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936 m2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8439912" y="60807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R$ 3.404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2026 | 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15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2026 | 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2/2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18,8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R$ 40,2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R$ 2.188/m2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Clínica Itupeva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R$ 1,9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838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R$ 2.265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0000.Novo Posto de Coleta Sorocaba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R$ 1,6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650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R$ 2.599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4183.Novo TEA Curitiba 2 Fanny (2025)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PR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863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R$ 1.821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4189.Novo TEA Zona Leste Belém (2025) - Fase 2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638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R$ 2.002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0000.Transferência TEA São José dos Campos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R$ 1,1 mi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886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R$ 1.272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4325.Novo TEA Campina Grande (2025)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Abr/26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502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R$ 2.787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Sem finalizacao | 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16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Sem finalizacao | 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3,7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R$ 6,4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R$ 1.788/m2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4126.Clínica/Lab/Ima Zona Leste 1 Celso Garcia Nasa (SP)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-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Em atraso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R$ 5,0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3,1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R$ 1.708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0000.Novo Posto de Coleta Sorocaba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-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Em atraso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650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ef94a3-6d42-4c9e-8cca-d25e171edf55" xsi:nil="true"/>
    <lcf76f155ced4ddcb4097134ff3c332f xmlns="8c47632e-f6f4-466b-b0d0-588b29b5bf1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43E72E677B5418F65344B8F9625B8" ma:contentTypeVersion="13" ma:contentTypeDescription="Create a new document." ma:contentTypeScope="" ma:versionID="9b7c6091a8065acca16dbd6d886ea45f">
  <xsd:schema xmlns:xsd="http://www.w3.org/2001/XMLSchema" xmlns:xs="http://www.w3.org/2001/XMLSchema" xmlns:p="http://schemas.microsoft.com/office/2006/metadata/properties" xmlns:ns2="8c47632e-f6f4-466b-b0d0-588b29b5bf13" xmlns:ns3="3def94a3-6d42-4c9e-8cca-d25e171edf55" targetNamespace="http://schemas.microsoft.com/office/2006/metadata/properties" ma:root="true" ma:fieldsID="17b4f5635420ce7267ce584baab8090d" ns2:_="" ns3:_="">
    <xsd:import namespace="8c47632e-f6f4-466b-b0d0-588b29b5bf13"/>
    <xsd:import namespace="3def94a3-6d42-4c9e-8cca-d25e171ed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7632e-f6f4-466b-b0d0-588b29b5b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b9fa872-9146-4a37-bd18-27b38c3134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ef94a3-6d42-4c9e-8cca-d25e171edf5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03cb831-a9f1-4d46-93c8-45b84de82d74}" ma:internalName="TaxCatchAll" ma:showField="CatchAllData" ma:web="3def94a3-6d42-4c9e-8cca-d25e171ed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3B927B-966A-4570-8174-F4A062D91A44}">
  <ds:schemaRefs>
    <ds:schemaRef ds:uri="http://schemas.microsoft.com/office/2006/metadata/properties"/>
    <ds:schemaRef ds:uri="http://schemas.microsoft.com/office/infopath/2007/PartnerControls"/>
    <ds:schemaRef ds:uri="3def94a3-6d42-4c9e-8cca-d25e171edf55"/>
    <ds:schemaRef ds:uri="8c47632e-f6f4-466b-b0d0-588b29b5bf13"/>
  </ds:schemaRefs>
</ds:datastoreItem>
</file>

<file path=customXml/itemProps2.xml><?xml version="1.0" encoding="utf-8"?>
<ds:datastoreItem xmlns:ds="http://schemas.openxmlformats.org/officeDocument/2006/customXml" ds:itemID="{0FFE7723-B2FA-4C0D-A1FF-D7E9F08B0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0405F8-7C50-46DE-AAB4-738335D97D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47632e-f6f4-466b-b0d0-588b29b5bf13"/>
    <ds:schemaRef ds:uri="3def94a3-6d42-4c9e-8cca-d25e171edf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3562</Words>
  <Application>Microsoft Office PowerPoint</Application>
  <PresentationFormat>Widescreen</PresentationFormat>
  <Paragraphs>1162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Machado</dc:creator>
  <cp:lastModifiedBy>THALLES DAVIDY GONDIN DA SILVEIRA</cp:lastModifiedBy>
  <cp:revision>10</cp:revision>
  <dcterms:created xsi:type="dcterms:W3CDTF">2025-01-29T18:17:09Z</dcterms:created>
  <dcterms:modified xsi:type="dcterms:W3CDTF">2026-08-17T14:32:10Z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0x01010002743E72E677B5418F65344B8F9625B8</vt:lpwstr>
  </property>
  <property fmtid="{D5CDD505-2E9C-101B-9397-08002B2CF9AE}" pid="3" name="MediaServiceImageTags">
    <vt:lpwstr/>
  </property>
  <property fmtid="{D5CDD505-2E9C-101B-9397-08002B2CF9AE}" pid="4" name="MSIP_Label_f6648805-0676-427f-8b3f-8deff0dc1a0a_Enabled">
    <vt:lpwstr>true</vt:lpwstr>
  </property>
  <property fmtid="{D5CDD505-2E9C-101B-9397-08002B2CF9AE}" pid="5" name="MSIP_Label_f6648805-0676-427f-8b3f-8deff0dc1a0a_SetDate">
    <vt:lpwstr>2026-08-17T14:31:59Z</vt:lpwstr>
  </property>
  <property fmtid="{D5CDD505-2E9C-101B-9397-08002B2CF9AE}" pid="6" name="MSIP_Label_f6648805-0676-427f-8b3f-8deff0dc1a0a_Method">
    <vt:lpwstr>Privileged</vt:lpwstr>
  </property>
  <property fmtid="{D5CDD505-2E9C-101B-9397-08002B2CF9AE}" pid="7" name="MSIP_Label_f6648805-0676-427f-8b3f-8deff0dc1a0a_Name">
    <vt:lpwstr>Público</vt:lpwstr>
  </property>
  <property fmtid="{D5CDD505-2E9C-101B-9397-08002B2CF9AE}" pid="8" name="MSIP_Label_f6648805-0676-427f-8b3f-8deff0dc1a0a_SiteId">
    <vt:lpwstr>77d68323-6f4b-460f-8aae-d32c654ec490</vt:lpwstr>
  </property>
  <property fmtid="{D5CDD505-2E9C-101B-9397-08002B2CF9AE}" pid="9" name="MSIP_Label_f6648805-0676-427f-8b3f-8deff0dc1a0a_ActionId">
    <vt:lpwstr>a5610710-84a2-459d-9afb-a10e6f79a4f2</vt:lpwstr>
  </property>
  <property fmtid="{D5CDD505-2E9C-101B-9397-08002B2CF9AE}" pid="10" name="MSIP_Label_f6648805-0676-427f-8b3f-8deff0dc1a0a_ContentBits">
    <vt:lpwstr>3</vt:lpwstr>
  </property>
  <property fmtid="{D5CDD505-2E9C-101B-9397-08002B2CF9AE}" pid="11" name="MSIP_Label_f6648805-0676-427f-8b3f-8deff0dc1a0a_Tag">
    <vt:lpwstr>10, 0, 1, 1</vt:lpwstr>
  </property>
  <property fmtid="{D5CDD505-2E9C-101B-9397-08002B2CF9AE}" pid="12" name="ClassificationContentMarkingFooterLocations">
    <vt:lpwstr>Tema do Office:10</vt:lpwstr>
  </property>
  <property fmtid="{D5CDD505-2E9C-101B-9397-08002B2CF9AE}" pid="13" name="ClassificationContentMarkingFooterText">
    <vt:lpwstr>PÚBLICO</vt:lpwstr>
  </property>
  <property fmtid="{D5CDD505-2E9C-101B-9397-08002B2CF9AE}" pid="14" name="ClassificationContentMarkingHeaderLocations">
    <vt:lpwstr>Tema do Office:9</vt:lpwstr>
  </property>
  <property fmtid="{D5CDD505-2E9C-101B-9397-08002B2CF9AE}" pid="15" name="ClassificationContentMarkingHeaderText">
    <vt:lpwstr>PÚBLICO</vt:lpwstr>
  </property>
</Properties>
</file>