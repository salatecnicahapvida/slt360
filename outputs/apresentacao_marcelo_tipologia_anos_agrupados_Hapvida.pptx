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43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LLES DAVIDY GONDIN DA SILVEIRA" userId="a3416262-0fac-4856-884e-2c0d7e6e898d" providerId="ADAL" clId="{1418AD27-A7E6-4FFD-8E07-7066023A75C3}"/>
    <pc:docChg chg="undo custSel mod modSld modMainMaster">
      <pc:chgData name="THALLES DAVIDY GONDIN DA SILVEIRA" userId="a3416262-0fac-4856-884e-2c0d7e6e898d" providerId="ADAL" clId="{1418AD27-A7E6-4FFD-8E07-7066023A75C3}" dt="2026-08-17T15:01:35.161" v="27" actId="20577"/>
      <pc:docMkLst>
        <pc:docMk/>
      </pc:docMkLst>
      <pc:sldChg chg="delSp modSp mod">
        <pc:chgData name="THALLES DAVIDY GONDIN DA SILVEIRA" userId="a3416262-0fac-4856-884e-2c0d7e6e898d" providerId="ADAL" clId="{1418AD27-A7E6-4FFD-8E07-7066023A75C3}" dt="2026-08-17T15:01:35.161" v="27" actId="20577"/>
        <pc:sldMkLst>
          <pc:docMk/>
          <pc:sldMk cId="0" sldId="256"/>
        </pc:sldMkLst>
        <pc:spChg chg="mod">
          <ac:chgData name="THALLES DAVIDY GONDIN DA SILVEIRA" userId="a3416262-0fac-4856-884e-2c0d7e6e898d" providerId="ADAL" clId="{1418AD27-A7E6-4FFD-8E07-7066023A75C3}" dt="2026-08-17T15:01:35.161" v="27" actId="20577"/>
          <ac:spMkLst>
            <pc:docMk/>
            <pc:sldMk cId="0" sldId="256"/>
            <ac:spMk id="10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7T15:00:28.239" v="3" actId="478"/>
          <ac:spMkLst>
            <pc:docMk/>
            <pc:sldMk cId="0" sldId="256"/>
            <ac:spMk id="1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5:01:29.175" v="21" actId="255"/>
          <ac:spMkLst>
            <pc:docMk/>
            <pc:sldMk cId="0" sldId="256"/>
            <ac:spMk id="2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5:01:20.696" v="19" actId="255"/>
          <ac:spMkLst>
            <pc:docMk/>
            <pc:sldMk cId="0" sldId="256"/>
            <ac:spMk id="2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5:01:08.063" v="14" actId="255"/>
          <ac:spMkLst>
            <pc:docMk/>
            <pc:sldMk cId="0" sldId="256"/>
            <ac:spMk id="22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7T15:00:30.408" v="4" actId="478"/>
          <ac:spMkLst>
            <pc:docMk/>
            <pc:sldMk cId="0" sldId="256"/>
            <ac:spMk id="2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5:00:39.268" v="6" actId="255"/>
          <ac:spMkLst>
            <pc:docMk/>
            <pc:sldMk cId="0" sldId="256"/>
            <ac:spMk id="8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5:00:39.268" v="6" actId="255"/>
          <ac:spMkLst>
            <pc:docMk/>
            <pc:sldMk cId="0" sldId="256"/>
            <ac:spMk id="8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5:00:39.268" v="6" actId="255"/>
          <ac:spMkLst>
            <pc:docMk/>
            <pc:sldMk cId="0" sldId="256"/>
            <ac:spMk id="8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5:00:39.268" v="6" actId="255"/>
          <ac:spMkLst>
            <pc:docMk/>
            <pc:sldMk cId="0" sldId="256"/>
            <ac:spMk id="8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5:00:39.268" v="6" actId="255"/>
          <ac:spMkLst>
            <pc:docMk/>
            <pc:sldMk cId="0" sldId="256"/>
            <ac:spMk id="99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5:00:39.268" v="6" actId="255"/>
          <ac:spMkLst>
            <pc:docMk/>
            <pc:sldMk cId="0" sldId="256"/>
            <ac:spMk id="10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5:00:39.268" v="6" actId="255"/>
          <ac:spMkLst>
            <pc:docMk/>
            <pc:sldMk cId="0" sldId="256"/>
            <ac:spMk id="12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5:00:39.268" v="6" actId="255"/>
          <ac:spMkLst>
            <pc:docMk/>
            <pc:sldMk cId="0" sldId="256"/>
            <ac:spMk id="13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5:00:39.268" v="6" actId="255"/>
          <ac:spMkLst>
            <pc:docMk/>
            <pc:sldMk cId="0" sldId="256"/>
            <ac:spMk id="13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5:00:39.268" v="6" actId="255"/>
          <ac:spMkLst>
            <pc:docMk/>
            <pc:sldMk cId="0" sldId="256"/>
            <ac:spMk id="143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7T15:00:32.678" v="5" actId="478"/>
          <ac:spMkLst>
            <pc:docMk/>
            <pc:sldMk cId="0" sldId="256"/>
            <ac:spMk id="25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5:00:22.581" v="2" actId="255"/>
          <ac:spMkLst>
            <pc:docMk/>
            <pc:sldMk cId="0" sldId="256"/>
            <ac:spMk id="902" creationId="{00000000-0000-0000-0000-000000000000}"/>
          </ac:spMkLst>
        </pc:spChg>
      </pc:sldChg>
      <pc:sldMasterChg chg="addSp mod">
        <pc:chgData name="THALLES DAVIDY GONDIN DA SILVEIRA" userId="a3416262-0fac-4856-884e-2c0d7e6e898d" providerId="ADAL" clId="{1418AD27-A7E6-4FFD-8E07-7066023A75C3}" dt="2026-08-17T15:00:16.750" v="0" actId="33475"/>
        <pc:sldMasterMkLst>
          <pc:docMk/>
          <pc:sldMasterMk cId="2640674209" sldId="2147483648"/>
        </pc:sldMasterMkLst>
        <pc:spChg chg="add">
          <ac:chgData name="THALLES DAVIDY GONDIN DA SILVEIRA" userId="a3416262-0fac-4856-884e-2c0d7e6e898d" providerId="ADAL" clId="{1418AD27-A7E6-4FFD-8E07-7066023A75C3}" dt="2026-08-17T15:00:16.750" v="0" actId="33475"/>
          <ac:spMkLst>
            <pc:docMk/>
            <pc:sldMasterMk cId="2640674209" sldId="2147483648"/>
            <ac:spMk id="9" creationId="{6B4C2CA7-3757-1C41-F7DC-BD894094743A}"/>
          </ac:spMkLst>
        </pc:spChg>
        <pc:spChg chg="add">
          <ac:chgData name="THALLES DAVIDY GONDIN DA SILVEIRA" userId="a3416262-0fac-4856-884e-2c0d7e6e898d" providerId="ADAL" clId="{1418AD27-A7E6-4FFD-8E07-7066023A75C3}" dt="2026-08-17T15:00:16.750" v="0" actId="33475"/>
          <ac:spMkLst>
            <pc:docMk/>
            <pc:sldMasterMk cId="2640674209" sldId="2147483648"/>
            <ac:spMk id="10" creationId="{CD2A926B-7C20-C0A6-AC40-992D7B59999F}"/>
          </ac:spMkLst>
        </pc:sp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F4DD3B-A89E-4F11-BC03-A6EC2D3C3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8CF5F7-8240-46B3-9B58-189CADB890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93F4E7-616C-42E7-AA53-7D53A481B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159AAD-5FFF-4C55-AE91-74879D35E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A83A00-C2AA-40AA-9898-26BFCFA98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6492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0A9920-B79B-4806-AFC3-6B18FB41E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9ECF1E-EFE2-407B-94FD-7B20AE919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098B5D-16BC-4861-8D94-245E392B6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A2E305-2544-4735-B639-40C968382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B1A35A-8DF2-47E9-A4EF-4D673FC40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0570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DDD76B-5BBC-4080-944A-B684B1F43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6FA57D6-9D8A-49BD-891D-3FB4A4871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F831F4-C470-46E6-A682-B814BDC5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4C8576-D5A3-49FF-AF46-45B12387E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AD2232-F8D3-426A-AB8B-1A412A619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70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A4686D-7C47-4E04-BCEB-3821F5701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724C2B-BFF9-4A25-BD5E-B69CCF793B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AE242AF-4D20-47AB-9363-BB63DB6AB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E1E022C-49BB-4F66-B77E-43D227B3C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D816F0F-7FA9-4D3B-9718-4996582E0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EDB9501-C461-4A0B-8450-14546430F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9727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8B6E27-5D78-4A69-BDE1-0697A2DBE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E160F9-47B9-45A6-817E-2F638FF61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4DA7551-F322-486F-B2CF-8AE5E12C9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6549817-B01A-4F77-B716-B7585BF09D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BEC9372-1182-4A24-9C9E-1212F25FCB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AA98BF5-B259-4849-B7DA-1588B00F3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779DBB3-C0AD-4FF5-B33D-8C34B09CE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D2CB255-A8B7-40B3-AA33-06D0212FF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7280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D93C1-CF34-49A8-9B7A-A49937BA4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154AD72-C7B6-443E-82B6-262FC8D07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3CFE4FF-6A89-4A43-9613-A54FC4323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3BB27D8-2D61-47FA-97F8-A50737227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9252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01B2DCF-DD2B-4CAF-83EA-549C9AD47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85AB182-8F1E-4950-809D-15B1CC259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913C851-F495-4E93-BFD1-B862432E1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8125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D9FB66-A81D-433B-8C22-6D859CB03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39CC1A-872A-4C6F-823C-8E29BC36C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82A2822-AFE9-4C82-9881-A26FEFCF3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F882C72-065F-48D0-8768-1F43AB81B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038A36A-44B6-47E9-93AA-CC5E6A223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942288D-CC5B-4A49-99AC-7713E6D2F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5698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46140D-32EC-46F8-A9A5-1C6E75E40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75FC306-4FCB-4B18-B502-AE65826597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F0AC739-A323-4448-B8C4-2762F4FBB6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416EFC2-DAD8-4248-8DC5-9A7834778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9E31B2-93F5-4D57-985F-B24ADB4E2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0120D-5868-489F-9D49-B0EE41946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1672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6EEBDD-1DA1-4F36-8FC5-71723EF92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160F00C-D951-481E-AFE8-184ED25393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B54D75-17DA-4BEE-B769-B5A63D0EC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97AF13-AB2C-453D-BAC5-8E62BBCD2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65E0CB-E3AE-4604-B4CA-4FBFA1E20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933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DBE872F-3A91-4840-97AA-4DC75728E7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5410A31-7ADE-4773-A5B3-20BC696D5D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40E3D7-B2B7-4538-9B3A-694017475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1CD025-AAA9-4410-9427-D5B8ADFE7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4D7061-3F4E-403C-A1DF-F6263546C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8376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2D13E89-B7E6-4FB1-A198-5BF1FDC08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22D2752-5C57-4465-BE4B-9741DF30E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D3C341-462D-4794-A7BD-062C008AB6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123974-86EE-4C0F-9F68-A603C447E2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C6F05E-01A6-4646-9137-21207EF986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B4C2CA7-3757-1C41-F7DC-BD894094743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39587" y="63500"/>
            <a:ext cx="5381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PÚBLICO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D2A926B-7C20-C0A6-AC40-992D7B59999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39587" y="6642100"/>
            <a:ext cx="5381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PÚBLICO</a:t>
            </a:r>
          </a:p>
        </p:txBody>
      </p:sp>
    </p:spTree>
    <p:extLst>
      <p:ext uri="{BB962C8B-B14F-4D97-AF65-F5344CB8AC3E}">
        <p14:creationId xmlns:p14="http://schemas.microsoft.com/office/powerpoint/2010/main" val="2640674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2200" b="1" dirty="0">
                <a:solidFill>
                  <a:srgbClr val="FFFFFF"/>
                </a:solidFill>
              </a:rPr>
              <a:t>Resumo executivo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1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749808"/>
            <a:ext cx="8046720" cy="402336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2200" b="1" dirty="0">
                <a:solidFill>
                  <a:srgbClr val="15253F"/>
                </a:solidFill>
              </a:rPr>
              <a:t>Obras por tipologia e ano de finalização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261872"/>
            <a:ext cx="2148840" cy="71323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 dirty="0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108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898648" y="1261872"/>
            <a:ext cx="2148840" cy="71323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 dirty="0">
                <a:solidFill>
                  <a:srgbClr val="FFFFFF"/>
                </a:solidFill>
              </a:rPr>
              <a:t>Area</a:t>
            </a:r>
            <a:endParaRPr lang="pt-BR" b="1" dirty="0">
              <a:solidFill>
                <a:srgbClr val="FFFFFF"/>
              </a:solidFill>
            </a:endParaRP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131,5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5230368" y="1261872"/>
            <a:ext cx="2148840" cy="71323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 dirty="0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R$ 292,6 mi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658368" y="2331720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300" b="1">
                <a:solidFill>
                  <a:srgbClr val="253F8E"/>
                </a:solidFill>
              </a:rPr>
              <a:t>Resumo por tipologia e ano</a:t>
            </a:r>
          </a:p>
        </p:txBody>
      </p:sp>
      <p:sp>
        <p:nvSpPr>
          <p:cNvPr id="80" name="Text 80"/>
          <p:cNvSpPr txBox="1"/>
          <p:nvPr/>
        </p:nvSpPr>
        <p:spPr>
          <a:xfrm>
            <a:off x="658368" y="2651760"/>
            <a:ext cx="3063240" cy="29260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Tipologia</a:t>
            </a:r>
          </a:p>
        </p:txBody>
      </p:sp>
      <p:sp>
        <p:nvSpPr>
          <p:cNvPr id="81" name="Text 81"/>
          <p:cNvSpPr txBox="1"/>
          <p:nvPr/>
        </p:nvSpPr>
        <p:spPr>
          <a:xfrm>
            <a:off x="3721608" y="2651760"/>
            <a:ext cx="960120" cy="29260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Ano</a:t>
            </a:r>
          </a:p>
        </p:txBody>
      </p:sp>
      <p:sp>
        <p:nvSpPr>
          <p:cNvPr id="82" name="Text 82"/>
          <p:cNvSpPr txBox="1"/>
          <p:nvPr/>
        </p:nvSpPr>
        <p:spPr>
          <a:xfrm>
            <a:off x="4681728" y="2651760"/>
            <a:ext cx="640080" cy="29260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83" name="Text 83"/>
          <p:cNvSpPr txBox="1"/>
          <p:nvPr/>
        </p:nvSpPr>
        <p:spPr>
          <a:xfrm>
            <a:off x="5321808" y="2651760"/>
            <a:ext cx="1097280" cy="29260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84" name="Text 84"/>
          <p:cNvSpPr txBox="1"/>
          <p:nvPr/>
        </p:nvSpPr>
        <p:spPr>
          <a:xfrm>
            <a:off x="6419088" y="2651760"/>
            <a:ext cx="1234440" cy="29260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85" name="Text 85"/>
          <p:cNvSpPr txBox="1"/>
          <p:nvPr/>
        </p:nvSpPr>
        <p:spPr>
          <a:xfrm>
            <a:off x="7653528" y="2651760"/>
            <a:ext cx="960120" cy="29260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R$/m2</a:t>
            </a:r>
          </a:p>
        </p:txBody>
      </p:sp>
      <p:sp>
        <p:nvSpPr>
          <p:cNvPr id="86" name="Text 86"/>
          <p:cNvSpPr txBox="1"/>
          <p:nvPr/>
        </p:nvSpPr>
        <p:spPr>
          <a:xfrm>
            <a:off x="658368" y="2944368"/>
            <a:ext cx="3063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Hospitais</a:t>
            </a:r>
          </a:p>
        </p:txBody>
      </p:sp>
      <p:sp>
        <p:nvSpPr>
          <p:cNvPr id="87" name="Text 87"/>
          <p:cNvSpPr txBox="1"/>
          <p:nvPr/>
        </p:nvSpPr>
        <p:spPr>
          <a:xfrm>
            <a:off x="3721608" y="2944368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2023</a:t>
            </a:r>
          </a:p>
        </p:txBody>
      </p:sp>
      <p:sp>
        <p:nvSpPr>
          <p:cNvPr id="88" name="Text 88"/>
          <p:cNvSpPr txBox="1"/>
          <p:nvPr/>
        </p:nvSpPr>
        <p:spPr>
          <a:xfrm>
            <a:off x="4681728" y="2944368"/>
            <a:ext cx="640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6</a:t>
            </a:r>
          </a:p>
        </p:txBody>
      </p:sp>
      <p:sp>
        <p:nvSpPr>
          <p:cNvPr id="89" name="Text 89"/>
          <p:cNvSpPr txBox="1"/>
          <p:nvPr/>
        </p:nvSpPr>
        <p:spPr>
          <a:xfrm>
            <a:off x="5321808" y="2944368"/>
            <a:ext cx="10972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15,3 mil m2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6419088" y="2944368"/>
            <a:ext cx="12344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R$ 29,7 mi</a:t>
            </a:r>
          </a:p>
        </p:txBody>
      </p:sp>
      <p:sp>
        <p:nvSpPr>
          <p:cNvPr id="91" name="Text 91"/>
          <p:cNvSpPr txBox="1"/>
          <p:nvPr/>
        </p:nvSpPr>
        <p:spPr>
          <a:xfrm>
            <a:off x="7653528" y="2944368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R$ 2.009</a:t>
            </a:r>
          </a:p>
        </p:txBody>
      </p:sp>
      <p:sp>
        <p:nvSpPr>
          <p:cNvPr id="92" name="Text 92"/>
          <p:cNvSpPr txBox="1"/>
          <p:nvPr/>
        </p:nvSpPr>
        <p:spPr>
          <a:xfrm>
            <a:off x="658368" y="3236976"/>
            <a:ext cx="306324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Hospitais</a:t>
            </a:r>
          </a:p>
        </p:txBody>
      </p:sp>
      <p:sp>
        <p:nvSpPr>
          <p:cNvPr id="93" name="Text 93"/>
          <p:cNvSpPr txBox="1"/>
          <p:nvPr/>
        </p:nvSpPr>
        <p:spPr>
          <a:xfrm>
            <a:off x="3721608" y="3236976"/>
            <a:ext cx="96012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2024</a:t>
            </a:r>
          </a:p>
        </p:txBody>
      </p:sp>
      <p:sp>
        <p:nvSpPr>
          <p:cNvPr id="94" name="Text 94"/>
          <p:cNvSpPr txBox="1"/>
          <p:nvPr/>
        </p:nvSpPr>
        <p:spPr>
          <a:xfrm>
            <a:off x="4681728" y="3236976"/>
            <a:ext cx="64008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4</a:t>
            </a:r>
          </a:p>
        </p:txBody>
      </p:sp>
      <p:sp>
        <p:nvSpPr>
          <p:cNvPr id="95" name="Text 95"/>
          <p:cNvSpPr txBox="1"/>
          <p:nvPr/>
        </p:nvSpPr>
        <p:spPr>
          <a:xfrm>
            <a:off x="5321808" y="3236976"/>
            <a:ext cx="109728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4,0 mil m2</a:t>
            </a:r>
          </a:p>
        </p:txBody>
      </p:sp>
      <p:sp>
        <p:nvSpPr>
          <p:cNvPr id="96" name="Text 96"/>
          <p:cNvSpPr txBox="1"/>
          <p:nvPr/>
        </p:nvSpPr>
        <p:spPr>
          <a:xfrm>
            <a:off x="6419088" y="3236976"/>
            <a:ext cx="123444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R$ 7,5 mi</a:t>
            </a:r>
          </a:p>
        </p:txBody>
      </p:sp>
      <p:sp>
        <p:nvSpPr>
          <p:cNvPr id="97" name="Text 97"/>
          <p:cNvSpPr txBox="1"/>
          <p:nvPr/>
        </p:nvSpPr>
        <p:spPr>
          <a:xfrm>
            <a:off x="7653528" y="3236976"/>
            <a:ext cx="96012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R$ 1.930</a:t>
            </a:r>
          </a:p>
        </p:txBody>
      </p:sp>
      <p:sp>
        <p:nvSpPr>
          <p:cNvPr id="98" name="Text 98"/>
          <p:cNvSpPr txBox="1"/>
          <p:nvPr/>
        </p:nvSpPr>
        <p:spPr>
          <a:xfrm>
            <a:off x="658368" y="3529584"/>
            <a:ext cx="3063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Hospitais</a:t>
            </a:r>
          </a:p>
        </p:txBody>
      </p:sp>
      <p:sp>
        <p:nvSpPr>
          <p:cNvPr id="99" name="Text 99"/>
          <p:cNvSpPr txBox="1"/>
          <p:nvPr/>
        </p:nvSpPr>
        <p:spPr>
          <a:xfrm>
            <a:off x="3721608" y="3529584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2025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4681728" y="3529584"/>
            <a:ext cx="640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4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5321808" y="3529584"/>
            <a:ext cx="10972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12,4 mil m2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6419088" y="3529584"/>
            <a:ext cx="12344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R$ 22,7 mi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7653528" y="3529584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R$ 1.874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658368" y="3822192"/>
            <a:ext cx="306324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Hospitais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3721608" y="3822192"/>
            <a:ext cx="96012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2026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4681728" y="3822192"/>
            <a:ext cx="64008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3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5321808" y="3822192"/>
            <a:ext cx="109728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11,0 mil m2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6419088" y="3822192"/>
            <a:ext cx="123444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R$ 24,2 mi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7653528" y="3822192"/>
            <a:ext cx="96012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R$ 2.207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658368" y="4114800"/>
            <a:ext cx="3063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Pronto Atendimento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3721608" y="4114800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2023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4681728" y="4114800"/>
            <a:ext cx="640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3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5321808" y="4114800"/>
            <a:ext cx="10972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12,3 mil m2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6419088" y="4114800"/>
            <a:ext cx="12344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R$ 47,6 mi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7653528" y="4114800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R$ 3.985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658368" y="4407408"/>
            <a:ext cx="306324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Pronto Atendimento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3721608" y="4407408"/>
            <a:ext cx="96012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2025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4681728" y="4407408"/>
            <a:ext cx="64008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5321808" y="4407408"/>
            <a:ext cx="109728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1,2 mil m2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6419088" y="4407408"/>
            <a:ext cx="123444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R$ 2,8 mi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7653528" y="4407408"/>
            <a:ext cx="96012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R$ 2.302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658368" y="4700016"/>
            <a:ext cx="3063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Pronto Atendimento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3721608" y="4700016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2026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4681728" y="4700016"/>
            <a:ext cx="640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5321808" y="4700016"/>
            <a:ext cx="10972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2,5 mil m2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6419088" y="4700016"/>
            <a:ext cx="12344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R$ 7,6 mi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7653528" y="4700016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R$ 3.062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658368" y="4992624"/>
            <a:ext cx="306324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Clínicas, Diagnósticos, TEA e Laborat...</a:t>
            </a:r>
          </a:p>
        </p:txBody>
      </p:sp>
      <p:sp>
        <p:nvSpPr>
          <p:cNvPr id="129" name="Text 129"/>
          <p:cNvSpPr txBox="1"/>
          <p:nvPr/>
        </p:nvSpPr>
        <p:spPr>
          <a:xfrm>
            <a:off x="3721608" y="4992624"/>
            <a:ext cx="96012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2023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4681728" y="4992624"/>
            <a:ext cx="64008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11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5321808" y="4992624"/>
            <a:ext cx="109728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6,1 mil m2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6419088" y="4992624"/>
            <a:ext cx="123444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R$ 12,3 mi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7653528" y="4992624"/>
            <a:ext cx="96012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R$ 2.043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658368" y="5285232"/>
            <a:ext cx="3063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Clínicas, Diagnósticos, TEA e Laborat...</a:t>
            </a:r>
          </a:p>
        </p:txBody>
      </p:sp>
      <p:sp>
        <p:nvSpPr>
          <p:cNvPr id="135" name="Text 135"/>
          <p:cNvSpPr txBox="1"/>
          <p:nvPr/>
        </p:nvSpPr>
        <p:spPr>
          <a:xfrm>
            <a:off x="3721608" y="5285232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2024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4681728" y="5285232"/>
            <a:ext cx="640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13</a:t>
            </a:r>
          </a:p>
        </p:txBody>
      </p:sp>
      <p:sp>
        <p:nvSpPr>
          <p:cNvPr id="137" name="Text 137"/>
          <p:cNvSpPr txBox="1"/>
          <p:nvPr/>
        </p:nvSpPr>
        <p:spPr>
          <a:xfrm>
            <a:off x="5321808" y="5285232"/>
            <a:ext cx="10972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3,0 mil m2</a:t>
            </a:r>
          </a:p>
        </p:txBody>
      </p:sp>
      <p:sp>
        <p:nvSpPr>
          <p:cNvPr id="138" name="Text 138"/>
          <p:cNvSpPr txBox="1"/>
          <p:nvPr/>
        </p:nvSpPr>
        <p:spPr>
          <a:xfrm>
            <a:off x="6419088" y="5285232"/>
            <a:ext cx="12344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R$ 4,5 mi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7653528" y="5285232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R$ 1.538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658368" y="5577840"/>
            <a:ext cx="306324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Clínicas, Diagnósticos, TEA e Laborat...</a:t>
            </a:r>
          </a:p>
        </p:txBody>
      </p:sp>
      <p:sp>
        <p:nvSpPr>
          <p:cNvPr id="141" name="Text 141"/>
          <p:cNvSpPr txBox="1"/>
          <p:nvPr/>
        </p:nvSpPr>
        <p:spPr>
          <a:xfrm>
            <a:off x="3721608" y="5577840"/>
            <a:ext cx="96012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2025</a:t>
            </a:r>
          </a:p>
        </p:txBody>
      </p:sp>
      <p:sp>
        <p:nvSpPr>
          <p:cNvPr id="142" name="Text 142"/>
          <p:cNvSpPr txBox="1"/>
          <p:nvPr/>
        </p:nvSpPr>
        <p:spPr>
          <a:xfrm>
            <a:off x="4681728" y="5577840"/>
            <a:ext cx="64008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40</a:t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5321808" y="5577840"/>
            <a:ext cx="109728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41,4 mil m2</a:t>
            </a:r>
          </a:p>
        </p:txBody>
      </p:sp>
      <p:sp>
        <p:nvSpPr>
          <p:cNvPr id="144" name="Text 144"/>
          <p:cNvSpPr txBox="1"/>
          <p:nvPr/>
        </p:nvSpPr>
        <p:spPr>
          <a:xfrm>
            <a:off x="6419088" y="5577840"/>
            <a:ext cx="123444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R$ 87,4 mi</a:t>
            </a:r>
          </a:p>
        </p:txBody>
      </p:sp>
      <p:sp>
        <p:nvSpPr>
          <p:cNvPr id="145" name="Text 145"/>
          <p:cNvSpPr txBox="1"/>
          <p:nvPr/>
        </p:nvSpPr>
        <p:spPr>
          <a:xfrm>
            <a:off x="7653528" y="5577840"/>
            <a:ext cx="96012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R$ 2.157</a:t>
            </a:r>
          </a:p>
        </p:txBody>
      </p:sp>
      <p:sp>
        <p:nvSpPr>
          <p:cNvPr id="146" name="Text 146"/>
          <p:cNvSpPr txBox="1"/>
          <p:nvPr/>
        </p:nvSpPr>
        <p:spPr>
          <a:xfrm>
            <a:off x="658368" y="5870448"/>
            <a:ext cx="3063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Clínicas, Diagnósticos, TEA e Laborat...</a:t>
            </a:r>
          </a:p>
        </p:txBody>
      </p:sp>
      <p:sp>
        <p:nvSpPr>
          <p:cNvPr id="147" name="Text 147"/>
          <p:cNvSpPr txBox="1"/>
          <p:nvPr/>
        </p:nvSpPr>
        <p:spPr>
          <a:xfrm>
            <a:off x="3721608" y="5870448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2026</a:t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4681728" y="5870448"/>
            <a:ext cx="640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20</a:t>
            </a:r>
          </a:p>
        </p:txBody>
      </p:sp>
      <p:sp>
        <p:nvSpPr>
          <p:cNvPr id="149" name="Text 149"/>
          <p:cNvSpPr txBox="1"/>
          <p:nvPr/>
        </p:nvSpPr>
        <p:spPr>
          <a:xfrm>
            <a:off x="5321808" y="5870448"/>
            <a:ext cx="10972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18,8 mil m2</a:t>
            </a:r>
          </a:p>
        </p:txBody>
      </p:sp>
      <p:sp>
        <p:nvSpPr>
          <p:cNvPr id="150" name="Text 150"/>
          <p:cNvSpPr txBox="1"/>
          <p:nvPr/>
        </p:nvSpPr>
        <p:spPr>
          <a:xfrm>
            <a:off x="6419088" y="5870448"/>
            <a:ext cx="12344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R$ 40,2 mi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7653528" y="5870448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R$ 2.188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658368" y="6163056"/>
            <a:ext cx="306324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Clínicas, Diagnósticos, TEA e Laborat...</a:t>
            </a:r>
          </a:p>
        </p:txBody>
      </p:sp>
      <p:sp>
        <p:nvSpPr>
          <p:cNvPr id="153" name="Text 153"/>
          <p:cNvSpPr txBox="1"/>
          <p:nvPr/>
        </p:nvSpPr>
        <p:spPr>
          <a:xfrm>
            <a:off x="3721608" y="6163056"/>
            <a:ext cx="96012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Sem finalizacao</a:t>
            </a:r>
          </a:p>
        </p:txBody>
      </p:sp>
      <p:sp>
        <p:nvSpPr>
          <p:cNvPr id="154" name="Text 154"/>
          <p:cNvSpPr txBox="1"/>
          <p:nvPr/>
        </p:nvSpPr>
        <p:spPr>
          <a:xfrm>
            <a:off x="4681728" y="6163056"/>
            <a:ext cx="64008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2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5321808" y="6163056"/>
            <a:ext cx="109728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3,7 mil m2</a:t>
            </a:r>
          </a:p>
        </p:txBody>
      </p:sp>
      <p:sp>
        <p:nvSpPr>
          <p:cNvPr id="156" name="Text 156"/>
          <p:cNvSpPr txBox="1"/>
          <p:nvPr/>
        </p:nvSpPr>
        <p:spPr>
          <a:xfrm>
            <a:off x="6419088" y="6163056"/>
            <a:ext cx="123444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R$ 6,4 mi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7653528" y="6163056"/>
            <a:ext cx="960120" cy="292608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R$ 1.788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Hospitais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2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694944"/>
            <a:ext cx="7635240" cy="3657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800" b="1">
                <a:solidFill>
                  <a:srgbClr val="15253F"/>
                </a:solidFill>
              </a:rPr>
              <a:t>Hospitais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138160" y="768096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900">
                <a:solidFill>
                  <a:srgbClr val="50617F"/>
                </a:solidFill>
              </a:rPr>
              <a:t>Anos: 2023 a 2024 | Pagina 1/2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14300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715768" y="114300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19,2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64608" y="114300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R$ 37,1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013448" y="114300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Preco m2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R$ 1.993/m2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640080" y="1865376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>
                <a:solidFill>
                  <a:srgbClr val="253F8E"/>
                </a:solidFill>
              </a:rPr>
              <a:t>Obras listadas por ano, sem consolidacao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66928" y="2157984"/>
            <a:ext cx="3977640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4544568" y="2157984"/>
            <a:ext cx="411480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4956048" y="2157984"/>
            <a:ext cx="621792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Fim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577840" y="2157984"/>
            <a:ext cx="914400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6492240" y="2157984"/>
            <a:ext cx="1078992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7571232" y="2157984"/>
            <a:ext cx="868680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8439912" y="2157984"/>
            <a:ext cx="868680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R$/m2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566928" y="2400300"/>
            <a:ext cx="8741664" cy="242316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2023 | 6 obras | 15,3 mil m2 | R$ 29,7 mi | R$ 2.009/m2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566928" y="2642616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3622.Maternidade HS Santa Martha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4544568" y="2642616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RJ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4956048" y="2642616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Set/23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5577840" y="2642616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6492240" y="2642616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R$ 1,3 mi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7571232" y="2642616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1,3 mil m2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8439912" y="2642616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R$ 1.025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566928" y="2884932"/>
            <a:ext cx="397764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3131.Retrofit HB Saúde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4544568" y="2884932"/>
            <a:ext cx="4114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4956048" y="2884932"/>
            <a:ext cx="6217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Nov/23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5577840" y="2884932"/>
            <a:ext cx="91440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6492240" y="2884932"/>
            <a:ext cx="10789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R$ 22,7 mi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7571232" y="2884932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13,0 mil m2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8439912" y="2884932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R$ 1.811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566928" y="3127248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9063.PS HS São Lucas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4544568" y="3127248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4956048" y="3127248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Mar/23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5577840" y="3127248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6492240" y="3127248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R$ 1,4 mi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7571232" y="3127248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303 m2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8439912" y="3127248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R$ 4.663</a:t>
            </a:r>
          </a:p>
        </p:txBody>
      </p:sp>
      <p:sp>
        <p:nvSpPr>
          <p:cNvPr id="129" name="Text 129"/>
          <p:cNvSpPr txBox="1"/>
          <p:nvPr/>
        </p:nvSpPr>
        <p:spPr>
          <a:xfrm>
            <a:off x="566928" y="3369564"/>
            <a:ext cx="397764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9082.SADT HS Santana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4544568" y="3369564"/>
            <a:ext cx="4114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4956048" y="3369564"/>
            <a:ext cx="6217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Jul/23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5577840" y="3369564"/>
            <a:ext cx="91440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6492240" y="3369564"/>
            <a:ext cx="10789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R$ 3,8 mi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7571232" y="3369564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496 m2</a:t>
            </a:r>
          </a:p>
        </p:txBody>
      </p:sp>
      <p:sp>
        <p:nvSpPr>
          <p:cNvPr id="135" name="Text 135"/>
          <p:cNvSpPr txBox="1"/>
          <p:nvPr/>
        </p:nvSpPr>
        <p:spPr>
          <a:xfrm>
            <a:off x="8439912" y="3369564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R$ 7.850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566928" y="3611880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3595.Adequação Capelas HS Santa Martha</a:t>
            </a:r>
          </a:p>
        </p:txBody>
      </p:sp>
      <p:sp>
        <p:nvSpPr>
          <p:cNvPr id="137" name="Text 137"/>
          <p:cNvSpPr txBox="1"/>
          <p:nvPr/>
        </p:nvSpPr>
        <p:spPr>
          <a:xfrm>
            <a:off x="4544568" y="3611880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RJ</a:t>
            </a:r>
          </a:p>
        </p:txBody>
      </p:sp>
      <p:sp>
        <p:nvSpPr>
          <p:cNvPr id="138" name="Text 138"/>
          <p:cNvSpPr txBox="1"/>
          <p:nvPr/>
        </p:nvSpPr>
        <p:spPr>
          <a:xfrm>
            <a:off x="4956048" y="3611880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Jul/23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5577840" y="3611880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6492240" y="3611880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R$ 286,5 mil</a:t>
            </a:r>
          </a:p>
        </p:txBody>
      </p:sp>
      <p:sp>
        <p:nvSpPr>
          <p:cNvPr id="141" name="Text 141"/>
          <p:cNvSpPr txBox="1"/>
          <p:nvPr/>
        </p:nvSpPr>
        <p:spPr>
          <a:xfrm>
            <a:off x="7571232" y="3611880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108 m2</a:t>
            </a:r>
          </a:p>
        </p:txBody>
      </p:sp>
      <p:sp>
        <p:nvSpPr>
          <p:cNvPr id="142" name="Text 142"/>
          <p:cNvSpPr txBox="1"/>
          <p:nvPr/>
        </p:nvSpPr>
        <p:spPr>
          <a:xfrm>
            <a:off x="8439912" y="3611880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R$ 2.642</a:t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566928" y="3854196"/>
            <a:ext cx="397764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3616.Adequação Capelas HS Salvalus</a:t>
            </a:r>
          </a:p>
        </p:txBody>
      </p:sp>
      <p:sp>
        <p:nvSpPr>
          <p:cNvPr id="144" name="Text 144"/>
          <p:cNvSpPr txBox="1"/>
          <p:nvPr/>
        </p:nvSpPr>
        <p:spPr>
          <a:xfrm>
            <a:off x="4544568" y="3854196"/>
            <a:ext cx="4114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45" name="Text 145"/>
          <p:cNvSpPr txBox="1"/>
          <p:nvPr/>
        </p:nvSpPr>
        <p:spPr>
          <a:xfrm>
            <a:off x="4956048" y="3854196"/>
            <a:ext cx="6217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Jul/23</a:t>
            </a:r>
          </a:p>
        </p:txBody>
      </p:sp>
      <p:sp>
        <p:nvSpPr>
          <p:cNvPr id="146" name="Text 146"/>
          <p:cNvSpPr txBox="1"/>
          <p:nvPr/>
        </p:nvSpPr>
        <p:spPr>
          <a:xfrm>
            <a:off x="5577840" y="3854196"/>
            <a:ext cx="91440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47" name="Text 147"/>
          <p:cNvSpPr txBox="1"/>
          <p:nvPr/>
        </p:nvSpPr>
        <p:spPr>
          <a:xfrm>
            <a:off x="6492240" y="3854196"/>
            <a:ext cx="10789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R$ 215,1 mil</a:t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7571232" y="3854196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81 m2</a:t>
            </a:r>
          </a:p>
        </p:txBody>
      </p:sp>
      <p:sp>
        <p:nvSpPr>
          <p:cNvPr id="149" name="Text 149"/>
          <p:cNvSpPr txBox="1"/>
          <p:nvPr/>
        </p:nvSpPr>
        <p:spPr>
          <a:xfrm>
            <a:off x="8439912" y="3854196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R$ 2.650</a:t>
            </a:r>
          </a:p>
        </p:txBody>
      </p:sp>
      <p:sp>
        <p:nvSpPr>
          <p:cNvPr id="150" name="Text 150"/>
          <p:cNvSpPr txBox="1"/>
          <p:nvPr/>
        </p:nvSpPr>
        <p:spPr>
          <a:xfrm>
            <a:off x="566928" y="4096512"/>
            <a:ext cx="8741664" cy="242316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2024 | 4 obras | 4,0 mil m2 | R$ 7,5 mi | R$ 1.930/m2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566928" y="4338828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3523.Maternidade e Laboratório HS Humaniza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4544568" y="4338828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RS</a:t>
            </a:r>
          </a:p>
        </p:txBody>
      </p:sp>
      <p:sp>
        <p:nvSpPr>
          <p:cNvPr id="153" name="Text 153"/>
          <p:cNvSpPr txBox="1"/>
          <p:nvPr/>
        </p:nvSpPr>
        <p:spPr>
          <a:xfrm>
            <a:off x="4956048" y="4338828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Nov/24</a:t>
            </a:r>
          </a:p>
        </p:txBody>
      </p:sp>
      <p:sp>
        <p:nvSpPr>
          <p:cNvPr id="154" name="Text 154"/>
          <p:cNvSpPr txBox="1"/>
          <p:nvPr/>
        </p:nvSpPr>
        <p:spPr>
          <a:xfrm>
            <a:off x="5577840" y="4338828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6492240" y="4338828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R$ 3,8 mi</a:t>
            </a:r>
          </a:p>
        </p:txBody>
      </p:sp>
      <p:sp>
        <p:nvSpPr>
          <p:cNvPr id="156" name="Text 156"/>
          <p:cNvSpPr txBox="1"/>
          <p:nvPr/>
        </p:nvSpPr>
        <p:spPr>
          <a:xfrm>
            <a:off x="7571232" y="4338828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2,3 mil m2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8439912" y="4338828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R$ 1.706</a:t>
            </a:r>
          </a:p>
        </p:txBody>
      </p:sp>
      <p:sp>
        <p:nvSpPr>
          <p:cNvPr id="158" name="Text 158"/>
          <p:cNvSpPr txBox="1"/>
          <p:nvPr/>
        </p:nvSpPr>
        <p:spPr>
          <a:xfrm>
            <a:off x="566928" y="4581144"/>
            <a:ext cx="397764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3639.Retrofit Maternidade HS São Lucas</a:t>
            </a:r>
          </a:p>
        </p:txBody>
      </p:sp>
      <p:sp>
        <p:nvSpPr>
          <p:cNvPr id="159" name="Text 159"/>
          <p:cNvSpPr txBox="1"/>
          <p:nvPr/>
        </p:nvSpPr>
        <p:spPr>
          <a:xfrm>
            <a:off x="4544568" y="4581144"/>
            <a:ext cx="4114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60" name="Text 160"/>
          <p:cNvSpPr txBox="1"/>
          <p:nvPr/>
        </p:nvSpPr>
        <p:spPr>
          <a:xfrm>
            <a:off x="4956048" y="4581144"/>
            <a:ext cx="6217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Mai/24</a:t>
            </a:r>
          </a:p>
        </p:txBody>
      </p:sp>
      <p:sp>
        <p:nvSpPr>
          <p:cNvPr id="161" name="Text 161"/>
          <p:cNvSpPr txBox="1"/>
          <p:nvPr/>
        </p:nvSpPr>
        <p:spPr>
          <a:xfrm>
            <a:off x="5577840" y="4581144"/>
            <a:ext cx="91440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62" name="Text 162"/>
          <p:cNvSpPr txBox="1"/>
          <p:nvPr/>
        </p:nvSpPr>
        <p:spPr>
          <a:xfrm>
            <a:off x="6492240" y="4581144"/>
            <a:ext cx="10789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R$ 830,0 mil</a:t>
            </a:r>
          </a:p>
        </p:txBody>
      </p:sp>
      <p:sp>
        <p:nvSpPr>
          <p:cNvPr id="163" name="Text 163"/>
          <p:cNvSpPr txBox="1"/>
          <p:nvPr/>
        </p:nvSpPr>
        <p:spPr>
          <a:xfrm>
            <a:off x="7571232" y="4581144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406 m2</a:t>
            </a:r>
          </a:p>
        </p:txBody>
      </p:sp>
      <p:sp>
        <p:nvSpPr>
          <p:cNvPr id="164" name="Text 164"/>
          <p:cNvSpPr txBox="1"/>
          <p:nvPr/>
        </p:nvSpPr>
        <p:spPr>
          <a:xfrm>
            <a:off x="8439912" y="4581144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R$ 2.042</a:t>
            </a:r>
          </a:p>
        </p:txBody>
      </p:sp>
      <p:sp>
        <p:nvSpPr>
          <p:cNvPr id="165" name="Text 165"/>
          <p:cNvSpPr txBox="1"/>
          <p:nvPr/>
        </p:nvSpPr>
        <p:spPr>
          <a:xfrm>
            <a:off x="566928" y="4823460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3539.Retrofit Maternidade HS Santana (Mogi das Cruzes)</a:t>
            </a:r>
          </a:p>
        </p:txBody>
      </p:sp>
      <p:sp>
        <p:nvSpPr>
          <p:cNvPr id="166" name="Text 166"/>
          <p:cNvSpPr txBox="1"/>
          <p:nvPr/>
        </p:nvSpPr>
        <p:spPr>
          <a:xfrm>
            <a:off x="4544568" y="4823460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67" name="Text 167"/>
          <p:cNvSpPr txBox="1"/>
          <p:nvPr/>
        </p:nvSpPr>
        <p:spPr>
          <a:xfrm>
            <a:off x="4956048" y="4823460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Jun/24</a:t>
            </a:r>
          </a:p>
        </p:txBody>
      </p:sp>
      <p:sp>
        <p:nvSpPr>
          <p:cNvPr id="168" name="Text 168"/>
          <p:cNvSpPr txBox="1"/>
          <p:nvPr/>
        </p:nvSpPr>
        <p:spPr>
          <a:xfrm>
            <a:off x="5577840" y="4823460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69" name="Text 169"/>
          <p:cNvSpPr txBox="1"/>
          <p:nvPr/>
        </p:nvSpPr>
        <p:spPr>
          <a:xfrm>
            <a:off x="6492240" y="4823460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R$ 2,5 mi</a:t>
            </a:r>
          </a:p>
        </p:txBody>
      </p:sp>
      <p:sp>
        <p:nvSpPr>
          <p:cNvPr id="170" name="Text 170"/>
          <p:cNvSpPr txBox="1"/>
          <p:nvPr/>
        </p:nvSpPr>
        <p:spPr>
          <a:xfrm>
            <a:off x="7571232" y="4823460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942 m2</a:t>
            </a:r>
          </a:p>
        </p:txBody>
      </p:sp>
      <p:sp>
        <p:nvSpPr>
          <p:cNvPr id="171" name="Text 171"/>
          <p:cNvSpPr txBox="1"/>
          <p:nvPr/>
        </p:nvSpPr>
        <p:spPr>
          <a:xfrm>
            <a:off x="8439912" y="4823460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R$ 2.637</a:t>
            </a:r>
          </a:p>
        </p:txBody>
      </p:sp>
      <p:sp>
        <p:nvSpPr>
          <p:cNvPr id="172" name="Text 172"/>
          <p:cNvSpPr txBox="1"/>
          <p:nvPr/>
        </p:nvSpPr>
        <p:spPr>
          <a:xfrm>
            <a:off x="566928" y="5065776"/>
            <a:ext cx="397764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3438.Nova Psiquiatria HS Ana Lima</a:t>
            </a:r>
          </a:p>
        </p:txBody>
      </p:sp>
      <p:sp>
        <p:nvSpPr>
          <p:cNvPr id="173" name="Text 173"/>
          <p:cNvSpPr txBox="1"/>
          <p:nvPr/>
        </p:nvSpPr>
        <p:spPr>
          <a:xfrm>
            <a:off x="4544568" y="5065776"/>
            <a:ext cx="4114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CE</a:t>
            </a:r>
          </a:p>
        </p:txBody>
      </p:sp>
      <p:sp>
        <p:nvSpPr>
          <p:cNvPr id="174" name="Text 174"/>
          <p:cNvSpPr txBox="1"/>
          <p:nvPr/>
        </p:nvSpPr>
        <p:spPr>
          <a:xfrm>
            <a:off x="4956048" y="5065776"/>
            <a:ext cx="6217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Jul/24</a:t>
            </a:r>
          </a:p>
        </p:txBody>
      </p:sp>
      <p:sp>
        <p:nvSpPr>
          <p:cNvPr id="175" name="Text 175"/>
          <p:cNvSpPr txBox="1"/>
          <p:nvPr/>
        </p:nvSpPr>
        <p:spPr>
          <a:xfrm>
            <a:off x="5577840" y="5065776"/>
            <a:ext cx="91440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76" name="Text 176"/>
          <p:cNvSpPr txBox="1"/>
          <p:nvPr/>
        </p:nvSpPr>
        <p:spPr>
          <a:xfrm>
            <a:off x="6492240" y="5065776"/>
            <a:ext cx="10789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R$ 379,0 mil</a:t>
            </a:r>
          </a:p>
        </p:txBody>
      </p:sp>
      <p:sp>
        <p:nvSpPr>
          <p:cNvPr id="177" name="Text 177"/>
          <p:cNvSpPr txBox="1"/>
          <p:nvPr/>
        </p:nvSpPr>
        <p:spPr>
          <a:xfrm>
            <a:off x="7571232" y="5065776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298 m2</a:t>
            </a:r>
          </a:p>
        </p:txBody>
      </p:sp>
      <p:sp>
        <p:nvSpPr>
          <p:cNvPr id="178" name="Text 178"/>
          <p:cNvSpPr txBox="1"/>
          <p:nvPr/>
        </p:nvSpPr>
        <p:spPr>
          <a:xfrm>
            <a:off x="8439912" y="5065776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R$ 1.271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Hospitais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3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694944"/>
            <a:ext cx="7635240" cy="3657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800" b="1">
                <a:solidFill>
                  <a:srgbClr val="15253F"/>
                </a:solidFill>
              </a:rPr>
              <a:t>Hospitais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138160" y="768096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900">
                <a:solidFill>
                  <a:srgbClr val="50617F"/>
                </a:solidFill>
              </a:rPr>
              <a:t>Anos: 2025 a 2026 | Pagina 2/2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14300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715768" y="114300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23,4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64608" y="114300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R$ 46,9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013448" y="114300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Preco m2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R$ 2.031/m2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640080" y="1865376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>
                <a:solidFill>
                  <a:srgbClr val="253F8E"/>
                </a:solidFill>
              </a:rPr>
              <a:t>Obras listadas por ano, sem consolidacao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66928" y="2157984"/>
            <a:ext cx="3977640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4544568" y="2157984"/>
            <a:ext cx="411480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4956048" y="2157984"/>
            <a:ext cx="621792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Fim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577840" y="2157984"/>
            <a:ext cx="914400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6492240" y="2157984"/>
            <a:ext cx="1078992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7571232" y="2157984"/>
            <a:ext cx="868680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8439912" y="2157984"/>
            <a:ext cx="868680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R$/m2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566928" y="2400300"/>
            <a:ext cx="8741664" cy="242316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2025 | 4 obras | 12,4 mil m2 | R$ 22,7 mi | R$ 1.874/m2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566928" y="2642616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4065.Reabertura HS Analia Franco (2ª fase)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4544568" y="2642616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4956048" y="2642616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Jan/25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5577840" y="2642616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6492240" y="2642616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R$ 6,5 mi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7571232" y="2642616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6,2 mil m2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8439912" y="2642616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R$ 1.064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566928" y="2884932"/>
            <a:ext cx="397764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0000.Ampliação de Leitos HS Santa Maria (CE) - UTI (Virose)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4544568" y="2884932"/>
            <a:ext cx="4114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CE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4956048" y="2884932"/>
            <a:ext cx="6217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Dez/25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5577840" y="2884932"/>
            <a:ext cx="91440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6492240" y="2884932"/>
            <a:ext cx="10789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R$ 1,3 mi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7571232" y="2884932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709 m2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8439912" y="2884932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R$ 1.797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566928" y="3127248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0000.Ampliação de Leitos HS Santa Maria (CE) - Enfermaria (Vi...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4544568" y="3127248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CE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4956048" y="3127248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Dez/25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5577840" y="3127248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6492240" y="3127248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R$ 427,8 mil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7571232" y="3127248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447 m2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8439912" y="3127248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R$ 1.067</a:t>
            </a:r>
          </a:p>
        </p:txBody>
      </p:sp>
      <p:sp>
        <p:nvSpPr>
          <p:cNvPr id="129" name="Text 129"/>
          <p:cNvSpPr txBox="1"/>
          <p:nvPr/>
        </p:nvSpPr>
        <p:spPr>
          <a:xfrm>
            <a:off x="566928" y="3369564"/>
            <a:ext cx="397764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4032.Reabertura do HS Layr Maia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4544568" y="3369564"/>
            <a:ext cx="4114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PA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4956048" y="3369564"/>
            <a:ext cx="6217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Abr/25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5577840" y="3369564"/>
            <a:ext cx="91440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6492240" y="3369564"/>
            <a:ext cx="10789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R$ 14,5 mi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7571232" y="3369564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5,1 mil m2</a:t>
            </a:r>
          </a:p>
        </p:txBody>
      </p:sp>
      <p:sp>
        <p:nvSpPr>
          <p:cNvPr id="135" name="Text 135"/>
          <p:cNvSpPr txBox="1"/>
          <p:nvPr/>
        </p:nvSpPr>
        <p:spPr>
          <a:xfrm>
            <a:off x="8439912" y="3369564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R$ 2.943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566928" y="3611880"/>
            <a:ext cx="8741664" cy="242316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2026 | 3 obras | 11,0 mil m2 | R$ 24,2 mi | R$ 2.207/m2</a:t>
            </a:r>
          </a:p>
        </p:txBody>
      </p:sp>
      <p:sp>
        <p:nvSpPr>
          <p:cNvPr id="137" name="Text 137"/>
          <p:cNvSpPr txBox="1"/>
          <p:nvPr/>
        </p:nvSpPr>
        <p:spPr>
          <a:xfrm>
            <a:off x="566928" y="3854196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0000.Transformação PA em Hospital UASA</a:t>
            </a:r>
          </a:p>
        </p:txBody>
      </p:sp>
      <p:sp>
        <p:nvSpPr>
          <p:cNvPr id="138" name="Text 138"/>
          <p:cNvSpPr txBox="1"/>
          <p:nvPr/>
        </p:nvSpPr>
        <p:spPr>
          <a:xfrm>
            <a:off x="4544568" y="3854196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4956048" y="3854196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Mar/26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5577840" y="3854196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41" name="Text 141"/>
          <p:cNvSpPr txBox="1"/>
          <p:nvPr/>
        </p:nvSpPr>
        <p:spPr>
          <a:xfrm>
            <a:off x="6492240" y="3854196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R$ 23,2 mi</a:t>
            </a:r>
          </a:p>
        </p:txBody>
      </p:sp>
      <p:sp>
        <p:nvSpPr>
          <p:cNvPr id="142" name="Text 142"/>
          <p:cNvSpPr txBox="1"/>
          <p:nvPr/>
        </p:nvSpPr>
        <p:spPr>
          <a:xfrm>
            <a:off x="7571232" y="3854196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10,4 mil m2</a:t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8439912" y="3854196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R$ 2.234</a:t>
            </a:r>
          </a:p>
        </p:txBody>
      </p:sp>
      <p:sp>
        <p:nvSpPr>
          <p:cNvPr id="144" name="Text 144"/>
          <p:cNvSpPr txBox="1"/>
          <p:nvPr/>
        </p:nvSpPr>
        <p:spPr>
          <a:xfrm>
            <a:off x="566928" y="4096512"/>
            <a:ext cx="397764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0000.Ampliação de Leitos HS Nossa Senhora do Rosário (SP) (Vi...</a:t>
            </a:r>
          </a:p>
        </p:txBody>
      </p:sp>
      <p:sp>
        <p:nvSpPr>
          <p:cNvPr id="145" name="Text 145"/>
          <p:cNvSpPr txBox="1"/>
          <p:nvPr/>
        </p:nvSpPr>
        <p:spPr>
          <a:xfrm>
            <a:off x="4544568" y="4096512"/>
            <a:ext cx="4114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46" name="Text 146"/>
          <p:cNvSpPr txBox="1"/>
          <p:nvPr/>
        </p:nvSpPr>
        <p:spPr>
          <a:xfrm>
            <a:off x="4956048" y="4096512"/>
            <a:ext cx="6217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Abr/26</a:t>
            </a:r>
          </a:p>
        </p:txBody>
      </p:sp>
      <p:sp>
        <p:nvSpPr>
          <p:cNvPr id="147" name="Text 147"/>
          <p:cNvSpPr txBox="1"/>
          <p:nvPr/>
        </p:nvSpPr>
        <p:spPr>
          <a:xfrm>
            <a:off x="5577840" y="4096512"/>
            <a:ext cx="91440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6492240" y="4096512"/>
            <a:ext cx="10789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R$ 598,6 mil</a:t>
            </a:r>
          </a:p>
        </p:txBody>
      </p:sp>
      <p:sp>
        <p:nvSpPr>
          <p:cNvPr id="149" name="Text 149"/>
          <p:cNvSpPr txBox="1"/>
          <p:nvPr/>
        </p:nvSpPr>
        <p:spPr>
          <a:xfrm>
            <a:off x="7571232" y="4096512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362 m2</a:t>
            </a:r>
          </a:p>
        </p:txBody>
      </p:sp>
      <p:sp>
        <p:nvSpPr>
          <p:cNvPr id="150" name="Text 150"/>
          <p:cNvSpPr txBox="1"/>
          <p:nvPr/>
        </p:nvSpPr>
        <p:spPr>
          <a:xfrm>
            <a:off x="8439912" y="4096512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R$ 1.655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566928" y="4338828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0000.Ampliação de Leitos HS Santana (SP) (Virose)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4544568" y="4338828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53" name="Text 153"/>
          <p:cNvSpPr txBox="1"/>
          <p:nvPr/>
        </p:nvSpPr>
        <p:spPr>
          <a:xfrm>
            <a:off x="4956048" y="4338828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Abr/26</a:t>
            </a:r>
          </a:p>
        </p:txBody>
      </p:sp>
      <p:sp>
        <p:nvSpPr>
          <p:cNvPr id="154" name="Text 154"/>
          <p:cNvSpPr txBox="1"/>
          <p:nvPr/>
        </p:nvSpPr>
        <p:spPr>
          <a:xfrm>
            <a:off x="5577840" y="4338828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6492240" y="4338828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R$ 426,7 mil</a:t>
            </a:r>
          </a:p>
        </p:txBody>
      </p:sp>
      <p:sp>
        <p:nvSpPr>
          <p:cNvPr id="156" name="Text 156"/>
          <p:cNvSpPr txBox="1"/>
          <p:nvPr/>
        </p:nvSpPr>
        <p:spPr>
          <a:xfrm>
            <a:off x="7571232" y="4338828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231 m2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8439912" y="4338828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R$ 1.846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Pronto Atendimento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4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694944"/>
            <a:ext cx="7635240" cy="3657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800" b="1">
                <a:solidFill>
                  <a:srgbClr val="15253F"/>
                </a:solidFill>
              </a:rPr>
              <a:t>Pronto Atendimento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138160" y="768096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900">
                <a:solidFill>
                  <a:srgbClr val="50617F"/>
                </a:solidFill>
              </a:rPr>
              <a:t>Anos: 2023, 2025, 2026 | Pagina 1/1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14300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715768" y="114300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15,9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64608" y="114300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R$ 57,9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013448" y="114300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Preco m2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R$ 3.715/m2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640080" y="1865376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>
                <a:solidFill>
                  <a:srgbClr val="253F8E"/>
                </a:solidFill>
              </a:rPr>
              <a:t>Obras listadas por ano, sem consolidacao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66928" y="2157984"/>
            <a:ext cx="3977640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4544568" y="2157984"/>
            <a:ext cx="411480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4956048" y="2157984"/>
            <a:ext cx="621792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Fim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577840" y="2157984"/>
            <a:ext cx="914400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6492240" y="2157984"/>
            <a:ext cx="1078992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7571232" y="2157984"/>
            <a:ext cx="868680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8439912" y="2157984"/>
            <a:ext cx="868680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R$/m2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566928" y="2400300"/>
            <a:ext cx="8741664" cy="242316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2023 | 3 obras | 12,3 mil m2 | R$ 47,6 mi | R$ 3.985/m2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566928" y="2642616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9012.PA Lifecenter Contagem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4544568" y="2642616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MG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4956048" y="2642616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Mar/23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5577840" y="2642616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6492240" y="2642616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R$ 21,9 mi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7571232" y="2642616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5,5 mil m2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8439912" y="2642616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R$ 3.996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566928" y="2884932"/>
            <a:ext cx="397764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2013.HC Santa Efigênia (Contorno) - 2ª fase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4544568" y="2884932"/>
            <a:ext cx="4114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MG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4956048" y="2884932"/>
            <a:ext cx="6217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Mai/23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5577840" y="2884932"/>
            <a:ext cx="91440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6492240" y="2884932"/>
            <a:ext cx="10789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R$ 14,7 mi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7571232" y="2884932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3,7 mil m2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8439912" y="2884932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R$ 3.995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566928" y="3127248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9040.Novo PA Venda Nova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4544568" y="3127248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MG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4956048" y="3127248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Jun/23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5577840" y="3127248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6492240" y="3127248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R$ 11,0 mi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7571232" y="3127248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3,0 mil m2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8439912" y="3127248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R$ 3.953</a:t>
            </a:r>
          </a:p>
        </p:txBody>
      </p:sp>
      <p:sp>
        <p:nvSpPr>
          <p:cNvPr id="129" name="Text 129"/>
          <p:cNvSpPr txBox="1"/>
          <p:nvPr/>
        </p:nvSpPr>
        <p:spPr>
          <a:xfrm>
            <a:off x="566928" y="3369564"/>
            <a:ext cx="8741664" cy="242316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2025 | 1 obras | 1,2 mil m2 | R$ 2,8 mi | R$ 2.302/m2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566928" y="3611880"/>
            <a:ext cx="397764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3593.Adequação PA Pediátrico HS América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4544568" y="3611880"/>
            <a:ext cx="4114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GO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4956048" y="3611880"/>
            <a:ext cx="6217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Jan/25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5577840" y="3611880"/>
            <a:ext cx="91440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6492240" y="3611880"/>
            <a:ext cx="10789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R$ 2,8 mi</a:t>
            </a:r>
          </a:p>
        </p:txBody>
      </p:sp>
      <p:sp>
        <p:nvSpPr>
          <p:cNvPr id="135" name="Text 135"/>
          <p:cNvSpPr txBox="1"/>
          <p:nvPr/>
        </p:nvSpPr>
        <p:spPr>
          <a:xfrm>
            <a:off x="7571232" y="3611880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1,2 mil m2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8439912" y="3611880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R$ 2.302</a:t>
            </a:r>
          </a:p>
        </p:txBody>
      </p:sp>
      <p:sp>
        <p:nvSpPr>
          <p:cNvPr id="137" name="Text 137"/>
          <p:cNvSpPr txBox="1"/>
          <p:nvPr/>
        </p:nvSpPr>
        <p:spPr>
          <a:xfrm>
            <a:off x="566928" y="3854196"/>
            <a:ext cx="8741664" cy="242316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2026 | 1 obras | 2,5 mil m2 | R$ 7,6 mi | R$ 3.062/m2</a:t>
            </a:r>
          </a:p>
        </p:txBody>
      </p:sp>
      <p:sp>
        <p:nvSpPr>
          <p:cNvPr id="138" name="Text 138"/>
          <p:cNvSpPr txBox="1"/>
          <p:nvPr/>
        </p:nvSpPr>
        <p:spPr>
          <a:xfrm>
            <a:off x="566928" y="4096512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0000.Pronto Atendimento Penha (RJ)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4544568" y="4096512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RJ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4956048" y="4096512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Fev/26</a:t>
            </a:r>
          </a:p>
        </p:txBody>
      </p:sp>
      <p:sp>
        <p:nvSpPr>
          <p:cNvPr id="141" name="Text 141"/>
          <p:cNvSpPr txBox="1"/>
          <p:nvPr/>
        </p:nvSpPr>
        <p:spPr>
          <a:xfrm>
            <a:off x="5577840" y="4096512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42" name="Text 142"/>
          <p:cNvSpPr txBox="1"/>
          <p:nvPr/>
        </p:nvSpPr>
        <p:spPr>
          <a:xfrm>
            <a:off x="6492240" y="4096512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R$ 7,6 mi</a:t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7571232" y="4096512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2,5 mil m2</a:t>
            </a:r>
          </a:p>
        </p:txBody>
      </p:sp>
      <p:sp>
        <p:nvSpPr>
          <p:cNvPr id="144" name="Text 144"/>
          <p:cNvSpPr txBox="1"/>
          <p:nvPr/>
        </p:nvSpPr>
        <p:spPr>
          <a:xfrm>
            <a:off x="8439912" y="4096512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R$ 3.062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Clínicas, Diagnósticos, TEA e Laboratórios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5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694944"/>
            <a:ext cx="7635240" cy="3657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800" b="1">
                <a:solidFill>
                  <a:srgbClr val="15253F"/>
                </a:solidFill>
              </a:rPr>
              <a:t>Clínicas, Diagnósticos, TEA e Laboratórios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138160" y="768096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900">
                <a:solidFill>
                  <a:srgbClr val="50617F"/>
                </a:solidFill>
              </a:rPr>
              <a:t>Anos: 2023 | Pagina 1/7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14300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715768" y="114300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6,1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64608" y="114300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R$ 12,3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013448" y="114300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Preco m2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R$ 2.043/m2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640080" y="1865376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>
                <a:solidFill>
                  <a:srgbClr val="253F8E"/>
                </a:solidFill>
              </a:rPr>
              <a:t>Obras listadas por ano, sem consolidacao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66928" y="2157984"/>
            <a:ext cx="3977640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4544568" y="2157984"/>
            <a:ext cx="411480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4956048" y="2157984"/>
            <a:ext cx="621792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Fim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577840" y="2157984"/>
            <a:ext cx="914400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6492240" y="2157984"/>
            <a:ext cx="1078992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7571232" y="2157984"/>
            <a:ext cx="868680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8439912" y="2157984"/>
            <a:ext cx="868680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R$/m2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566928" y="2400300"/>
            <a:ext cx="8741664" cy="242316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2023 | 11 obras | 6,1 mil m2 | R$ 12,3 mi | R$ 2.043/m2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566928" y="2642616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1397.Substituição HC Pituba 2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4544568" y="2642616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BA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4956048" y="2642616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Mar/23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5577840" y="2642616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6492240" y="2642616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R$ 3,1 mi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7571232" y="2642616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1,6 mil m2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8439912" y="2642616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R$ 1.950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566928" y="2884932"/>
            <a:ext cx="397764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3291.TEA Fortaleza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4544568" y="2884932"/>
            <a:ext cx="4114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CE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4956048" y="2884932"/>
            <a:ext cx="6217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Mai/23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5577840" y="2884932"/>
            <a:ext cx="91440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6492240" y="2884932"/>
            <a:ext cx="10789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R$ 717,4 mil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7571232" y="2884932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609 m2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8439912" y="2884932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R$ 1.178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566928" y="3127248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3288.TEA Maceió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4544568" y="3127248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AL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4956048" y="3127248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Jun/23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5577840" y="3127248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6492240" y="3127248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R$ 278,3 mil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7571232" y="3127248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217 m2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8439912" y="3127248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R$ 1.280</a:t>
            </a:r>
          </a:p>
        </p:txBody>
      </p:sp>
      <p:sp>
        <p:nvSpPr>
          <p:cNvPr id="129" name="Text 129"/>
          <p:cNvSpPr txBox="1"/>
          <p:nvPr/>
        </p:nvSpPr>
        <p:spPr>
          <a:xfrm>
            <a:off x="566928" y="3369564"/>
            <a:ext cx="397764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3568.TEA Santo André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4544568" y="3369564"/>
            <a:ext cx="4114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4956048" y="3369564"/>
            <a:ext cx="6217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Jul/23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5577840" y="3369564"/>
            <a:ext cx="91440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6492240" y="3369564"/>
            <a:ext cx="10789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R$ 2,8 mi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7571232" y="3369564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967 m2</a:t>
            </a:r>
          </a:p>
        </p:txBody>
      </p:sp>
      <p:sp>
        <p:nvSpPr>
          <p:cNvPr id="135" name="Text 135"/>
          <p:cNvSpPr txBox="1"/>
          <p:nvPr/>
        </p:nvSpPr>
        <p:spPr>
          <a:xfrm>
            <a:off x="8439912" y="3369564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R$ 2.904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566928" y="3611880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3034.Transferência HC Piracicaba</a:t>
            </a:r>
          </a:p>
        </p:txBody>
      </p:sp>
      <p:sp>
        <p:nvSpPr>
          <p:cNvPr id="137" name="Text 137"/>
          <p:cNvSpPr txBox="1"/>
          <p:nvPr/>
        </p:nvSpPr>
        <p:spPr>
          <a:xfrm>
            <a:off x="4544568" y="3611880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38" name="Text 138"/>
          <p:cNvSpPr txBox="1"/>
          <p:nvPr/>
        </p:nvSpPr>
        <p:spPr>
          <a:xfrm>
            <a:off x="4956048" y="3611880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Jul/23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5577840" y="3611880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6492240" y="3611880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R$ 2,6 mi</a:t>
            </a:r>
          </a:p>
        </p:txBody>
      </p:sp>
      <p:sp>
        <p:nvSpPr>
          <p:cNvPr id="141" name="Text 141"/>
          <p:cNvSpPr txBox="1"/>
          <p:nvPr/>
        </p:nvSpPr>
        <p:spPr>
          <a:xfrm>
            <a:off x="7571232" y="3611880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1,2 mil m2</a:t>
            </a:r>
          </a:p>
        </p:txBody>
      </p:sp>
      <p:sp>
        <p:nvSpPr>
          <p:cNvPr id="142" name="Text 142"/>
          <p:cNvSpPr txBox="1"/>
          <p:nvPr/>
        </p:nvSpPr>
        <p:spPr>
          <a:xfrm>
            <a:off x="8439912" y="3611880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R$ 2.089</a:t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566928" y="3854196"/>
            <a:ext cx="397764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3569.TEA Arujá</a:t>
            </a:r>
          </a:p>
        </p:txBody>
      </p:sp>
      <p:sp>
        <p:nvSpPr>
          <p:cNvPr id="144" name="Text 144"/>
          <p:cNvSpPr txBox="1"/>
          <p:nvPr/>
        </p:nvSpPr>
        <p:spPr>
          <a:xfrm>
            <a:off x="4544568" y="3854196"/>
            <a:ext cx="4114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45" name="Text 145"/>
          <p:cNvSpPr txBox="1"/>
          <p:nvPr/>
        </p:nvSpPr>
        <p:spPr>
          <a:xfrm>
            <a:off x="4956048" y="3854196"/>
            <a:ext cx="6217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Jul/23</a:t>
            </a:r>
          </a:p>
        </p:txBody>
      </p:sp>
      <p:sp>
        <p:nvSpPr>
          <p:cNvPr id="146" name="Text 146"/>
          <p:cNvSpPr txBox="1"/>
          <p:nvPr/>
        </p:nvSpPr>
        <p:spPr>
          <a:xfrm>
            <a:off x="5577840" y="3854196"/>
            <a:ext cx="91440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47" name="Text 147"/>
          <p:cNvSpPr txBox="1"/>
          <p:nvPr/>
        </p:nvSpPr>
        <p:spPr>
          <a:xfrm>
            <a:off x="6492240" y="3854196"/>
            <a:ext cx="10789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R$ 1,5 mi</a:t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7571232" y="3854196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495 m2</a:t>
            </a:r>
          </a:p>
        </p:txBody>
      </p:sp>
      <p:sp>
        <p:nvSpPr>
          <p:cNvPr id="149" name="Text 149"/>
          <p:cNvSpPr txBox="1"/>
          <p:nvPr/>
        </p:nvSpPr>
        <p:spPr>
          <a:xfrm>
            <a:off x="8439912" y="3854196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R$ 3.025</a:t>
            </a:r>
          </a:p>
        </p:txBody>
      </p:sp>
      <p:sp>
        <p:nvSpPr>
          <p:cNvPr id="150" name="Text 150"/>
          <p:cNvSpPr txBox="1"/>
          <p:nvPr/>
        </p:nvSpPr>
        <p:spPr>
          <a:xfrm>
            <a:off x="566928" y="4096512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3579.Adequação Capelas CC Mercês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4544568" y="4096512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PR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4956048" y="4096512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Jul/23</a:t>
            </a:r>
          </a:p>
        </p:txBody>
      </p:sp>
      <p:sp>
        <p:nvSpPr>
          <p:cNvPr id="153" name="Text 153"/>
          <p:cNvSpPr txBox="1"/>
          <p:nvPr/>
        </p:nvSpPr>
        <p:spPr>
          <a:xfrm>
            <a:off x="5577840" y="4096512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54" name="Text 154"/>
          <p:cNvSpPr txBox="1"/>
          <p:nvPr/>
        </p:nvSpPr>
        <p:spPr>
          <a:xfrm>
            <a:off x="6492240" y="4096512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R$ 201,0 mil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7571232" y="4096512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55 m2</a:t>
            </a:r>
          </a:p>
        </p:txBody>
      </p:sp>
      <p:sp>
        <p:nvSpPr>
          <p:cNvPr id="156" name="Text 156"/>
          <p:cNvSpPr txBox="1"/>
          <p:nvPr/>
        </p:nvSpPr>
        <p:spPr>
          <a:xfrm>
            <a:off x="8439912" y="4096512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R$ 3.678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566928" y="4338828"/>
            <a:ext cx="397764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3227.TEA HC Bucarein</a:t>
            </a:r>
          </a:p>
        </p:txBody>
      </p:sp>
      <p:sp>
        <p:nvSpPr>
          <p:cNvPr id="158" name="Text 158"/>
          <p:cNvSpPr txBox="1"/>
          <p:nvPr/>
        </p:nvSpPr>
        <p:spPr>
          <a:xfrm>
            <a:off x="4544568" y="4338828"/>
            <a:ext cx="4114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SC</a:t>
            </a:r>
          </a:p>
        </p:txBody>
      </p:sp>
      <p:sp>
        <p:nvSpPr>
          <p:cNvPr id="159" name="Text 159"/>
          <p:cNvSpPr txBox="1"/>
          <p:nvPr/>
        </p:nvSpPr>
        <p:spPr>
          <a:xfrm>
            <a:off x="4956048" y="4338828"/>
            <a:ext cx="6217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Jan/23</a:t>
            </a:r>
          </a:p>
        </p:txBody>
      </p:sp>
      <p:sp>
        <p:nvSpPr>
          <p:cNvPr id="160" name="Text 160"/>
          <p:cNvSpPr txBox="1"/>
          <p:nvPr/>
        </p:nvSpPr>
        <p:spPr>
          <a:xfrm>
            <a:off x="5577840" y="4338828"/>
            <a:ext cx="91440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61" name="Text 161"/>
          <p:cNvSpPr txBox="1"/>
          <p:nvPr/>
        </p:nvSpPr>
        <p:spPr>
          <a:xfrm>
            <a:off x="6492240" y="4338828"/>
            <a:ext cx="10789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R$ 283,5 mil</a:t>
            </a:r>
          </a:p>
        </p:txBody>
      </p:sp>
      <p:sp>
        <p:nvSpPr>
          <p:cNvPr id="162" name="Text 162"/>
          <p:cNvSpPr txBox="1"/>
          <p:nvPr/>
        </p:nvSpPr>
        <p:spPr>
          <a:xfrm>
            <a:off x="7571232" y="4338828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133 m2</a:t>
            </a:r>
          </a:p>
        </p:txBody>
      </p:sp>
      <p:sp>
        <p:nvSpPr>
          <p:cNvPr id="163" name="Text 163"/>
          <p:cNvSpPr txBox="1"/>
          <p:nvPr/>
        </p:nvSpPr>
        <p:spPr>
          <a:xfrm>
            <a:off x="8439912" y="4338828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R$ 2.133</a:t>
            </a:r>
          </a:p>
        </p:txBody>
      </p:sp>
      <p:sp>
        <p:nvSpPr>
          <p:cNvPr id="164" name="Text 164"/>
          <p:cNvSpPr txBox="1"/>
          <p:nvPr/>
        </p:nvSpPr>
        <p:spPr>
          <a:xfrm>
            <a:off x="566928" y="4581144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3287.TEA HS Celina Guimarães</a:t>
            </a:r>
          </a:p>
        </p:txBody>
      </p:sp>
      <p:sp>
        <p:nvSpPr>
          <p:cNvPr id="165" name="Text 165"/>
          <p:cNvSpPr txBox="1"/>
          <p:nvPr/>
        </p:nvSpPr>
        <p:spPr>
          <a:xfrm>
            <a:off x="4544568" y="4581144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RN</a:t>
            </a:r>
          </a:p>
        </p:txBody>
      </p:sp>
      <p:sp>
        <p:nvSpPr>
          <p:cNvPr id="166" name="Text 166"/>
          <p:cNvSpPr txBox="1"/>
          <p:nvPr/>
        </p:nvSpPr>
        <p:spPr>
          <a:xfrm>
            <a:off x="4956048" y="4581144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Fev/23</a:t>
            </a:r>
          </a:p>
        </p:txBody>
      </p:sp>
      <p:sp>
        <p:nvSpPr>
          <p:cNvPr id="167" name="Text 167"/>
          <p:cNvSpPr txBox="1"/>
          <p:nvPr/>
        </p:nvSpPr>
        <p:spPr>
          <a:xfrm>
            <a:off x="5577840" y="4581144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68" name="Text 168"/>
          <p:cNvSpPr txBox="1"/>
          <p:nvPr/>
        </p:nvSpPr>
        <p:spPr>
          <a:xfrm>
            <a:off x="6492240" y="4581144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R$ 363,9 mil</a:t>
            </a:r>
          </a:p>
        </p:txBody>
      </p:sp>
      <p:sp>
        <p:nvSpPr>
          <p:cNvPr id="169" name="Text 169"/>
          <p:cNvSpPr txBox="1"/>
          <p:nvPr/>
        </p:nvSpPr>
        <p:spPr>
          <a:xfrm>
            <a:off x="7571232" y="4581144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289 m2</a:t>
            </a:r>
          </a:p>
        </p:txBody>
      </p:sp>
      <p:sp>
        <p:nvSpPr>
          <p:cNvPr id="170" name="Text 170"/>
          <p:cNvSpPr txBox="1"/>
          <p:nvPr/>
        </p:nvSpPr>
        <p:spPr>
          <a:xfrm>
            <a:off x="8439912" y="4581144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R$ 1.259</a:t>
            </a:r>
          </a:p>
        </p:txBody>
      </p:sp>
      <p:sp>
        <p:nvSpPr>
          <p:cNvPr id="171" name="Text 171"/>
          <p:cNvSpPr txBox="1"/>
          <p:nvPr/>
        </p:nvSpPr>
        <p:spPr>
          <a:xfrm>
            <a:off x="566928" y="4823460"/>
            <a:ext cx="397764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3236.Nova Coleta Campina Grande</a:t>
            </a:r>
          </a:p>
        </p:txBody>
      </p:sp>
      <p:sp>
        <p:nvSpPr>
          <p:cNvPr id="172" name="Text 172"/>
          <p:cNvSpPr txBox="1"/>
          <p:nvPr/>
        </p:nvSpPr>
        <p:spPr>
          <a:xfrm>
            <a:off x="4544568" y="4823460"/>
            <a:ext cx="4114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PB</a:t>
            </a:r>
          </a:p>
        </p:txBody>
      </p:sp>
      <p:sp>
        <p:nvSpPr>
          <p:cNvPr id="173" name="Text 173"/>
          <p:cNvSpPr txBox="1"/>
          <p:nvPr/>
        </p:nvSpPr>
        <p:spPr>
          <a:xfrm>
            <a:off x="4956048" y="4823460"/>
            <a:ext cx="6217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Fev/23</a:t>
            </a:r>
          </a:p>
        </p:txBody>
      </p:sp>
      <p:sp>
        <p:nvSpPr>
          <p:cNvPr id="174" name="Text 174"/>
          <p:cNvSpPr txBox="1"/>
          <p:nvPr/>
        </p:nvSpPr>
        <p:spPr>
          <a:xfrm>
            <a:off x="5577840" y="4823460"/>
            <a:ext cx="91440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75" name="Text 175"/>
          <p:cNvSpPr txBox="1"/>
          <p:nvPr/>
        </p:nvSpPr>
        <p:spPr>
          <a:xfrm>
            <a:off x="6492240" y="4823460"/>
            <a:ext cx="10789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R$ 179,4 mil</a:t>
            </a:r>
          </a:p>
        </p:txBody>
      </p:sp>
      <p:sp>
        <p:nvSpPr>
          <p:cNvPr id="176" name="Text 176"/>
          <p:cNvSpPr txBox="1"/>
          <p:nvPr/>
        </p:nvSpPr>
        <p:spPr>
          <a:xfrm>
            <a:off x="7571232" y="4823460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163 m2</a:t>
            </a:r>
          </a:p>
        </p:txBody>
      </p:sp>
      <p:sp>
        <p:nvSpPr>
          <p:cNvPr id="177" name="Text 177"/>
          <p:cNvSpPr txBox="1"/>
          <p:nvPr/>
        </p:nvSpPr>
        <p:spPr>
          <a:xfrm>
            <a:off x="8439912" y="4823460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R$ 1.100</a:t>
            </a:r>
          </a:p>
        </p:txBody>
      </p:sp>
      <p:sp>
        <p:nvSpPr>
          <p:cNvPr id="178" name="Text 178"/>
          <p:cNvSpPr txBox="1"/>
          <p:nvPr/>
        </p:nvSpPr>
        <p:spPr>
          <a:xfrm>
            <a:off x="566928" y="5065776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3545.TEA Taboão da Serra</a:t>
            </a:r>
          </a:p>
        </p:txBody>
      </p:sp>
      <p:sp>
        <p:nvSpPr>
          <p:cNvPr id="179" name="Text 179"/>
          <p:cNvSpPr txBox="1"/>
          <p:nvPr/>
        </p:nvSpPr>
        <p:spPr>
          <a:xfrm>
            <a:off x="4544568" y="5065776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80" name="Text 180"/>
          <p:cNvSpPr txBox="1"/>
          <p:nvPr/>
        </p:nvSpPr>
        <p:spPr>
          <a:xfrm>
            <a:off x="4956048" y="5065776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Ago/23</a:t>
            </a:r>
          </a:p>
        </p:txBody>
      </p:sp>
      <p:sp>
        <p:nvSpPr>
          <p:cNvPr id="181" name="Text 181"/>
          <p:cNvSpPr txBox="1"/>
          <p:nvPr/>
        </p:nvSpPr>
        <p:spPr>
          <a:xfrm>
            <a:off x="5577840" y="5065776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82" name="Text 182"/>
          <p:cNvSpPr txBox="1"/>
          <p:nvPr/>
        </p:nvSpPr>
        <p:spPr>
          <a:xfrm>
            <a:off x="6492240" y="5065776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R$ 305,7 mil</a:t>
            </a:r>
          </a:p>
        </p:txBody>
      </p:sp>
      <p:sp>
        <p:nvSpPr>
          <p:cNvPr id="183" name="Text 183"/>
          <p:cNvSpPr txBox="1"/>
          <p:nvPr/>
        </p:nvSpPr>
        <p:spPr>
          <a:xfrm>
            <a:off x="7571232" y="5065776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274 m2</a:t>
            </a:r>
          </a:p>
        </p:txBody>
      </p:sp>
      <p:sp>
        <p:nvSpPr>
          <p:cNvPr id="184" name="Text 184"/>
          <p:cNvSpPr txBox="1"/>
          <p:nvPr/>
        </p:nvSpPr>
        <p:spPr>
          <a:xfrm>
            <a:off x="8439912" y="5065776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R$ 1.116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Clínicas, Diagnósticos, TEA e Laboratórios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6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694944"/>
            <a:ext cx="7635240" cy="3657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800" b="1">
                <a:solidFill>
                  <a:srgbClr val="15253F"/>
                </a:solidFill>
              </a:rPr>
              <a:t>Clínicas, Diagnósticos, TEA e Laboratórios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138160" y="768096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900">
                <a:solidFill>
                  <a:srgbClr val="50617F"/>
                </a:solidFill>
              </a:rPr>
              <a:t>Anos: 2024 | Pagina 2/7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14300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715768" y="114300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3,0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64608" y="114300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R$ 4,5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013448" y="114300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Preco m2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R$ 1.538/m2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640080" y="1865376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>
                <a:solidFill>
                  <a:srgbClr val="253F8E"/>
                </a:solidFill>
              </a:rPr>
              <a:t>Obras listadas por ano, sem consolidacao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66928" y="2157984"/>
            <a:ext cx="3977640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4544568" y="2157984"/>
            <a:ext cx="411480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4956048" y="2157984"/>
            <a:ext cx="621792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Fim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577840" y="2157984"/>
            <a:ext cx="914400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6492240" y="2157984"/>
            <a:ext cx="1078992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7571232" y="2157984"/>
            <a:ext cx="868680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8439912" y="2157984"/>
            <a:ext cx="868680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R$/m2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566928" y="2400300"/>
            <a:ext cx="8741664" cy="242316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2024 | 13 obras | 3,0 mil m2 | R$ 4,5 mi | R$ 1.538/m2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566928" y="2642616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3895.Novo TEA Belém (2024)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4544568" y="2642616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PA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4956048" y="2642616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Set/24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5577840" y="2642616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6492240" y="2642616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R$ 602,6 mil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7571232" y="2642616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381 m2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8439912" y="2642616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R$ 1.626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566928" y="2884932"/>
            <a:ext cx="397764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3915.Novo TEA Zona Sul SP (2024)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4544568" y="2884932"/>
            <a:ext cx="4114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4956048" y="2884932"/>
            <a:ext cx="6217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Set/24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5577840" y="2884932"/>
            <a:ext cx="91440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6492240" y="2884932"/>
            <a:ext cx="10789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R$ 259,3 mil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7571232" y="2884932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143 m2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8439912" y="2884932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R$ 1.830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566928" y="3127248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3904.Novo TEA Campina Grande (2024)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4544568" y="3127248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PB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4956048" y="3127248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Out/24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5577840" y="3127248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6492240" y="3127248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R$ 431,4 mil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7571232" y="3127248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409 m2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8439912" y="3127248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R$ 1.054</a:t>
            </a:r>
          </a:p>
        </p:txBody>
      </p:sp>
      <p:sp>
        <p:nvSpPr>
          <p:cNvPr id="129" name="Text 129"/>
          <p:cNvSpPr txBox="1"/>
          <p:nvPr/>
        </p:nvSpPr>
        <p:spPr>
          <a:xfrm>
            <a:off x="566928" y="3369564"/>
            <a:ext cx="397764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3759.TEA Manaus (STO Centro Médico)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4544568" y="3369564"/>
            <a:ext cx="4114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AM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4956048" y="3369564"/>
            <a:ext cx="6217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Mar/24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5577840" y="3369564"/>
            <a:ext cx="91440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6492240" y="3369564"/>
            <a:ext cx="10789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R$ 270,0 mil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7571232" y="3369564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199 m2</a:t>
            </a:r>
          </a:p>
        </p:txBody>
      </p:sp>
      <p:sp>
        <p:nvSpPr>
          <p:cNvPr id="135" name="Text 135"/>
          <p:cNvSpPr txBox="1"/>
          <p:nvPr/>
        </p:nvSpPr>
        <p:spPr>
          <a:xfrm>
            <a:off x="8439912" y="3369564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R$ 1.359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566928" y="3611880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3919.Novo TEA Santo André (2024)</a:t>
            </a:r>
          </a:p>
        </p:txBody>
      </p:sp>
      <p:sp>
        <p:nvSpPr>
          <p:cNvPr id="137" name="Text 137"/>
          <p:cNvSpPr txBox="1"/>
          <p:nvPr/>
        </p:nvSpPr>
        <p:spPr>
          <a:xfrm>
            <a:off x="4544568" y="3611880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38" name="Text 138"/>
          <p:cNvSpPr txBox="1"/>
          <p:nvPr/>
        </p:nvSpPr>
        <p:spPr>
          <a:xfrm>
            <a:off x="4956048" y="3611880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Jun/24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5577840" y="3611880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6492240" y="3611880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R$ 101,4 mil</a:t>
            </a:r>
          </a:p>
        </p:txBody>
      </p:sp>
      <p:sp>
        <p:nvSpPr>
          <p:cNvPr id="141" name="Text 141"/>
          <p:cNvSpPr txBox="1"/>
          <p:nvPr/>
        </p:nvSpPr>
        <p:spPr>
          <a:xfrm>
            <a:off x="7571232" y="3611880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53 m2</a:t>
            </a:r>
          </a:p>
        </p:txBody>
      </p:sp>
      <p:sp>
        <p:nvSpPr>
          <p:cNvPr id="142" name="Text 142"/>
          <p:cNvSpPr txBox="1"/>
          <p:nvPr/>
        </p:nvSpPr>
        <p:spPr>
          <a:xfrm>
            <a:off x="8439912" y="3611880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R$ 1.929</a:t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566928" y="3854196"/>
            <a:ext cx="397764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3774.Novo TEA Maracanaú (2024)</a:t>
            </a:r>
          </a:p>
        </p:txBody>
      </p:sp>
      <p:sp>
        <p:nvSpPr>
          <p:cNvPr id="144" name="Text 144"/>
          <p:cNvSpPr txBox="1"/>
          <p:nvPr/>
        </p:nvSpPr>
        <p:spPr>
          <a:xfrm>
            <a:off x="4544568" y="3854196"/>
            <a:ext cx="4114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CE</a:t>
            </a:r>
          </a:p>
        </p:txBody>
      </p:sp>
      <p:sp>
        <p:nvSpPr>
          <p:cNvPr id="145" name="Text 145"/>
          <p:cNvSpPr txBox="1"/>
          <p:nvPr/>
        </p:nvSpPr>
        <p:spPr>
          <a:xfrm>
            <a:off x="4956048" y="3854196"/>
            <a:ext cx="6217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Jul/24</a:t>
            </a:r>
          </a:p>
        </p:txBody>
      </p:sp>
      <p:sp>
        <p:nvSpPr>
          <p:cNvPr id="146" name="Text 146"/>
          <p:cNvSpPr txBox="1"/>
          <p:nvPr/>
        </p:nvSpPr>
        <p:spPr>
          <a:xfrm>
            <a:off x="5577840" y="3854196"/>
            <a:ext cx="91440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47" name="Text 147"/>
          <p:cNvSpPr txBox="1"/>
          <p:nvPr/>
        </p:nvSpPr>
        <p:spPr>
          <a:xfrm>
            <a:off x="6492240" y="3854196"/>
            <a:ext cx="10789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R$ 537,8 mil</a:t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7571232" y="3854196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171 m2</a:t>
            </a:r>
          </a:p>
        </p:txBody>
      </p:sp>
      <p:sp>
        <p:nvSpPr>
          <p:cNvPr id="149" name="Text 149"/>
          <p:cNvSpPr txBox="1"/>
          <p:nvPr/>
        </p:nvSpPr>
        <p:spPr>
          <a:xfrm>
            <a:off x="8439912" y="3854196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R$ 3.581</a:t>
            </a:r>
          </a:p>
        </p:txBody>
      </p:sp>
      <p:sp>
        <p:nvSpPr>
          <p:cNvPr id="150" name="Text 150"/>
          <p:cNvSpPr txBox="1"/>
          <p:nvPr/>
        </p:nvSpPr>
        <p:spPr>
          <a:xfrm>
            <a:off x="566928" y="4096512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3900.Novo TEA Mossoró (2024)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4544568" y="4096512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RN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4956048" y="4096512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Jul/24</a:t>
            </a:r>
          </a:p>
        </p:txBody>
      </p:sp>
      <p:sp>
        <p:nvSpPr>
          <p:cNvPr id="153" name="Text 153"/>
          <p:cNvSpPr txBox="1"/>
          <p:nvPr/>
        </p:nvSpPr>
        <p:spPr>
          <a:xfrm>
            <a:off x="5577840" y="4096512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54" name="Text 154"/>
          <p:cNvSpPr txBox="1"/>
          <p:nvPr/>
        </p:nvSpPr>
        <p:spPr>
          <a:xfrm>
            <a:off x="6492240" y="4096512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R$ 537,5 mil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7571232" y="4096512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283 m2</a:t>
            </a:r>
          </a:p>
        </p:txBody>
      </p:sp>
      <p:sp>
        <p:nvSpPr>
          <p:cNvPr id="156" name="Text 156"/>
          <p:cNvSpPr txBox="1"/>
          <p:nvPr/>
        </p:nvSpPr>
        <p:spPr>
          <a:xfrm>
            <a:off x="8439912" y="4096512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R$ 1.922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566928" y="4338828"/>
            <a:ext cx="397764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3924.Novo TEA Guarulhos (2024)</a:t>
            </a:r>
          </a:p>
        </p:txBody>
      </p:sp>
      <p:sp>
        <p:nvSpPr>
          <p:cNvPr id="158" name="Text 158"/>
          <p:cNvSpPr txBox="1"/>
          <p:nvPr/>
        </p:nvSpPr>
        <p:spPr>
          <a:xfrm>
            <a:off x="4544568" y="4338828"/>
            <a:ext cx="4114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59" name="Text 159"/>
          <p:cNvSpPr txBox="1"/>
          <p:nvPr/>
        </p:nvSpPr>
        <p:spPr>
          <a:xfrm>
            <a:off x="4956048" y="4338828"/>
            <a:ext cx="6217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Jul/24</a:t>
            </a:r>
          </a:p>
        </p:txBody>
      </p:sp>
      <p:sp>
        <p:nvSpPr>
          <p:cNvPr id="160" name="Text 160"/>
          <p:cNvSpPr txBox="1"/>
          <p:nvPr/>
        </p:nvSpPr>
        <p:spPr>
          <a:xfrm>
            <a:off x="5577840" y="4338828"/>
            <a:ext cx="91440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61" name="Text 161"/>
          <p:cNvSpPr txBox="1"/>
          <p:nvPr/>
        </p:nvSpPr>
        <p:spPr>
          <a:xfrm>
            <a:off x="6492240" y="4338828"/>
            <a:ext cx="10789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R$ 441,4 mil</a:t>
            </a:r>
          </a:p>
        </p:txBody>
      </p:sp>
      <p:sp>
        <p:nvSpPr>
          <p:cNvPr id="162" name="Text 162"/>
          <p:cNvSpPr txBox="1"/>
          <p:nvPr/>
        </p:nvSpPr>
        <p:spPr>
          <a:xfrm>
            <a:off x="7571232" y="4338828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346 m2</a:t>
            </a:r>
          </a:p>
        </p:txBody>
      </p:sp>
      <p:sp>
        <p:nvSpPr>
          <p:cNvPr id="163" name="Text 163"/>
          <p:cNvSpPr txBox="1"/>
          <p:nvPr/>
        </p:nvSpPr>
        <p:spPr>
          <a:xfrm>
            <a:off x="8439912" y="4338828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R$ 1.276</a:t>
            </a:r>
          </a:p>
        </p:txBody>
      </p:sp>
      <p:sp>
        <p:nvSpPr>
          <p:cNvPr id="164" name="Text 164"/>
          <p:cNvSpPr txBox="1"/>
          <p:nvPr/>
        </p:nvSpPr>
        <p:spPr>
          <a:xfrm>
            <a:off x="566928" y="4581144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3914.Novo TEA Ferraz (2024)</a:t>
            </a:r>
          </a:p>
        </p:txBody>
      </p:sp>
      <p:sp>
        <p:nvSpPr>
          <p:cNvPr id="165" name="Text 165"/>
          <p:cNvSpPr txBox="1"/>
          <p:nvPr/>
        </p:nvSpPr>
        <p:spPr>
          <a:xfrm>
            <a:off x="4544568" y="4581144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66" name="Text 166"/>
          <p:cNvSpPr txBox="1"/>
          <p:nvPr/>
        </p:nvSpPr>
        <p:spPr>
          <a:xfrm>
            <a:off x="4956048" y="4581144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Jul/24</a:t>
            </a:r>
          </a:p>
        </p:txBody>
      </p:sp>
      <p:sp>
        <p:nvSpPr>
          <p:cNvPr id="167" name="Text 167"/>
          <p:cNvSpPr txBox="1"/>
          <p:nvPr/>
        </p:nvSpPr>
        <p:spPr>
          <a:xfrm>
            <a:off x="5577840" y="4581144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68" name="Text 168"/>
          <p:cNvSpPr txBox="1"/>
          <p:nvPr/>
        </p:nvSpPr>
        <p:spPr>
          <a:xfrm>
            <a:off x="6492240" y="4581144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R$ 145,2 mil</a:t>
            </a:r>
          </a:p>
        </p:txBody>
      </p:sp>
      <p:sp>
        <p:nvSpPr>
          <p:cNvPr id="169" name="Text 169"/>
          <p:cNvSpPr txBox="1"/>
          <p:nvPr/>
        </p:nvSpPr>
        <p:spPr>
          <a:xfrm>
            <a:off x="7571232" y="4581144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106 m2</a:t>
            </a:r>
          </a:p>
        </p:txBody>
      </p:sp>
      <p:sp>
        <p:nvSpPr>
          <p:cNvPr id="170" name="Text 170"/>
          <p:cNvSpPr txBox="1"/>
          <p:nvPr/>
        </p:nvSpPr>
        <p:spPr>
          <a:xfrm>
            <a:off x="8439912" y="4581144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R$ 1.426</a:t>
            </a:r>
          </a:p>
        </p:txBody>
      </p:sp>
      <p:sp>
        <p:nvSpPr>
          <p:cNvPr id="171" name="Text 171"/>
          <p:cNvSpPr txBox="1"/>
          <p:nvPr/>
        </p:nvSpPr>
        <p:spPr>
          <a:xfrm>
            <a:off x="566928" y="4823460"/>
            <a:ext cx="397764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3713.TEA Guarulhos</a:t>
            </a:r>
          </a:p>
        </p:txBody>
      </p:sp>
      <p:sp>
        <p:nvSpPr>
          <p:cNvPr id="172" name="Text 172"/>
          <p:cNvSpPr txBox="1"/>
          <p:nvPr/>
        </p:nvSpPr>
        <p:spPr>
          <a:xfrm>
            <a:off x="4544568" y="4823460"/>
            <a:ext cx="4114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73" name="Text 173"/>
          <p:cNvSpPr txBox="1"/>
          <p:nvPr/>
        </p:nvSpPr>
        <p:spPr>
          <a:xfrm>
            <a:off x="4956048" y="4823460"/>
            <a:ext cx="6217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Jan/24</a:t>
            </a:r>
          </a:p>
        </p:txBody>
      </p:sp>
      <p:sp>
        <p:nvSpPr>
          <p:cNvPr id="174" name="Text 174"/>
          <p:cNvSpPr txBox="1"/>
          <p:nvPr/>
        </p:nvSpPr>
        <p:spPr>
          <a:xfrm>
            <a:off x="5577840" y="4823460"/>
            <a:ext cx="91440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75" name="Text 175"/>
          <p:cNvSpPr txBox="1"/>
          <p:nvPr/>
        </p:nvSpPr>
        <p:spPr>
          <a:xfrm>
            <a:off x="6492240" y="4823460"/>
            <a:ext cx="10789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R$ 338,6 mil</a:t>
            </a:r>
          </a:p>
        </p:txBody>
      </p:sp>
      <p:sp>
        <p:nvSpPr>
          <p:cNvPr id="176" name="Text 176"/>
          <p:cNvSpPr txBox="1"/>
          <p:nvPr/>
        </p:nvSpPr>
        <p:spPr>
          <a:xfrm>
            <a:off x="7571232" y="4823460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270 m2</a:t>
            </a:r>
          </a:p>
        </p:txBody>
      </p:sp>
      <p:sp>
        <p:nvSpPr>
          <p:cNvPr id="177" name="Text 177"/>
          <p:cNvSpPr txBox="1"/>
          <p:nvPr/>
        </p:nvSpPr>
        <p:spPr>
          <a:xfrm>
            <a:off x="8439912" y="4823460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R$ 1.254</a:t>
            </a:r>
          </a:p>
        </p:txBody>
      </p:sp>
      <p:sp>
        <p:nvSpPr>
          <p:cNvPr id="178" name="Text 178"/>
          <p:cNvSpPr txBox="1"/>
          <p:nvPr/>
        </p:nvSpPr>
        <p:spPr>
          <a:xfrm>
            <a:off x="566928" y="5065776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3716.TEA Mogi das Cruzes 2</a:t>
            </a:r>
          </a:p>
        </p:txBody>
      </p:sp>
      <p:sp>
        <p:nvSpPr>
          <p:cNvPr id="179" name="Text 179"/>
          <p:cNvSpPr txBox="1"/>
          <p:nvPr/>
        </p:nvSpPr>
        <p:spPr>
          <a:xfrm>
            <a:off x="4544568" y="5065776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80" name="Text 180"/>
          <p:cNvSpPr txBox="1"/>
          <p:nvPr/>
        </p:nvSpPr>
        <p:spPr>
          <a:xfrm>
            <a:off x="4956048" y="5065776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Jan/24</a:t>
            </a:r>
          </a:p>
        </p:txBody>
      </p:sp>
      <p:sp>
        <p:nvSpPr>
          <p:cNvPr id="181" name="Text 181"/>
          <p:cNvSpPr txBox="1"/>
          <p:nvPr/>
        </p:nvSpPr>
        <p:spPr>
          <a:xfrm>
            <a:off x="5577840" y="5065776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82" name="Text 182"/>
          <p:cNvSpPr txBox="1"/>
          <p:nvPr/>
        </p:nvSpPr>
        <p:spPr>
          <a:xfrm>
            <a:off x="6492240" y="5065776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R$ 262,6 mil</a:t>
            </a:r>
          </a:p>
        </p:txBody>
      </p:sp>
      <p:sp>
        <p:nvSpPr>
          <p:cNvPr id="183" name="Text 183"/>
          <p:cNvSpPr txBox="1"/>
          <p:nvPr/>
        </p:nvSpPr>
        <p:spPr>
          <a:xfrm>
            <a:off x="7571232" y="5065776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258 m2</a:t>
            </a:r>
          </a:p>
        </p:txBody>
      </p:sp>
      <p:sp>
        <p:nvSpPr>
          <p:cNvPr id="184" name="Text 184"/>
          <p:cNvSpPr txBox="1"/>
          <p:nvPr/>
        </p:nvSpPr>
        <p:spPr>
          <a:xfrm>
            <a:off x="8439912" y="5065776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R$ 1.018</a:t>
            </a:r>
          </a:p>
        </p:txBody>
      </p:sp>
      <p:sp>
        <p:nvSpPr>
          <p:cNvPr id="185" name="Text 185"/>
          <p:cNvSpPr txBox="1"/>
          <p:nvPr/>
        </p:nvSpPr>
        <p:spPr>
          <a:xfrm>
            <a:off x="566928" y="5308092"/>
            <a:ext cx="397764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3541.TEA Fortaleza 2 (Pereira Filgueiras)</a:t>
            </a:r>
          </a:p>
        </p:txBody>
      </p:sp>
      <p:sp>
        <p:nvSpPr>
          <p:cNvPr id="186" name="Text 186"/>
          <p:cNvSpPr txBox="1"/>
          <p:nvPr/>
        </p:nvSpPr>
        <p:spPr>
          <a:xfrm>
            <a:off x="4544568" y="5308092"/>
            <a:ext cx="4114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CE</a:t>
            </a:r>
          </a:p>
        </p:txBody>
      </p:sp>
      <p:sp>
        <p:nvSpPr>
          <p:cNvPr id="187" name="Text 187"/>
          <p:cNvSpPr txBox="1"/>
          <p:nvPr/>
        </p:nvSpPr>
        <p:spPr>
          <a:xfrm>
            <a:off x="4956048" y="5308092"/>
            <a:ext cx="6217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Jan/24</a:t>
            </a:r>
          </a:p>
        </p:txBody>
      </p:sp>
      <p:sp>
        <p:nvSpPr>
          <p:cNvPr id="188" name="Text 188"/>
          <p:cNvSpPr txBox="1"/>
          <p:nvPr/>
        </p:nvSpPr>
        <p:spPr>
          <a:xfrm>
            <a:off x="5577840" y="5308092"/>
            <a:ext cx="91440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89" name="Text 189"/>
          <p:cNvSpPr txBox="1"/>
          <p:nvPr/>
        </p:nvSpPr>
        <p:spPr>
          <a:xfrm>
            <a:off x="6492240" y="5308092"/>
            <a:ext cx="10789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R$ 97,5 mil</a:t>
            </a:r>
          </a:p>
        </p:txBody>
      </p:sp>
      <p:sp>
        <p:nvSpPr>
          <p:cNvPr id="190" name="Text 190"/>
          <p:cNvSpPr txBox="1"/>
          <p:nvPr/>
        </p:nvSpPr>
        <p:spPr>
          <a:xfrm>
            <a:off x="7571232" y="5308092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67 m2</a:t>
            </a:r>
          </a:p>
        </p:txBody>
      </p:sp>
      <p:sp>
        <p:nvSpPr>
          <p:cNvPr id="191" name="Text 191"/>
          <p:cNvSpPr txBox="1"/>
          <p:nvPr/>
        </p:nvSpPr>
        <p:spPr>
          <a:xfrm>
            <a:off x="8439912" y="5308092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R$ 1.455</a:t>
            </a:r>
          </a:p>
        </p:txBody>
      </p:sp>
      <p:sp>
        <p:nvSpPr>
          <p:cNvPr id="192" name="Text 192"/>
          <p:cNvSpPr txBox="1"/>
          <p:nvPr/>
        </p:nvSpPr>
        <p:spPr>
          <a:xfrm>
            <a:off x="566928" y="5550408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3928.Novo TEA Limeira (2024)</a:t>
            </a:r>
          </a:p>
        </p:txBody>
      </p:sp>
      <p:sp>
        <p:nvSpPr>
          <p:cNvPr id="193" name="Text 193"/>
          <p:cNvSpPr txBox="1"/>
          <p:nvPr/>
        </p:nvSpPr>
        <p:spPr>
          <a:xfrm>
            <a:off x="4544568" y="5550408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94" name="Text 194"/>
          <p:cNvSpPr txBox="1"/>
          <p:nvPr/>
        </p:nvSpPr>
        <p:spPr>
          <a:xfrm>
            <a:off x="4956048" y="5550408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Ago/24</a:t>
            </a:r>
          </a:p>
        </p:txBody>
      </p:sp>
      <p:sp>
        <p:nvSpPr>
          <p:cNvPr id="195" name="Text 195"/>
          <p:cNvSpPr txBox="1"/>
          <p:nvPr/>
        </p:nvSpPr>
        <p:spPr>
          <a:xfrm>
            <a:off x="5577840" y="5550408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96" name="Text 196"/>
          <p:cNvSpPr txBox="1"/>
          <p:nvPr/>
        </p:nvSpPr>
        <p:spPr>
          <a:xfrm>
            <a:off x="6492240" y="5550408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R$ 462,2 mil</a:t>
            </a:r>
          </a:p>
        </p:txBody>
      </p:sp>
      <p:sp>
        <p:nvSpPr>
          <p:cNvPr id="197" name="Text 197"/>
          <p:cNvSpPr txBox="1"/>
          <p:nvPr/>
        </p:nvSpPr>
        <p:spPr>
          <a:xfrm>
            <a:off x="7571232" y="5550408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304 m2</a:t>
            </a:r>
          </a:p>
        </p:txBody>
      </p:sp>
      <p:sp>
        <p:nvSpPr>
          <p:cNvPr id="198" name="Text 198"/>
          <p:cNvSpPr txBox="1"/>
          <p:nvPr/>
        </p:nvSpPr>
        <p:spPr>
          <a:xfrm>
            <a:off x="8439912" y="5550408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R$ 1.541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Clínicas, Diagnósticos, TEA e Laboratórios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7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694944"/>
            <a:ext cx="7635240" cy="3657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800" b="1">
                <a:solidFill>
                  <a:srgbClr val="15253F"/>
                </a:solidFill>
              </a:rPr>
              <a:t>Clínicas, Diagnósticos, TEA e Laboratórios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138160" y="768096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900">
                <a:solidFill>
                  <a:srgbClr val="50617F"/>
                </a:solidFill>
              </a:rPr>
              <a:t>Anos: 2025 | Pagina 3/7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14300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715768" y="114300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17,5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64608" y="114300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R$ 39,8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013448" y="114300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Preco m2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R$ 2.354/m2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640080" y="1865376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>
                <a:solidFill>
                  <a:srgbClr val="253F8E"/>
                </a:solidFill>
              </a:rPr>
              <a:t>Obras listadas por ano, sem consolidacao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66928" y="2157984"/>
            <a:ext cx="3977640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4544568" y="2157984"/>
            <a:ext cx="411480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4956048" y="2157984"/>
            <a:ext cx="621792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Fim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577840" y="2157984"/>
            <a:ext cx="914400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6492240" y="2157984"/>
            <a:ext cx="1078992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7571232" y="2157984"/>
            <a:ext cx="868680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8439912" y="2157984"/>
            <a:ext cx="868680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R$/m2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566928" y="2400300"/>
            <a:ext cx="8741664" cy="242316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2025 | 40 obras | 41,4 mil m2 | R$ 87,4 mi | R$ 2.157/m2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566928" y="2642616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0000.Nova Coleta Parque 10 (Nilton Lins)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4544568" y="2642616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AM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4956048" y="2642616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Set/25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5577840" y="2642616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6492240" y="2642616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R$ 634,0 mil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7571232" y="2642616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235 m2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8439912" y="2642616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R$ 2.698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566928" y="2884932"/>
            <a:ext cx="397764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0000.Novo NTE SP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4544568" y="2884932"/>
            <a:ext cx="4114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4956048" y="2884932"/>
            <a:ext cx="6217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Out/25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5577840" y="2884932"/>
            <a:ext cx="91440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6492240" y="2884932"/>
            <a:ext cx="10789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R$ 7,5 mi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7571232" y="2884932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2,5 mil m2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8439912" y="2884932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R$ 3.078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566928" y="3127248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4197.Transferência Clínica Areião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4544568" y="3127248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GO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4956048" y="3127248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Out/25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5577840" y="3127248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6492240" y="3127248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R$ 1,6 mi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7571232" y="3127248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581 m2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8439912" y="3127248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R$ 2.905</a:t>
            </a:r>
          </a:p>
        </p:txBody>
      </p:sp>
      <p:sp>
        <p:nvSpPr>
          <p:cNvPr id="129" name="Text 129"/>
          <p:cNvSpPr txBox="1"/>
          <p:nvPr/>
        </p:nvSpPr>
        <p:spPr>
          <a:xfrm>
            <a:off x="566928" y="3369564"/>
            <a:ext cx="397764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4082.Nova Coleta Zona Leste (Mooca)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4544568" y="3369564"/>
            <a:ext cx="4114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4956048" y="3369564"/>
            <a:ext cx="6217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Out/25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5577840" y="3369564"/>
            <a:ext cx="91440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6492240" y="3369564"/>
            <a:ext cx="10789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R$ 528,9 mil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7571232" y="3369564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228 m2</a:t>
            </a:r>
          </a:p>
        </p:txBody>
      </p:sp>
      <p:sp>
        <p:nvSpPr>
          <p:cNvPr id="135" name="Text 135"/>
          <p:cNvSpPr txBox="1"/>
          <p:nvPr/>
        </p:nvSpPr>
        <p:spPr>
          <a:xfrm>
            <a:off x="8439912" y="3369564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R$ 2.442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566928" y="3611880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0000.Ampliação TEA Natal (2025)</a:t>
            </a:r>
          </a:p>
        </p:txBody>
      </p:sp>
      <p:sp>
        <p:nvSpPr>
          <p:cNvPr id="137" name="Text 137"/>
          <p:cNvSpPr txBox="1"/>
          <p:nvPr/>
        </p:nvSpPr>
        <p:spPr>
          <a:xfrm>
            <a:off x="4544568" y="3611880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RN</a:t>
            </a:r>
          </a:p>
        </p:txBody>
      </p:sp>
      <p:sp>
        <p:nvSpPr>
          <p:cNvPr id="138" name="Text 138"/>
          <p:cNvSpPr txBox="1"/>
          <p:nvPr/>
        </p:nvSpPr>
        <p:spPr>
          <a:xfrm>
            <a:off x="4956048" y="3611880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Out/25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5577840" y="3611880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6492240" y="3611880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R$ 387,6 mil</a:t>
            </a:r>
          </a:p>
        </p:txBody>
      </p:sp>
      <p:sp>
        <p:nvSpPr>
          <p:cNvPr id="141" name="Text 141"/>
          <p:cNvSpPr txBox="1"/>
          <p:nvPr/>
        </p:nvSpPr>
        <p:spPr>
          <a:xfrm>
            <a:off x="7571232" y="3611880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359 m2</a:t>
            </a:r>
          </a:p>
        </p:txBody>
      </p:sp>
      <p:sp>
        <p:nvSpPr>
          <p:cNvPr id="142" name="Text 142"/>
          <p:cNvSpPr txBox="1"/>
          <p:nvPr/>
        </p:nvSpPr>
        <p:spPr>
          <a:xfrm>
            <a:off x="8439912" y="3611880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R$ 1.080</a:t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566928" y="3854196"/>
            <a:ext cx="397764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4129.Clínica/Lab/Ima Zona Sul 1 e 2 Adolfo Pinheiro (SP) - Fa...</a:t>
            </a:r>
          </a:p>
        </p:txBody>
      </p:sp>
      <p:sp>
        <p:nvSpPr>
          <p:cNvPr id="144" name="Text 144"/>
          <p:cNvSpPr txBox="1"/>
          <p:nvPr/>
        </p:nvSpPr>
        <p:spPr>
          <a:xfrm>
            <a:off x="4544568" y="3854196"/>
            <a:ext cx="4114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45" name="Text 145"/>
          <p:cNvSpPr txBox="1"/>
          <p:nvPr/>
        </p:nvSpPr>
        <p:spPr>
          <a:xfrm>
            <a:off x="4956048" y="3854196"/>
            <a:ext cx="6217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Nov/25</a:t>
            </a:r>
          </a:p>
        </p:txBody>
      </p:sp>
      <p:sp>
        <p:nvSpPr>
          <p:cNvPr id="146" name="Text 146"/>
          <p:cNvSpPr txBox="1"/>
          <p:nvPr/>
        </p:nvSpPr>
        <p:spPr>
          <a:xfrm>
            <a:off x="5577840" y="3854196"/>
            <a:ext cx="91440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47" name="Text 147"/>
          <p:cNvSpPr txBox="1"/>
          <p:nvPr/>
        </p:nvSpPr>
        <p:spPr>
          <a:xfrm>
            <a:off x="6492240" y="3854196"/>
            <a:ext cx="10789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R$ 8,2 mi</a:t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7571232" y="3854196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3,3 mil m2</a:t>
            </a:r>
          </a:p>
        </p:txBody>
      </p:sp>
      <p:sp>
        <p:nvSpPr>
          <p:cNvPr id="149" name="Text 149"/>
          <p:cNvSpPr txBox="1"/>
          <p:nvPr/>
        </p:nvSpPr>
        <p:spPr>
          <a:xfrm>
            <a:off x="8439912" y="3854196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R$ 2.588</a:t>
            </a:r>
          </a:p>
        </p:txBody>
      </p:sp>
      <p:sp>
        <p:nvSpPr>
          <p:cNvPr id="150" name="Text 150"/>
          <p:cNvSpPr txBox="1"/>
          <p:nvPr/>
        </p:nvSpPr>
        <p:spPr>
          <a:xfrm>
            <a:off x="566928" y="4096512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4127.Clínica/Lab/Ima Zona Norte Henrique Mazzei Tucuruvi (SP)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4544568" y="4096512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4956048" y="4096512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Nov/25</a:t>
            </a:r>
          </a:p>
        </p:txBody>
      </p:sp>
      <p:sp>
        <p:nvSpPr>
          <p:cNvPr id="153" name="Text 153"/>
          <p:cNvSpPr txBox="1"/>
          <p:nvPr/>
        </p:nvSpPr>
        <p:spPr>
          <a:xfrm>
            <a:off x="5577840" y="4096512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54" name="Text 154"/>
          <p:cNvSpPr txBox="1"/>
          <p:nvPr/>
        </p:nvSpPr>
        <p:spPr>
          <a:xfrm>
            <a:off x="6492240" y="4096512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R$ 4,3 mi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7571232" y="4096512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2,6 mil m2</a:t>
            </a:r>
          </a:p>
        </p:txBody>
      </p:sp>
      <p:sp>
        <p:nvSpPr>
          <p:cNvPr id="156" name="Text 156"/>
          <p:cNvSpPr txBox="1"/>
          <p:nvPr/>
        </p:nvSpPr>
        <p:spPr>
          <a:xfrm>
            <a:off x="8439912" y="4096512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R$ 1.694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566928" y="4338828"/>
            <a:ext cx="397764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0000.Nova Clínica da Criança e Mulher Fortaleza Fase 1</a:t>
            </a:r>
          </a:p>
        </p:txBody>
      </p:sp>
      <p:sp>
        <p:nvSpPr>
          <p:cNvPr id="158" name="Text 158"/>
          <p:cNvSpPr txBox="1"/>
          <p:nvPr/>
        </p:nvSpPr>
        <p:spPr>
          <a:xfrm>
            <a:off x="4544568" y="4338828"/>
            <a:ext cx="4114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CE</a:t>
            </a:r>
          </a:p>
        </p:txBody>
      </p:sp>
      <p:sp>
        <p:nvSpPr>
          <p:cNvPr id="159" name="Text 159"/>
          <p:cNvSpPr txBox="1"/>
          <p:nvPr/>
        </p:nvSpPr>
        <p:spPr>
          <a:xfrm>
            <a:off x="4956048" y="4338828"/>
            <a:ext cx="6217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Nov/25</a:t>
            </a:r>
          </a:p>
        </p:txBody>
      </p:sp>
      <p:sp>
        <p:nvSpPr>
          <p:cNvPr id="160" name="Text 160"/>
          <p:cNvSpPr txBox="1"/>
          <p:nvPr/>
        </p:nvSpPr>
        <p:spPr>
          <a:xfrm>
            <a:off x="5577840" y="4338828"/>
            <a:ext cx="91440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61" name="Text 161"/>
          <p:cNvSpPr txBox="1"/>
          <p:nvPr/>
        </p:nvSpPr>
        <p:spPr>
          <a:xfrm>
            <a:off x="6492240" y="4338828"/>
            <a:ext cx="10789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R$ 3,6 mi</a:t>
            </a:r>
          </a:p>
        </p:txBody>
      </p:sp>
      <p:sp>
        <p:nvSpPr>
          <p:cNvPr id="162" name="Text 162"/>
          <p:cNvSpPr txBox="1"/>
          <p:nvPr/>
        </p:nvSpPr>
        <p:spPr>
          <a:xfrm>
            <a:off x="7571232" y="4338828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1,7 mil m2</a:t>
            </a:r>
          </a:p>
        </p:txBody>
      </p:sp>
      <p:sp>
        <p:nvSpPr>
          <p:cNvPr id="163" name="Text 163"/>
          <p:cNvSpPr txBox="1"/>
          <p:nvPr/>
        </p:nvSpPr>
        <p:spPr>
          <a:xfrm>
            <a:off x="8439912" y="4338828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R$ 2.151</a:t>
            </a:r>
          </a:p>
        </p:txBody>
      </p:sp>
      <p:sp>
        <p:nvSpPr>
          <p:cNvPr id="164" name="Text 164"/>
          <p:cNvSpPr txBox="1"/>
          <p:nvPr/>
        </p:nvSpPr>
        <p:spPr>
          <a:xfrm>
            <a:off x="566928" y="4581144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4195.Nova Clínica e Coleta Campinas (Bosque Maia)</a:t>
            </a:r>
          </a:p>
        </p:txBody>
      </p:sp>
      <p:sp>
        <p:nvSpPr>
          <p:cNvPr id="165" name="Text 165"/>
          <p:cNvSpPr txBox="1"/>
          <p:nvPr/>
        </p:nvSpPr>
        <p:spPr>
          <a:xfrm>
            <a:off x="4544568" y="4581144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66" name="Text 166"/>
          <p:cNvSpPr txBox="1"/>
          <p:nvPr/>
        </p:nvSpPr>
        <p:spPr>
          <a:xfrm>
            <a:off x="4956048" y="4581144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Nov/25</a:t>
            </a:r>
          </a:p>
        </p:txBody>
      </p:sp>
      <p:sp>
        <p:nvSpPr>
          <p:cNvPr id="167" name="Text 167"/>
          <p:cNvSpPr txBox="1"/>
          <p:nvPr/>
        </p:nvSpPr>
        <p:spPr>
          <a:xfrm>
            <a:off x="5577840" y="4581144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68" name="Text 168"/>
          <p:cNvSpPr txBox="1"/>
          <p:nvPr/>
        </p:nvSpPr>
        <p:spPr>
          <a:xfrm>
            <a:off x="6492240" y="4581144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R$ 3,0 mi</a:t>
            </a:r>
          </a:p>
        </p:txBody>
      </p:sp>
      <p:sp>
        <p:nvSpPr>
          <p:cNvPr id="169" name="Text 169"/>
          <p:cNvSpPr txBox="1"/>
          <p:nvPr/>
        </p:nvSpPr>
        <p:spPr>
          <a:xfrm>
            <a:off x="7571232" y="4581144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1,2 mil m2</a:t>
            </a:r>
          </a:p>
        </p:txBody>
      </p:sp>
      <p:sp>
        <p:nvSpPr>
          <p:cNvPr id="170" name="Text 170"/>
          <p:cNvSpPr txBox="1"/>
          <p:nvPr/>
        </p:nvSpPr>
        <p:spPr>
          <a:xfrm>
            <a:off x="8439912" y="4581144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R$ 2.498</a:t>
            </a:r>
          </a:p>
        </p:txBody>
      </p:sp>
      <p:sp>
        <p:nvSpPr>
          <p:cNvPr id="171" name="Text 171"/>
          <p:cNvSpPr txBox="1"/>
          <p:nvPr/>
        </p:nvSpPr>
        <p:spPr>
          <a:xfrm>
            <a:off x="566928" y="4823460"/>
            <a:ext cx="397764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4196.Nova Clínica e Fisioterapia Horto Florestal Salvador</a:t>
            </a:r>
          </a:p>
        </p:txBody>
      </p:sp>
      <p:sp>
        <p:nvSpPr>
          <p:cNvPr id="172" name="Text 172"/>
          <p:cNvSpPr txBox="1"/>
          <p:nvPr/>
        </p:nvSpPr>
        <p:spPr>
          <a:xfrm>
            <a:off x="4544568" y="4823460"/>
            <a:ext cx="4114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BA</a:t>
            </a:r>
          </a:p>
        </p:txBody>
      </p:sp>
      <p:sp>
        <p:nvSpPr>
          <p:cNvPr id="173" name="Text 173"/>
          <p:cNvSpPr txBox="1"/>
          <p:nvPr/>
        </p:nvSpPr>
        <p:spPr>
          <a:xfrm>
            <a:off x="4956048" y="4823460"/>
            <a:ext cx="6217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Nov/25</a:t>
            </a:r>
          </a:p>
        </p:txBody>
      </p:sp>
      <p:sp>
        <p:nvSpPr>
          <p:cNvPr id="174" name="Text 174"/>
          <p:cNvSpPr txBox="1"/>
          <p:nvPr/>
        </p:nvSpPr>
        <p:spPr>
          <a:xfrm>
            <a:off x="5577840" y="4823460"/>
            <a:ext cx="91440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75" name="Text 175"/>
          <p:cNvSpPr txBox="1"/>
          <p:nvPr/>
        </p:nvSpPr>
        <p:spPr>
          <a:xfrm>
            <a:off x="6492240" y="4823460"/>
            <a:ext cx="10789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R$ 3,0 mi</a:t>
            </a:r>
          </a:p>
        </p:txBody>
      </p:sp>
      <p:sp>
        <p:nvSpPr>
          <p:cNvPr id="176" name="Text 176"/>
          <p:cNvSpPr txBox="1"/>
          <p:nvPr/>
        </p:nvSpPr>
        <p:spPr>
          <a:xfrm>
            <a:off x="7571232" y="4823460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1,8 mil m2</a:t>
            </a:r>
          </a:p>
        </p:txBody>
      </p:sp>
      <p:sp>
        <p:nvSpPr>
          <p:cNvPr id="177" name="Text 177"/>
          <p:cNvSpPr txBox="1"/>
          <p:nvPr/>
        </p:nvSpPr>
        <p:spPr>
          <a:xfrm>
            <a:off x="8439912" y="4823460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R$ 1.946</a:t>
            </a:r>
          </a:p>
        </p:txBody>
      </p:sp>
      <p:sp>
        <p:nvSpPr>
          <p:cNvPr id="178" name="Text 178"/>
          <p:cNvSpPr txBox="1"/>
          <p:nvPr/>
        </p:nvSpPr>
        <p:spPr>
          <a:xfrm>
            <a:off x="566928" y="5065776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4194.Nova Clínica Nova Iguaçu</a:t>
            </a:r>
          </a:p>
        </p:txBody>
      </p:sp>
      <p:sp>
        <p:nvSpPr>
          <p:cNvPr id="179" name="Text 179"/>
          <p:cNvSpPr txBox="1"/>
          <p:nvPr/>
        </p:nvSpPr>
        <p:spPr>
          <a:xfrm>
            <a:off x="4544568" y="5065776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RJ</a:t>
            </a:r>
          </a:p>
        </p:txBody>
      </p:sp>
      <p:sp>
        <p:nvSpPr>
          <p:cNvPr id="180" name="Text 180"/>
          <p:cNvSpPr txBox="1"/>
          <p:nvPr/>
        </p:nvSpPr>
        <p:spPr>
          <a:xfrm>
            <a:off x="4956048" y="5065776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Nov/25</a:t>
            </a:r>
          </a:p>
        </p:txBody>
      </p:sp>
      <p:sp>
        <p:nvSpPr>
          <p:cNvPr id="181" name="Text 181"/>
          <p:cNvSpPr txBox="1"/>
          <p:nvPr/>
        </p:nvSpPr>
        <p:spPr>
          <a:xfrm>
            <a:off x="5577840" y="5065776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82" name="Text 182"/>
          <p:cNvSpPr txBox="1"/>
          <p:nvPr/>
        </p:nvSpPr>
        <p:spPr>
          <a:xfrm>
            <a:off x="6492240" y="5065776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R$ 2,0 mi</a:t>
            </a:r>
          </a:p>
        </p:txBody>
      </p:sp>
      <p:sp>
        <p:nvSpPr>
          <p:cNvPr id="183" name="Text 183"/>
          <p:cNvSpPr txBox="1"/>
          <p:nvPr/>
        </p:nvSpPr>
        <p:spPr>
          <a:xfrm>
            <a:off x="7571232" y="5065776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668 m2</a:t>
            </a:r>
          </a:p>
        </p:txBody>
      </p:sp>
      <p:sp>
        <p:nvSpPr>
          <p:cNvPr id="184" name="Text 184"/>
          <p:cNvSpPr txBox="1"/>
          <p:nvPr/>
        </p:nvSpPr>
        <p:spPr>
          <a:xfrm>
            <a:off x="8439912" y="5065776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R$ 3.147</a:t>
            </a:r>
          </a:p>
        </p:txBody>
      </p:sp>
      <p:sp>
        <p:nvSpPr>
          <p:cNvPr id="185" name="Text 185"/>
          <p:cNvSpPr txBox="1"/>
          <p:nvPr/>
        </p:nvSpPr>
        <p:spPr>
          <a:xfrm>
            <a:off x="566928" y="5308092"/>
            <a:ext cx="397764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4081.Nova Coleta Zona Leste Parque do Carmo (Itaquera)</a:t>
            </a:r>
          </a:p>
        </p:txBody>
      </p:sp>
      <p:sp>
        <p:nvSpPr>
          <p:cNvPr id="186" name="Text 186"/>
          <p:cNvSpPr txBox="1"/>
          <p:nvPr/>
        </p:nvSpPr>
        <p:spPr>
          <a:xfrm>
            <a:off x="4544568" y="5308092"/>
            <a:ext cx="4114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87" name="Text 187"/>
          <p:cNvSpPr txBox="1"/>
          <p:nvPr/>
        </p:nvSpPr>
        <p:spPr>
          <a:xfrm>
            <a:off x="4956048" y="5308092"/>
            <a:ext cx="6217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Nov/25</a:t>
            </a:r>
          </a:p>
        </p:txBody>
      </p:sp>
      <p:sp>
        <p:nvSpPr>
          <p:cNvPr id="188" name="Text 188"/>
          <p:cNvSpPr txBox="1"/>
          <p:nvPr/>
        </p:nvSpPr>
        <p:spPr>
          <a:xfrm>
            <a:off x="5577840" y="5308092"/>
            <a:ext cx="91440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89" name="Text 189"/>
          <p:cNvSpPr txBox="1"/>
          <p:nvPr/>
        </p:nvSpPr>
        <p:spPr>
          <a:xfrm>
            <a:off x="6492240" y="5308092"/>
            <a:ext cx="10789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R$ 1,2 mi</a:t>
            </a:r>
          </a:p>
        </p:txBody>
      </p:sp>
      <p:sp>
        <p:nvSpPr>
          <p:cNvPr id="190" name="Text 190"/>
          <p:cNvSpPr txBox="1"/>
          <p:nvPr/>
        </p:nvSpPr>
        <p:spPr>
          <a:xfrm>
            <a:off x="7571232" y="5308092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539 m2</a:t>
            </a:r>
          </a:p>
        </p:txBody>
      </p:sp>
      <p:sp>
        <p:nvSpPr>
          <p:cNvPr id="191" name="Text 191"/>
          <p:cNvSpPr txBox="1"/>
          <p:nvPr/>
        </p:nvSpPr>
        <p:spPr>
          <a:xfrm>
            <a:off x="8439912" y="5308092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R$ 2.236</a:t>
            </a:r>
          </a:p>
        </p:txBody>
      </p:sp>
      <p:sp>
        <p:nvSpPr>
          <p:cNvPr id="192" name="Text 192"/>
          <p:cNvSpPr txBox="1"/>
          <p:nvPr/>
        </p:nvSpPr>
        <p:spPr>
          <a:xfrm>
            <a:off x="566928" y="5550408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0000.Ampliação 03 consultórios UA Cidade Nova</a:t>
            </a:r>
          </a:p>
        </p:txBody>
      </p:sp>
      <p:sp>
        <p:nvSpPr>
          <p:cNvPr id="193" name="Text 193"/>
          <p:cNvSpPr txBox="1"/>
          <p:nvPr/>
        </p:nvSpPr>
        <p:spPr>
          <a:xfrm>
            <a:off x="4544568" y="5550408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RJ</a:t>
            </a:r>
          </a:p>
        </p:txBody>
      </p:sp>
      <p:sp>
        <p:nvSpPr>
          <p:cNvPr id="194" name="Text 194"/>
          <p:cNvSpPr txBox="1"/>
          <p:nvPr/>
        </p:nvSpPr>
        <p:spPr>
          <a:xfrm>
            <a:off x="4956048" y="5550408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Nov/25</a:t>
            </a:r>
          </a:p>
        </p:txBody>
      </p:sp>
      <p:sp>
        <p:nvSpPr>
          <p:cNvPr id="195" name="Text 195"/>
          <p:cNvSpPr txBox="1"/>
          <p:nvPr/>
        </p:nvSpPr>
        <p:spPr>
          <a:xfrm>
            <a:off x="5577840" y="5550408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96" name="Text 196"/>
          <p:cNvSpPr txBox="1"/>
          <p:nvPr/>
        </p:nvSpPr>
        <p:spPr>
          <a:xfrm>
            <a:off x="6492240" y="5550408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R$ 265,1 mil</a:t>
            </a:r>
          </a:p>
        </p:txBody>
      </p:sp>
      <p:sp>
        <p:nvSpPr>
          <p:cNvPr id="197" name="Text 197"/>
          <p:cNvSpPr txBox="1"/>
          <p:nvPr/>
        </p:nvSpPr>
        <p:spPr>
          <a:xfrm>
            <a:off x="7571232" y="5550408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69 m2</a:t>
            </a:r>
          </a:p>
        </p:txBody>
      </p:sp>
      <p:sp>
        <p:nvSpPr>
          <p:cNvPr id="198" name="Text 198"/>
          <p:cNvSpPr txBox="1"/>
          <p:nvPr/>
        </p:nvSpPr>
        <p:spPr>
          <a:xfrm>
            <a:off x="8439912" y="5550408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R$ 3.915</a:t>
            </a:r>
          </a:p>
        </p:txBody>
      </p:sp>
      <p:sp>
        <p:nvSpPr>
          <p:cNvPr id="199" name="Text 199"/>
          <p:cNvSpPr txBox="1"/>
          <p:nvPr/>
        </p:nvSpPr>
        <p:spPr>
          <a:xfrm>
            <a:off x="566928" y="5792724"/>
            <a:ext cx="397764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4020.Nova Clínica São Luís (Cohab)</a:t>
            </a:r>
          </a:p>
        </p:txBody>
      </p:sp>
      <p:sp>
        <p:nvSpPr>
          <p:cNvPr id="200" name="Text 200"/>
          <p:cNvSpPr txBox="1"/>
          <p:nvPr/>
        </p:nvSpPr>
        <p:spPr>
          <a:xfrm>
            <a:off x="4544568" y="5792724"/>
            <a:ext cx="4114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</a:t>
            </a:r>
          </a:p>
        </p:txBody>
      </p:sp>
      <p:sp>
        <p:nvSpPr>
          <p:cNvPr id="201" name="Text 201"/>
          <p:cNvSpPr txBox="1"/>
          <p:nvPr/>
        </p:nvSpPr>
        <p:spPr>
          <a:xfrm>
            <a:off x="4956048" y="5792724"/>
            <a:ext cx="6217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Mar/25</a:t>
            </a:r>
          </a:p>
        </p:txBody>
      </p:sp>
      <p:sp>
        <p:nvSpPr>
          <p:cNvPr id="202" name="Text 202"/>
          <p:cNvSpPr txBox="1"/>
          <p:nvPr/>
        </p:nvSpPr>
        <p:spPr>
          <a:xfrm>
            <a:off x="5577840" y="5792724"/>
            <a:ext cx="91440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203" name="Text 203"/>
          <p:cNvSpPr txBox="1"/>
          <p:nvPr/>
        </p:nvSpPr>
        <p:spPr>
          <a:xfrm>
            <a:off x="6492240" y="5792724"/>
            <a:ext cx="10789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R$ 1,8 mi</a:t>
            </a:r>
          </a:p>
        </p:txBody>
      </p:sp>
      <p:sp>
        <p:nvSpPr>
          <p:cNvPr id="204" name="Text 204"/>
          <p:cNvSpPr txBox="1"/>
          <p:nvPr/>
        </p:nvSpPr>
        <p:spPr>
          <a:xfrm>
            <a:off x="7571232" y="5792724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849 m2</a:t>
            </a:r>
          </a:p>
        </p:txBody>
      </p:sp>
      <p:sp>
        <p:nvSpPr>
          <p:cNvPr id="205" name="Text 205"/>
          <p:cNvSpPr txBox="1"/>
          <p:nvPr/>
        </p:nvSpPr>
        <p:spPr>
          <a:xfrm>
            <a:off x="8439912" y="5792724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R$ 2.156</a:t>
            </a:r>
          </a:p>
        </p:txBody>
      </p:sp>
      <p:sp>
        <p:nvSpPr>
          <p:cNvPr id="206" name="Text 206"/>
          <p:cNvSpPr txBox="1"/>
          <p:nvPr/>
        </p:nvSpPr>
        <p:spPr>
          <a:xfrm>
            <a:off x="566928" y="6035040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4019.Nova Clínica Brasília (Brasiliense)</a:t>
            </a:r>
          </a:p>
        </p:txBody>
      </p:sp>
      <p:sp>
        <p:nvSpPr>
          <p:cNvPr id="207" name="Text 207"/>
          <p:cNvSpPr txBox="1"/>
          <p:nvPr/>
        </p:nvSpPr>
        <p:spPr>
          <a:xfrm>
            <a:off x="4544568" y="6035040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DF</a:t>
            </a:r>
          </a:p>
        </p:txBody>
      </p:sp>
      <p:sp>
        <p:nvSpPr>
          <p:cNvPr id="208" name="Text 208"/>
          <p:cNvSpPr txBox="1"/>
          <p:nvPr/>
        </p:nvSpPr>
        <p:spPr>
          <a:xfrm>
            <a:off x="4956048" y="6035040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Mar/25</a:t>
            </a:r>
          </a:p>
        </p:txBody>
      </p:sp>
      <p:sp>
        <p:nvSpPr>
          <p:cNvPr id="209" name="Text 209"/>
          <p:cNvSpPr txBox="1"/>
          <p:nvPr/>
        </p:nvSpPr>
        <p:spPr>
          <a:xfrm>
            <a:off x="5577840" y="6035040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210" name="Text 210"/>
          <p:cNvSpPr txBox="1"/>
          <p:nvPr/>
        </p:nvSpPr>
        <p:spPr>
          <a:xfrm>
            <a:off x="6492240" y="6035040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R$ 1,8 mi</a:t>
            </a:r>
          </a:p>
        </p:txBody>
      </p:sp>
      <p:sp>
        <p:nvSpPr>
          <p:cNvPr id="211" name="Text 211"/>
          <p:cNvSpPr txBox="1"/>
          <p:nvPr/>
        </p:nvSpPr>
        <p:spPr>
          <a:xfrm>
            <a:off x="7571232" y="6035040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903 m2</a:t>
            </a:r>
          </a:p>
        </p:txBody>
      </p:sp>
      <p:sp>
        <p:nvSpPr>
          <p:cNvPr id="212" name="Text 212"/>
          <p:cNvSpPr txBox="1"/>
          <p:nvPr/>
        </p:nvSpPr>
        <p:spPr>
          <a:xfrm>
            <a:off x="8439912" y="6035040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R$ 2.024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Clínicas, Diagnósticos, TEA e Laboratórios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8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694944"/>
            <a:ext cx="7635240" cy="3657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800" b="1">
                <a:solidFill>
                  <a:srgbClr val="15253F"/>
                </a:solidFill>
              </a:rPr>
              <a:t>Clínicas, Diagnósticos, TEA e Laboratórios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138160" y="768096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900">
                <a:solidFill>
                  <a:srgbClr val="50617F"/>
                </a:solidFill>
              </a:rPr>
              <a:t>Anos: 2025 | Pagina 4/7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14300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715768" y="114300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16,2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64608" y="114300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R$ 33,0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013448" y="114300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Preco m2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R$ 2.049/m2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640080" y="1865376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>
                <a:solidFill>
                  <a:srgbClr val="253F8E"/>
                </a:solidFill>
              </a:rPr>
              <a:t>Obras listadas por ano, sem consolidacao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66928" y="2157984"/>
            <a:ext cx="3977640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4544568" y="2157984"/>
            <a:ext cx="411480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4956048" y="2157984"/>
            <a:ext cx="621792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Fim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577840" y="2157984"/>
            <a:ext cx="914400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6492240" y="2157984"/>
            <a:ext cx="1078992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7571232" y="2157984"/>
            <a:ext cx="868680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8439912" y="2157984"/>
            <a:ext cx="868680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R$/m2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566928" y="2400300"/>
            <a:ext cx="8741664" cy="242316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2025 (contin.) | 40 obras | 41,4 mil m2 | R$ 87,4 mi | R$ 2.157/m2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566928" y="2642616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4015.Nova Clínica Sorocaba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4544568" y="2642616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4956048" y="2642616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Mar/25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5577840" y="2642616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6492240" y="2642616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R$ 1,5 mi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7571232" y="2642616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680 m2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8439912" y="2642616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R$ 2.240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566928" y="2884932"/>
            <a:ext cx="397764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4089.Nova Coleta Zona Sul (Vila Mariana)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4544568" y="2884932"/>
            <a:ext cx="4114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4956048" y="2884932"/>
            <a:ext cx="6217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Jun/25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5577840" y="2884932"/>
            <a:ext cx="91440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6492240" y="2884932"/>
            <a:ext cx="10789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R$ 856,4 mil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7571232" y="2884932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413 m2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8439912" y="2884932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R$ 2.072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566928" y="3127248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4079.Nova Coleta Zona Leste (Penha)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4544568" y="3127248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4956048" y="3127248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Jun/25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5577840" y="3127248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6492240" y="3127248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R$ 609,1 mil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7571232" y="3127248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412 m2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8439912" y="3127248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R$ 1.478</a:t>
            </a:r>
          </a:p>
        </p:txBody>
      </p:sp>
      <p:sp>
        <p:nvSpPr>
          <p:cNvPr id="129" name="Text 129"/>
          <p:cNvSpPr txBox="1"/>
          <p:nvPr/>
        </p:nvSpPr>
        <p:spPr>
          <a:xfrm>
            <a:off x="566928" y="3369564"/>
            <a:ext cx="397764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4084.Nova Coleta Zona Norte (Santana)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4544568" y="3369564"/>
            <a:ext cx="4114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4956048" y="3369564"/>
            <a:ext cx="6217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Jun/25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5577840" y="3369564"/>
            <a:ext cx="91440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6492240" y="3369564"/>
            <a:ext cx="10789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R$ 578,7 mil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7571232" y="3369564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338 m2</a:t>
            </a:r>
          </a:p>
        </p:txBody>
      </p:sp>
      <p:sp>
        <p:nvSpPr>
          <p:cNvPr id="135" name="Text 135"/>
          <p:cNvSpPr txBox="1"/>
          <p:nvPr/>
        </p:nvSpPr>
        <p:spPr>
          <a:xfrm>
            <a:off x="8439912" y="3369564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R$ 1.711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566928" y="3611880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4090.Nova Coleta Zona Sul (João Dias)</a:t>
            </a:r>
          </a:p>
        </p:txBody>
      </p:sp>
      <p:sp>
        <p:nvSpPr>
          <p:cNvPr id="137" name="Text 137"/>
          <p:cNvSpPr txBox="1"/>
          <p:nvPr/>
        </p:nvSpPr>
        <p:spPr>
          <a:xfrm>
            <a:off x="4544568" y="3611880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38" name="Text 138"/>
          <p:cNvSpPr txBox="1"/>
          <p:nvPr/>
        </p:nvSpPr>
        <p:spPr>
          <a:xfrm>
            <a:off x="4956048" y="3611880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Jun/25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5577840" y="3611880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6492240" y="3611880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R$ 490,3 mil</a:t>
            </a:r>
          </a:p>
        </p:txBody>
      </p:sp>
      <p:sp>
        <p:nvSpPr>
          <p:cNvPr id="141" name="Text 141"/>
          <p:cNvSpPr txBox="1"/>
          <p:nvPr/>
        </p:nvSpPr>
        <p:spPr>
          <a:xfrm>
            <a:off x="7571232" y="3611880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406 m2</a:t>
            </a:r>
          </a:p>
        </p:txBody>
      </p:sp>
      <p:sp>
        <p:nvSpPr>
          <p:cNvPr id="142" name="Text 142"/>
          <p:cNvSpPr txBox="1"/>
          <p:nvPr/>
        </p:nvSpPr>
        <p:spPr>
          <a:xfrm>
            <a:off x="8439912" y="3611880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R$ 1.209</a:t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566928" y="3854196"/>
            <a:ext cx="397764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4088.Nova Coleta Zona Oeste (Lapa)</a:t>
            </a:r>
          </a:p>
        </p:txBody>
      </p:sp>
      <p:sp>
        <p:nvSpPr>
          <p:cNvPr id="144" name="Text 144"/>
          <p:cNvSpPr txBox="1"/>
          <p:nvPr/>
        </p:nvSpPr>
        <p:spPr>
          <a:xfrm>
            <a:off x="4544568" y="3854196"/>
            <a:ext cx="4114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45" name="Text 145"/>
          <p:cNvSpPr txBox="1"/>
          <p:nvPr/>
        </p:nvSpPr>
        <p:spPr>
          <a:xfrm>
            <a:off x="4956048" y="3854196"/>
            <a:ext cx="6217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Jun/25</a:t>
            </a:r>
          </a:p>
        </p:txBody>
      </p:sp>
      <p:sp>
        <p:nvSpPr>
          <p:cNvPr id="146" name="Text 146"/>
          <p:cNvSpPr txBox="1"/>
          <p:nvPr/>
        </p:nvSpPr>
        <p:spPr>
          <a:xfrm>
            <a:off x="5577840" y="3854196"/>
            <a:ext cx="91440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47" name="Text 147"/>
          <p:cNvSpPr txBox="1"/>
          <p:nvPr/>
        </p:nvSpPr>
        <p:spPr>
          <a:xfrm>
            <a:off x="6492240" y="3854196"/>
            <a:ext cx="10789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R$ 290,9 mil</a:t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7571232" y="3854196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170 m2</a:t>
            </a:r>
          </a:p>
        </p:txBody>
      </p:sp>
      <p:sp>
        <p:nvSpPr>
          <p:cNvPr id="149" name="Text 149"/>
          <p:cNvSpPr txBox="1"/>
          <p:nvPr/>
        </p:nvSpPr>
        <p:spPr>
          <a:xfrm>
            <a:off x="8439912" y="3854196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R$ 1.707</a:t>
            </a:r>
          </a:p>
        </p:txBody>
      </p:sp>
      <p:sp>
        <p:nvSpPr>
          <p:cNvPr id="150" name="Text 150"/>
          <p:cNvSpPr txBox="1"/>
          <p:nvPr/>
        </p:nvSpPr>
        <p:spPr>
          <a:xfrm>
            <a:off x="566928" y="4096512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4103.Nova Unidade Diagnóstico Flagship SP (Fase 2)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4544568" y="4096512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4956048" y="4096512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Jul/25</a:t>
            </a:r>
          </a:p>
        </p:txBody>
      </p:sp>
      <p:sp>
        <p:nvSpPr>
          <p:cNvPr id="153" name="Text 153"/>
          <p:cNvSpPr txBox="1"/>
          <p:nvPr/>
        </p:nvSpPr>
        <p:spPr>
          <a:xfrm>
            <a:off x="5577840" y="4096512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54" name="Text 154"/>
          <p:cNvSpPr txBox="1"/>
          <p:nvPr/>
        </p:nvSpPr>
        <p:spPr>
          <a:xfrm>
            <a:off x="6492240" y="4096512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R$ 13,7 mi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7571232" y="4096512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4,9 mil m2</a:t>
            </a:r>
          </a:p>
        </p:txBody>
      </p:sp>
      <p:sp>
        <p:nvSpPr>
          <p:cNvPr id="156" name="Text 156"/>
          <p:cNvSpPr txBox="1"/>
          <p:nvPr/>
        </p:nvSpPr>
        <p:spPr>
          <a:xfrm>
            <a:off x="8439912" y="4096512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R$ 2.824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566928" y="4338828"/>
            <a:ext cx="397764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4128.Clínica/Lab Zona Oeste Butantã (SP)</a:t>
            </a:r>
          </a:p>
        </p:txBody>
      </p:sp>
      <p:sp>
        <p:nvSpPr>
          <p:cNvPr id="158" name="Text 158"/>
          <p:cNvSpPr txBox="1"/>
          <p:nvPr/>
        </p:nvSpPr>
        <p:spPr>
          <a:xfrm>
            <a:off x="4544568" y="4338828"/>
            <a:ext cx="4114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59" name="Text 159"/>
          <p:cNvSpPr txBox="1"/>
          <p:nvPr/>
        </p:nvSpPr>
        <p:spPr>
          <a:xfrm>
            <a:off x="4956048" y="4338828"/>
            <a:ext cx="6217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Jul/25</a:t>
            </a:r>
          </a:p>
        </p:txBody>
      </p:sp>
      <p:sp>
        <p:nvSpPr>
          <p:cNvPr id="160" name="Text 160"/>
          <p:cNvSpPr txBox="1"/>
          <p:nvPr/>
        </p:nvSpPr>
        <p:spPr>
          <a:xfrm>
            <a:off x="5577840" y="4338828"/>
            <a:ext cx="91440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61" name="Text 161"/>
          <p:cNvSpPr txBox="1"/>
          <p:nvPr/>
        </p:nvSpPr>
        <p:spPr>
          <a:xfrm>
            <a:off x="6492240" y="4338828"/>
            <a:ext cx="10789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R$ 1,6 mi</a:t>
            </a:r>
          </a:p>
        </p:txBody>
      </p:sp>
      <p:sp>
        <p:nvSpPr>
          <p:cNvPr id="162" name="Text 162"/>
          <p:cNvSpPr txBox="1"/>
          <p:nvPr/>
        </p:nvSpPr>
        <p:spPr>
          <a:xfrm>
            <a:off x="7571232" y="4338828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1,1 mil m2</a:t>
            </a:r>
          </a:p>
        </p:txBody>
      </p:sp>
      <p:sp>
        <p:nvSpPr>
          <p:cNvPr id="163" name="Text 163"/>
          <p:cNvSpPr txBox="1"/>
          <p:nvPr/>
        </p:nvSpPr>
        <p:spPr>
          <a:xfrm>
            <a:off x="8439912" y="4338828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R$ 1.499</a:t>
            </a:r>
          </a:p>
        </p:txBody>
      </p:sp>
      <p:sp>
        <p:nvSpPr>
          <p:cNvPr id="164" name="Text 164"/>
          <p:cNvSpPr txBox="1"/>
          <p:nvPr/>
        </p:nvSpPr>
        <p:spPr>
          <a:xfrm>
            <a:off x="566928" y="4581144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0000.Capela Oncologia ABC São Bernardo</a:t>
            </a:r>
          </a:p>
        </p:txBody>
      </p:sp>
      <p:sp>
        <p:nvSpPr>
          <p:cNvPr id="165" name="Text 165"/>
          <p:cNvSpPr txBox="1"/>
          <p:nvPr/>
        </p:nvSpPr>
        <p:spPr>
          <a:xfrm>
            <a:off x="4544568" y="4581144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66" name="Text 166"/>
          <p:cNvSpPr txBox="1"/>
          <p:nvPr/>
        </p:nvSpPr>
        <p:spPr>
          <a:xfrm>
            <a:off x="4956048" y="4581144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Jul/25</a:t>
            </a:r>
          </a:p>
        </p:txBody>
      </p:sp>
      <p:sp>
        <p:nvSpPr>
          <p:cNvPr id="167" name="Text 167"/>
          <p:cNvSpPr txBox="1"/>
          <p:nvPr/>
        </p:nvSpPr>
        <p:spPr>
          <a:xfrm>
            <a:off x="5577840" y="4581144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68" name="Text 168"/>
          <p:cNvSpPr txBox="1"/>
          <p:nvPr/>
        </p:nvSpPr>
        <p:spPr>
          <a:xfrm>
            <a:off x="6492240" y="4581144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R$ 599,3 mil</a:t>
            </a:r>
          </a:p>
        </p:txBody>
      </p:sp>
      <p:sp>
        <p:nvSpPr>
          <p:cNvPr id="169" name="Text 169"/>
          <p:cNvSpPr txBox="1"/>
          <p:nvPr/>
        </p:nvSpPr>
        <p:spPr>
          <a:xfrm>
            <a:off x="7571232" y="4581144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193 m2</a:t>
            </a:r>
          </a:p>
        </p:txBody>
      </p:sp>
      <p:sp>
        <p:nvSpPr>
          <p:cNvPr id="170" name="Text 170"/>
          <p:cNvSpPr txBox="1"/>
          <p:nvPr/>
        </p:nvSpPr>
        <p:spPr>
          <a:xfrm>
            <a:off x="8439912" y="4581144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R$ 3.479</a:t>
            </a:r>
          </a:p>
        </p:txBody>
      </p:sp>
      <p:sp>
        <p:nvSpPr>
          <p:cNvPr id="171" name="Text 171"/>
          <p:cNvSpPr txBox="1"/>
          <p:nvPr/>
        </p:nvSpPr>
        <p:spPr>
          <a:xfrm>
            <a:off x="566928" y="4823460"/>
            <a:ext cx="397764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4018.Ampliação Clínica Vieiralves</a:t>
            </a:r>
          </a:p>
        </p:txBody>
      </p:sp>
      <p:sp>
        <p:nvSpPr>
          <p:cNvPr id="172" name="Text 172"/>
          <p:cNvSpPr txBox="1"/>
          <p:nvPr/>
        </p:nvSpPr>
        <p:spPr>
          <a:xfrm>
            <a:off x="4544568" y="4823460"/>
            <a:ext cx="4114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AM</a:t>
            </a:r>
          </a:p>
        </p:txBody>
      </p:sp>
      <p:sp>
        <p:nvSpPr>
          <p:cNvPr id="173" name="Text 173"/>
          <p:cNvSpPr txBox="1"/>
          <p:nvPr/>
        </p:nvSpPr>
        <p:spPr>
          <a:xfrm>
            <a:off x="4956048" y="4823460"/>
            <a:ext cx="6217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Jan/25</a:t>
            </a:r>
          </a:p>
        </p:txBody>
      </p:sp>
      <p:sp>
        <p:nvSpPr>
          <p:cNvPr id="174" name="Text 174"/>
          <p:cNvSpPr txBox="1"/>
          <p:nvPr/>
        </p:nvSpPr>
        <p:spPr>
          <a:xfrm>
            <a:off x="5577840" y="4823460"/>
            <a:ext cx="91440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75" name="Text 175"/>
          <p:cNvSpPr txBox="1"/>
          <p:nvPr/>
        </p:nvSpPr>
        <p:spPr>
          <a:xfrm>
            <a:off x="6492240" y="4823460"/>
            <a:ext cx="10789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R$ 1,5 mi</a:t>
            </a:r>
          </a:p>
        </p:txBody>
      </p:sp>
      <p:sp>
        <p:nvSpPr>
          <p:cNvPr id="176" name="Text 176"/>
          <p:cNvSpPr txBox="1"/>
          <p:nvPr/>
        </p:nvSpPr>
        <p:spPr>
          <a:xfrm>
            <a:off x="7571232" y="4823460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954 m2</a:t>
            </a:r>
          </a:p>
        </p:txBody>
      </p:sp>
      <p:sp>
        <p:nvSpPr>
          <p:cNvPr id="177" name="Text 177"/>
          <p:cNvSpPr txBox="1"/>
          <p:nvPr/>
        </p:nvSpPr>
        <p:spPr>
          <a:xfrm>
            <a:off x="8439912" y="4823460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R$ 1.563</a:t>
            </a:r>
          </a:p>
        </p:txBody>
      </p:sp>
      <p:sp>
        <p:nvSpPr>
          <p:cNvPr id="178" name="Text 178"/>
          <p:cNvSpPr txBox="1"/>
          <p:nvPr/>
        </p:nvSpPr>
        <p:spPr>
          <a:xfrm>
            <a:off x="566928" y="5065776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4037.Nova Clínica Santo André (UASA)</a:t>
            </a:r>
          </a:p>
        </p:txBody>
      </p:sp>
      <p:sp>
        <p:nvSpPr>
          <p:cNvPr id="179" name="Text 179"/>
          <p:cNvSpPr txBox="1"/>
          <p:nvPr/>
        </p:nvSpPr>
        <p:spPr>
          <a:xfrm>
            <a:off x="4544568" y="5065776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80" name="Text 180"/>
          <p:cNvSpPr txBox="1"/>
          <p:nvPr/>
        </p:nvSpPr>
        <p:spPr>
          <a:xfrm>
            <a:off x="4956048" y="5065776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Jan/25</a:t>
            </a:r>
          </a:p>
        </p:txBody>
      </p:sp>
      <p:sp>
        <p:nvSpPr>
          <p:cNvPr id="181" name="Text 181"/>
          <p:cNvSpPr txBox="1"/>
          <p:nvPr/>
        </p:nvSpPr>
        <p:spPr>
          <a:xfrm>
            <a:off x="5577840" y="5065776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82" name="Text 182"/>
          <p:cNvSpPr txBox="1"/>
          <p:nvPr/>
        </p:nvSpPr>
        <p:spPr>
          <a:xfrm>
            <a:off x="6492240" y="5065776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R$ 986,8 mil</a:t>
            </a:r>
          </a:p>
        </p:txBody>
      </p:sp>
      <p:sp>
        <p:nvSpPr>
          <p:cNvPr id="183" name="Text 183"/>
          <p:cNvSpPr txBox="1"/>
          <p:nvPr/>
        </p:nvSpPr>
        <p:spPr>
          <a:xfrm>
            <a:off x="7571232" y="5065776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324 m2</a:t>
            </a:r>
          </a:p>
        </p:txBody>
      </p:sp>
      <p:sp>
        <p:nvSpPr>
          <p:cNvPr id="184" name="Text 184"/>
          <p:cNvSpPr txBox="1"/>
          <p:nvPr/>
        </p:nvSpPr>
        <p:spPr>
          <a:xfrm>
            <a:off x="8439912" y="5065776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R$ 3.044</a:t>
            </a:r>
          </a:p>
        </p:txBody>
      </p:sp>
      <p:sp>
        <p:nvSpPr>
          <p:cNvPr id="185" name="Text 185"/>
          <p:cNvSpPr txBox="1"/>
          <p:nvPr/>
        </p:nvSpPr>
        <p:spPr>
          <a:xfrm>
            <a:off x="566928" y="5308092"/>
            <a:ext cx="397764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4016.Nova Clínica Mogi</a:t>
            </a:r>
          </a:p>
        </p:txBody>
      </p:sp>
      <p:sp>
        <p:nvSpPr>
          <p:cNvPr id="186" name="Text 186"/>
          <p:cNvSpPr txBox="1"/>
          <p:nvPr/>
        </p:nvSpPr>
        <p:spPr>
          <a:xfrm>
            <a:off x="4544568" y="5308092"/>
            <a:ext cx="4114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87" name="Text 187"/>
          <p:cNvSpPr txBox="1"/>
          <p:nvPr/>
        </p:nvSpPr>
        <p:spPr>
          <a:xfrm>
            <a:off x="4956048" y="5308092"/>
            <a:ext cx="6217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Fev/25</a:t>
            </a:r>
          </a:p>
        </p:txBody>
      </p:sp>
      <p:sp>
        <p:nvSpPr>
          <p:cNvPr id="188" name="Text 188"/>
          <p:cNvSpPr txBox="1"/>
          <p:nvPr/>
        </p:nvSpPr>
        <p:spPr>
          <a:xfrm>
            <a:off x="5577840" y="5308092"/>
            <a:ext cx="91440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89" name="Text 189"/>
          <p:cNvSpPr txBox="1"/>
          <p:nvPr/>
        </p:nvSpPr>
        <p:spPr>
          <a:xfrm>
            <a:off x="6492240" y="5308092"/>
            <a:ext cx="10789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R$ 1,1 mi</a:t>
            </a:r>
          </a:p>
        </p:txBody>
      </p:sp>
      <p:sp>
        <p:nvSpPr>
          <p:cNvPr id="190" name="Text 190"/>
          <p:cNvSpPr txBox="1"/>
          <p:nvPr/>
        </p:nvSpPr>
        <p:spPr>
          <a:xfrm>
            <a:off x="7571232" y="5308092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736 m2</a:t>
            </a:r>
          </a:p>
        </p:txBody>
      </p:sp>
      <p:sp>
        <p:nvSpPr>
          <p:cNvPr id="191" name="Text 191"/>
          <p:cNvSpPr txBox="1"/>
          <p:nvPr/>
        </p:nvSpPr>
        <p:spPr>
          <a:xfrm>
            <a:off x="8439912" y="5308092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R$ 1.542</a:t>
            </a:r>
          </a:p>
        </p:txBody>
      </p:sp>
      <p:sp>
        <p:nvSpPr>
          <p:cNvPr id="192" name="Text 192"/>
          <p:cNvSpPr txBox="1"/>
          <p:nvPr/>
        </p:nvSpPr>
        <p:spPr>
          <a:xfrm>
            <a:off x="566928" y="5550408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3922.Novo TEA Ribeirão Pires (2024)</a:t>
            </a:r>
          </a:p>
        </p:txBody>
      </p:sp>
      <p:sp>
        <p:nvSpPr>
          <p:cNvPr id="193" name="Text 193"/>
          <p:cNvSpPr txBox="1"/>
          <p:nvPr/>
        </p:nvSpPr>
        <p:spPr>
          <a:xfrm>
            <a:off x="4544568" y="5550408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94" name="Text 194"/>
          <p:cNvSpPr txBox="1"/>
          <p:nvPr/>
        </p:nvSpPr>
        <p:spPr>
          <a:xfrm>
            <a:off x="4956048" y="5550408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Fev/25</a:t>
            </a:r>
          </a:p>
        </p:txBody>
      </p:sp>
      <p:sp>
        <p:nvSpPr>
          <p:cNvPr id="195" name="Text 195"/>
          <p:cNvSpPr txBox="1"/>
          <p:nvPr/>
        </p:nvSpPr>
        <p:spPr>
          <a:xfrm>
            <a:off x="5577840" y="5550408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96" name="Text 196"/>
          <p:cNvSpPr txBox="1"/>
          <p:nvPr/>
        </p:nvSpPr>
        <p:spPr>
          <a:xfrm>
            <a:off x="6492240" y="5550408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R$ 583,7 mil</a:t>
            </a:r>
          </a:p>
        </p:txBody>
      </p:sp>
      <p:sp>
        <p:nvSpPr>
          <p:cNvPr id="197" name="Text 197"/>
          <p:cNvSpPr txBox="1"/>
          <p:nvPr/>
        </p:nvSpPr>
        <p:spPr>
          <a:xfrm>
            <a:off x="7571232" y="5550408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371 m2</a:t>
            </a:r>
          </a:p>
        </p:txBody>
      </p:sp>
      <p:sp>
        <p:nvSpPr>
          <p:cNvPr id="198" name="Text 198"/>
          <p:cNvSpPr txBox="1"/>
          <p:nvPr/>
        </p:nvSpPr>
        <p:spPr>
          <a:xfrm>
            <a:off x="8439912" y="5550408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R$ 1.677</a:t>
            </a:r>
          </a:p>
        </p:txBody>
      </p:sp>
      <p:sp>
        <p:nvSpPr>
          <p:cNvPr id="199" name="Text 199"/>
          <p:cNvSpPr txBox="1"/>
          <p:nvPr/>
        </p:nvSpPr>
        <p:spPr>
          <a:xfrm>
            <a:off x="566928" y="5792724"/>
            <a:ext cx="397764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9929.Transferência Notrelife/Clínica Guarulhos</a:t>
            </a:r>
          </a:p>
        </p:txBody>
      </p:sp>
      <p:sp>
        <p:nvSpPr>
          <p:cNvPr id="200" name="Text 200"/>
          <p:cNvSpPr txBox="1"/>
          <p:nvPr/>
        </p:nvSpPr>
        <p:spPr>
          <a:xfrm>
            <a:off x="4544568" y="5792724"/>
            <a:ext cx="4114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201" name="Text 201"/>
          <p:cNvSpPr txBox="1"/>
          <p:nvPr/>
        </p:nvSpPr>
        <p:spPr>
          <a:xfrm>
            <a:off x="4956048" y="5792724"/>
            <a:ext cx="6217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Dez/25</a:t>
            </a:r>
          </a:p>
        </p:txBody>
      </p:sp>
      <p:sp>
        <p:nvSpPr>
          <p:cNvPr id="202" name="Text 202"/>
          <p:cNvSpPr txBox="1"/>
          <p:nvPr/>
        </p:nvSpPr>
        <p:spPr>
          <a:xfrm>
            <a:off x="5577840" y="5792724"/>
            <a:ext cx="91440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203" name="Text 203"/>
          <p:cNvSpPr txBox="1"/>
          <p:nvPr/>
        </p:nvSpPr>
        <p:spPr>
          <a:xfrm>
            <a:off x="6492240" y="5792724"/>
            <a:ext cx="10789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R$ 4,9 mi</a:t>
            </a:r>
          </a:p>
        </p:txBody>
      </p:sp>
      <p:sp>
        <p:nvSpPr>
          <p:cNvPr id="204" name="Text 204"/>
          <p:cNvSpPr txBox="1"/>
          <p:nvPr/>
        </p:nvSpPr>
        <p:spPr>
          <a:xfrm>
            <a:off x="7571232" y="5792724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3,6 mil m2</a:t>
            </a:r>
          </a:p>
        </p:txBody>
      </p:sp>
      <p:sp>
        <p:nvSpPr>
          <p:cNvPr id="205" name="Text 205"/>
          <p:cNvSpPr txBox="1"/>
          <p:nvPr/>
        </p:nvSpPr>
        <p:spPr>
          <a:xfrm>
            <a:off x="8439912" y="5792724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R$ 1.379</a:t>
            </a:r>
          </a:p>
        </p:txBody>
      </p:sp>
      <p:sp>
        <p:nvSpPr>
          <p:cNvPr id="206" name="Text 206"/>
          <p:cNvSpPr txBox="1"/>
          <p:nvPr/>
        </p:nvSpPr>
        <p:spPr>
          <a:xfrm>
            <a:off x="566928" y="6035040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0000.Nova Clínica da Criança e Mulher Fortaleza Fase 2</a:t>
            </a:r>
          </a:p>
        </p:txBody>
      </p:sp>
      <p:sp>
        <p:nvSpPr>
          <p:cNvPr id="207" name="Text 207"/>
          <p:cNvSpPr txBox="1"/>
          <p:nvPr/>
        </p:nvSpPr>
        <p:spPr>
          <a:xfrm>
            <a:off x="4544568" y="6035040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CE</a:t>
            </a:r>
          </a:p>
        </p:txBody>
      </p:sp>
      <p:sp>
        <p:nvSpPr>
          <p:cNvPr id="208" name="Text 208"/>
          <p:cNvSpPr txBox="1"/>
          <p:nvPr/>
        </p:nvSpPr>
        <p:spPr>
          <a:xfrm>
            <a:off x="4956048" y="6035040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Dez/25</a:t>
            </a:r>
          </a:p>
        </p:txBody>
      </p:sp>
      <p:sp>
        <p:nvSpPr>
          <p:cNvPr id="209" name="Text 209"/>
          <p:cNvSpPr txBox="1"/>
          <p:nvPr/>
        </p:nvSpPr>
        <p:spPr>
          <a:xfrm>
            <a:off x="5577840" y="6035040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210" name="Text 210"/>
          <p:cNvSpPr txBox="1"/>
          <p:nvPr/>
        </p:nvSpPr>
        <p:spPr>
          <a:xfrm>
            <a:off x="6492240" y="6035040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R$ 3,6 mi</a:t>
            </a:r>
          </a:p>
        </p:txBody>
      </p:sp>
      <p:sp>
        <p:nvSpPr>
          <p:cNvPr id="211" name="Text 211"/>
          <p:cNvSpPr txBox="1"/>
          <p:nvPr/>
        </p:nvSpPr>
        <p:spPr>
          <a:xfrm>
            <a:off x="7571232" y="6035040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1,7 mil m2</a:t>
            </a:r>
          </a:p>
        </p:txBody>
      </p:sp>
      <p:sp>
        <p:nvSpPr>
          <p:cNvPr id="212" name="Text 212"/>
          <p:cNvSpPr txBox="1"/>
          <p:nvPr/>
        </p:nvSpPr>
        <p:spPr>
          <a:xfrm>
            <a:off x="8439912" y="6035040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R$ 2.158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Clínicas, Diagnósticos, TEA e Laboratórios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9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694944"/>
            <a:ext cx="7635240" cy="3657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800" b="1">
                <a:solidFill>
                  <a:srgbClr val="15253F"/>
                </a:solidFill>
              </a:rPr>
              <a:t>Clínicas, Diagnósticos, TEA e Laboratórios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138160" y="768096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900">
                <a:solidFill>
                  <a:srgbClr val="50617F"/>
                </a:solidFill>
              </a:rPr>
              <a:t>Anos: 2025 | Pagina 5/7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14300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715768" y="114300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7,6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64608" y="114300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R$ 14,5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013448" y="114300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Preco m2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R$ 1.931/m2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640080" y="1865376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>
                <a:solidFill>
                  <a:srgbClr val="253F8E"/>
                </a:solidFill>
              </a:rPr>
              <a:t>Obras listadas por ano, sem consolidacao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66928" y="2157984"/>
            <a:ext cx="3977640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4544568" y="2157984"/>
            <a:ext cx="411480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4956048" y="2157984"/>
            <a:ext cx="621792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Fim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577840" y="2157984"/>
            <a:ext cx="914400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6492240" y="2157984"/>
            <a:ext cx="1078992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7571232" y="2157984"/>
            <a:ext cx="868680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8439912" y="2157984"/>
            <a:ext cx="868680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R$/m2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566928" y="2400300"/>
            <a:ext cx="8741664" cy="242316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2025 (contin.) | 40 obras | 41,4 mil m2 | R$ 87,4 mi | R$ 2.157/m2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566928" y="2642616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4091.Novo TEA e Coleta Zona Sul Autódromo (2025)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4544568" y="2642616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4956048" y="2642616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Dez/25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5577840" y="2642616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6492240" y="2642616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R$ 2,9 mi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7571232" y="2642616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982 m2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8439912" y="2642616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R$ 2.990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566928" y="2884932"/>
            <a:ext cx="397764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4190.Novo TEA Zona Sul Jabaquara Cidade Vargas (2025)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4544568" y="2884932"/>
            <a:ext cx="4114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4956048" y="2884932"/>
            <a:ext cx="6217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Dez/25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5577840" y="2884932"/>
            <a:ext cx="91440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6492240" y="2884932"/>
            <a:ext cx="10789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R$ 2,7 mi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7571232" y="2884932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1,3 mil m2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8439912" y="2884932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R$ 2.120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566928" y="3127248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4181.Novo TEA Recife Madalena (2025)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4544568" y="3127248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PE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4956048" y="3127248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Dez/25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5577840" y="3127248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6492240" y="3127248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R$ 2,2 mi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7571232" y="3127248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1,2 mil m2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8439912" y="3127248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R$ 1.837</a:t>
            </a:r>
          </a:p>
        </p:txBody>
      </p:sp>
      <p:sp>
        <p:nvSpPr>
          <p:cNvPr id="129" name="Text 129"/>
          <p:cNvSpPr txBox="1"/>
          <p:nvPr/>
        </p:nvSpPr>
        <p:spPr>
          <a:xfrm>
            <a:off x="566928" y="3369564"/>
            <a:ext cx="397764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4183.Novo TEA Curitiba 1 Rep. Argentina (2025)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4544568" y="3369564"/>
            <a:ext cx="4114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PR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4956048" y="3369564"/>
            <a:ext cx="6217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Dez/25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5577840" y="3369564"/>
            <a:ext cx="91440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6492240" y="3369564"/>
            <a:ext cx="10789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R$ 1,4 mi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7571232" y="3369564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863 m2</a:t>
            </a:r>
          </a:p>
        </p:txBody>
      </p:sp>
      <p:sp>
        <p:nvSpPr>
          <p:cNvPr id="135" name="Text 135"/>
          <p:cNvSpPr txBox="1"/>
          <p:nvPr/>
        </p:nvSpPr>
        <p:spPr>
          <a:xfrm>
            <a:off x="8439912" y="3369564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R$ 1.674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566928" y="3611880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0000.Nova Coleta São Bernardo</a:t>
            </a:r>
          </a:p>
        </p:txBody>
      </p:sp>
      <p:sp>
        <p:nvSpPr>
          <p:cNvPr id="137" name="Text 137"/>
          <p:cNvSpPr txBox="1"/>
          <p:nvPr/>
        </p:nvSpPr>
        <p:spPr>
          <a:xfrm>
            <a:off x="4544568" y="3611880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38" name="Text 138"/>
          <p:cNvSpPr txBox="1"/>
          <p:nvPr/>
        </p:nvSpPr>
        <p:spPr>
          <a:xfrm>
            <a:off x="4956048" y="3611880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Dez/25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5577840" y="3611880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6492240" y="3611880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R$ 1,3 mi</a:t>
            </a:r>
          </a:p>
        </p:txBody>
      </p:sp>
      <p:sp>
        <p:nvSpPr>
          <p:cNvPr id="141" name="Text 141"/>
          <p:cNvSpPr txBox="1"/>
          <p:nvPr/>
        </p:nvSpPr>
        <p:spPr>
          <a:xfrm>
            <a:off x="7571232" y="3611880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1,2 mil m2</a:t>
            </a:r>
          </a:p>
        </p:txBody>
      </p:sp>
      <p:sp>
        <p:nvSpPr>
          <p:cNvPr id="142" name="Text 142"/>
          <p:cNvSpPr txBox="1"/>
          <p:nvPr/>
        </p:nvSpPr>
        <p:spPr>
          <a:xfrm>
            <a:off x="8439912" y="3611880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R$ 1.055</a:t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566928" y="3854196"/>
            <a:ext cx="397764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4166.Novo TEA Manaus Nilton Lins (2025)</a:t>
            </a:r>
          </a:p>
        </p:txBody>
      </p:sp>
      <p:sp>
        <p:nvSpPr>
          <p:cNvPr id="144" name="Text 144"/>
          <p:cNvSpPr txBox="1"/>
          <p:nvPr/>
        </p:nvSpPr>
        <p:spPr>
          <a:xfrm>
            <a:off x="4544568" y="3854196"/>
            <a:ext cx="4114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AM</a:t>
            </a:r>
          </a:p>
        </p:txBody>
      </p:sp>
      <p:sp>
        <p:nvSpPr>
          <p:cNvPr id="145" name="Text 145"/>
          <p:cNvSpPr txBox="1"/>
          <p:nvPr/>
        </p:nvSpPr>
        <p:spPr>
          <a:xfrm>
            <a:off x="4956048" y="3854196"/>
            <a:ext cx="6217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Dez/25</a:t>
            </a:r>
          </a:p>
        </p:txBody>
      </p:sp>
      <p:sp>
        <p:nvSpPr>
          <p:cNvPr id="146" name="Text 146"/>
          <p:cNvSpPr txBox="1"/>
          <p:nvPr/>
        </p:nvSpPr>
        <p:spPr>
          <a:xfrm>
            <a:off x="5577840" y="3854196"/>
            <a:ext cx="91440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47" name="Text 147"/>
          <p:cNvSpPr txBox="1"/>
          <p:nvPr/>
        </p:nvSpPr>
        <p:spPr>
          <a:xfrm>
            <a:off x="6492240" y="3854196"/>
            <a:ext cx="10789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R$ 1,2 mi</a:t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7571232" y="3854196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569 m2</a:t>
            </a:r>
          </a:p>
        </p:txBody>
      </p:sp>
      <p:sp>
        <p:nvSpPr>
          <p:cNvPr id="149" name="Text 149"/>
          <p:cNvSpPr txBox="1"/>
          <p:nvPr/>
        </p:nvSpPr>
        <p:spPr>
          <a:xfrm>
            <a:off x="8439912" y="3854196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R$ 2.146</a:t>
            </a:r>
          </a:p>
        </p:txBody>
      </p:sp>
      <p:sp>
        <p:nvSpPr>
          <p:cNvPr id="150" name="Text 150"/>
          <p:cNvSpPr txBox="1"/>
          <p:nvPr/>
        </p:nvSpPr>
        <p:spPr>
          <a:xfrm>
            <a:off x="566928" y="4096512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0000.Novo Medprev Nilton Lins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4544568" y="4096512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AM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4956048" y="4096512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Dez/25</a:t>
            </a:r>
          </a:p>
        </p:txBody>
      </p:sp>
      <p:sp>
        <p:nvSpPr>
          <p:cNvPr id="153" name="Text 153"/>
          <p:cNvSpPr txBox="1"/>
          <p:nvPr/>
        </p:nvSpPr>
        <p:spPr>
          <a:xfrm>
            <a:off x="5577840" y="4096512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54" name="Text 154"/>
          <p:cNvSpPr txBox="1"/>
          <p:nvPr/>
        </p:nvSpPr>
        <p:spPr>
          <a:xfrm>
            <a:off x="6492240" y="4096512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R$ 897,1 mil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7571232" y="4096512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482 m2</a:t>
            </a:r>
          </a:p>
        </p:txBody>
      </p:sp>
      <p:sp>
        <p:nvSpPr>
          <p:cNvPr id="156" name="Text 156"/>
          <p:cNvSpPr txBox="1"/>
          <p:nvPr/>
        </p:nvSpPr>
        <p:spPr>
          <a:xfrm>
            <a:off x="8439912" y="4096512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R$ 1.862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566928" y="4338828"/>
            <a:ext cx="397764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4173.Novo TEA São Luís Jerônimo Albuquerque (2025)</a:t>
            </a:r>
          </a:p>
        </p:txBody>
      </p:sp>
      <p:sp>
        <p:nvSpPr>
          <p:cNvPr id="158" name="Text 158"/>
          <p:cNvSpPr txBox="1"/>
          <p:nvPr/>
        </p:nvSpPr>
        <p:spPr>
          <a:xfrm>
            <a:off x="4544568" y="4338828"/>
            <a:ext cx="4114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</a:t>
            </a:r>
          </a:p>
        </p:txBody>
      </p:sp>
      <p:sp>
        <p:nvSpPr>
          <p:cNvPr id="159" name="Text 159"/>
          <p:cNvSpPr txBox="1"/>
          <p:nvPr/>
        </p:nvSpPr>
        <p:spPr>
          <a:xfrm>
            <a:off x="4956048" y="4338828"/>
            <a:ext cx="6217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Dez/25</a:t>
            </a:r>
          </a:p>
        </p:txBody>
      </p:sp>
      <p:sp>
        <p:nvSpPr>
          <p:cNvPr id="160" name="Text 160"/>
          <p:cNvSpPr txBox="1"/>
          <p:nvPr/>
        </p:nvSpPr>
        <p:spPr>
          <a:xfrm>
            <a:off x="5577840" y="4338828"/>
            <a:ext cx="91440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61" name="Text 161"/>
          <p:cNvSpPr txBox="1"/>
          <p:nvPr/>
        </p:nvSpPr>
        <p:spPr>
          <a:xfrm>
            <a:off x="6492240" y="4338828"/>
            <a:ext cx="10789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R$ 676,1 mil</a:t>
            </a:r>
          </a:p>
        </p:txBody>
      </p:sp>
      <p:sp>
        <p:nvSpPr>
          <p:cNvPr id="162" name="Text 162"/>
          <p:cNvSpPr txBox="1"/>
          <p:nvPr/>
        </p:nvSpPr>
        <p:spPr>
          <a:xfrm>
            <a:off x="7571232" y="4338828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374 m2</a:t>
            </a:r>
          </a:p>
        </p:txBody>
      </p:sp>
      <p:sp>
        <p:nvSpPr>
          <p:cNvPr id="163" name="Text 163"/>
          <p:cNvSpPr txBox="1"/>
          <p:nvPr/>
        </p:nvSpPr>
        <p:spPr>
          <a:xfrm>
            <a:off x="8439912" y="4338828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R$ 2.016</a:t>
            </a:r>
          </a:p>
        </p:txBody>
      </p:sp>
      <p:sp>
        <p:nvSpPr>
          <p:cNvPr id="164" name="Text 164"/>
          <p:cNvSpPr txBox="1"/>
          <p:nvPr/>
        </p:nvSpPr>
        <p:spPr>
          <a:xfrm>
            <a:off x="566928" y="4581144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0000.Oncologia Clínica Jaraguá do Sul</a:t>
            </a:r>
          </a:p>
        </p:txBody>
      </p:sp>
      <p:sp>
        <p:nvSpPr>
          <p:cNvPr id="165" name="Text 165"/>
          <p:cNvSpPr txBox="1"/>
          <p:nvPr/>
        </p:nvSpPr>
        <p:spPr>
          <a:xfrm>
            <a:off x="4544568" y="4581144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SC</a:t>
            </a:r>
          </a:p>
        </p:txBody>
      </p:sp>
      <p:sp>
        <p:nvSpPr>
          <p:cNvPr id="166" name="Text 166"/>
          <p:cNvSpPr txBox="1"/>
          <p:nvPr/>
        </p:nvSpPr>
        <p:spPr>
          <a:xfrm>
            <a:off x="4956048" y="4581144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Dez/25</a:t>
            </a:r>
          </a:p>
        </p:txBody>
      </p:sp>
      <p:sp>
        <p:nvSpPr>
          <p:cNvPr id="167" name="Text 167"/>
          <p:cNvSpPr txBox="1"/>
          <p:nvPr/>
        </p:nvSpPr>
        <p:spPr>
          <a:xfrm>
            <a:off x="5577840" y="4581144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68" name="Text 168"/>
          <p:cNvSpPr txBox="1"/>
          <p:nvPr/>
        </p:nvSpPr>
        <p:spPr>
          <a:xfrm>
            <a:off x="6492240" y="4581144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R$ 349,0 mil</a:t>
            </a:r>
          </a:p>
        </p:txBody>
      </p:sp>
      <p:sp>
        <p:nvSpPr>
          <p:cNvPr id="169" name="Text 169"/>
          <p:cNvSpPr txBox="1"/>
          <p:nvPr/>
        </p:nvSpPr>
        <p:spPr>
          <a:xfrm>
            <a:off x="7571232" y="4581144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213 m2</a:t>
            </a:r>
          </a:p>
        </p:txBody>
      </p:sp>
      <p:sp>
        <p:nvSpPr>
          <p:cNvPr id="170" name="Text 170"/>
          <p:cNvSpPr txBox="1"/>
          <p:nvPr/>
        </p:nvSpPr>
        <p:spPr>
          <a:xfrm>
            <a:off x="8439912" y="4581144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R$ 1.638</a:t>
            </a:r>
          </a:p>
        </p:txBody>
      </p:sp>
      <p:sp>
        <p:nvSpPr>
          <p:cNvPr id="171" name="Text 171"/>
          <p:cNvSpPr txBox="1"/>
          <p:nvPr/>
        </p:nvSpPr>
        <p:spPr>
          <a:xfrm>
            <a:off x="566928" y="4823460"/>
            <a:ext cx="397764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4080.Nova Coleta Zona Leste (Tatuapé)</a:t>
            </a:r>
          </a:p>
        </p:txBody>
      </p:sp>
      <p:sp>
        <p:nvSpPr>
          <p:cNvPr id="172" name="Text 172"/>
          <p:cNvSpPr txBox="1"/>
          <p:nvPr/>
        </p:nvSpPr>
        <p:spPr>
          <a:xfrm>
            <a:off x="4544568" y="4823460"/>
            <a:ext cx="4114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73" name="Text 173"/>
          <p:cNvSpPr txBox="1"/>
          <p:nvPr/>
        </p:nvSpPr>
        <p:spPr>
          <a:xfrm>
            <a:off x="4956048" y="4823460"/>
            <a:ext cx="6217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Ago/25</a:t>
            </a:r>
          </a:p>
        </p:txBody>
      </p:sp>
      <p:sp>
        <p:nvSpPr>
          <p:cNvPr id="174" name="Text 174"/>
          <p:cNvSpPr txBox="1"/>
          <p:nvPr/>
        </p:nvSpPr>
        <p:spPr>
          <a:xfrm>
            <a:off x="5577840" y="4823460"/>
            <a:ext cx="91440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75" name="Text 175"/>
          <p:cNvSpPr txBox="1"/>
          <p:nvPr/>
        </p:nvSpPr>
        <p:spPr>
          <a:xfrm>
            <a:off x="6492240" y="4823460"/>
            <a:ext cx="10789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R$ 860,8 mil</a:t>
            </a:r>
          </a:p>
        </p:txBody>
      </p:sp>
      <p:sp>
        <p:nvSpPr>
          <p:cNvPr id="176" name="Text 176"/>
          <p:cNvSpPr txBox="1"/>
          <p:nvPr/>
        </p:nvSpPr>
        <p:spPr>
          <a:xfrm>
            <a:off x="7571232" y="4823460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422 m2</a:t>
            </a:r>
          </a:p>
        </p:txBody>
      </p:sp>
      <p:sp>
        <p:nvSpPr>
          <p:cNvPr id="177" name="Text 177"/>
          <p:cNvSpPr txBox="1"/>
          <p:nvPr/>
        </p:nvSpPr>
        <p:spPr>
          <a:xfrm>
            <a:off x="8439912" y="4823460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R$ 2.042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Clínicas, Diagnósticos, TEA e Laboratórios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10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694944"/>
            <a:ext cx="7635240" cy="3657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800" b="1">
                <a:solidFill>
                  <a:srgbClr val="15253F"/>
                </a:solidFill>
              </a:rPr>
              <a:t>Clínicas, Diagnósticos, TEA e Laboratórios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138160" y="768096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900">
                <a:solidFill>
                  <a:srgbClr val="50617F"/>
                </a:solidFill>
              </a:rPr>
              <a:t>Anos: 2026 | Pagina 6/7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14300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715768" y="114300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15,2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64608" y="114300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R$ 33,3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013448" y="114300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Preco m2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R$ 2.232/m2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640080" y="1865376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>
                <a:solidFill>
                  <a:srgbClr val="253F8E"/>
                </a:solidFill>
              </a:rPr>
              <a:t>Obras listadas por ano, sem consolidacao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66928" y="2157984"/>
            <a:ext cx="3977640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4544568" y="2157984"/>
            <a:ext cx="411480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4956048" y="2157984"/>
            <a:ext cx="621792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Fim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577840" y="2157984"/>
            <a:ext cx="914400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6492240" y="2157984"/>
            <a:ext cx="1078992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7571232" y="2157984"/>
            <a:ext cx="868680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8439912" y="2157984"/>
            <a:ext cx="868680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R$/m2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566928" y="2400300"/>
            <a:ext cx="8741664" cy="242316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2026 | 20 obras | 18,8 mil m2 | R$ 40,2 mi | R$ 2.188/m2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566928" y="2642616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4179.Novo TEA Paulista Janga PE (2025)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4544568" y="2642616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PE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4956048" y="2642616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Mar/26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5577840" y="2642616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6492240" y="2642616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R$ 1,9 mi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7571232" y="2642616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864 m2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8439912" y="2642616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R$ 2.369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566928" y="2884932"/>
            <a:ext cx="397764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4178.Novo TEA João Pessoa Rui Barbosa (2025)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4544568" y="2884932"/>
            <a:ext cx="4114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PB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4956048" y="2884932"/>
            <a:ext cx="6217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Mai/26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5577840" y="2884932"/>
            <a:ext cx="91440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6492240" y="2884932"/>
            <a:ext cx="10789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R$ 2,0 mi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7571232" y="2884932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743 m2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8439912" y="2884932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R$ 2.668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566928" y="3127248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4198.Nova Clínica Santos Amador Bueno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4544568" y="3127248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4956048" y="3127248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Mai/26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5577840" y="3127248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6492240" y="3127248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R$ 1,6 mi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7571232" y="3127248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792 m2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8439912" y="3127248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R$ 2.007</a:t>
            </a:r>
          </a:p>
        </p:txBody>
      </p:sp>
      <p:sp>
        <p:nvSpPr>
          <p:cNvPr id="129" name="Text 129"/>
          <p:cNvSpPr txBox="1"/>
          <p:nvPr/>
        </p:nvSpPr>
        <p:spPr>
          <a:xfrm>
            <a:off x="566928" y="3369564"/>
            <a:ext cx="397764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0000.Nova Clínica Brasília Asa Norte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4544568" y="3369564"/>
            <a:ext cx="4114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DF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4956048" y="3369564"/>
            <a:ext cx="6217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Mai/26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5577840" y="3369564"/>
            <a:ext cx="91440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6492240" y="3369564"/>
            <a:ext cx="10789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R$ 1,5 mi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7571232" y="3369564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823 m2</a:t>
            </a:r>
          </a:p>
        </p:txBody>
      </p:sp>
      <p:sp>
        <p:nvSpPr>
          <p:cNvPr id="135" name="Text 135"/>
          <p:cNvSpPr txBox="1"/>
          <p:nvPr/>
        </p:nvSpPr>
        <p:spPr>
          <a:xfrm>
            <a:off x="8439912" y="3369564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R$ 1.943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566928" y="3611880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4187.Novo TEA São Vicente Vila Cascatinha (2025)</a:t>
            </a:r>
          </a:p>
        </p:txBody>
      </p:sp>
      <p:sp>
        <p:nvSpPr>
          <p:cNvPr id="137" name="Text 137"/>
          <p:cNvSpPr txBox="1"/>
          <p:nvPr/>
        </p:nvSpPr>
        <p:spPr>
          <a:xfrm>
            <a:off x="4544568" y="3611880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38" name="Text 138"/>
          <p:cNvSpPr txBox="1"/>
          <p:nvPr/>
        </p:nvSpPr>
        <p:spPr>
          <a:xfrm>
            <a:off x="4956048" y="3611880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Mai/26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5577840" y="3611880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6492240" y="3611880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R$ 1,3 mi</a:t>
            </a:r>
          </a:p>
        </p:txBody>
      </p:sp>
      <p:sp>
        <p:nvSpPr>
          <p:cNvPr id="141" name="Text 141"/>
          <p:cNvSpPr txBox="1"/>
          <p:nvPr/>
        </p:nvSpPr>
        <p:spPr>
          <a:xfrm>
            <a:off x="7571232" y="3611880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1,2 mil m2</a:t>
            </a:r>
          </a:p>
        </p:txBody>
      </p:sp>
      <p:sp>
        <p:nvSpPr>
          <p:cNvPr id="142" name="Text 142"/>
          <p:cNvSpPr txBox="1"/>
          <p:nvPr/>
        </p:nvSpPr>
        <p:spPr>
          <a:xfrm>
            <a:off x="8439912" y="3611880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R$ 1.131</a:t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566928" y="3854196"/>
            <a:ext cx="397764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4085.Nova Coleta Zona Central Bela Cintra (Paraíso)</a:t>
            </a:r>
          </a:p>
        </p:txBody>
      </p:sp>
      <p:sp>
        <p:nvSpPr>
          <p:cNvPr id="144" name="Text 144"/>
          <p:cNvSpPr txBox="1"/>
          <p:nvPr/>
        </p:nvSpPr>
        <p:spPr>
          <a:xfrm>
            <a:off x="4544568" y="3854196"/>
            <a:ext cx="4114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45" name="Text 145"/>
          <p:cNvSpPr txBox="1"/>
          <p:nvPr/>
        </p:nvSpPr>
        <p:spPr>
          <a:xfrm>
            <a:off x="4956048" y="3854196"/>
            <a:ext cx="6217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Mai/26</a:t>
            </a:r>
          </a:p>
        </p:txBody>
      </p:sp>
      <p:sp>
        <p:nvSpPr>
          <p:cNvPr id="146" name="Text 146"/>
          <p:cNvSpPr txBox="1"/>
          <p:nvPr/>
        </p:nvSpPr>
        <p:spPr>
          <a:xfrm>
            <a:off x="5577840" y="3854196"/>
            <a:ext cx="91440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47" name="Text 147"/>
          <p:cNvSpPr txBox="1"/>
          <p:nvPr/>
        </p:nvSpPr>
        <p:spPr>
          <a:xfrm>
            <a:off x="6492240" y="3854196"/>
            <a:ext cx="10789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R$ 732,5 mil</a:t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7571232" y="3854196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409 m2</a:t>
            </a:r>
          </a:p>
        </p:txBody>
      </p:sp>
      <p:sp>
        <p:nvSpPr>
          <p:cNvPr id="149" name="Text 149"/>
          <p:cNvSpPr txBox="1"/>
          <p:nvPr/>
        </p:nvSpPr>
        <p:spPr>
          <a:xfrm>
            <a:off x="8439912" y="3854196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R$ 1.790</a:t>
            </a:r>
          </a:p>
        </p:txBody>
      </p:sp>
      <p:sp>
        <p:nvSpPr>
          <p:cNvPr id="150" name="Text 150"/>
          <p:cNvSpPr txBox="1"/>
          <p:nvPr/>
        </p:nvSpPr>
        <p:spPr>
          <a:xfrm>
            <a:off x="566928" y="4096512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9067.Coleta Anápolis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4544568" y="4096512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GO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4956048" y="4096512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Jul/26</a:t>
            </a:r>
          </a:p>
        </p:txBody>
      </p:sp>
      <p:sp>
        <p:nvSpPr>
          <p:cNvPr id="153" name="Text 153"/>
          <p:cNvSpPr txBox="1"/>
          <p:nvPr/>
        </p:nvSpPr>
        <p:spPr>
          <a:xfrm>
            <a:off x="5577840" y="4096512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54" name="Text 154"/>
          <p:cNvSpPr txBox="1"/>
          <p:nvPr/>
        </p:nvSpPr>
        <p:spPr>
          <a:xfrm>
            <a:off x="6492240" y="4096512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R$ 370,2 mil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7571232" y="4096512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288 m2</a:t>
            </a:r>
          </a:p>
        </p:txBody>
      </p:sp>
      <p:sp>
        <p:nvSpPr>
          <p:cNvPr id="156" name="Text 156"/>
          <p:cNvSpPr txBox="1"/>
          <p:nvPr/>
        </p:nvSpPr>
        <p:spPr>
          <a:xfrm>
            <a:off x="8439912" y="4096512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R$ 1.355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566928" y="4338828"/>
            <a:ext cx="397764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9064.Ampliação Medprev Fortaleza</a:t>
            </a:r>
          </a:p>
        </p:txBody>
      </p:sp>
      <p:sp>
        <p:nvSpPr>
          <p:cNvPr id="158" name="Text 158"/>
          <p:cNvSpPr txBox="1"/>
          <p:nvPr/>
        </p:nvSpPr>
        <p:spPr>
          <a:xfrm>
            <a:off x="4544568" y="4338828"/>
            <a:ext cx="4114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CE</a:t>
            </a:r>
          </a:p>
        </p:txBody>
      </p:sp>
      <p:sp>
        <p:nvSpPr>
          <p:cNvPr id="159" name="Text 159"/>
          <p:cNvSpPr txBox="1"/>
          <p:nvPr/>
        </p:nvSpPr>
        <p:spPr>
          <a:xfrm>
            <a:off x="4956048" y="4338828"/>
            <a:ext cx="6217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Jul/26</a:t>
            </a:r>
          </a:p>
        </p:txBody>
      </p:sp>
      <p:sp>
        <p:nvSpPr>
          <p:cNvPr id="160" name="Text 160"/>
          <p:cNvSpPr txBox="1"/>
          <p:nvPr/>
        </p:nvSpPr>
        <p:spPr>
          <a:xfrm>
            <a:off x="5577840" y="4338828"/>
            <a:ext cx="91440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61" name="Text 161"/>
          <p:cNvSpPr txBox="1"/>
          <p:nvPr/>
        </p:nvSpPr>
        <p:spPr>
          <a:xfrm>
            <a:off x="6492240" y="4338828"/>
            <a:ext cx="10789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R$ 244,0 mil</a:t>
            </a:r>
          </a:p>
        </p:txBody>
      </p:sp>
      <p:sp>
        <p:nvSpPr>
          <p:cNvPr id="162" name="Text 162"/>
          <p:cNvSpPr txBox="1"/>
          <p:nvPr/>
        </p:nvSpPr>
        <p:spPr>
          <a:xfrm>
            <a:off x="7571232" y="4338828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159 m2</a:t>
            </a:r>
          </a:p>
        </p:txBody>
      </p:sp>
      <p:sp>
        <p:nvSpPr>
          <p:cNvPr id="163" name="Text 163"/>
          <p:cNvSpPr txBox="1"/>
          <p:nvPr/>
        </p:nvSpPr>
        <p:spPr>
          <a:xfrm>
            <a:off x="8439912" y="4338828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R$ 1.546</a:t>
            </a:r>
          </a:p>
        </p:txBody>
      </p:sp>
      <p:sp>
        <p:nvSpPr>
          <p:cNvPr id="164" name="Text 164"/>
          <p:cNvSpPr txBox="1"/>
          <p:nvPr/>
        </p:nvSpPr>
        <p:spPr>
          <a:xfrm>
            <a:off x="566928" y="4581144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4025.Hemodiálise HS Recife (Ponte Verde)</a:t>
            </a:r>
          </a:p>
        </p:txBody>
      </p:sp>
      <p:sp>
        <p:nvSpPr>
          <p:cNvPr id="165" name="Text 165"/>
          <p:cNvSpPr txBox="1"/>
          <p:nvPr/>
        </p:nvSpPr>
        <p:spPr>
          <a:xfrm>
            <a:off x="4544568" y="4581144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PE</a:t>
            </a:r>
          </a:p>
        </p:txBody>
      </p:sp>
      <p:sp>
        <p:nvSpPr>
          <p:cNvPr id="166" name="Text 166"/>
          <p:cNvSpPr txBox="1"/>
          <p:nvPr/>
        </p:nvSpPr>
        <p:spPr>
          <a:xfrm>
            <a:off x="4956048" y="4581144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Jan/26</a:t>
            </a:r>
          </a:p>
        </p:txBody>
      </p:sp>
      <p:sp>
        <p:nvSpPr>
          <p:cNvPr id="167" name="Text 167"/>
          <p:cNvSpPr txBox="1"/>
          <p:nvPr/>
        </p:nvSpPr>
        <p:spPr>
          <a:xfrm>
            <a:off x="5577840" y="4581144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68" name="Text 168"/>
          <p:cNvSpPr txBox="1"/>
          <p:nvPr/>
        </p:nvSpPr>
        <p:spPr>
          <a:xfrm>
            <a:off x="6492240" y="4581144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R$ 6,1 mi</a:t>
            </a:r>
          </a:p>
        </p:txBody>
      </p:sp>
      <p:sp>
        <p:nvSpPr>
          <p:cNvPr id="169" name="Text 169"/>
          <p:cNvSpPr txBox="1"/>
          <p:nvPr/>
        </p:nvSpPr>
        <p:spPr>
          <a:xfrm>
            <a:off x="7571232" y="4581144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2,3 mil m2</a:t>
            </a:r>
          </a:p>
        </p:txBody>
      </p:sp>
      <p:sp>
        <p:nvSpPr>
          <p:cNvPr id="170" name="Text 170"/>
          <p:cNvSpPr txBox="1"/>
          <p:nvPr/>
        </p:nvSpPr>
        <p:spPr>
          <a:xfrm>
            <a:off x="8439912" y="4581144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R$ 2.733</a:t>
            </a:r>
          </a:p>
        </p:txBody>
      </p:sp>
      <p:sp>
        <p:nvSpPr>
          <p:cNvPr id="171" name="Text 171"/>
          <p:cNvSpPr txBox="1"/>
          <p:nvPr/>
        </p:nvSpPr>
        <p:spPr>
          <a:xfrm>
            <a:off x="566928" y="4823460"/>
            <a:ext cx="397764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4170.Novo Medprev Maracanaú</a:t>
            </a:r>
          </a:p>
        </p:txBody>
      </p:sp>
      <p:sp>
        <p:nvSpPr>
          <p:cNvPr id="172" name="Text 172"/>
          <p:cNvSpPr txBox="1"/>
          <p:nvPr/>
        </p:nvSpPr>
        <p:spPr>
          <a:xfrm>
            <a:off x="4544568" y="4823460"/>
            <a:ext cx="4114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CE</a:t>
            </a:r>
          </a:p>
        </p:txBody>
      </p:sp>
      <p:sp>
        <p:nvSpPr>
          <p:cNvPr id="173" name="Text 173"/>
          <p:cNvSpPr txBox="1"/>
          <p:nvPr/>
        </p:nvSpPr>
        <p:spPr>
          <a:xfrm>
            <a:off x="4956048" y="4823460"/>
            <a:ext cx="6217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Jan/26</a:t>
            </a:r>
          </a:p>
        </p:txBody>
      </p:sp>
      <p:sp>
        <p:nvSpPr>
          <p:cNvPr id="174" name="Text 174"/>
          <p:cNvSpPr txBox="1"/>
          <p:nvPr/>
        </p:nvSpPr>
        <p:spPr>
          <a:xfrm>
            <a:off x="5577840" y="4823460"/>
            <a:ext cx="91440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75" name="Text 175"/>
          <p:cNvSpPr txBox="1"/>
          <p:nvPr/>
        </p:nvSpPr>
        <p:spPr>
          <a:xfrm>
            <a:off x="6492240" y="4823460"/>
            <a:ext cx="10789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R$ 2,1 mi</a:t>
            </a:r>
          </a:p>
        </p:txBody>
      </p:sp>
      <p:sp>
        <p:nvSpPr>
          <p:cNvPr id="176" name="Text 176"/>
          <p:cNvSpPr txBox="1"/>
          <p:nvPr/>
        </p:nvSpPr>
        <p:spPr>
          <a:xfrm>
            <a:off x="7571232" y="4823460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890 m2</a:t>
            </a:r>
          </a:p>
        </p:txBody>
      </p:sp>
      <p:sp>
        <p:nvSpPr>
          <p:cNvPr id="177" name="Text 177"/>
          <p:cNvSpPr txBox="1"/>
          <p:nvPr/>
        </p:nvSpPr>
        <p:spPr>
          <a:xfrm>
            <a:off x="8439912" y="4823460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R$ 2.415</a:t>
            </a:r>
          </a:p>
        </p:txBody>
      </p:sp>
      <p:sp>
        <p:nvSpPr>
          <p:cNvPr id="178" name="Text 178"/>
          <p:cNvSpPr txBox="1"/>
          <p:nvPr/>
        </p:nvSpPr>
        <p:spPr>
          <a:xfrm>
            <a:off x="566928" y="5065776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4189.Novo TEA Zona Leste Ermelino Matarazzo (2025)</a:t>
            </a:r>
          </a:p>
        </p:txBody>
      </p:sp>
      <p:sp>
        <p:nvSpPr>
          <p:cNvPr id="179" name="Text 179"/>
          <p:cNvSpPr txBox="1"/>
          <p:nvPr/>
        </p:nvSpPr>
        <p:spPr>
          <a:xfrm>
            <a:off x="4544568" y="5065776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80" name="Text 180"/>
          <p:cNvSpPr txBox="1"/>
          <p:nvPr/>
        </p:nvSpPr>
        <p:spPr>
          <a:xfrm>
            <a:off x="4956048" y="5065776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Jan/26</a:t>
            </a:r>
          </a:p>
        </p:txBody>
      </p:sp>
      <p:sp>
        <p:nvSpPr>
          <p:cNvPr id="181" name="Text 181"/>
          <p:cNvSpPr txBox="1"/>
          <p:nvPr/>
        </p:nvSpPr>
        <p:spPr>
          <a:xfrm>
            <a:off x="5577840" y="5065776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82" name="Text 182"/>
          <p:cNvSpPr txBox="1"/>
          <p:nvPr/>
        </p:nvSpPr>
        <p:spPr>
          <a:xfrm>
            <a:off x="6492240" y="5065776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R$ 1,3 mi</a:t>
            </a:r>
          </a:p>
        </p:txBody>
      </p:sp>
      <p:sp>
        <p:nvSpPr>
          <p:cNvPr id="183" name="Text 183"/>
          <p:cNvSpPr txBox="1"/>
          <p:nvPr/>
        </p:nvSpPr>
        <p:spPr>
          <a:xfrm>
            <a:off x="7571232" y="5065776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638 m2</a:t>
            </a:r>
          </a:p>
        </p:txBody>
      </p:sp>
      <p:sp>
        <p:nvSpPr>
          <p:cNvPr id="184" name="Text 184"/>
          <p:cNvSpPr txBox="1"/>
          <p:nvPr/>
        </p:nvSpPr>
        <p:spPr>
          <a:xfrm>
            <a:off x="8439912" y="5065776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R$ 2.002</a:t>
            </a:r>
          </a:p>
        </p:txBody>
      </p:sp>
      <p:sp>
        <p:nvSpPr>
          <p:cNvPr id="185" name="Text 185"/>
          <p:cNvSpPr txBox="1"/>
          <p:nvPr/>
        </p:nvSpPr>
        <p:spPr>
          <a:xfrm>
            <a:off x="566928" y="5308092"/>
            <a:ext cx="397764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4126.Clínica/Lab/Ima Zona Leste 1 Celso Garcia Nasa (SP)</a:t>
            </a:r>
          </a:p>
        </p:txBody>
      </p:sp>
      <p:sp>
        <p:nvSpPr>
          <p:cNvPr id="186" name="Text 186"/>
          <p:cNvSpPr txBox="1"/>
          <p:nvPr/>
        </p:nvSpPr>
        <p:spPr>
          <a:xfrm>
            <a:off x="4544568" y="5308092"/>
            <a:ext cx="4114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87" name="Text 187"/>
          <p:cNvSpPr txBox="1"/>
          <p:nvPr/>
        </p:nvSpPr>
        <p:spPr>
          <a:xfrm>
            <a:off x="4956048" y="5308092"/>
            <a:ext cx="6217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Fev/26</a:t>
            </a:r>
          </a:p>
        </p:txBody>
      </p:sp>
      <p:sp>
        <p:nvSpPr>
          <p:cNvPr id="188" name="Text 188"/>
          <p:cNvSpPr txBox="1"/>
          <p:nvPr/>
        </p:nvSpPr>
        <p:spPr>
          <a:xfrm>
            <a:off x="5577840" y="5308092"/>
            <a:ext cx="91440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89" name="Text 189"/>
          <p:cNvSpPr txBox="1"/>
          <p:nvPr/>
        </p:nvSpPr>
        <p:spPr>
          <a:xfrm>
            <a:off x="6492240" y="5308092"/>
            <a:ext cx="10789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R$ 5,8 mi</a:t>
            </a:r>
          </a:p>
        </p:txBody>
      </p:sp>
      <p:sp>
        <p:nvSpPr>
          <p:cNvPr id="190" name="Text 190"/>
          <p:cNvSpPr txBox="1"/>
          <p:nvPr/>
        </p:nvSpPr>
        <p:spPr>
          <a:xfrm>
            <a:off x="7571232" y="5308092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3,1 mil m2</a:t>
            </a:r>
          </a:p>
        </p:txBody>
      </p:sp>
      <p:sp>
        <p:nvSpPr>
          <p:cNvPr id="191" name="Text 191"/>
          <p:cNvSpPr txBox="1"/>
          <p:nvPr/>
        </p:nvSpPr>
        <p:spPr>
          <a:xfrm>
            <a:off x="8439912" y="5308092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R$ 1.968</a:t>
            </a:r>
          </a:p>
        </p:txBody>
      </p:sp>
      <p:sp>
        <p:nvSpPr>
          <p:cNvPr id="192" name="Text 192"/>
          <p:cNvSpPr txBox="1"/>
          <p:nvPr/>
        </p:nvSpPr>
        <p:spPr>
          <a:xfrm>
            <a:off x="566928" y="5550408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0000.Transferência da Clínica Bauru</a:t>
            </a:r>
          </a:p>
        </p:txBody>
      </p:sp>
      <p:sp>
        <p:nvSpPr>
          <p:cNvPr id="193" name="Text 193"/>
          <p:cNvSpPr txBox="1"/>
          <p:nvPr/>
        </p:nvSpPr>
        <p:spPr>
          <a:xfrm>
            <a:off x="4544568" y="5550408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94" name="Text 194"/>
          <p:cNvSpPr txBox="1"/>
          <p:nvPr/>
        </p:nvSpPr>
        <p:spPr>
          <a:xfrm>
            <a:off x="4956048" y="5550408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Fev/26</a:t>
            </a:r>
          </a:p>
        </p:txBody>
      </p:sp>
      <p:sp>
        <p:nvSpPr>
          <p:cNvPr id="195" name="Text 195"/>
          <p:cNvSpPr txBox="1"/>
          <p:nvPr/>
        </p:nvSpPr>
        <p:spPr>
          <a:xfrm>
            <a:off x="5577840" y="5550408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96" name="Text 196"/>
          <p:cNvSpPr txBox="1"/>
          <p:nvPr/>
        </p:nvSpPr>
        <p:spPr>
          <a:xfrm>
            <a:off x="6492240" y="5550408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R$ 3,2 mi</a:t>
            </a:r>
          </a:p>
        </p:txBody>
      </p:sp>
      <p:sp>
        <p:nvSpPr>
          <p:cNvPr id="197" name="Text 197"/>
          <p:cNvSpPr txBox="1"/>
          <p:nvPr/>
        </p:nvSpPr>
        <p:spPr>
          <a:xfrm>
            <a:off x="7571232" y="5550408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1,3 mil m2</a:t>
            </a:r>
          </a:p>
        </p:txBody>
      </p:sp>
      <p:sp>
        <p:nvSpPr>
          <p:cNvPr id="198" name="Text 198"/>
          <p:cNvSpPr txBox="1"/>
          <p:nvPr/>
        </p:nvSpPr>
        <p:spPr>
          <a:xfrm>
            <a:off x="8439912" y="5550408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R$ 2.514</a:t>
            </a:r>
          </a:p>
        </p:txBody>
      </p:sp>
      <p:sp>
        <p:nvSpPr>
          <p:cNvPr id="199" name="Text 199"/>
          <p:cNvSpPr txBox="1"/>
          <p:nvPr/>
        </p:nvSpPr>
        <p:spPr>
          <a:xfrm>
            <a:off x="566928" y="5792724"/>
            <a:ext cx="397764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0000.Lab/Ima Zona Leste 2 Ermelino Matarazzo (SP)</a:t>
            </a:r>
          </a:p>
        </p:txBody>
      </p:sp>
      <p:sp>
        <p:nvSpPr>
          <p:cNvPr id="200" name="Text 200"/>
          <p:cNvSpPr txBox="1"/>
          <p:nvPr/>
        </p:nvSpPr>
        <p:spPr>
          <a:xfrm>
            <a:off x="4544568" y="5792724"/>
            <a:ext cx="4114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201" name="Text 201"/>
          <p:cNvSpPr txBox="1"/>
          <p:nvPr/>
        </p:nvSpPr>
        <p:spPr>
          <a:xfrm>
            <a:off x="4956048" y="5792724"/>
            <a:ext cx="6217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Fev/26</a:t>
            </a:r>
          </a:p>
        </p:txBody>
      </p:sp>
      <p:sp>
        <p:nvSpPr>
          <p:cNvPr id="202" name="Text 202"/>
          <p:cNvSpPr txBox="1"/>
          <p:nvPr/>
        </p:nvSpPr>
        <p:spPr>
          <a:xfrm>
            <a:off x="5577840" y="5792724"/>
            <a:ext cx="91440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203" name="Text 203"/>
          <p:cNvSpPr txBox="1"/>
          <p:nvPr/>
        </p:nvSpPr>
        <p:spPr>
          <a:xfrm>
            <a:off x="6492240" y="5792724"/>
            <a:ext cx="10789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R$ 3,2 mi</a:t>
            </a:r>
          </a:p>
        </p:txBody>
      </p:sp>
      <p:sp>
        <p:nvSpPr>
          <p:cNvPr id="204" name="Text 204"/>
          <p:cNvSpPr txBox="1"/>
          <p:nvPr/>
        </p:nvSpPr>
        <p:spPr>
          <a:xfrm>
            <a:off x="7571232" y="5792724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936 m2</a:t>
            </a:r>
          </a:p>
        </p:txBody>
      </p:sp>
      <p:sp>
        <p:nvSpPr>
          <p:cNvPr id="205" name="Text 205"/>
          <p:cNvSpPr txBox="1"/>
          <p:nvPr/>
        </p:nvSpPr>
        <p:spPr>
          <a:xfrm>
            <a:off x="8439912" y="5792724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R$ 3.404</a:t>
            </a:r>
          </a:p>
        </p:txBody>
      </p:sp>
      <p:sp>
        <p:nvSpPr>
          <p:cNvPr id="206" name="Text 206"/>
          <p:cNvSpPr txBox="1"/>
          <p:nvPr/>
        </p:nvSpPr>
        <p:spPr>
          <a:xfrm>
            <a:off x="566928" y="6035040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0000.Nova Clínica Itupeva</a:t>
            </a:r>
          </a:p>
        </p:txBody>
      </p:sp>
      <p:sp>
        <p:nvSpPr>
          <p:cNvPr id="207" name="Text 207"/>
          <p:cNvSpPr txBox="1"/>
          <p:nvPr/>
        </p:nvSpPr>
        <p:spPr>
          <a:xfrm>
            <a:off x="4544568" y="6035040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208" name="Text 208"/>
          <p:cNvSpPr txBox="1"/>
          <p:nvPr/>
        </p:nvSpPr>
        <p:spPr>
          <a:xfrm>
            <a:off x="4956048" y="6035040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Fev/26</a:t>
            </a:r>
          </a:p>
        </p:txBody>
      </p:sp>
      <p:sp>
        <p:nvSpPr>
          <p:cNvPr id="209" name="Text 209"/>
          <p:cNvSpPr txBox="1"/>
          <p:nvPr/>
        </p:nvSpPr>
        <p:spPr>
          <a:xfrm>
            <a:off x="5577840" y="6035040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210" name="Text 210"/>
          <p:cNvSpPr txBox="1"/>
          <p:nvPr/>
        </p:nvSpPr>
        <p:spPr>
          <a:xfrm>
            <a:off x="6492240" y="6035040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R$ 1,9 mi</a:t>
            </a:r>
          </a:p>
        </p:txBody>
      </p:sp>
      <p:sp>
        <p:nvSpPr>
          <p:cNvPr id="211" name="Text 211"/>
          <p:cNvSpPr txBox="1"/>
          <p:nvPr/>
        </p:nvSpPr>
        <p:spPr>
          <a:xfrm>
            <a:off x="7571232" y="6035040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838 m2</a:t>
            </a:r>
          </a:p>
        </p:txBody>
      </p:sp>
      <p:sp>
        <p:nvSpPr>
          <p:cNvPr id="212" name="Text 212"/>
          <p:cNvSpPr txBox="1"/>
          <p:nvPr/>
        </p:nvSpPr>
        <p:spPr>
          <a:xfrm>
            <a:off x="8439912" y="6035040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R$ 2.265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Clínicas, Diagnósticos, TEA e Laboratórios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11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694944"/>
            <a:ext cx="7635240" cy="3657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800" b="1">
                <a:solidFill>
                  <a:srgbClr val="15253F"/>
                </a:solidFill>
              </a:rPr>
              <a:t>Clínicas, Diagnósticos, TEA e Laboratórios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138160" y="768096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900">
                <a:solidFill>
                  <a:srgbClr val="50617F"/>
                </a:solidFill>
              </a:rPr>
              <a:t>Anos: 2026, Sem finalizacao | Pagina 7/7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14300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715768" y="114300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7,3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64608" y="114300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R$ 13,2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013448" y="114300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Preco m2</a:t>
            </a:r>
          </a:p>
          <a:p>
            <a:pPr algn="l"/>
            <a:r>
              <a:rPr lang="pt-BR" sz="1000" b="1">
                <a:solidFill>
                  <a:srgbClr val="FFFFFF"/>
                </a:solidFill>
              </a:rPr>
              <a:t>R$ 1.890/m2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640080" y="1865376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>
                <a:solidFill>
                  <a:srgbClr val="253F8E"/>
                </a:solidFill>
              </a:rPr>
              <a:t>Obras listadas por ano, sem consolidacao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66928" y="2157984"/>
            <a:ext cx="3977640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4544568" y="2157984"/>
            <a:ext cx="411480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4956048" y="2157984"/>
            <a:ext cx="621792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Fim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577840" y="2157984"/>
            <a:ext cx="914400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6492240" y="2157984"/>
            <a:ext cx="1078992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7571232" y="2157984"/>
            <a:ext cx="868680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8439912" y="2157984"/>
            <a:ext cx="868680" cy="24231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R$/m2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566928" y="2400300"/>
            <a:ext cx="8741664" cy="242316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2026 (contin.) | 20 obras | 18,8 mil m2 | R$ 40,2 mi | R$ 2.188/m2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566928" y="2642616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0000.Novo Posto de Coleta Sorocaba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4544568" y="2642616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4956048" y="2642616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Fev/26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5577840" y="2642616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6492240" y="2642616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R$ 1,6 mi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7571232" y="2642616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650 m2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8439912" y="2642616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R$ 2.599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566928" y="2884932"/>
            <a:ext cx="397764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4183.Novo TEA Curitiba 2 Fanny (2025)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4544568" y="2884932"/>
            <a:ext cx="4114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PR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4956048" y="2884932"/>
            <a:ext cx="6217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Fev/26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5577840" y="2884932"/>
            <a:ext cx="91440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6492240" y="2884932"/>
            <a:ext cx="10789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R$ 1,4 mi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7571232" y="2884932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863 m2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8439912" y="2884932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R$ 1.821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566928" y="3127248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4189.Novo TEA Zona Leste Belém (2025) - Fase 2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4544568" y="3127248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4956048" y="3127248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Fev/26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5577840" y="3127248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6492240" y="3127248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R$ 1,3 mi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7571232" y="3127248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638 m2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8439912" y="3127248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R$ 2.002</a:t>
            </a:r>
          </a:p>
        </p:txBody>
      </p:sp>
      <p:sp>
        <p:nvSpPr>
          <p:cNvPr id="129" name="Text 129"/>
          <p:cNvSpPr txBox="1"/>
          <p:nvPr/>
        </p:nvSpPr>
        <p:spPr>
          <a:xfrm>
            <a:off x="566928" y="3369564"/>
            <a:ext cx="397764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0000.Transferência TEA São José dos Campos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4544568" y="3369564"/>
            <a:ext cx="4114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4956048" y="3369564"/>
            <a:ext cx="6217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Fev/26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5577840" y="3369564"/>
            <a:ext cx="91440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6492240" y="3369564"/>
            <a:ext cx="10789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R$ 1,1 mi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7571232" y="3369564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886 m2</a:t>
            </a:r>
          </a:p>
        </p:txBody>
      </p:sp>
      <p:sp>
        <p:nvSpPr>
          <p:cNvPr id="135" name="Text 135"/>
          <p:cNvSpPr txBox="1"/>
          <p:nvPr/>
        </p:nvSpPr>
        <p:spPr>
          <a:xfrm>
            <a:off x="8439912" y="3369564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R$ 1.272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566928" y="3611880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4325.Novo TEA Campina Grande (2025)</a:t>
            </a:r>
          </a:p>
        </p:txBody>
      </p:sp>
      <p:sp>
        <p:nvSpPr>
          <p:cNvPr id="137" name="Text 137"/>
          <p:cNvSpPr txBox="1"/>
          <p:nvPr/>
        </p:nvSpPr>
        <p:spPr>
          <a:xfrm>
            <a:off x="4544568" y="3611880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PB</a:t>
            </a:r>
          </a:p>
        </p:txBody>
      </p:sp>
      <p:sp>
        <p:nvSpPr>
          <p:cNvPr id="138" name="Text 138"/>
          <p:cNvSpPr txBox="1"/>
          <p:nvPr/>
        </p:nvSpPr>
        <p:spPr>
          <a:xfrm>
            <a:off x="4956048" y="3611880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Abr/26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5577840" y="3611880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Concluída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6492240" y="3611880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R$ 1,4 mi</a:t>
            </a:r>
          </a:p>
        </p:txBody>
      </p:sp>
      <p:sp>
        <p:nvSpPr>
          <p:cNvPr id="141" name="Text 141"/>
          <p:cNvSpPr txBox="1"/>
          <p:nvPr/>
        </p:nvSpPr>
        <p:spPr>
          <a:xfrm>
            <a:off x="7571232" y="3611880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502 m2</a:t>
            </a:r>
          </a:p>
        </p:txBody>
      </p:sp>
      <p:sp>
        <p:nvSpPr>
          <p:cNvPr id="142" name="Text 142"/>
          <p:cNvSpPr txBox="1"/>
          <p:nvPr/>
        </p:nvSpPr>
        <p:spPr>
          <a:xfrm>
            <a:off x="8439912" y="3611880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R$ 2.787</a:t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566928" y="3854196"/>
            <a:ext cx="8741664" cy="242316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600" b="1">
                <a:solidFill>
                  <a:srgbClr val="FFFFFF"/>
                </a:solidFill>
              </a:rPr>
              <a:t>Sem finalizacao | 2 obras | 3,7 mil m2 | R$ 6,4 mi | R$ 1.788/m2</a:t>
            </a:r>
          </a:p>
        </p:txBody>
      </p:sp>
      <p:sp>
        <p:nvSpPr>
          <p:cNvPr id="144" name="Text 144"/>
          <p:cNvSpPr txBox="1"/>
          <p:nvPr/>
        </p:nvSpPr>
        <p:spPr>
          <a:xfrm>
            <a:off x="566928" y="4096512"/>
            <a:ext cx="397764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4126.Clínica/Lab/Ima Zona Leste 1 Celso Garcia Nasa (SP)</a:t>
            </a:r>
          </a:p>
        </p:txBody>
      </p:sp>
      <p:sp>
        <p:nvSpPr>
          <p:cNvPr id="145" name="Text 145"/>
          <p:cNvSpPr txBox="1"/>
          <p:nvPr/>
        </p:nvSpPr>
        <p:spPr>
          <a:xfrm>
            <a:off x="4544568" y="4096512"/>
            <a:ext cx="4114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46" name="Text 146"/>
          <p:cNvSpPr txBox="1"/>
          <p:nvPr/>
        </p:nvSpPr>
        <p:spPr>
          <a:xfrm>
            <a:off x="4956048" y="4096512"/>
            <a:ext cx="6217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-</a:t>
            </a:r>
          </a:p>
        </p:txBody>
      </p:sp>
      <p:sp>
        <p:nvSpPr>
          <p:cNvPr id="147" name="Text 147"/>
          <p:cNvSpPr txBox="1"/>
          <p:nvPr/>
        </p:nvSpPr>
        <p:spPr>
          <a:xfrm>
            <a:off x="5577840" y="4096512"/>
            <a:ext cx="91440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Em atraso</a:t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6492240" y="4096512"/>
            <a:ext cx="1078992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R$ 5,0 mi</a:t>
            </a:r>
          </a:p>
        </p:txBody>
      </p:sp>
      <p:sp>
        <p:nvSpPr>
          <p:cNvPr id="149" name="Text 149"/>
          <p:cNvSpPr txBox="1"/>
          <p:nvPr/>
        </p:nvSpPr>
        <p:spPr>
          <a:xfrm>
            <a:off x="7571232" y="4096512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3,1 mil m2</a:t>
            </a:r>
          </a:p>
        </p:txBody>
      </p:sp>
      <p:sp>
        <p:nvSpPr>
          <p:cNvPr id="150" name="Text 150"/>
          <p:cNvSpPr txBox="1"/>
          <p:nvPr/>
        </p:nvSpPr>
        <p:spPr>
          <a:xfrm>
            <a:off x="8439912" y="4096512"/>
            <a:ext cx="868680" cy="242316"/>
          </a:xfrm>
          <a:prstGeom prst="rect">
            <a:avLst/>
          </a:prstGeom>
          <a:solidFill>
            <a:srgbClr val="F5F8FB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R$ 1.708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566928" y="4338828"/>
            <a:ext cx="39776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l"/>
            <a:r>
              <a:rPr lang="pt-BR" sz="600">
                <a:solidFill>
                  <a:srgbClr val="15253F"/>
                </a:solidFill>
              </a:rPr>
              <a:t>0000.Novo Posto de Coleta Sorocaba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4544568" y="4338828"/>
            <a:ext cx="4114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153" name="Text 153"/>
          <p:cNvSpPr txBox="1"/>
          <p:nvPr/>
        </p:nvSpPr>
        <p:spPr>
          <a:xfrm>
            <a:off x="4956048" y="4338828"/>
            <a:ext cx="6217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-</a:t>
            </a:r>
          </a:p>
        </p:txBody>
      </p:sp>
      <p:sp>
        <p:nvSpPr>
          <p:cNvPr id="154" name="Text 154"/>
          <p:cNvSpPr txBox="1"/>
          <p:nvPr/>
        </p:nvSpPr>
        <p:spPr>
          <a:xfrm>
            <a:off x="5577840" y="4338828"/>
            <a:ext cx="914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Em atraso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6492240" y="4338828"/>
            <a:ext cx="1078992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R$ 1,4 mi</a:t>
            </a:r>
          </a:p>
        </p:txBody>
      </p:sp>
      <p:sp>
        <p:nvSpPr>
          <p:cNvPr id="156" name="Text 156"/>
          <p:cNvSpPr txBox="1"/>
          <p:nvPr/>
        </p:nvSpPr>
        <p:spPr>
          <a:xfrm>
            <a:off x="7571232" y="4338828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650 m2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8439912" y="4338828"/>
            <a:ext cx="86868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C"/>
            </a:solidFill>
          </a:ln>
        </p:spPr>
        <p:txBody>
          <a:bodyPr wrap="square" lIns="68580" tIns="34290" rIns="68580" bIns="34290"/>
          <a:lstStyle/>
          <a:p>
            <a:pPr algn="r"/>
            <a:r>
              <a:rPr lang="pt-BR" sz="600">
                <a:solidFill>
                  <a:srgbClr val="15253F"/>
                </a:solidFill>
              </a:rPr>
              <a:t>R$ 2.170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743E72E677B5418F65344B8F9625B8" ma:contentTypeVersion="13" ma:contentTypeDescription="Create a new document." ma:contentTypeScope="" ma:versionID="9b7c6091a8065acca16dbd6d886ea45f">
  <xsd:schema xmlns:xsd="http://www.w3.org/2001/XMLSchema" xmlns:xs="http://www.w3.org/2001/XMLSchema" xmlns:p="http://schemas.microsoft.com/office/2006/metadata/properties" xmlns:ns2="8c47632e-f6f4-466b-b0d0-588b29b5bf13" xmlns:ns3="3def94a3-6d42-4c9e-8cca-d25e171edf55" targetNamespace="http://schemas.microsoft.com/office/2006/metadata/properties" ma:root="true" ma:fieldsID="17b4f5635420ce7267ce584baab8090d" ns2:_="" ns3:_="">
    <xsd:import namespace="8c47632e-f6f4-466b-b0d0-588b29b5bf13"/>
    <xsd:import namespace="3def94a3-6d42-4c9e-8cca-d25e171edf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47632e-f6f4-466b-b0d0-588b29b5bf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db9fa872-9146-4a37-bd18-27b38c3134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ef94a3-6d42-4c9e-8cca-d25e171edf55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203cb831-a9f1-4d46-93c8-45b84de82d74}" ma:internalName="TaxCatchAll" ma:showField="CatchAllData" ma:web="3def94a3-6d42-4c9e-8cca-d25e171edf5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def94a3-6d42-4c9e-8cca-d25e171edf55" xsi:nil="true"/>
    <lcf76f155ced4ddcb4097134ff3c332f xmlns="8c47632e-f6f4-466b-b0d0-588b29b5bf1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FFE7723-B2FA-4C0D-A1FF-D7E9F08B0CE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F0405F8-7C50-46DE-AAB4-738335D97D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47632e-f6f4-466b-b0d0-588b29b5bf13"/>
    <ds:schemaRef ds:uri="3def94a3-6d42-4c9e-8cca-d25e171edf5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53B927B-966A-4570-8174-F4A062D91A44}">
  <ds:schemaRefs>
    <ds:schemaRef ds:uri="http://schemas.microsoft.com/office/2006/metadata/properties"/>
    <ds:schemaRef ds:uri="http://schemas.microsoft.com/office/infopath/2007/PartnerControls"/>
    <ds:schemaRef ds:uri="3def94a3-6d42-4c9e-8cca-d25e171edf55"/>
    <ds:schemaRef ds:uri="8c47632e-f6f4-466b-b0d0-588b29b5bf1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3511</Words>
  <Application>Microsoft Office PowerPoint</Application>
  <PresentationFormat>Widescreen</PresentationFormat>
  <Paragraphs>1059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Luís Machado</dc:creator>
  <cp:lastModifiedBy>THALLES DAVIDY GONDIN DA SILVEIRA</cp:lastModifiedBy>
  <cp:revision>10</cp:revision>
  <dcterms:created xsi:type="dcterms:W3CDTF">2025-01-29T18:17:09Z</dcterms:created>
  <dcterms:modified xsi:type="dcterms:W3CDTF">2026-08-17T15:01:39Z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0x01010002743E72E677B5418F65344B8F9625B8</vt:lpwstr>
  </property>
  <property fmtid="{D5CDD505-2E9C-101B-9397-08002B2CF9AE}" pid="3" name="MediaServiceImageTags">
    <vt:lpwstr/>
  </property>
  <property fmtid="{D5CDD505-2E9C-101B-9397-08002B2CF9AE}" pid="4" name="MSIP_Label_f6648805-0676-427f-8b3f-8deff0dc1a0a_Enabled">
    <vt:lpwstr>true</vt:lpwstr>
  </property>
  <property fmtid="{D5CDD505-2E9C-101B-9397-08002B2CF9AE}" pid="5" name="MSIP_Label_f6648805-0676-427f-8b3f-8deff0dc1a0a_SetDate">
    <vt:lpwstr>2026-08-17T15:00:16Z</vt:lpwstr>
  </property>
  <property fmtid="{D5CDD505-2E9C-101B-9397-08002B2CF9AE}" pid="6" name="MSIP_Label_f6648805-0676-427f-8b3f-8deff0dc1a0a_Method">
    <vt:lpwstr>Privileged</vt:lpwstr>
  </property>
  <property fmtid="{D5CDD505-2E9C-101B-9397-08002B2CF9AE}" pid="7" name="MSIP_Label_f6648805-0676-427f-8b3f-8deff0dc1a0a_Name">
    <vt:lpwstr>Público</vt:lpwstr>
  </property>
  <property fmtid="{D5CDD505-2E9C-101B-9397-08002B2CF9AE}" pid="8" name="MSIP_Label_f6648805-0676-427f-8b3f-8deff0dc1a0a_SiteId">
    <vt:lpwstr>77d68323-6f4b-460f-8aae-d32c654ec490</vt:lpwstr>
  </property>
  <property fmtid="{D5CDD505-2E9C-101B-9397-08002B2CF9AE}" pid="9" name="MSIP_Label_f6648805-0676-427f-8b3f-8deff0dc1a0a_ActionId">
    <vt:lpwstr>f587b89a-9383-4787-8d03-95f17484d542</vt:lpwstr>
  </property>
  <property fmtid="{D5CDD505-2E9C-101B-9397-08002B2CF9AE}" pid="10" name="MSIP_Label_f6648805-0676-427f-8b3f-8deff0dc1a0a_ContentBits">
    <vt:lpwstr>3</vt:lpwstr>
  </property>
  <property fmtid="{D5CDD505-2E9C-101B-9397-08002B2CF9AE}" pid="11" name="MSIP_Label_f6648805-0676-427f-8b3f-8deff0dc1a0a_Tag">
    <vt:lpwstr>10, 0, 1, 1</vt:lpwstr>
  </property>
  <property fmtid="{D5CDD505-2E9C-101B-9397-08002B2CF9AE}" pid="12" name="ClassificationContentMarkingFooterLocations">
    <vt:lpwstr>Tema do Office:10</vt:lpwstr>
  </property>
  <property fmtid="{D5CDD505-2E9C-101B-9397-08002B2CF9AE}" pid="13" name="ClassificationContentMarkingFooterText">
    <vt:lpwstr>PÚBLICO</vt:lpwstr>
  </property>
  <property fmtid="{D5CDD505-2E9C-101B-9397-08002B2CF9AE}" pid="14" name="ClassificationContentMarkingHeaderLocations">
    <vt:lpwstr>Tema do Office:9</vt:lpwstr>
  </property>
  <property fmtid="{D5CDD505-2E9C-101B-9397-08002B2CF9AE}" pid="15" name="ClassificationContentMarkingHeaderText">
    <vt:lpwstr>PÚBLICO</vt:lpwstr>
  </property>
</Properties>
</file>