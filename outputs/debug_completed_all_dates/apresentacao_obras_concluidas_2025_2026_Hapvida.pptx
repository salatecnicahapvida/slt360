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43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E85190-98DE-376B-E022-2A03F8F86E4E}" v="2" dt="2025-02-13T14:06:42.1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
<Relationships xmlns="http://schemas.openxmlformats.org/package/2006/relationships">
  <Relationship Id="rId8" Type="http://schemas.openxmlformats.org/officeDocument/2006/relationships/presProps" Target="presProps.xml" />
  <Relationship Id="rId13" Type="http://schemas.microsoft.com/office/2015/10/relationships/revisionInfo" Target="revisionInfo.xml" />
  <Relationship Id="rId3" Type="http://schemas.openxmlformats.org/officeDocument/2006/relationships/customXml" Target="../customXml/item3.xml" />
  <Relationship Id="rId12" Type="http://schemas.microsoft.com/office/2016/11/relationships/changesInfo" Target="changesInfos/changesInfo1.xml" />
  <Relationship Id="rId2" Type="http://schemas.openxmlformats.org/officeDocument/2006/relationships/customXml" Target="../customXml/item2.xml" />
  <Relationship Id="rId1" Type="http://schemas.openxmlformats.org/officeDocument/2006/relationships/customXml" Target="../customXml/item1.xml" />
  <Relationship Id="rId11" Type="http://schemas.openxmlformats.org/officeDocument/2006/relationships/tableStyles" Target="tableStyles.xml" />
  <Relationship Id="rId10" Type="http://schemas.openxmlformats.org/officeDocument/2006/relationships/theme" Target="theme/theme1.xml" />
  <Relationship Id="rId4" Type="http://schemas.openxmlformats.org/officeDocument/2006/relationships/slideMaster" Target="slideMasters/slideMaster1.xml" />
  <Relationship Id="rId9" Type="http://schemas.openxmlformats.org/officeDocument/2006/relationships/viewProps" Target="viewProps.xml" />
  <Relationship Id="rIdSlide1" Type="http://schemas.openxmlformats.org/officeDocument/2006/relationships/slide" Target="slides/slide1.xml" />
  <Relationship Id="rIdSlide2" Type="http://schemas.openxmlformats.org/officeDocument/2006/relationships/slide" Target="slides/slide2.xml" />
  <Relationship Id="rIdSlide3" Type="http://schemas.openxmlformats.org/officeDocument/2006/relationships/slide" Target="slides/slide3.xml" />
  <Relationship Id="rIdSlide4" Type="http://schemas.openxmlformats.org/officeDocument/2006/relationships/slide" Target="slides/slide4.xml" />
  <Relationship Id="rIdSlide5" Type="http://schemas.openxmlformats.org/officeDocument/2006/relationships/slide" Target="slides/slide5.xml" />
  <Relationship Id="rIdSlide6" Type="http://schemas.openxmlformats.org/officeDocument/2006/relationships/slide" Target="slides/slide6.xml" />
  <Relationship Id="rIdSlide7" Type="http://schemas.openxmlformats.org/officeDocument/2006/relationships/slide" Target="slides/slide7.xml" />
  <Relationship Id="rIdSlide8" Type="http://schemas.openxmlformats.org/officeDocument/2006/relationships/slide" Target="slides/slide8.xml" />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o Paulo Torres Pimentel" userId="S::joao.torres@hapvida.com.br::9d2149ae-a41c-421d-8f16-e2041ff4508d" providerId="AD" clId="Web-{70E85190-98DE-376B-E022-2A03F8F86E4E}"/>
    <pc:docChg chg="modSld">
      <pc:chgData name="Joao Paulo Torres Pimentel" userId="S::joao.torres@hapvida.com.br::9d2149ae-a41c-421d-8f16-e2041ff4508d" providerId="AD" clId="Web-{70E85190-98DE-376B-E022-2A03F8F86E4E}" dt="2025-02-13T14:06:42.110" v="1"/>
      <pc:docMkLst>
        <pc:docMk/>
      </pc:docMkLst>
      <pc:sldChg chg="addSp delSp">
        <pc:chgData name="Joao Paulo Torres Pimentel" userId="S::joao.torres@hapvida.com.br::9d2149ae-a41c-421d-8f16-e2041ff4508d" providerId="AD" clId="Web-{70E85190-98DE-376B-E022-2A03F8F86E4E}" dt="2025-02-13T14:06:42.110" v="1"/>
        <pc:sldMkLst>
          <pc:docMk/>
          <pc:sldMk cId="2954714694" sldId="256"/>
        </pc:sldMkLst>
        <pc:picChg chg="add del">
          <ac:chgData name="Joao Paulo Torres Pimentel" userId="S::joao.torres@hapvida.com.br::9d2149ae-a41c-421d-8f16-e2041ff4508d" providerId="AD" clId="Web-{70E85190-98DE-376B-E022-2A03F8F86E4E}" dt="2025-02-13T14:06:42.110" v="1"/>
          <ac:picMkLst>
            <pc:docMk/>
            <pc:sldMk cId="2954714694" sldId="256"/>
            <ac:picMk id="14" creationId="{F6CD79F6-4A4F-4555-9EA1-EBBF2698534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4DD3B-A89E-4F11-BC03-A6EC2D3C35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8CF5F7-8240-46B3-9B58-189CADB89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93F4E7-616C-42E7-AA53-7D53A481B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6159AAD-5FFF-4C55-AE91-74879D35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9A83A00-C2AA-40AA-9898-26BFCFA98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6492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A9920-B79B-4806-AFC3-6B18FB41E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9ECF1E-EFE2-407B-94FD-7B20AE919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F098B5D-16BC-4861-8D94-245E392B6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0A2E305-2544-4735-B639-40C968382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B1A35A-8DF2-47E9-A4EF-4D673FC40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057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DDD76B-5BBC-4080-944A-B684B1F43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FA57D6-9D8A-49BD-891D-3FB4A4871F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F831F4-C470-46E6-A682-B814BDC5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4C8576-D5A3-49FF-AF46-45B12387E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AD2232-F8D3-426A-AB8B-1A412A619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70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A4686D-7C47-4E04-BCEB-3821F5701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724C2B-BFF9-4A25-BD5E-B69CCF793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E242AF-4D20-47AB-9363-BB63DB6AB6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1E022C-49BB-4F66-B77E-43D227B3C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D816F0F-7FA9-4D3B-9718-4996582E0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DB9501-C461-4A0B-8450-14546430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9727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8B6E27-5D78-4A69-BDE1-0697A2DBE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E160F9-47B9-45A6-817E-2F638FF61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4DA7551-F322-486F-B2CF-8AE5E12C9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6549817-B01A-4F77-B716-B7585BF09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BEC9372-1182-4A24-9C9E-1212F25FC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AA98BF5-B259-4849-B7DA-1588B00F3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779DBB3-C0AD-4FF5-B33D-8C34B09CE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D2CB255-A8B7-40B3-AA33-06D0212FF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7280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1D93C1-CF34-49A8-9B7A-A49937BA4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154AD72-C7B6-443E-82B6-262FC8D07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3CFE4FF-6A89-4A43-9613-A54FC432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3BB27D8-2D61-47FA-97F8-A50737227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92526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01B2DCF-DD2B-4CAF-83EA-549C9AD47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5AB182-8F1E-4950-809D-15B1CC259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913C851-F495-4E93-BFD1-B862432E1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81254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9FB66-A81D-433B-8C22-6D859CB03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039CC1A-872A-4C6F-823C-8E29BC36C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2A2822-AFE9-4C82-9881-A26FEFCF35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882C72-065F-48D0-8768-1F43AB81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038A36A-44B6-47E9-93AA-CC5E6A223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942288D-CC5B-4A49-99AC-7713E6D2F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5698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6140D-32EC-46F8-A9A5-1C6E75E40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75FC306-4FCB-4B18-B502-AE65826597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F0AC739-A323-4448-B8C4-2762F4FBB6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416EFC2-DAD8-4248-8DC5-9A7834778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9E31B2-93F5-4D57-985F-B24ADB4E2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0120D-5868-489F-9D49-B0EE41946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21672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6EEBDD-1DA1-4F36-8FC5-71723EF92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60F00C-D951-481E-AFE8-184ED25393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B54D75-17DA-4BEE-B769-B5A63D0E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E97AF13-AB2C-453D-BAC5-8E62BBCD2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A65E0CB-E3AE-4604-B4CA-4FBFA1E20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933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DBE872F-3A91-4840-97AA-4DC75728E7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5410A31-7ADE-4773-A5B3-20BC696D5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740E3D7-B2B7-4538-9B3A-694017475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1CD025-AAA9-4410-9427-D5B8ADFE7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4D7061-3F4E-403C-A1DF-F6263546C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8376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2D13E89-B7E6-4FB1-A198-5BF1FDC08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22D2752-5C57-4465-BE4B-9741DF30E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D3C341-462D-4794-A7BD-062C008AB6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E4B88C-D34A-4CD5-B9C4-59339CA8098E}" type="datetimeFigureOut">
              <a:rPr lang="pt-BR" smtClean="0"/>
              <a:t>13/02/2025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9123974-86EE-4C0F-9F68-A603C447E2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C6F05E-01A6-4646-9137-21207EF98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0A4C2-046F-4D37-8E4B-D1D7AC7007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067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Cover' Type='http://schemas.openxmlformats.org/officeDocument/2006/relationships/image' Target='../media/image1.jpeg'/>
  <Relationship Id='rIdLogo' Type='http://schemas.openxmlformats.org/officeDocument/2006/relationships/image' Target='../media/image4.png'/>
</Relationships>
</file>

<file path=ppt/slides/_rels/slide2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</Relationships>
</file>

<file path=ppt/slides/_rels/slide3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  <Relationship Id='rIdChart' Type='http://schemas.openxmlformats.org/officeDocument/2006/relationships/image' Target='../media/chart_monthly.svg'/>
</Relationships>
</file>

<file path=ppt/slides/_rels/slide4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  <Relationship Id='rIdChart' Type='http://schemas.openxmlformats.org/officeDocument/2006/relationships/image' Target='../media/chart_class.svg'/>
</Relationships>
</file>

<file path=ppt/slides/_rels/slide5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  <Relationship Id='rIdChart' Type='http://schemas.openxmlformats.org/officeDocument/2006/relationships/image' Target='../media/chart_colo.svg'/>
</Relationships>
</file>

<file path=ppt/slides/_rels/slide6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  <Relationship Id='rIdChart' Type='http://schemas.openxmlformats.org/officeDocument/2006/relationships/image' Target='../media/chart_colu.svg'/>
</Relationships>
</file>

<file path=ppt/slides/_rels/slide7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</Relationships>
</file>

<file path=ppt/slides/_rels/slide8.xml.rels><?xml version="1.0" encoding="UTF-8" standalone="yes"?>
<Relationships xmlns="http://schemas.openxmlformats.org/package/2006/relationships">
  <Relationship Id='rIdLayout' Type='http://schemas.openxmlformats.org/officeDocument/2006/relationships/slideLayout' Target='../slideLayouts/slideLayout7.xml'/>
  <Relationship Id='rIdLogo' Type='http://schemas.openxmlformats.org/officeDocument/2006/relationships/image' Target='../media/image4.png'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apa"/>
          <p:cNvPicPr>
            <a:picLocks noChangeAspect="1"/>
          </p:cNvPicPr>
          <p:nvPr/>
        </p:nvPicPr>
        <p:blipFill>
          <a:blip r:embed="rIdCover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1" name="Rect 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49">
              <a:alpha val="46000"/>
            </a:srgbClr>
          </a:solidFill>
          <a:ln>
            <a:noFill/>
          </a:ln>
        </p:spPr>
      </p:sp>
      <p:pic>
        <p:nvPicPr>
          <p:cNvPr id="12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658368" y="512064"/>
            <a:ext cx="1737360" cy="320040"/>
          </a:xfrm>
          <a:prstGeom prst="rect">
            <a:avLst/>
          </a:prstGeom>
        </p:spPr>
      </p:pic>
      <p:sp>
        <p:nvSpPr>
          <p:cNvPr id="13" name="Text 13"/>
          <p:cNvSpPr txBox="1"/>
          <p:nvPr/>
        </p:nvSpPr>
        <p:spPr>
          <a:xfrm>
            <a:off x="658368" y="2084832"/>
            <a:ext cx="7772400" cy="11887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3500" b="1">
                <a:solidFill>
                  <a:srgbClr val="FFFFFF"/>
                </a:solidFill>
              </a:rPr>
              <a:t>Obras concluídas</a:t>
            </a:r>
          </a:p>
          <a:p>
            <a:pPr algn="l"/>
            <a:r>
              <a:rPr lang="pt-BR" sz="3500" b="1">
                <a:solidFill>
                  <a:srgbClr val="FFFFFF"/>
                </a:solidFill>
              </a:rPr>
              <a:t>Construção por m²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685800" y="3401568"/>
            <a:ext cx="74980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700">
                <a:solidFill>
                  <a:srgbClr val="FFFFFF"/>
                </a:solidFill>
              </a:rPr>
              <a:t>2025 e 2026 até 14/08/2026 | Base Geral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685800" y="4873752"/>
            <a:ext cx="2331720" cy="694944"/>
          </a:xfrm>
          <a:prstGeom prst="roundRect">
            <a:avLst/>
          </a:prstGeom>
          <a:solidFill>
            <a:srgbClr val="008F5A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295.1 mil m²</a:t>
            </a:r>
          </a:p>
          <a:p>
            <a:pPr algn="l"/>
            <a:r>
              <a:rPr lang="pt-BR" sz="1600" b="1">
                <a:solidFill>
                  <a:srgbClr val="FFFFFF"/>
                </a:solidFill>
              </a:rPr>
              <a:t>construídos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3182112" y="4873752"/>
            <a:ext cx="2331720" cy="694944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R$ 393.7 mi</a:t>
            </a:r>
          </a:p>
          <a:p>
            <a:pPr algn="l"/>
            <a:r>
              <a:rPr lang="pt-BR" sz="1600" b="1">
                <a:solidFill>
                  <a:srgbClr val="FFFFFF"/>
                </a:solidFill>
              </a:rPr>
              <a:t>negociados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5678424" y="4873752"/>
            <a:ext cx="2331720" cy="694944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>
                <a:solidFill>
                  <a:srgbClr val="FFFFFF"/>
                </a:solidFill>
              </a:rPr>
              <a:t>R$ 1.334/m²</a:t>
            </a:r>
          </a:p>
          <a:p>
            <a:pPr algn="l"/>
            <a:r>
              <a:rPr lang="pt-BR" sz="1600" b="1">
                <a:solidFill>
                  <a:srgbClr val="FFFFFF"/>
                </a:solidFill>
              </a:rPr>
              <a:t>ponderado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Resumo executivo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2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566928" y="749808"/>
            <a:ext cx="804672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400" b="1">
                <a:solidFill>
                  <a:srgbClr val="15253F"/>
                </a:solidFill>
              </a:rPr>
              <a:t>Resumo do período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566928" y="1417320"/>
            <a:ext cx="2542032" cy="1024128"/>
          </a:xfrm>
          <a:prstGeom prst="roundRect">
            <a:avLst/>
          </a:prstGeom>
          <a:solidFill>
            <a:srgbClr val="008F5A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Obras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435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concluídas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3383280" y="1417320"/>
            <a:ext cx="2542032" cy="1024128"/>
          </a:xfrm>
          <a:prstGeom prst="roundRect">
            <a:avLst/>
          </a:prstGeom>
          <a:solidFill>
            <a:srgbClr val="2F65B7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Área construída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295.1 mil m²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soma da coluna AH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6199632" y="1417320"/>
            <a:ext cx="2542032" cy="1024128"/>
          </a:xfrm>
          <a:prstGeom prst="round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Valor negociado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R$ 393.7 mi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soma da coluna AD</a:t>
            </a:r>
          </a:p>
        </p:txBody>
      </p:sp>
      <p:sp>
        <p:nvSpPr>
          <p:cNvPr id="33" name="Text 33"/>
          <p:cNvSpPr txBox="1"/>
          <p:nvPr/>
        </p:nvSpPr>
        <p:spPr>
          <a:xfrm>
            <a:off x="9015984" y="1417320"/>
            <a:ext cx="2542032" cy="1024128"/>
          </a:xfrm>
          <a:prstGeom prst="roundRect">
            <a:avLst/>
          </a:prstGeom>
          <a:solidFill>
            <a:srgbClr val="F37021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300" b="1">
                <a:solidFill>
                  <a:srgbClr val="FFFFFF"/>
                </a:solidFill>
              </a:rPr>
              <a:t>R$/m²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R$ 1.334/m²</a:t>
            </a:r>
          </a:p>
          <a:p>
            <a:pPr algn="l"/>
            <a:r>
              <a:rPr lang="pt-BR" sz="1300" b="1">
                <a:solidFill>
                  <a:srgbClr val="FFFFFF"/>
                </a:solidFill>
              </a:rPr>
              <a:t>ponderado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658368" y="2761488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>
                <a:solidFill>
                  <a:srgbClr val="15253F"/>
                </a:solidFill>
              </a:rPr>
              <a:t>Comparativo anual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658368" y="3163824"/>
            <a:ext cx="8686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Ano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1527048" y="3163824"/>
            <a:ext cx="9601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2487168" y="3163824"/>
            <a:ext cx="141732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3904488" y="3163824"/>
            <a:ext cx="16002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54" name="Text 54"/>
          <p:cNvSpPr txBox="1"/>
          <p:nvPr/>
        </p:nvSpPr>
        <p:spPr>
          <a:xfrm>
            <a:off x="5504688" y="3163824"/>
            <a:ext cx="123444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55" name="Text 55"/>
          <p:cNvSpPr txBox="1"/>
          <p:nvPr/>
        </p:nvSpPr>
        <p:spPr>
          <a:xfrm>
            <a:off x="658368" y="3474720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2022</a:t>
            </a:r>
          </a:p>
        </p:txBody>
      </p:sp>
      <p:sp>
        <p:nvSpPr>
          <p:cNvPr id="56" name="Text 56"/>
          <p:cNvSpPr txBox="1"/>
          <p:nvPr/>
        </p:nvSpPr>
        <p:spPr>
          <a:xfrm>
            <a:off x="1527048" y="3474720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2487168" y="3474720"/>
            <a:ext cx="14173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2.8 mil m²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3904488" y="3474720"/>
            <a:ext cx="1600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R$ 765.5 mil</a:t>
            </a:r>
          </a:p>
        </p:txBody>
      </p:sp>
      <p:sp>
        <p:nvSpPr>
          <p:cNvPr id="59" name="Text 59"/>
          <p:cNvSpPr txBox="1"/>
          <p:nvPr/>
        </p:nvSpPr>
        <p:spPr>
          <a:xfrm>
            <a:off x="5504688" y="3474720"/>
            <a:ext cx="12344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R$ 274</a:t>
            </a:r>
          </a:p>
        </p:txBody>
      </p:sp>
      <p:sp>
        <p:nvSpPr>
          <p:cNvPr id="60" name="Text 60"/>
          <p:cNvSpPr txBox="1"/>
          <p:nvPr/>
        </p:nvSpPr>
        <p:spPr>
          <a:xfrm>
            <a:off x="658368" y="3785616"/>
            <a:ext cx="8686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2023</a:t>
            </a:r>
          </a:p>
        </p:txBody>
      </p:sp>
      <p:sp>
        <p:nvSpPr>
          <p:cNvPr id="61" name="Text 61"/>
          <p:cNvSpPr txBox="1"/>
          <p:nvPr/>
        </p:nvSpPr>
        <p:spPr>
          <a:xfrm>
            <a:off x="1527048" y="3785616"/>
            <a:ext cx="9601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63</a:t>
            </a:r>
          </a:p>
        </p:txBody>
      </p:sp>
      <p:sp>
        <p:nvSpPr>
          <p:cNvPr id="62" name="Text 62"/>
          <p:cNvSpPr txBox="1"/>
          <p:nvPr/>
        </p:nvSpPr>
        <p:spPr>
          <a:xfrm>
            <a:off x="2487168" y="3785616"/>
            <a:ext cx="141732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51.6 mil m²</a:t>
            </a:r>
          </a:p>
        </p:txBody>
      </p:sp>
      <p:sp>
        <p:nvSpPr>
          <p:cNvPr id="63" name="Text 63"/>
          <p:cNvSpPr txBox="1"/>
          <p:nvPr/>
        </p:nvSpPr>
        <p:spPr>
          <a:xfrm>
            <a:off x="3904488" y="3785616"/>
            <a:ext cx="16002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R$ 113.4 mi</a:t>
            </a:r>
          </a:p>
        </p:txBody>
      </p:sp>
      <p:sp>
        <p:nvSpPr>
          <p:cNvPr id="64" name="Text 64"/>
          <p:cNvSpPr txBox="1"/>
          <p:nvPr/>
        </p:nvSpPr>
        <p:spPr>
          <a:xfrm>
            <a:off x="5504688" y="3785616"/>
            <a:ext cx="123444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R$ 2.199</a:t>
            </a:r>
          </a:p>
        </p:txBody>
      </p:sp>
      <p:sp>
        <p:nvSpPr>
          <p:cNvPr id="65" name="Text 65"/>
          <p:cNvSpPr txBox="1"/>
          <p:nvPr/>
        </p:nvSpPr>
        <p:spPr>
          <a:xfrm>
            <a:off x="658368" y="4096512"/>
            <a:ext cx="8686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2024</a:t>
            </a:r>
          </a:p>
        </p:txBody>
      </p:sp>
      <p:sp>
        <p:nvSpPr>
          <p:cNvPr id="66" name="Text 66"/>
          <p:cNvSpPr txBox="1"/>
          <p:nvPr/>
        </p:nvSpPr>
        <p:spPr>
          <a:xfrm>
            <a:off x="1527048" y="4096512"/>
            <a:ext cx="960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152</a:t>
            </a:r>
          </a:p>
        </p:txBody>
      </p:sp>
      <p:sp>
        <p:nvSpPr>
          <p:cNvPr id="67" name="Text 67"/>
          <p:cNvSpPr txBox="1"/>
          <p:nvPr/>
        </p:nvSpPr>
        <p:spPr>
          <a:xfrm>
            <a:off x="2487168" y="4096512"/>
            <a:ext cx="14173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67.9 mil m²</a:t>
            </a:r>
          </a:p>
        </p:txBody>
      </p:sp>
      <p:sp>
        <p:nvSpPr>
          <p:cNvPr id="68" name="Text 68"/>
          <p:cNvSpPr txBox="1"/>
          <p:nvPr/>
        </p:nvSpPr>
        <p:spPr>
          <a:xfrm>
            <a:off x="3904488" y="4096512"/>
            <a:ext cx="16002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R$ 34.6 mi</a:t>
            </a:r>
          </a:p>
        </p:txBody>
      </p:sp>
      <p:sp>
        <p:nvSpPr>
          <p:cNvPr id="69" name="Text 69"/>
          <p:cNvSpPr txBox="1"/>
          <p:nvPr/>
        </p:nvSpPr>
        <p:spPr>
          <a:xfrm>
            <a:off x="5504688" y="4096512"/>
            <a:ext cx="123444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R$ 509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6400800" y="2761488"/>
            <a:ext cx="507492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600" b="1">
                <a:solidFill>
                  <a:srgbClr val="15253F"/>
                </a:solidFill>
              </a:rPr>
              <a:t>Principais leituras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6400800" y="3145536"/>
            <a:ext cx="5166360" cy="20574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200">
                <a:solidFill>
                  <a:srgbClr val="15253F"/>
                </a:solidFill>
              </a:rPr>
              <a:t>• Maior entrega mensal em área: dez/25, com 24.5 mil m².</a:t>
            </a:r>
          </a:p>
          <a:p>
            <a:pPr algn="l"/>
            <a:r>
              <a:rPr lang="pt-BR" sz="1200">
                <a:solidFill>
                  <a:srgbClr val="15253F"/>
                </a:solidFill>
              </a:rPr>
              <a:t>• Classificação com maior área construída: Verticalização (89.7 mil m²).</a:t>
            </a:r>
          </a:p>
          <a:p>
            <a:pPr algn="l"/>
            <a:r>
              <a:rPr lang="pt-BR" sz="1200">
                <a:solidFill>
                  <a:srgbClr val="15253F"/>
                </a:solidFill>
              </a:rPr>
              <a:t>• Maior R$/m² por classificação: Risco Assistencial, com R$ 2.538/m².</a:t>
            </a:r>
          </a:p>
          <a:p>
            <a:pPr algn="l"/>
            <a:r>
              <a:rPr lang="pt-BR" sz="1200">
                <a:solidFill>
                  <a:srgbClr val="15253F"/>
                </a:solidFill>
              </a:rPr>
              <a:t>• Coluna O mais representativa em área: Retrofit.</a:t>
            </a:r>
          </a:p>
          <a:p>
            <a:pPr algn="l"/>
            <a:r>
              <a:rPr lang="pt-BR" sz="1200">
                <a:solidFill>
                  <a:srgbClr val="15253F"/>
                </a:solidFill>
              </a:rPr>
              <a:t>• Coluna U mais representativa em área: Hospitais.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Curva mensal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3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566928" y="749808"/>
            <a:ext cx="71323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300" b="1">
                <a:solidFill>
                  <a:srgbClr val="15253F"/>
                </a:solidFill>
              </a:rPr>
              <a:t>Curva mensal de área e R$/m²</a:t>
            </a:r>
          </a:p>
        </p:txBody>
      </p:sp>
      <p:pic>
        <p:nvPicPr>
          <p:cNvPr id="101" name="Curva mensal"/>
          <p:cNvPicPr>
            <a:picLocks noChangeAspect="1"/>
          </p:cNvPicPr>
          <p:nvPr/>
        </p:nvPicPr>
        <p:blipFill>
          <a:blip r:embed="rIdChart"/>
          <a:stretch>
            <a:fillRect/>
          </a:stretch>
        </p:blipFill>
        <p:spPr>
          <a:xfrm>
            <a:off x="566928" y="1234440"/>
            <a:ext cx="11018520" cy="51389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R$/m² por classificação de obra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4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566928" y="749808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R$/m² por classificação de obra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7818120" y="804672"/>
            <a:ext cx="361188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1100">
                <a:solidFill>
                  <a:srgbClr val="64748B"/>
                </a:solidFill>
              </a:rPr>
              <a:t>Coluna N</a:t>
            </a:r>
          </a:p>
        </p:txBody>
      </p:sp>
      <p:pic>
        <p:nvPicPr>
          <p:cNvPr id="132" name="R$/m² por classificação de obra"/>
          <p:cNvPicPr>
            <a:picLocks noChangeAspect="1"/>
          </p:cNvPicPr>
          <p:nvPr/>
        </p:nvPicPr>
        <p:blipFill>
          <a:blip r:embed="rIdChart"/>
          <a:stretch>
            <a:fillRect/>
          </a:stretch>
        </p:blipFill>
        <p:spPr>
          <a:xfrm>
            <a:off x="502920" y="1170432"/>
            <a:ext cx="7315200" cy="4919472"/>
          </a:xfrm>
          <a:prstGeom prst="rect">
            <a:avLst/>
          </a:prstGeom>
        </p:spPr>
      </p:pic>
      <p:sp>
        <p:nvSpPr>
          <p:cNvPr id="150" name="Text 150"/>
          <p:cNvSpPr txBox="1"/>
          <p:nvPr/>
        </p:nvSpPr>
        <p:spPr>
          <a:xfrm>
            <a:off x="7973568" y="1353312"/>
            <a:ext cx="17830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Grupo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9756648" y="1353312"/>
            <a:ext cx="6400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10396728" y="135331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11311128" y="1353312"/>
            <a:ext cx="1078992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7973568" y="1664208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Verticalização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9756648" y="1664208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103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10396728" y="166420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89.7 mil m²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11311128" y="1664208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R$ 1.862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7973568" y="1975104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Adequação Regulatória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9756648" y="1975104"/>
            <a:ext cx="640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148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10396728" y="197510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85.6 mil m²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11311128" y="1975104"/>
            <a:ext cx="1078992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R$ 648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7973568" y="2286000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Suficiência de rede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9756648" y="2286000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33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10396728" y="228600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45.5 mil m²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11311128" y="2286000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R$ 1.966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7973568" y="2596896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Eficiência Operacional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9756648" y="2596896"/>
            <a:ext cx="640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66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10396728" y="259689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34.4 mil m²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11311128" y="2596896"/>
            <a:ext cx="1078992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R$ 1.267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7973568" y="2907792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emergencial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9756648" y="2907792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38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10396728" y="290779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17.2 mil m²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11311128" y="2907792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R$ 933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7973568" y="3218688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Padronização de Unidade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9756648" y="3218688"/>
            <a:ext cx="640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20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10396728" y="3218688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8.6 mil m²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11311128" y="3218688"/>
            <a:ext cx="1078992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R$ 370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7973568" y="3529584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Estratégica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9756648" y="3529584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10396728" y="352958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6.4 mil m²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11311128" y="3529584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R$ 2.427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R$/m² por coluna O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5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566928" y="749808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R$/m² por coluna O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7818120" y="804672"/>
            <a:ext cx="361188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1100">
                <a:solidFill>
                  <a:srgbClr val="64748B"/>
                </a:solidFill>
              </a:rPr>
              <a:t>Tipologia de Obra</a:t>
            </a:r>
          </a:p>
        </p:txBody>
      </p:sp>
      <p:pic>
        <p:nvPicPr>
          <p:cNvPr id="132" name="R$/m² por coluna O"/>
          <p:cNvPicPr>
            <a:picLocks noChangeAspect="1"/>
          </p:cNvPicPr>
          <p:nvPr/>
        </p:nvPicPr>
        <p:blipFill>
          <a:blip r:embed="rIdChart"/>
          <a:stretch>
            <a:fillRect/>
          </a:stretch>
        </p:blipFill>
        <p:spPr>
          <a:xfrm>
            <a:off x="502920" y="1170432"/>
            <a:ext cx="7315200" cy="4919472"/>
          </a:xfrm>
          <a:prstGeom prst="rect">
            <a:avLst/>
          </a:prstGeom>
        </p:spPr>
      </p:pic>
      <p:sp>
        <p:nvSpPr>
          <p:cNvPr id="150" name="Text 150"/>
          <p:cNvSpPr txBox="1"/>
          <p:nvPr/>
        </p:nvSpPr>
        <p:spPr>
          <a:xfrm>
            <a:off x="7973568" y="1353312"/>
            <a:ext cx="17830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Grupo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9756648" y="1353312"/>
            <a:ext cx="6400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10396728" y="135331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11311128" y="1353312"/>
            <a:ext cx="1078992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7973568" y="1664208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Retrofit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9756648" y="1664208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327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10396728" y="166420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200.3 mil m²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11311128" y="1664208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R$ 985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7973568" y="1975104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Nova Unidade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9756648" y="1975104"/>
            <a:ext cx="640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78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10396728" y="197510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67.7 mil m²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11311128" y="1975104"/>
            <a:ext cx="1078992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R$ 1.913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7973568" y="2286000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Nova/R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9756648" y="2286000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25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10396728" y="228600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18.6 mil m²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11311128" y="2286000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R$ 2.044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7973568" y="2596896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Nova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9756648" y="2596896"/>
            <a:ext cx="640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10396728" y="259689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8.4 mil m²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11311128" y="2596896"/>
            <a:ext cx="1078992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R$ 3.425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7973568" y="2907792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Ampliação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9756648" y="2907792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10396728" y="290779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159 m²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11311128" y="2907792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R$ 1.535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R$/m² por coluna U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6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566928" y="749808"/>
            <a:ext cx="704088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R$/m² por coluna U</a:t>
            </a:r>
          </a:p>
        </p:txBody>
      </p:sp>
      <p:sp>
        <p:nvSpPr>
          <p:cNvPr id="131" name="Text 131"/>
          <p:cNvSpPr txBox="1"/>
          <p:nvPr/>
        </p:nvSpPr>
        <p:spPr>
          <a:xfrm>
            <a:off x="7818120" y="804672"/>
            <a:ext cx="3611880" cy="32918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1100">
                <a:solidFill>
                  <a:srgbClr val="64748B"/>
                </a:solidFill>
              </a:rPr>
              <a:t>Tipo Obra (3)</a:t>
            </a:r>
          </a:p>
        </p:txBody>
      </p:sp>
      <p:pic>
        <p:nvPicPr>
          <p:cNvPr id="132" name="R$/m² por coluna U"/>
          <p:cNvPicPr>
            <a:picLocks noChangeAspect="1"/>
          </p:cNvPicPr>
          <p:nvPr/>
        </p:nvPicPr>
        <p:blipFill>
          <a:blip r:embed="rIdChart"/>
          <a:stretch>
            <a:fillRect/>
          </a:stretch>
        </p:blipFill>
        <p:spPr>
          <a:xfrm>
            <a:off x="502920" y="1170432"/>
            <a:ext cx="7315200" cy="4919472"/>
          </a:xfrm>
          <a:prstGeom prst="rect">
            <a:avLst/>
          </a:prstGeom>
        </p:spPr>
      </p:pic>
      <p:sp>
        <p:nvSpPr>
          <p:cNvPr id="150" name="Text 150"/>
          <p:cNvSpPr txBox="1"/>
          <p:nvPr/>
        </p:nvSpPr>
        <p:spPr>
          <a:xfrm>
            <a:off x="7973568" y="1353312"/>
            <a:ext cx="17830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Grupo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9756648" y="1353312"/>
            <a:ext cx="6400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Obras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10396728" y="135331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153" name="Text 153"/>
          <p:cNvSpPr txBox="1"/>
          <p:nvPr/>
        </p:nvSpPr>
        <p:spPr>
          <a:xfrm>
            <a:off x="11311128" y="1353312"/>
            <a:ext cx="1078992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154" name="Text 154"/>
          <p:cNvSpPr txBox="1"/>
          <p:nvPr/>
        </p:nvSpPr>
        <p:spPr>
          <a:xfrm>
            <a:off x="7973568" y="1664208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Hospitais</a:t>
            </a:r>
          </a:p>
        </p:txBody>
      </p:sp>
      <p:sp>
        <p:nvSpPr>
          <p:cNvPr id="155" name="Text 155"/>
          <p:cNvSpPr txBox="1"/>
          <p:nvPr/>
        </p:nvSpPr>
        <p:spPr>
          <a:xfrm>
            <a:off x="9756648" y="1664208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92</a:t>
            </a:r>
          </a:p>
        </p:txBody>
      </p:sp>
      <p:sp>
        <p:nvSpPr>
          <p:cNvPr id="156" name="Text 156"/>
          <p:cNvSpPr txBox="1"/>
          <p:nvPr/>
        </p:nvSpPr>
        <p:spPr>
          <a:xfrm>
            <a:off x="10396728" y="166420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92.0 mil m²</a:t>
            </a:r>
          </a:p>
        </p:txBody>
      </p:sp>
      <p:sp>
        <p:nvSpPr>
          <p:cNvPr id="157" name="Text 157"/>
          <p:cNvSpPr txBox="1"/>
          <p:nvPr/>
        </p:nvSpPr>
        <p:spPr>
          <a:xfrm>
            <a:off x="11311128" y="1664208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R$ 1.196</a:t>
            </a:r>
          </a:p>
        </p:txBody>
      </p:sp>
      <p:sp>
        <p:nvSpPr>
          <p:cNvPr id="158" name="Text 158"/>
          <p:cNvSpPr txBox="1"/>
          <p:nvPr/>
        </p:nvSpPr>
        <p:spPr>
          <a:xfrm>
            <a:off x="7973568" y="1975104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Clínicas Ambulatoriais, Laboratórios e Coletas</a:t>
            </a:r>
          </a:p>
        </p:txBody>
      </p:sp>
      <p:sp>
        <p:nvSpPr>
          <p:cNvPr id="159" name="Text 159"/>
          <p:cNvSpPr txBox="1"/>
          <p:nvPr/>
        </p:nvSpPr>
        <p:spPr>
          <a:xfrm>
            <a:off x="9756648" y="1975104"/>
            <a:ext cx="640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143</a:t>
            </a:r>
          </a:p>
        </p:txBody>
      </p:sp>
      <p:sp>
        <p:nvSpPr>
          <p:cNvPr id="160" name="Text 160"/>
          <p:cNvSpPr txBox="1"/>
          <p:nvPr/>
        </p:nvSpPr>
        <p:spPr>
          <a:xfrm>
            <a:off x="10396728" y="197510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79.0 mil m²</a:t>
            </a:r>
          </a:p>
        </p:txBody>
      </p:sp>
      <p:sp>
        <p:nvSpPr>
          <p:cNvPr id="161" name="Text 161"/>
          <p:cNvSpPr txBox="1"/>
          <p:nvPr/>
        </p:nvSpPr>
        <p:spPr>
          <a:xfrm>
            <a:off x="11311128" y="1975104"/>
            <a:ext cx="1078992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R$ 1.602</a:t>
            </a:r>
          </a:p>
        </p:txBody>
      </p:sp>
      <p:sp>
        <p:nvSpPr>
          <p:cNvPr id="162" name="Text 162"/>
          <p:cNvSpPr txBox="1"/>
          <p:nvPr/>
        </p:nvSpPr>
        <p:spPr>
          <a:xfrm>
            <a:off x="7973568" y="2286000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regulatória com baixa intervenção</a:t>
            </a:r>
          </a:p>
        </p:txBody>
      </p:sp>
      <p:sp>
        <p:nvSpPr>
          <p:cNvPr id="163" name="Text 163"/>
          <p:cNvSpPr txBox="1"/>
          <p:nvPr/>
        </p:nvSpPr>
        <p:spPr>
          <a:xfrm>
            <a:off x="9756648" y="2286000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115</a:t>
            </a:r>
          </a:p>
        </p:txBody>
      </p:sp>
      <p:sp>
        <p:nvSpPr>
          <p:cNvPr id="164" name="Text 164"/>
          <p:cNvSpPr txBox="1"/>
          <p:nvPr/>
        </p:nvSpPr>
        <p:spPr>
          <a:xfrm>
            <a:off x="10396728" y="228600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67.3 mil m²</a:t>
            </a:r>
          </a:p>
        </p:txBody>
      </p:sp>
      <p:sp>
        <p:nvSpPr>
          <p:cNvPr id="165" name="Text 165"/>
          <p:cNvSpPr txBox="1"/>
          <p:nvPr/>
        </p:nvSpPr>
        <p:spPr>
          <a:xfrm>
            <a:off x="11311128" y="2286000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R$ 385</a:t>
            </a:r>
          </a:p>
        </p:txBody>
      </p:sp>
      <p:sp>
        <p:nvSpPr>
          <p:cNvPr id="166" name="Text 166"/>
          <p:cNvSpPr txBox="1"/>
          <p:nvPr/>
        </p:nvSpPr>
        <p:spPr>
          <a:xfrm>
            <a:off x="7973568" y="2596896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Pronto Atendimentos e Clínicas Complexas</a:t>
            </a:r>
          </a:p>
        </p:txBody>
      </p:sp>
      <p:sp>
        <p:nvSpPr>
          <p:cNvPr id="167" name="Text 167"/>
          <p:cNvSpPr txBox="1"/>
          <p:nvPr/>
        </p:nvSpPr>
        <p:spPr>
          <a:xfrm>
            <a:off x="9756648" y="2596896"/>
            <a:ext cx="640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31</a:t>
            </a:r>
          </a:p>
        </p:txBody>
      </p:sp>
      <p:sp>
        <p:nvSpPr>
          <p:cNvPr id="168" name="Text 168"/>
          <p:cNvSpPr txBox="1"/>
          <p:nvPr/>
        </p:nvSpPr>
        <p:spPr>
          <a:xfrm>
            <a:off x="10396728" y="259689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41.2 mil m²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11311128" y="2596896"/>
            <a:ext cx="1078992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R$ 2.624</a:t>
            </a:r>
          </a:p>
        </p:txBody>
      </p:sp>
      <p:sp>
        <p:nvSpPr>
          <p:cNvPr id="170" name="Text 170"/>
          <p:cNvSpPr txBox="1"/>
          <p:nvPr/>
        </p:nvSpPr>
        <p:spPr>
          <a:xfrm>
            <a:off x="7973568" y="2907792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regulatória com média intervenção</a:t>
            </a:r>
          </a:p>
        </p:txBody>
      </p:sp>
      <p:sp>
        <p:nvSpPr>
          <p:cNvPr id="171" name="Text 171"/>
          <p:cNvSpPr txBox="1"/>
          <p:nvPr/>
        </p:nvSpPr>
        <p:spPr>
          <a:xfrm>
            <a:off x="9756648" y="2907792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23</a:t>
            </a:r>
          </a:p>
        </p:txBody>
      </p:sp>
      <p:sp>
        <p:nvSpPr>
          <p:cNvPr id="172" name="Text 172"/>
          <p:cNvSpPr txBox="1"/>
          <p:nvPr/>
        </p:nvSpPr>
        <p:spPr>
          <a:xfrm>
            <a:off x="10396728" y="290779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7.1 mil m²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11311128" y="2907792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R$ 1.295</a:t>
            </a:r>
          </a:p>
        </p:txBody>
      </p:sp>
      <p:sp>
        <p:nvSpPr>
          <p:cNvPr id="174" name="Text 174"/>
          <p:cNvSpPr txBox="1"/>
          <p:nvPr/>
        </p:nvSpPr>
        <p:spPr>
          <a:xfrm>
            <a:off x="7973568" y="3218688"/>
            <a:ext cx="1783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Adm e Outros</a:t>
            </a:r>
          </a:p>
        </p:txBody>
      </p:sp>
      <p:sp>
        <p:nvSpPr>
          <p:cNvPr id="175" name="Text 175"/>
          <p:cNvSpPr txBox="1"/>
          <p:nvPr/>
        </p:nvSpPr>
        <p:spPr>
          <a:xfrm>
            <a:off x="9756648" y="3218688"/>
            <a:ext cx="6400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12</a:t>
            </a:r>
          </a:p>
        </p:txBody>
      </p:sp>
      <p:sp>
        <p:nvSpPr>
          <p:cNvPr id="176" name="Text 176"/>
          <p:cNvSpPr txBox="1"/>
          <p:nvPr/>
        </p:nvSpPr>
        <p:spPr>
          <a:xfrm>
            <a:off x="10396728" y="3218688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5.2 mil m²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11311128" y="3218688"/>
            <a:ext cx="1078992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R$ 764</a:t>
            </a:r>
          </a:p>
        </p:txBody>
      </p:sp>
      <p:sp>
        <p:nvSpPr>
          <p:cNvPr id="178" name="Text 178"/>
          <p:cNvSpPr txBox="1"/>
          <p:nvPr/>
        </p:nvSpPr>
        <p:spPr>
          <a:xfrm>
            <a:off x="7973568" y="3529584"/>
            <a:ext cx="1783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Obra regulatória com alta intervenção</a:t>
            </a:r>
          </a:p>
        </p:txBody>
      </p:sp>
      <p:sp>
        <p:nvSpPr>
          <p:cNvPr id="179" name="Text 179"/>
          <p:cNvSpPr txBox="1"/>
          <p:nvPr/>
        </p:nvSpPr>
        <p:spPr>
          <a:xfrm>
            <a:off x="9756648" y="3529584"/>
            <a:ext cx="6400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13</a:t>
            </a:r>
          </a:p>
        </p:txBody>
      </p:sp>
      <p:sp>
        <p:nvSpPr>
          <p:cNvPr id="180" name="Text 180"/>
          <p:cNvSpPr txBox="1"/>
          <p:nvPr/>
        </p:nvSpPr>
        <p:spPr>
          <a:xfrm>
            <a:off x="10396728" y="352958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2.8 mil m²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11311128" y="3529584"/>
            <a:ext cx="1078992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R$ 3.379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Rankings de obras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7</a:t>
            </a:r>
          </a:p>
        </p:txBody>
      </p:sp>
      <p:sp>
        <p:nvSpPr>
          <p:cNvPr id="220" name="Text 220"/>
          <p:cNvSpPr txBox="1"/>
          <p:nvPr/>
        </p:nvSpPr>
        <p:spPr>
          <a:xfrm>
            <a:off x="566928" y="74980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Obras com maior R$/m² e maior área</a:t>
            </a:r>
          </a:p>
        </p:txBody>
      </p:sp>
      <p:sp>
        <p:nvSpPr>
          <p:cNvPr id="221" name="Text 221"/>
          <p:cNvSpPr txBox="1"/>
          <p:nvPr/>
        </p:nvSpPr>
        <p:spPr>
          <a:xfrm>
            <a:off x="658368" y="1243584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008F5A"/>
                </a:solidFill>
              </a:rPr>
              <a:t>Maior R$/m²</a:t>
            </a:r>
          </a:p>
        </p:txBody>
      </p:sp>
      <p:sp>
        <p:nvSpPr>
          <p:cNvPr id="230" name="Text 230"/>
          <p:cNvSpPr txBox="1"/>
          <p:nvPr/>
        </p:nvSpPr>
        <p:spPr>
          <a:xfrm>
            <a:off x="658368" y="1627632"/>
            <a:ext cx="2304288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231" name="Text 231"/>
          <p:cNvSpPr txBox="1"/>
          <p:nvPr/>
        </p:nvSpPr>
        <p:spPr>
          <a:xfrm>
            <a:off x="2962656" y="162763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232" name="Text 232"/>
          <p:cNvSpPr txBox="1"/>
          <p:nvPr/>
        </p:nvSpPr>
        <p:spPr>
          <a:xfrm>
            <a:off x="3877056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233" name="Text 233"/>
          <p:cNvSpPr txBox="1"/>
          <p:nvPr/>
        </p:nvSpPr>
        <p:spPr>
          <a:xfrm>
            <a:off x="4974336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234" name="Text 234"/>
          <p:cNvSpPr txBox="1"/>
          <p:nvPr/>
        </p:nvSpPr>
        <p:spPr>
          <a:xfrm>
            <a:off x="658368" y="1938528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3783.Modernização Elevador 1 HS Jacarepaguá</a:t>
            </a:r>
          </a:p>
        </p:txBody>
      </p:sp>
      <p:sp>
        <p:nvSpPr>
          <p:cNvPr id="235" name="Text 235"/>
          <p:cNvSpPr txBox="1"/>
          <p:nvPr/>
        </p:nvSpPr>
        <p:spPr>
          <a:xfrm>
            <a:off x="2962656" y="193852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</a:t>
            </a:r>
          </a:p>
        </p:txBody>
      </p:sp>
      <p:sp>
        <p:nvSpPr>
          <p:cNvPr id="236" name="Text 236"/>
          <p:cNvSpPr txBox="1"/>
          <p:nvPr/>
        </p:nvSpPr>
        <p:spPr>
          <a:xfrm>
            <a:off x="3877056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R$ 460.9 mil</a:t>
            </a:r>
          </a:p>
        </p:txBody>
      </p:sp>
      <p:sp>
        <p:nvSpPr>
          <p:cNvPr id="237" name="Text 237"/>
          <p:cNvSpPr txBox="1"/>
          <p:nvPr/>
        </p:nvSpPr>
        <p:spPr>
          <a:xfrm>
            <a:off x="4974336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R$ 48.010</a:t>
            </a:r>
          </a:p>
        </p:txBody>
      </p:sp>
      <p:sp>
        <p:nvSpPr>
          <p:cNvPr id="238" name="Text 238"/>
          <p:cNvSpPr txBox="1"/>
          <p:nvPr/>
        </p:nvSpPr>
        <p:spPr>
          <a:xfrm>
            <a:off x="658368" y="2249424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4051.Troca Ressonância Notrelabs Santo Amaro</a:t>
            </a:r>
          </a:p>
        </p:txBody>
      </p:sp>
      <p:sp>
        <p:nvSpPr>
          <p:cNvPr id="239" name="Text 239"/>
          <p:cNvSpPr txBox="1"/>
          <p:nvPr/>
        </p:nvSpPr>
        <p:spPr>
          <a:xfrm>
            <a:off x="2962656" y="224942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33</a:t>
            </a:r>
          </a:p>
        </p:txBody>
      </p:sp>
      <p:sp>
        <p:nvSpPr>
          <p:cNvPr id="240" name="Text 240"/>
          <p:cNvSpPr txBox="1"/>
          <p:nvPr/>
        </p:nvSpPr>
        <p:spPr>
          <a:xfrm>
            <a:off x="3877056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R$ 963.0 mil</a:t>
            </a:r>
          </a:p>
        </p:txBody>
      </p:sp>
      <p:sp>
        <p:nvSpPr>
          <p:cNvPr id="241" name="Text 241"/>
          <p:cNvSpPr txBox="1"/>
          <p:nvPr/>
        </p:nvSpPr>
        <p:spPr>
          <a:xfrm>
            <a:off x="4974336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R$ 29.069</a:t>
            </a:r>
          </a:p>
        </p:txBody>
      </p:sp>
      <p:sp>
        <p:nvSpPr>
          <p:cNvPr id="242" name="Text 242"/>
          <p:cNvSpPr txBox="1"/>
          <p:nvPr/>
        </p:nvSpPr>
        <p:spPr>
          <a:xfrm>
            <a:off x="658368" y="2560320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4048.Nova Ressonância Notrelabs Banda</a:t>
            </a:r>
          </a:p>
        </p:txBody>
      </p:sp>
      <p:sp>
        <p:nvSpPr>
          <p:cNvPr id="243" name="Text 243"/>
          <p:cNvSpPr txBox="1"/>
          <p:nvPr/>
        </p:nvSpPr>
        <p:spPr>
          <a:xfrm>
            <a:off x="2962656" y="256032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56</a:t>
            </a:r>
          </a:p>
        </p:txBody>
      </p:sp>
      <p:sp>
        <p:nvSpPr>
          <p:cNvPr id="244" name="Text 244"/>
          <p:cNvSpPr txBox="1"/>
          <p:nvPr/>
        </p:nvSpPr>
        <p:spPr>
          <a:xfrm>
            <a:off x="3877056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R$ 843.4 mil</a:t>
            </a:r>
          </a:p>
        </p:txBody>
      </p:sp>
      <p:sp>
        <p:nvSpPr>
          <p:cNvPr id="245" name="Text 245"/>
          <p:cNvSpPr txBox="1"/>
          <p:nvPr/>
        </p:nvSpPr>
        <p:spPr>
          <a:xfrm>
            <a:off x="4974336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R$ 15.031</a:t>
            </a:r>
          </a:p>
        </p:txBody>
      </p:sp>
      <p:sp>
        <p:nvSpPr>
          <p:cNvPr id="246" name="Text 246"/>
          <p:cNvSpPr txBox="1"/>
          <p:nvPr/>
        </p:nvSpPr>
        <p:spPr>
          <a:xfrm>
            <a:off x="658368" y="2871216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3857.Adequação Elevador HS Jardim América</a:t>
            </a:r>
          </a:p>
        </p:txBody>
      </p:sp>
      <p:sp>
        <p:nvSpPr>
          <p:cNvPr id="247" name="Text 247"/>
          <p:cNvSpPr txBox="1"/>
          <p:nvPr/>
        </p:nvSpPr>
        <p:spPr>
          <a:xfrm>
            <a:off x="2962656" y="287121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42</a:t>
            </a:r>
          </a:p>
        </p:txBody>
      </p:sp>
      <p:sp>
        <p:nvSpPr>
          <p:cNvPr id="248" name="Text 248"/>
          <p:cNvSpPr txBox="1"/>
          <p:nvPr/>
        </p:nvSpPr>
        <p:spPr>
          <a:xfrm>
            <a:off x="3877056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R$ 551.9 mil</a:t>
            </a:r>
          </a:p>
        </p:txBody>
      </p:sp>
      <p:sp>
        <p:nvSpPr>
          <p:cNvPr id="249" name="Text 249"/>
          <p:cNvSpPr txBox="1"/>
          <p:nvPr/>
        </p:nvSpPr>
        <p:spPr>
          <a:xfrm>
            <a:off x="4974336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R$ 13.204</a:t>
            </a:r>
          </a:p>
        </p:txBody>
      </p:sp>
      <p:sp>
        <p:nvSpPr>
          <p:cNvPr id="250" name="Text 250"/>
          <p:cNvSpPr txBox="1"/>
          <p:nvPr/>
        </p:nvSpPr>
        <p:spPr>
          <a:xfrm>
            <a:off x="658368" y="3182112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4052.Troca Ressonância Notrelabs Atlântica</a:t>
            </a:r>
          </a:p>
        </p:txBody>
      </p:sp>
      <p:sp>
        <p:nvSpPr>
          <p:cNvPr id="251" name="Text 251"/>
          <p:cNvSpPr txBox="1"/>
          <p:nvPr/>
        </p:nvSpPr>
        <p:spPr>
          <a:xfrm>
            <a:off x="2962656" y="318211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52</a:t>
            </a:r>
          </a:p>
        </p:txBody>
      </p:sp>
      <p:sp>
        <p:nvSpPr>
          <p:cNvPr id="252" name="Text 252"/>
          <p:cNvSpPr txBox="1"/>
          <p:nvPr/>
        </p:nvSpPr>
        <p:spPr>
          <a:xfrm>
            <a:off x="3877056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R$ 652.4 mil</a:t>
            </a:r>
          </a:p>
        </p:txBody>
      </p:sp>
      <p:sp>
        <p:nvSpPr>
          <p:cNvPr id="253" name="Text 253"/>
          <p:cNvSpPr txBox="1"/>
          <p:nvPr/>
        </p:nvSpPr>
        <p:spPr>
          <a:xfrm>
            <a:off x="4974336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R$ 12.462</a:t>
            </a:r>
          </a:p>
        </p:txBody>
      </p:sp>
      <p:sp>
        <p:nvSpPr>
          <p:cNvPr id="254" name="Text 254"/>
          <p:cNvSpPr txBox="1"/>
          <p:nvPr/>
        </p:nvSpPr>
        <p:spPr>
          <a:xfrm>
            <a:off x="658368" y="3493008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4049.Troca Ressonância Notrelabs Mauá</a:t>
            </a:r>
          </a:p>
        </p:txBody>
      </p:sp>
      <p:sp>
        <p:nvSpPr>
          <p:cNvPr id="255" name="Text 255"/>
          <p:cNvSpPr txBox="1"/>
          <p:nvPr/>
        </p:nvSpPr>
        <p:spPr>
          <a:xfrm>
            <a:off x="2962656" y="3493008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66</a:t>
            </a:r>
          </a:p>
        </p:txBody>
      </p:sp>
      <p:sp>
        <p:nvSpPr>
          <p:cNvPr id="256" name="Text 256"/>
          <p:cNvSpPr txBox="1"/>
          <p:nvPr/>
        </p:nvSpPr>
        <p:spPr>
          <a:xfrm>
            <a:off x="3877056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R$ 807.0 mil</a:t>
            </a:r>
          </a:p>
        </p:txBody>
      </p:sp>
      <p:sp>
        <p:nvSpPr>
          <p:cNvPr id="257" name="Text 257"/>
          <p:cNvSpPr txBox="1"/>
          <p:nvPr/>
        </p:nvSpPr>
        <p:spPr>
          <a:xfrm>
            <a:off x="4974336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R$ 12.176</a:t>
            </a:r>
          </a:p>
        </p:txBody>
      </p:sp>
      <p:sp>
        <p:nvSpPr>
          <p:cNvPr id="258" name="Text 258"/>
          <p:cNvSpPr txBox="1"/>
          <p:nvPr/>
        </p:nvSpPr>
        <p:spPr>
          <a:xfrm>
            <a:off x="658368" y="3803904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3986.Adequação Pref. Notrelife Sorocaba</a:t>
            </a:r>
          </a:p>
        </p:txBody>
      </p:sp>
      <p:sp>
        <p:nvSpPr>
          <p:cNvPr id="259" name="Text 259"/>
          <p:cNvSpPr txBox="1"/>
          <p:nvPr/>
        </p:nvSpPr>
        <p:spPr>
          <a:xfrm>
            <a:off x="2962656" y="380390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8</a:t>
            </a:r>
          </a:p>
        </p:txBody>
      </p:sp>
      <p:sp>
        <p:nvSpPr>
          <p:cNvPr id="260" name="Text 260"/>
          <p:cNvSpPr txBox="1"/>
          <p:nvPr/>
        </p:nvSpPr>
        <p:spPr>
          <a:xfrm>
            <a:off x="3877056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R$ 86.0 mil</a:t>
            </a:r>
          </a:p>
        </p:txBody>
      </p:sp>
      <p:sp>
        <p:nvSpPr>
          <p:cNvPr id="261" name="Text 261"/>
          <p:cNvSpPr txBox="1"/>
          <p:nvPr/>
        </p:nvSpPr>
        <p:spPr>
          <a:xfrm>
            <a:off x="4974336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R$ 11.467</a:t>
            </a:r>
          </a:p>
        </p:txBody>
      </p:sp>
      <p:sp>
        <p:nvSpPr>
          <p:cNvPr id="262" name="Text 262"/>
          <p:cNvSpPr txBox="1"/>
          <p:nvPr/>
        </p:nvSpPr>
        <p:spPr>
          <a:xfrm>
            <a:off x="658368" y="4114800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5029.Hemodinâmica Camboriú</a:t>
            </a:r>
          </a:p>
        </p:txBody>
      </p:sp>
      <p:sp>
        <p:nvSpPr>
          <p:cNvPr id="263" name="Text 263"/>
          <p:cNvSpPr txBox="1"/>
          <p:nvPr/>
        </p:nvSpPr>
        <p:spPr>
          <a:xfrm>
            <a:off x="2962656" y="4114800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49</a:t>
            </a:r>
          </a:p>
        </p:txBody>
      </p:sp>
      <p:sp>
        <p:nvSpPr>
          <p:cNvPr id="264" name="Text 264"/>
          <p:cNvSpPr txBox="1"/>
          <p:nvPr/>
        </p:nvSpPr>
        <p:spPr>
          <a:xfrm>
            <a:off x="3877056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R$ 494.7 mil</a:t>
            </a:r>
          </a:p>
        </p:txBody>
      </p:sp>
      <p:sp>
        <p:nvSpPr>
          <p:cNvPr id="265" name="Text 265"/>
          <p:cNvSpPr txBox="1"/>
          <p:nvPr/>
        </p:nvSpPr>
        <p:spPr>
          <a:xfrm>
            <a:off x="4974336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R$ 10.028</a:t>
            </a:r>
          </a:p>
        </p:txBody>
      </p:sp>
      <p:sp>
        <p:nvSpPr>
          <p:cNvPr id="266" name="Text 266"/>
          <p:cNvSpPr txBox="1"/>
          <p:nvPr/>
        </p:nvSpPr>
        <p:spPr>
          <a:xfrm>
            <a:off x="658368" y="4425696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3786.Novo Elevador HS Notrecare RJ</a:t>
            </a:r>
          </a:p>
        </p:txBody>
      </p:sp>
      <p:sp>
        <p:nvSpPr>
          <p:cNvPr id="267" name="Text 267"/>
          <p:cNvSpPr txBox="1"/>
          <p:nvPr/>
        </p:nvSpPr>
        <p:spPr>
          <a:xfrm>
            <a:off x="2962656" y="4425696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37</a:t>
            </a:r>
          </a:p>
        </p:txBody>
      </p:sp>
      <p:sp>
        <p:nvSpPr>
          <p:cNvPr id="268" name="Text 268"/>
          <p:cNvSpPr txBox="1"/>
          <p:nvPr/>
        </p:nvSpPr>
        <p:spPr>
          <a:xfrm>
            <a:off x="3877056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R$ 368.5 mil</a:t>
            </a:r>
          </a:p>
        </p:txBody>
      </p:sp>
      <p:sp>
        <p:nvSpPr>
          <p:cNvPr id="269" name="Text 269"/>
          <p:cNvSpPr txBox="1"/>
          <p:nvPr/>
        </p:nvSpPr>
        <p:spPr>
          <a:xfrm>
            <a:off x="4974336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R$ 9.906</a:t>
            </a:r>
          </a:p>
        </p:txBody>
      </p:sp>
      <p:sp>
        <p:nvSpPr>
          <p:cNvPr id="300" name="Text 300"/>
          <p:cNvSpPr txBox="1"/>
          <p:nvPr/>
        </p:nvSpPr>
        <p:spPr>
          <a:xfrm>
            <a:off x="6400800" y="1243584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 b="1">
                <a:solidFill>
                  <a:srgbClr val="2F65B7"/>
                </a:solidFill>
              </a:rPr>
              <a:t>Maior área construída</a:t>
            </a:r>
          </a:p>
        </p:txBody>
      </p:sp>
      <p:sp>
        <p:nvSpPr>
          <p:cNvPr id="310" name="Text 310"/>
          <p:cNvSpPr txBox="1"/>
          <p:nvPr/>
        </p:nvSpPr>
        <p:spPr>
          <a:xfrm>
            <a:off x="6400800" y="1627632"/>
            <a:ext cx="2304288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Obra</a:t>
            </a:r>
          </a:p>
        </p:txBody>
      </p:sp>
      <p:sp>
        <p:nvSpPr>
          <p:cNvPr id="311" name="Text 311"/>
          <p:cNvSpPr txBox="1"/>
          <p:nvPr/>
        </p:nvSpPr>
        <p:spPr>
          <a:xfrm>
            <a:off x="8705088" y="1627632"/>
            <a:ext cx="91440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m²</a:t>
            </a:r>
          </a:p>
        </p:txBody>
      </p:sp>
      <p:sp>
        <p:nvSpPr>
          <p:cNvPr id="312" name="Text 312"/>
          <p:cNvSpPr txBox="1"/>
          <p:nvPr/>
        </p:nvSpPr>
        <p:spPr>
          <a:xfrm>
            <a:off x="9619488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Valor</a:t>
            </a:r>
          </a:p>
        </p:txBody>
      </p:sp>
      <p:sp>
        <p:nvSpPr>
          <p:cNvPr id="313" name="Text 313"/>
          <p:cNvSpPr txBox="1"/>
          <p:nvPr/>
        </p:nvSpPr>
        <p:spPr>
          <a:xfrm>
            <a:off x="10716768" y="1627632"/>
            <a:ext cx="1097280" cy="310896"/>
          </a:xfrm>
          <a:prstGeom prst="rect">
            <a:avLst/>
          </a:prstGeom>
          <a:solidFill>
            <a:srgbClr val="253F8E"/>
          </a:solidFill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800" b="1">
                <a:solidFill>
                  <a:srgbClr val="FFFFFF"/>
                </a:solidFill>
              </a:rPr>
              <a:t>R$/m²</a:t>
            </a:r>
          </a:p>
        </p:txBody>
      </p:sp>
      <p:sp>
        <p:nvSpPr>
          <p:cNvPr id="314" name="Text 314"/>
          <p:cNvSpPr txBox="1"/>
          <p:nvPr/>
        </p:nvSpPr>
        <p:spPr>
          <a:xfrm>
            <a:off x="6400800" y="1938528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3131.Retrofit HB Saúde</a:t>
            </a:r>
          </a:p>
        </p:txBody>
      </p:sp>
      <p:sp>
        <p:nvSpPr>
          <p:cNvPr id="315" name="Text 315"/>
          <p:cNvSpPr txBox="1"/>
          <p:nvPr/>
        </p:nvSpPr>
        <p:spPr>
          <a:xfrm>
            <a:off x="8705088" y="1938528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13.041</a:t>
            </a:r>
          </a:p>
        </p:txBody>
      </p:sp>
      <p:sp>
        <p:nvSpPr>
          <p:cNvPr id="316" name="Text 316"/>
          <p:cNvSpPr txBox="1"/>
          <p:nvPr/>
        </p:nvSpPr>
        <p:spPr>
          <a:xfrm>
            <a:off x="9619488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R$ 22.7 mi</a:t>
            </a:r>
          </a:p>
        </p:txBody>
      </p:sp>
      <p:sp>
        <p:nvSpPr>
          <p:cNvPr id="317" name="Text 317"/>
          <p:cNvSpPr txBox="1"/>
          <p:nvPr/>
        </p:nvSpPr>
        <p:spPr>
          <a:xfrm>
            <a:off x="10716768" y="1938528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R$ 1.740</a:t>
            </a:r>
          </a:p>
        </p:txBody>
      </p:sp>
      <p:sp>
        <p:nvSpPr>
          <p:cNvPr id="318" name="Text 318"/>
          <p:cNvSpPr txBox="1"/>
          <p:nvPr/>
        </p:nvSpPr>
        <p:spPr>
          <a:xfrm>
            <a:off x="6400800" y="2249424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0000.Transformação PA em Hospital UASA</a:t>
            </a:r>
          </a:p>
        </p:txBody>
      </p:sp>
      <p:sp>
        <p:nvSpPr>
          <p:cNvPr id="319" name="Text 319"/>
          <p:cNvSpPr txBox="1"/>
          <p:nvPr/>
        </p:nvSpPr>
        <p:spPr>
          <a:xfrm>
            <a:off x="8705088" y="2249424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10.433</a:t>
            </a:r>
          </a:p>
        </p:txBody>
      </p:sp>
      <p:sp>
        <p:nvSpPr>
          <p:cNvPr id="320" name="Text 320"/>
          <p:cNvSpPr txBox="1"/>
          <p:nvPr/>
        </p:nvSpPr>
        <p:spPr>
          <a:xfrm>
            <a:off x="9619488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R$ 23.2 mi</a:t>
            </a:r>
          </a:p>
        </p:txBody>
      </p:sp>
      <p:sp>
        <p:nvSpPr>
          <p:cNvPr id="321" name="Text 321"/>
          <p:cNvSpPr txBox="1"/>
          <p:nvPr/>
        </p:nvSpPr>
        <p:spPr>
          <a:xfrm>
            <a:off x="10716768" y="2249424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R$ 2.220</a:t>
            </a:r>
          </a:p>
        </p:txBody>
      </p:sp>
      <p:sp>
        <p:nvSpPr>
          <p:cNvPr id="322" name="Text 322"/>
          <p:cNvSpPr txBox="1"/>
          <p:nvPr/>
        </p:nvSpPr>
        <p:spPr>
          <a:xfrm>
            <a:off x="6400800" y="2560320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3790.Retrofit Climatização HS Santa Martha</a:t>
            </a:r>
          </a:p>
        </p:txBody>
      </p:sp>
      <p:sp>
        <p:nvSpPr>
          <p:cNvPr id="323" name="Text 323"/>
          <p:cNvSpPr txBox="1"/>
          <p:nvPr/>
        </p:nvSpPr>
        <p:spPr>
          <a:xfrm>
            <a:off x="8705088" y="2560320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8.696</a:t>
            </a:r>
          </a:p>
        </p:txBody>
      </p:sp>
      <p:sp>
        <p:nvSpPr>
          <p:cNvPr id="324" name="Text 324"/>
          <p:cNvSpPr txBox="1"/>
          <p:nvPr/>
        </p:nvSpPr>
        <p:spPr>
          <a:xfrm>
            <a:off x="9619488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R$ 172.0 mil</a:t>
            </a:r>
          </a:p>
        </p:txBody>
      </p:sp>
      <p:sp>
        <p:nvSpPr>
          <p:cNvPr id="325" name="Text 325"/>
          <p:cNvSpPr txBox="1"/>
          <p:nvPr/>
        </p:nvSpPr>
        <p:spPr>
          <a:xfrm>
            <a:off x="10716768" y="2560320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R$ 20</a:t>
            </a:r>
          </a:p>
        </p:txBody>
      </p:sp>
      <p:sp>
        <p:nvSpPr>
          <p:cNvPr id="326" name="Text 326"/>
          <p:cNvSpPr txBox="1"/>
          <p:nvPr/>
        </p:nvSpPr>
        <p:spPr>
          <a:xfrm>
            <a:off x="6400800" y="2871216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3590.Adequação Hapnatal (3ª fase)</a:t>
            </a:r>
          </a:p>
        </p:txBody>
      </p:sp>
      <p:sp>
        <p:nvSpPr>
          <p:cNvPr id="327" name="Text 327"/>
          <p:cNvSpPr txBox="1"/>
          <p:nvPr/>
        </p:nvSpPr>
        <p:spPr>
          <a:xfrm>
            <a:off x="8705088" y="2871216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7.150</a:t>
            </a:r>
          </a:p>
        </p:txBody>
      </p:sp>
      <p:sp>
        <p:nvSpPr>
          <p:cNvPr id="328" name="Text 328"/>
          <p:cNvSpPr txBox="1"/>
          <p:nvPr/>
        </p:nvSpPr>
        <p:spPr>
          <a:xfrm>
            <a:off x="9619488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R$ 2.7 mi</a:t>
            </a:r>
          </a:p>
        </p:txBody>
      </p:sp>
      <p:sp>
        <p:nvSpPr>
          <p:cNvPr id="329" name="Text 329"/>
          <p:cNvSpPr txBox="1"/>
          <p:nvPr/>
        </p:nvSpPr>
        <p:spPr>
          <a:xfrm>
            <a:off x="10716768" y="2871216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R$ 377</a:t>
            </a:r>
          </a:p>
        </p:txBody>
      </p:sp>
      <p:sp>
        <p:nvSpPr>
          <p:cNvPr id="330" name="Text 330"/>
          <p:cNvSpPr txBox="1"/>
          <p:nvPr/>
        </p:nvSpPr>
        <p:spPr>
          <a:xfrm>
            <a:off x="6400800" y="3182112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4065.Reabertura HS Analia Franco (2ª fase)</a:t>
            </a:r>
          </a:p>
        </p:txBody>
      </p:sp>
      <p:sp>
        <p:nvSpPr>
          <p:cNvPr id="331" name="Text 331"/>
          <p:cNvSpPr txBox="1"/>
          <p:nvPr/>
        </p:nvSpPr>
        <p:spPr>
          <a:xfrm>
            <a:off x="8705088" y="3182112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6.170</a:t>
            </a:r>
          </a:p>
        </p:txBody>
      </p:sp>
      <p:sp>
        <p:nvSpPr>
          <p:cNvPr id="332" name="Text 332"/>
          <p:cNvSpPr txBox="1"/>
          <p:nvPr/>
        </p:nvSpPr>
        <p:spPr>
          <a:xfrm>
            <a:off x="9619488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R$ 6.5 mi</a:t>
            </a:r>
          </a:p>
        </p:txBody>
      </p:sp>
      <p:sp>
        <p:nvSpPr>
          <p:cNvPr id="333" name="Text 333"/>
          <p:cNvSpPr txBox="1"/>
          <p:nvPr/>
        </p:nvSpPr>
        <p:spPr>
          <a:xfrm>
            <a:off x="10716768" y="3182112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R$ 1.056</a:t>
            </a:r>
          </a:p>
        </p:txBody>
      </p:sp>
      <p:sp>
        <p:nvSpPr>
          <p:cNvPr id="334" name="Text 334"/>
          <p:cNvSpPr txBox="1"/>
          <p:nvPr/>
        </p:nvSpPr>
        <p:spPr>
          <a:xfrm>
            <a:off x="6400800" y="3493008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4240.Adequação PPCI Hospital Rio Solimões</a:t>
            </a:r>
          </a:p>
        </p:txBody>
      </p:sp>
      <p:sp>
        <p:nvSpPr>
          <p:cNvPr id="335" name="Text 335"/>
          <p:cNvSpPr txBox="1"/>
          <p:nvPr/>
        </p:nvSpPr>
        <p:spPr>
          <a:xfrm>
            <a:off x="8705088" y="3493008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5.659</a:t>
            </a:r>
          </a:p>
        </p:txBody>
      </p:sp>
      <p:sp>
        <p:nvSpPr>
          <p:cNvPr id="336" name="Text 336"/>
          <p:cNvSpPr txBox="1"/>
          <p:nvPr/>
        </p:nvSpPr>
        <p:spPr>
          <a:xfrm>
            <a:off x="9619488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R$ 497.1 mil</a:t>
            </a:r>
          </a:p>
        </p:txBody>
      </p:sp>
      <p:sp>
        <p:nvSpPr>
          <p:cNvPr id="337" name="Text 337"/>
          <p:cNvSpPr txBox="1"/>
          <p:nvPr/>
        </p:nvSpPr>
        <p:spPr>
          <a:xfrm>
            <a:off x="10716768" y="3493008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R$ 88</a:t>
            </a:r>
          </a:p>
        </p:txBody>
      </p:sp>
      <p:sp>
        <p:nvSpPr>
          <p:cNvPr id="338" name="Text 338"/>
          <p:cNvSpPr txBox="1"/>
          <p:nvPr/>
        </p:nvSpPr>
        <p:spPr>
          <a:xfrm>
            <a:off x="6400800" y="3803904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9012.PA Lifecenter Contagem</a:t>
            </a:r>
          </a:p>
        </p:txBody>
      </p:sp>
      <p:sp>
        <p:nvSpPr>
          <p:cNvPr id="339" name="Text 339"/>
          <p:cNvSpPr txBox="1"/>
          <p:nvPr/>
        </p:nvSpPr>
        <p:spPr>
          <a:xfrm>
            <a:off x="8705088" y="3803904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5.508</a:t>
            </a:r>
          </a:p>
        </p:txBody>
      </p:sp>
      <p:sp>
        <p:nvSpPr>
          <p:cNvPr id="340" name="Text 340"/>
          <p:cNvSpPr txBox="1"/>
          <p:nvPr/>
        </p:nvSpPr>
        <p:spPr>
          <a:xfrm>
            <a:off x="9619488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R$ 21.9 mi</a:t>
            </a:r>
          </a:p>
        </p:txBody>
      </p:sp>
      <p:sp>
        <p:nvSpPr>
          <p:cNvPr id="341" name="Text 341"/>
          <p:cNvSpPr txBox="1"/>
          <p:nvPr/>
        </p:nvSpPr>
        <p:spPr>
          <a:xfrm>
            <a:off x="10716768" y="3803904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R$ 3.978</a:t>
            </a:r>
          </a:p>
        </p:txBody>
      </p:sp>
      <p:sp>
        <p:nvSpPr>
          <p:cNvPr id="342" name="Text 342"/>
          <p:cNvSpPr txBox="1"/>
          <p:nvPr/>
        </p:nvSpPr>
        <p:spPr>
          <a:xfrm>
            <a:off x="6400800" y="4114800"/>
            <a:ext cx="2304288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4160.Adequação PPCI HS São Lucas (Americana)</a:t>
            </a:r>
          </a:p>
        </p:txBody>
      </p:sp>
      <p:sp>
        <p:nvSpPr>
          <p:cNvPr id="343" name="Text 343"/>
          <p:cNvSpPr txBox="1"/>
          <p:nvPr/>
        </p:nvSpPr>
        <p:spPr>
          <a:xfrm>
            <a:off x="8705088" y="4114800"/>
            <a:ext cx="91440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5.214</a:t>
            </a:r>
          </a:p>
        </p:txBody>
      </p:sp>
      <p:sp>
        <p:nvSpPr>
          <p:cNvPr id="344" name="Text 344"/>
          <p:cNvSpPr txBox="1"/>
          <p:nvPr/>
        </p:nvSpPr>
        <p:spPr>
          <a:xfrm>
            <a:off x="9619488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R$ 530.0 mil</a:t>
            </a:r>
          </a:p>
        </p:txBody>
      </p:sp>
      <p:sp>
        <p:nvSpPr>
          <p:cNvPr id="345" name="Text 345"/>
          <p:cNvSpPr txBox="1"/>
          <p:nvPr/>
        </p:nvSpPr>
        <p:spPr>
          <a:xfrm>
            <a:off x="10716768" y="4114800"/>
            <a:ext cx="1097280" cy="310896"/>
          </a:xfrm>
          <a:prstGeom prst="rect">
            <a:avLst/>
          </a:prstGeom>
          <a:solidFill>
            <a:srgbClr val="F5F8FB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R$ 102</a:t>
            </a:r>
          </a:p>
        </p:txBody>
      </p:sp>
      <p:sp>
        <p:nvSpPr>
          <p:cNvPr id="346" name="Text 346"/>
          <p:cNvSpPr txBox="1"/>
          <p:nvPr/>
        </p:nvSpPr>
        <p:spPr>
          <a:xfrm>
            <a:off x="6400800" y="4425696"/>
            <a:ext cx="2304288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800">
                <a:solidFill>
                  <a:srgbClr val="15253F"/>
                </a:solidFill>
              </a:rPr>
              <a:t>4032.Reabertura do HS Layr Maia</a:t>
            </a:r>
          </a:p>
        </p:txBody>
      </p:sp>
      <p:sp>
        <p:nvSpPr>
          <p:cNvPr id="347" name="Text 347"/>
          <p:cNvSpPr txBox="1"/>
          <p:nvPr/>
        </p:nvSpPr>
        <p:spPr>
          <a:xfrm>
            <a:off x="8705088" y="4425696"/>
            <a:ext cx="91440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5.062</a:t>
            </a:r>
          </a:p>
        </p:txBody>
      </p:sp>
      <p:sp>
        <p:nvSpPr>
          <p:cNvPr id="348" name="Text 348"/>
          <p:cNvSpPr txBox="1"/>
          <p:nvPr/>
        </p:nvSpPr>
        <p:spPr>
          <a:xfrm>
            <a:off x="9619488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R$ 14.5 mi</a:t>
            </a:r>
          </a:p>
        </p:txBody>
      </p:sp>
      <p:sp>
        <p:nvSpPr>
          <p:cNvPr id="349" name="Text 349"/>
          <p:cNvSpPr txBox="1"/>
          <p:nvPr/>
        </p:nvSpPr>
        <p:spPr>
          <a:xfrm>
            <a:off x="10716768" y="4425696"/>
            <a:ext cx="109728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15253F"/>
                </a:solidFill>
              </a:rPr>
              <a:t>R$ 2.860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Rect 900"/>
          <p:cNvSpPr/>
          <p:nvPr/>
        </p:nvSpPr>
        <p:spPr>
          <a:xfrm>
            <a:off x="0" y="0"/>
            <a:ext cx="12191695" cy="484632"/>
          </a:xfrm>
          <a:prstGeom prst="rect">
            <a:avLst/>
          </a:prstGeom>
          <a:solidFill>
            <a:srgbClr val="253F8E"/>
          </a:solidFill>
          <a:ln>
            <a:noFill/>
          </a:ln>
        </p:spPr>
      </p:sp>
      <p:pic>
        <p:nvPicPr>
          <p:cNvPr id="901" name="Hapvida"/>
          <p:cNvPicPr>
            <a:picLocks noChangeAspect="1"/>
          </p:cNvPicPr>
          <p:nvPr/>
        </p:nvPicPr>
        <p:blipFill>
          <a:blip r:embed="rIdLogo"/>
          <a:stretch>
            <a:fillRect/>
          </a:stretch>
        </p:blipFill>
        <p:spPr>
          <a:xfrm>
            <a:off x="329184" y="118872"/>
            <a:ext cx="1234440" cy="228600"/>
          </a:xfrm>
          <a:prstGeom prst="rect">
            <a:avLst/>
          </a:prstGeom>
        </p:spPr>
      </p:pic>
      <p:sp>
        <p:nvSpPr>
          <p:cNvPr id="902" name="Text 902"/>
          <p:cNvSpPr txBox="1"/>
          <p:nvPr/>
        </p:nvSpPr>
        <p:spPr>
          <a:xfrm>
            <a:off x="1700784" y="73152"/>
            <a:ext cx="6949440" cy="320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100" b="1">
                <a:solidFill>
                  <a:srgbClr val="FFFFFF"/>
                </a:solidFill>
              </a:rPr>
              <a:t>Critérios da análise</a:t>
            </a:r>
          </a:p>
        </p:txBody>
      </p:sp>
      <p:sp>
        <p:nvSpPr>
          <p:cNvPr id="903" name="Text 903"/>
          <p:cNvSpPr txBox="1"/>
          <p:nvPr/>
        </p:nvSpPr>
        <p:spPr>
          <a:xfrm>
            <a:off x="10936224" y="6473952"/>
            <a:ext cx="64008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r"/>
            <a:r>
              <a:rPr lang="pt-BR" sz="800">
                <a:solidFill>
                  <a:srgbClr val="64748B"/>
                </a:solidFill>
              </a:rPr>
              <a:t>8</a:t>
            </a:r>
          </a:p>
        </p:txBody>
      </p:sp>
      <p:sp>
        <p:nvSpPr>
          <p:cNvPr id="400" name="Text 400"/>
          <p:cNvSpPr txBox="1"/>
          <p:nvPr/>
        </p:nvSpPr>
        <p:spPr>
          <a:xfrm>
            <a:off x="566928" y="749808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2200" b="1">
                <a:solidFill>
                  <a:srgbClr val="15253F"/>
                </a:solidFill>
              </a:rPr>
              <a:t>Critérios e campos utilizados</a:t>
            </a:r>
          </a:p>
        </p:txBody>
      </p:sp>
      <p:sp>
        <p:nvSpPr>
          <p:cNvPr id="401" name="Text 401"/>
          <p:cNvSpPr txBox="1"/>
          <p:nvPr/>
        </p:nvSpPr>
        <p:spPr>
          <a:xfrm>
            <a:off x="841248" y="1463040"/>
            <a:ext cx="10332720" cy="310896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8E0EA"/>
            </a:solidFill>
          </a:ln>
        </p:spPr>
        <p:txBody>
          <a:bodyPr wrap="square" lIns="91440" tIns="45720" rIns="91440" bIns="45720"/>
          <a:lstStyle/>
          <a:p>
            <a:pPr algn="l"/>
            <a:r>
              <a:rPr lang="pt-BR" sz="1700">
                <a:solidFill>
                  <a:srgbClr val="15253F"/>
                </a:solidFill>
              </a:rPr>
              <a:t>• Aba utilizada: Base Geral.</a:t>
            </a:r>
          </a:p>
          <a:p>
            <a:pPr algn="l"/>
            <a:r>
              <a:rPr lang="pt-BR" sz="1700">
                <a:solidFill>
                  <a:srgbClr val="15253F"/>
                </a:solidFill>
              </a:rPr>
              <a:t>• Colunas ocultas ignoradas conforme orientação.</a:t>
            </a:r>
          </a:p>
          <a:p>
            <a:pPr algn="l"/>
            <a:r>
              <a:rPr lang="pt-BR" sz="1700">
                <a:solidFill>
                  <a:srgbClr val="15253F"/>
                </a:solidFill>
              </a:rPr>
              <a:t>• Filtro principal: Status = Concluída e Término Real entre 01/01/2025 e 14/08/2026.</a:t>
            </a:r>
          </a:p>
          <a:p>
            <a:pPr algn="l"/>
            <a:r>
              <a:rPr lang="pt-BR" sz="1700">
                <a:solidFill>
                  <a:srgbClr val="15253F"/>
                </a:solidFill>
              </a:rPr>
              <a:t>• R$/m² calculado de forma ponderada: soma do Valor Negociado (AD) dividida pela soma da Área (m²) (AH).</a:t>
            </a:r>
          </a:p>
          <a:p>
            <a:pPr algn="l"/>
            <a:r>
              <a:rPr lang="pt-BR" sz="1700">
                <a:solidFill>
                  <a:srgbClr val="15253F"/>
                </a:solidFill>
              </a:rPr>
              <a:t>• Cortes principais: Classificação de Obra (N), Tipologia de Obra (O) e Tipo Obra (3) (U).</a:t>
            </a:r>
          </a:p>
        </p:txBody>
      </p:sp>
      <p:sp>
        <p:nvSpPr>
          <p:cNvPr id="402" name="Text 402"/>
          <p:cNvSpPr txBox="1"/>
          <p:nvPr/>
        </p:nvSpPr>
        <p:spPr>
          <a:xfrm>
            <a:off x="841248" y="4983480"/>
            <a:ext cx="10332720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l"/>
            <a:r>
              <a:rPr lang="pt-BR" sz="1400">
                <a:solidFill>
                  <a:srgbClr val="64748B"/>
                </a:solidFill>
              </a:rPr>
              <a:t>Arquivo complementar: dashboard HTML interativo com filtros, curva mensal e tabela detalhada.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ef94a3-6d42-4c9e-8cca-d25e171edf55" xsi:nil="true"/>
    <lcf76f155ced4ddcb4097134ff3c332f xmlns="8c47632e-f6f4-466b-b0d0-588b29b5bf13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743E72E677B5418F65344B8F9625B8" ma:contentTypeVersion="13" ma:contentTypeDescription="Create a new document." ma:contentTypeScope="" ma:versionID="9b7c6091a8065acca16dbd6d886ea45f">
  <xsd:schema xmlns:xsd="http://www.w3.org/2001/XMLSchema" xmlns:xs="http://www.w3.org/2001/XMLSchema" xmlns:p="http://schemas.microsoft.com/office/2006/metadata/properties" xmlns:ns2="8c47632e-f6f4-466b-b0d0-588b29b5bf13" xmlns:ns3="3def94a3-6d42-4c9e-8cca-d25e171edf55" targetNamespace="http://schemas.microsoft.com/office/2006/metadata/properties" ma:root="true" ma:fieldsID="17b4f5635420ce7267ce584baab8090d" ns2:_="" ns3:_="">
    <xsd:import namespace="8c47632e-f6f4-466b-b0d0-588b29b5bf13"/>
    <xsd:import namespace="3def94a3-6d42-4c9e-8cca-d25e171edf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47632e-f6f4-466b-b0d0-588b29b5bf1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db9fa872-9146-4a37-bd18-27b38c3134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ef94a3-6d42-4c9e-8cca-d25e171edf5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03cb831-a9f1-4d46-93c8-45b84de82d74}" ma:internalName="TaxCatchAll" ma:showField="CatchAllData" ma:web="3def94a3-6d42-4c9e-8cca-d25e171edf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53B927B-966A-4570-8174-F4A062D91A44}">
  <ds:schemaRefs>
    <ds:schemaRef ds:uri="http://schemas.microsoft.com/office/2006/metadata/properties"/>
    <ds:schemaRef ds:uri="http://schemas.microsoft.com/office/infopath/2007/PartnerControls"/>
    <ds:schemaRef ds:uri="3def94a3-6d42-4c9e-8cca-d25e171edf55"/>
    <ds:schemaRef ds:uri="8c47632e-f6f4-466b-b0d0-588b29b5bf13"/>
  </ds:schemaRefs>
</ds:datastoreItem>
</file>

<file path=customXml/itemProps2.xml><?xml version="1.0" encoding="utf-8"?>
<ds:datastoreItem xmlns:ds="http://schemas.openxmlformats.org/officeDocument/2006/customXml" ds:itemID="{7F0405F8-7C50-46DE-AAB4-738335D97DFA}"/>
</file>

<file path=customXml/itemProps3.xml><?xml version="1.0" encoding="utf-8"?>
<ds:datastoreItem xmlns:ds="http://schemas.openxmlformats.org/officeDocument/2006/customXml" ds:itemID="{0FFE7723-B2FA-4C0D-A1FF-D7E9F08B0C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435</TotalTime>
  <Words>92</Words>
  <Application>Microsoft Office PowerPoint</Application>
  <PresentationFormat>Widescreen</PresentationFormat>
  <Paragraphs>5</Paragraphs>
  <Slides>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4" baseType="lpstr">
      <vt:lpstr>Tema do Office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Luís Machado</dc:creator>
  <cp:lastModifiedBy>Luís Machado</cp:lastModifiedBy>
  <cp:revision>10</cp:revision>
  <dcterms:created xsi:type="dcterms:W3CDTF">2025-01-29T18:17:09Z</dcterms:created>
  <dcterms:modified xsi:type="dcterms:W3CDTF">2025-02-13T14:06:49Z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0x01010002743E72E677B5418F65344B8F9625B8</vt:lpwstr>
  </property>
  <property fmtid="{D5CDD505-2E9C-101B-9397-08002B2CF9AE}" pid="3" name="MediaServiceImageTags">
    <vt:lpwstr/>
  </property>
</Properties>
</file>