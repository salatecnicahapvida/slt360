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custSel mod modSld modMainMaster">
      <pc:chgData name="THALLES DAVIDY GONDIN DA SILVEIRA" userId="a3416262-0fac-4856-884e-2c0d7e6e898d" providerId="ADAL" clId="{1418AD27-A7E6-4FFD-8E07-7066023A75C3}" dt="2026-08-17T13:04:01.447" v="107" actId="255"/>
      <pc:docMkLst>
        <pc:docMk/>
      </pc:docMkLst>
      <pc:sldChg chg="delSp modSp mod">
        <pc:chgData name="THALLES DAVIDY GONDIN DA SILVEIRA" userId="a3416262-0fac-4856-884e-2c0d7e6e898d" providerId="ADAL" clId="{1418AD27-A7E6-4FFD-8E07-7066023A75C3}" dt="2026-08-17T13:02:52.279" v="76" actId="255"/>
        <pc:sldMkLst>
          <pc:docMk/>
          <pc:sldMk cId="0" sldId="256"/>
        </pc:sldMkLst>
        <pc:spChg chg="del">
          <ac:chgData name="THALLES DAVIDY GONDIN DA SILVEIRA" userId="a3416262-0fac-4856-884e-2c0d7e6e898d" providerId="ADAL" clId="{1418AD27-A7E6-4FFD-8E07-7066023A75C3}" dt="2026-08-17T12:54:19.945" v="21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6.474" v="15" actId="25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2:29.216" v="75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59.450" v="17" actId="255"/>
          <ac:spMkLst>
            <pc:docMk/>
            <pc:sldMk cId="0" sldId="256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2:13.073" v="73" actId="20577"/>
          <ac:spMkLst>
            <pc:docMk/>
            <pc:sldMk cId="0" sldId="256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4:18.150" v="20" actId="478"/>
          <ac:spMkLst>
            <pc:docMk/>
            <pc:sldMk cId="0" sldId="256"/>
            <ac:spMk id="4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4:16.448" v="19" actId="478"/>
          <ac:spMkLst>
            <pc:docMk/>
            <pc:sldMk cId="0" sldId="256"/>
            <ac:spMk id="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3:40.484" v="14" actId="255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18.980" v="27" actId="20577"/>
          <ac:spMkLst>
            <pc:docMk/>
            <pc:sldMk cId="0" sldId="256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36.710" v="34" actId="20577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0.580" v="68" actId="255"/>
          <ac:spMkLst>
            <pc:docMk/>
            <pc:sldMk cId="0" sldId="256"/>
            <ac:spMk id="3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0.580" v="68" actId="255"/>
          <ac:spMkLst>
            <pc:docMk/>
            <pc:sldMk cId="0" sldId="256"/>
            <ac:spMk id="3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0.580" v="68" actId="255"/>
          <ac:spMkLst>
            <pc:docMk/>
            <pc:sldMk cId="0" sldId="256"/>
            <ac:spMk id="3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8.981" v="69" actId="14100"/>
          <ac:spMkLst>
            <pc:docMk/>
            <pc:sldMk cId="0" sldId="256"/>
            <ac:spMk id="3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0.580" v="68" actId="255"/>
          <ac:spMkLst>
            <pc:docMk/>
            <pc:sldMk cId="0" sldId="256"/>
            <ac:spMk id="3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40.580" v="68" actId="255"/>
          <ac:spMkLst>
            <pc:docMk/>
            <pc:sldMk cId="0" sldId="256"/>
            <ac:spMk id="3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51.084" v="70" actId="14100"/>
          <ac:spMkLst>
            <pc:docMk/>
            <pc:sldMk cId="0" sldId="256"/>
            <ac:spMk id="3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2:52.279" v="76" actId="255"/>
          <ac:spMkLst>
            <pc:docMk/>
            <pc:sldMk cId="0" sldId="256"/>
            <ac:spMk id="902" creationId="{00000000-0000-0000-0000-000000000000}"/>
          </ac:spMkLst>
        </pc:spChg>
      </pc:sldChg>
      <pc:sldChg chg="delSp modSp mod">
        <pc:chgData name="THALLES DAVIDY GONDIN DA SILVEIRA" userId="a3416262-0fac-4856-884e-2c0d7e6e898d" providerId="ADAL" clId="{1418AD27-A7E6-4FFD-8E07-7066023A75C3}" dt="2026-08-17T13:03:13.283" v="80" actId="20577"/>
        <pc:sldMkLst>
          <pc:docMk/>
          <pc:sldMk cId="0" sldId="257"/>
        </pc:sldMkLst>
        <pc:spChg chg="mod">
          <ac:chgData name="THALLES DAVIDY GONDIN DA SILVEIRA" userId="a3416262-0fac-4856-884e-2c0d7e6e898d" providerId="ADAL" clId="{1418AD27-A7E6-4FFD-8E07-7066023A75C3}" dt="2026-08-17T12:53:08.378" v="2" actId="20577"/>
          <ac:spMkLst>
            <pc:docMk/>
            <pc:sldMk cId="0" sldId="257"/>
            <ac:spMk id="1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6:55.540" v="38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5:09.961" v="22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5:16.921" v="23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5:26.168" v="24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00.069" v="39" actId="255"/>
          <ac:spMkLst>
            <pc:docMk/>
            <pc:sldMk cId="0" sldId="257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6:53.543" v="37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6:52.070" v="36" actId="478"/>
          <ac:spMkLst>
            <pc:docMk/>
            <pc:sldMk cId="0" sldId="257"/>
            <ac:spMk id="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7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6:48.262" v="35" actId="255"/>
          <ac:spMkLst>
            <pc:docMk/>
            <pc:sldMk cId="0" sldId="257"/>
            <ac:spMk id="1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3:13.283" v="80" actId="20577"/>
          <ac:spMkLst>
            <pc:docMk/>
            <pc:sldMk cId="0" sldId="257"/>
            <ac:spMk id="902" creationId="{00000000-0000-0000-0000-000000000000}"/>
          </ac:spMkLst>
        </pc:spChg>
      </pc:sldChg>
      <pc:sldChg chg="delSp modSp mod">
        <pc:chgData name="THALLES DAVIDY GONDIN DA SILVEIRA" userId="a3416262-0fac-4856-884e-2c0d7e6e898d" providerId="ADAL" clId="{1418AD27-A7E6-4FFD-8E07-7066023A75C3}" dt="2026-08-17T13:03:36.182" v="106" actId="255"/>
        <pc:sldMkLst>
          <pc:docMk/>
          <pc:sldMk cId="0" sldId="258"/>
        </pc:sldMkLst>
        <pc:spChg chg="mod">
          <ac:chgData name="THALLES DAVIDY GONDIN DA SILVEIRA" userId="a3416262-0fac-4856-884e-2c0d7e6e898d" providerId="ADAL" clId="{1418AD27-A7E6-4FFD-8E07-7066023A75C3}" dt="2026-08-17T12:53:17.864" v="13" actId="2057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8:24.916" v="46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52.566" v="42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04.724" v="43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11.748" v="44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19.187" v="45" actId="255"/>
          <ac:spMkLst>
            <pc:docMk/>
            <pc:sldMk cId="0" sldId="258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7:46.391" v="41" actId="478"/>
          <ac:spMkLst>
            <pc:docMk/>
            <pc:sldMk cId="0" sldId="258"/>
            <ac:spMk id="4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7:46.391" v="41" actId="478"/>
          <ac:spMkLst>
            <pc:docMk/>
            <pc:sldMk cId="0" sldId="258"/>
            <ac:spMk id="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7:14.677" v="40" actId="255"/>
          <ac:spMkLst>
            <pc:docMk/>
            <pc:sldMk cId="0" sldId="258"/>
            <ac:spMk id="18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7.911" v="56" actId="14100"/>
          <ac:spMkLst>
            <pc:docMk/>
            <pc:sldMk cId="0" sldId="258"/>
            <ac:spMk id="3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50.653" v="57" actId="14100"/>
          <ac:spMkLst>
            <pc:docMk/>
            <pc:sldMk cId="0" sldId="258"/>
            <ac:spMk id="3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52.660" v="58" actId="14100"/>
          <ac:spMkLst>
            <pc:docMk/>
            <pc:sldMk cId="0" sldId="258"/>
            <ac:spMk id="3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56.020" v="59" actId="14100"/>
          <ac:spMkLst>
            <pc:docMk/>
            <pc:sldMk cId="0" sldId="258"/>
            <ac:spMk id="3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43.723" v="55" actId="255"/>
          <ac:spMkLst>
            <pc:docMk/>
            <pc:sldMk cId="0" sldId="258"/>
            <ac:spMk id="3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57.989" v="60" actId="14100"/>
          <ac:spMkLst>
            <pc:docMk/>
            <pc:sldMk cId="0" sldId="258"/>
            <ac:spMk id="3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3:36.182" v="106" actId="255"/>
          <ac:spMkLst>
            <pc:docMk/>
            <pc:sldMk cId="0" sldId="258"/>
            <ac:spMk id="902" creationId="{00000000-0000-0000-0000-000000000000}"/>
          </ac:spMkLst>
        </pc:spChg>
      </pc:sldChg>
      <pc:sldChg chg="delSp modSp mod">
        <pc:chgData name="THALLES DAVIDY GONDIN DA SILVEIRA" userId="a3416262-0fac-4856-884e-2c0d7e6e898d" providerId="ADAL" clId="{1418AD27-A7E6-4FFD-8E07-7066023A75C3}" dt="2026-08-17T13:04:01.447" v="107" actId="255"/>
        <pc:sldMkLst>
          <pc:docMk/>
          <pc:sldMk cId="0" sldId="259"/>
        </pc:sldMkLst>
        <pc:spChg chg="del">
          <ac:chgData name="THALLES DAVIDY GONDIN DA SILVEIRA" userId="a3416262-0fac-4856-884e-2c0d7e6e898d" providerId="ADAL" clId="{1418AD27-A7E6-4FFD-8E07-7066023A75C3}" dt="2026-08-17T12:58:52.436" v="50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9:58.195" v="51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02.899" v="52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09.027" v="53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0:14.981" v="54" actId="255"/>
          <ac:spMkLst>
            <pc:docMk/>
            <pc:sldMk cId="0" sldId="259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8:50.647" v="49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2:58:49.028" v="48" actId="478"/>
          <ac:spMkLst>
            <pc:docMk/>
            <pc:sldMk cId="0" sldId="259"/>
            <ac:spMk id="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0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4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5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2:58:44.839" v="47" actId="255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5.861" v="62" actId="14100"/>
          <ac:spMkLst>
            <pc:docMk/>
            <pc:sldMk cId="0" sldId="259"/>
            <ac:spMk id="3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7.572" v="63" actId="14100"/>
          <ac:spMkLst>
            <pc:docMk/>
            <pc:sldMk cId="0" sldId="259"/>
            <ac:spMk id="3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9.354" v="64" actId="14100"/>
          <ac:spMkLst>
            <pc:docMk/>
            <pc:sldMk cId="0" sldId="259"/>
            <ac:spMk id="3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12.105" v="61" actId="255"/>
          <ac:spMkLst>
            <pc:docMk/>
            <pc:sldMk cId="0" sldId="259"/>
            <ac:spMk id="3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21.413" v="65" actId="14100"/>
          <ac:spMkLst>
            <pc:docMk/>
            <pc:sldMk cId="0" sldId="259"/>
            <ac:spMk id="3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1:28.116" v="67" actId="255"/>
          <ac:spMkLst>
            <pc:docMk/>
            <pc:sldMk cId="0" sldId="259"/>
            <ac:spMk id="3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3:04:01.447" v="107" actId="255"/>
          <ac:spMkLst>
            <pc:docMk/>
            <pc:sldMk cId="0" sldId="259"/>
            <ac:spMk id="902" creationId="{00000000-0000-0000-0000-000000000000}"/>
          </ac:spMkLst>
        </pc:spChg>
      </pc:sldChg>
      <pc:sldMasterChg chg="addSp mod">
        <pc:chgData name="THALLES DAVIDY GONDIN DA SILVEIRA" userId="a3416262-0fac-4856-884e-2c0d7e6e898d" providerId="ADAL" clId="{1418AD27-A7E6-4FFD-8E07-7066023A75C3}" dt="2026-08-17T12:52:11.369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2:52:11.369" v="0" actId="33475"/>
          <ac:spMkLst>
            <pc:docMk/>
            <pc:sldMasterMk cId="2640674209" sldId="2147483648"/>
            <ac:spMk id="9" creationId="{A63F7F11-4628-73F1-E101-61E61A53EE52}"/>
          </ac:spMkLst>
        </pc:spChg>
        <pc:spChg chg="add">
          <ac:chgData name="THALLES DAVIDY GONDIN DA SILVEIRA" userId="a3416262-0fac-4856-884e-2c0d7e6e898d" providerId="ADAL" clId="{1418AD27-A7E6-4FFD-8E07-7066023A75C3}" dt="2026-08-17T12:52:11.369" v="0" actId="33475"/>
          <ac:spMkLst>
            <pc:docMk/>
            <pc:sldMasterMk cId="2640674209" sldId="2147483648"/>
            <ac:spMk id="10" creationId="{BAF98DAD-1022-0AAF-A996-1A86F67421B7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3F7F11-4628-73F1-E101-61E61A53EE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F98DAD-1022-0AAF-A996-1A86F67421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30352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03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escopo da categoria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587752" y="1225296"/>
            <a:ext cx="18745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 </a:t>
            </a:r>
            <a:r>
              <a:rPr lang="pt-BR" sz="1000" b="1" dirty="0" err="1">
                <a:solidFill>
                  <a:srgbClr val="FFFFFF"/>
                </a:solidFill>
              </a:rPr>
              <a:t>construida</a:t>
            </a:r>
            <a:endParaRPr lang="pt-BR" sz="1000" b="1" dirty="0">
              <a:solidFill>
                <a:srgbClr val="FFFFFF"/>
              </a:solidFill>
            </a:endParaRP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30,7 mil m2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da </a:t>
            </a:r>
            <a:r>
              <a:rPr lang="pt-BR" sz="1000" b="1" dirty="0" err="1">
                <a:solidFill>
                  <a:srgbClr val="FFFFFF"/>
                </a:solidFill>
              </a:rPr>
              <a:t>area</a:t>
            </a:r>
            <a:endParaRPr lang="pt-BR" sz="1000" b="1" dirty="0">
              <a:solidFill>
                <a:srgbClr val="FFFFFF"/>
              </a:solidFill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645152" y="1225296"/>
            <a:ext cx="18745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R$ 66,8 mi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negociada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025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Custo por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R$ 2.737/m2</a:t>
            </a:r>
          </a:p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 ponderado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66928" y="2267712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200" b="1">
                <a:solidFill>
                  <a:srgbClr val="253F8E"/>
                </a:solidFill>
              </a:rPr>
              <a:t>Listagem executiva das obras por valor negociado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578608"/>
            <a:ext cx="376732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334256" y="2578608"/>
            <a:ext cx="420624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754880" y="2578608"/>
            <a:ext cx="93268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687568" y="2578608"/>
            <a:ext cx="987552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675120" y="2578608"/>
            <a:ext cx="84124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16368" y="2578608"/>
            <a:ext cx="74980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66928" y="283921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334256" y="283921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754880" y="283921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687568" y="283921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R$ 23,2 mi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675120" y="283921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10,4 mil m2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516368" y="283921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R$ 2.524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66928" y="309981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334256" y="309981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4754880" y="309981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87568" y="309981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675120" y="309981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13,0 mil m2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516368" y="309981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R$ 1.959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66928" y="336042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4334256" y="336042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4754880" y="336042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87568" y="336042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R$ 14,5 mi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675120" y="336042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5,1 mil m2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7516368" y="336042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R$ 3.441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66928" y="3621024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4334256" y="3621024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4754880" y="3621024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687568" y="3621024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 dirty="0">
                <a:solidFill>
                  <a:srgbClr val="15253F"/>
                </a:solidFill>
              </a:rPr>
              <a:t>R$ 6,5 mi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675120" y="3621024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 dirty="0">
                <a:solidFill>
                  <a:srgbClr val="15253F"/>
                </a:solidFill>
              </a:rPr>
              <a:t>2,2 mil m2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7516368" y="3621024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 dirty="0">
                <a:solidFill>
                  <a:srgbClr val="15253F"/>
                </a:solidFill>
              </a:rPr>
              <a:t>R$ 2.290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8942832" y="2816352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37021"/>
                </a:solidFill>
              </a:rPr>
              <a:t>Top UFs por valor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8942832" y="3182112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311" name="Rect 311"/>
          <p:cNvSpPr/>
          <p:nvPr/>
        </p:nvSpPr>
        <p:spPr>
          <a:xfrm>
            <a:off x="9948672" y="3255264"/>
            <a:ext cx="1042416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2" name="Text 312"/>
          <p:cNvSpPr txBox="1"/>
          <p:nvPr/>
        </p:nvSpPr>
        <p:spPr>
          <a:xfrm>
            <a:off x="11100816" y="3182112"/>
            <a:ext cx="854750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R$ 52,4 mi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8942832" y="3566160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314" name="Rect 314"/>
          <p:cNvSpPr/>
          <p:nvPr/>
        </p:nvSpPr>
        <p:spPr>
          <a:xfrm>
            <a:off x="9948672" y="3639312"/>
            <a:ext cx="288190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5" name="Text 315"/>
          <p:cNvSpPr txBox="1"/>
          <p:nvPr/>
        </p:nvSpPr>
        <p:spPr>
          <a:xfrm>
            <a:off x="11100815" y="3566160"/>
            <a:ext cx="854749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R$ 14,5 mi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8942832" y="5321808"/>
            <a:ext cx="2697480" cy="56692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900">
                <a:solidFill>
                  <a:srgbClr val="50617F"/>
                </a:solidFill>
              </a:rPr>
              <a:t>Base: 4 obras | 29,7 mil m2 | R$ 66,8 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30352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03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35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escopo da categoria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587752" y="1225296"/>
            <a:ext cx="18745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 </a:t>
            </a:r>
            <a:r>
              <a:rPr lang="pt-BR" sz="1000" b="1" dirty="0" err="1">
                <a:solidFill>
                  <a:srgbClr val="FFFFFF"/>
                </a:solidFill>
              </a:rPr>
              <a:t>construida</a:t>
            </a:r>
            <a:endParaRPr lang="pt-BR" sz="1000" b="1" dirty="0">
              <a:solidFill>
                <a:srgbClr val="FFFFFF"/>
              </a:solidFill>
            </a:endParaRP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44,0 mil m2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da </a:t>
            </a:r>
            <a:r>
              <a:rPr lang="pt-BR" sz="1000" b="1" dirty="0" err="1">
                <a:solidFill>
                  <a:srgbClr val="FFFFFF"/>
                </a:solidFill>
              </a:rPr>
              <a:t>area</a:t>
            </a:r>
            <a:endParaRPr lang="pt-BR" sz="1000" b="1" dirty="0">
              <a:solidFill>
                <a:srgbClr val="FFFFFF"/>
              </a:solidFill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645152" y="1225296"/>
            <a:ext cx="18745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R$ 118,2 mi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negociada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025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Custo por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R$ 2.744/m2</a:t>
            </a:r>
          </a:p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 ponderado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66928" y="2267712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200" b="1">
                <a:solidFill>
                  <a:srgbClr val="253F8E"/>
                </a:solidFill>
              </a:rPr>
              <a:t>Listagem executiva das obras por valor negociado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578608"/>
            <a:ext cx="376732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334256" y="2578608"/>
            <a:ext cx="420624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754880" y="2578608"/>
            <a:ext cx="93268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687568" y="2578608"/>
            <a:ext cx="987552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675120" y="2578608"/>
            <a:ext cx="84124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16368" y="2578608"/>
            <a:ext cx="74980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66928" y="283921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334256" y="283921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754880" y="283921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687568" y="283921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R$ 21,9 mi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675120" y="283921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5,5 mil m2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516368" y="283921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R$ 3.996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66928" y="309981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2013.HC Santa Efigênia (Contorno) - 2ª fase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334256" y="309981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4754880" y="309981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87568" y="309981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R$ 14,7 mi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675120" y="309981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516368" y="309981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R$ 3.995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66928" y="336042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9040.Novo PA Venda Nova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4334256" y="336042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4754880" y="336042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87568" y="336042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R$ 11,0 mi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675120" y="336042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7516368" y="336042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R$ 3.953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66928" y="3621024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0000.Pronto Atendimento Penha (RJ)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4334256" y="3621024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4754880" y="3621024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687568" y="3621024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675120" y="3621024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7516368" y="3621024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R$ 3.062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3881628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0000.Novo NTE 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334256" y="3881628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754880" y="3881628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687568" y="3881628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675120" y="3881628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7516368" y="3881628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R$ 3.078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4142232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4025.Hemodiálise HS Recife (Ponte Verde)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334256" y="4142232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754880" y="4142232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687568" y="4142232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R$ 6,1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675120" y="4142232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16368" y="4142232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R$ 2.733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4402836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9929.Transferência Notrelife/Clínica Guarulhos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334256" y="4402836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754880" y="4402836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687568" y="4402836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R$ 4,9 mi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675120" y="4402836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3,6 mil m2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16368" y="4402836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R$ 1.379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566928" y="4663440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0000.Nova Clínica da Criança e Mulher Fortaleza Fase 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4334256" y="4663440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754880" y="4663440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87568" y="4663440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675120" y="4663440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516368" y="4663440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R$ 2.158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66928" y="4924044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0000.Nova Clínica da Criança e Mulher Fortaleza Fase 1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4334256" y="4924044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4754880" y="4924044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87568" y="4924044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675120" y="4924044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7516368" y="4924044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R$ 2.151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66928" y="5184648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0000.Transferência da Clínica Bauru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4334256" y="5184648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4754880" y="5184648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87568" y="5184648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6675120" y="5184648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7516368" y="5184648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R$ 2.514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66928" y="544525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1397.Substituição HC Pituba 2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4334256" y="544525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4754880" y="544525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5687568" y="544525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R$ 3,1 mi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675120" y="544525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1,6 mil m2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7516368" y="544525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R$ 1.950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566928" y="570585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4196.Nova Clínica e Fisioterapia Horto Florestal Salvador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334256" y="570585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4754880" y="570585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5687568" y="570585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6675120" y="570585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1,8 mil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7516368" y="570585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R$ 1.946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96646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Demais obras (23)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334256" y="596646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754880" y="596646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Consolidado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687568" y="596646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R$ 27,9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675120" y="596646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12,9 mil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16368" y="596646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R$ 2.205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8942832" y="2816352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37021"/>
                </a:solidFill>
              </a:rPr>
              <a:t>Top UFs por valor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8942832" y="3182112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311" name="Rect 311"/>
          <p:cNvSpPr/>
          <p:nvPr/>
        </p:nvSpPr>
        <p:spPr>
          <a:xfrm>
            <a:off x="9948672" y="3255264"/>
            <a:ext cx="1042416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Text 312"/>
          <p:cNvSpPr txBox="1"/>
          <p:nvPr/>
        </p:nvSpPr>
        <p:spPr>
          <a:xfrm>
            <a:off x="11100816" y="3182112"/>
            <a:ext cx="58521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50617F"/>
                </a:solidFill>
              </a:rPr>
              <a:t>R$ 47,6 mi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8942832" y="3566160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314" name="Rect 314"/>
          <p:cNvSpPr/>
          <p:nvPr/>
        </p:nvSpPr>
        <p:spPr>
          <a:xfrm>
            <a:off x="9948672" y="3639312"/>
            <a:ext cx="571708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Text 315"/>
          <p:cNvSpPr txBox="1"/>
          <p:nvPr/>
        </p:nvSpPr>
        <p:spPr>
          <a:xfrm>
            <a:off x="11100816" y="3566160"/>
            <a:ext cx="58521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50617F"/>
                </a:solidFill>
              </a:rPr>
              <a:t>R$ 26,1 mi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8942832" y="3950208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317" name="Rect 317"/>
          <p:cNvSpPr/>
          <p:nvPr/>
        </p:nvSpPr>
        <p:spPr>
          <a:xfrm>
            <a:off x="9948672" y="4023360"/>
            <a:ext cx="221778" cy="12801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Text 318"/>
          <p:cNvSpPr txBox="1"/>
          <p:nvPr/>
        </p:nvSpPr>
        <p:spPr>
          <a:xfrm>
            <a:off x="11100816" y="3950208"/>
            <a:ext cx="58521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50617F"/>
                </a:solidFill>
              </a:rPr>
              <a:t>R$ 10,1 mi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942832" y="4334256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320" name="Rect 320"/>
          <p:cNvSpPr/>
          <p:nvPr/>
        </p:nvSpPr>
        <p:spPr>
          <a:xfrm>
            <a:off x="9948672" y="4407408"/>
            <a:ext cx="211455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Text 321"/>
          <p:cNvSpPr txBox="1"/>
          <p:nvPr/>
        </p:nvSpPr>
        <p:spPr>
          <a:xfrm>
            <a:off x="11100816" y="4334256"/>
            <a:ext cx="58521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50617F"/>
                </a:solidFill>
              </a:rPr>
              <a:t>R$ 9,7 mi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8942832" y="4718304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323" name="Rect 323"/>
          <p:cNvSpPr/>
          <p:nvPr/>
        </p:nvSpPr>
        <p:spPr>
          <a:xfrm>
            <a:off x="9948672" y="4791456"/>
            <a:ext cx="134635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Text 324"/>
          <p:cNvSpPr txBox="1"/>
          <p:nvPr/>
        </p:nvSpPr>
        <p:spPr>
          <a:xfrm>
            <a:off x="11100816" y="4718304"/>
            <a:ext cx="58521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50617F"/>
                </a:solidFill>
              </a:rPr>
              <a:t>R$ 6,1 mi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8942832" y="5321808"/>
            <a:ext cx="2697480" cy="56692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900">
                <a:solidFill>
                  <a:srgbClr val="50617F"/>
                </a:solidFill>
              </a:rPr>
              <a:t>Base: 35 obras | 44,0 mil m2 | R$ 118,2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Clínicas e Diagnósticos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30352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Clínicas e Diagnósticos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03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21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escopo da categoria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587752" y="1225296"/>
            <a:ext cx="18745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 </a:t>
            </a:r>
            <a:r>
              <a:rPr lang="pt-BR" sz="1000" b="1" dirty="0" err="1">
                <a:solidFill>
                  <a:srgbClr val="FFFFFF"/>
                </a:solidFill>
              </a:rPr>
              <a:t>construida</a:t>
            </a:r>
            <a:endParaRPr lang="pt-BR" sz="1000" b="1" dirty="0">
              <a:solidFill>
                <a:srgbClr val="FFFFFF"/>
              </a:solidFill>
            </a:endParaRP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6,2 mil m2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da </a:t>
            </a:r>
            <a:r>
              <a:rPr lang="pt-BR" sz="1000" b="1" dirty="0" err="1">
                <a:solidFill>
                  <a:srgbClr val="FFFFFF"/>
                </a:solidFill>
              </a:rPr>
              <a:t>area</a:t>
            </a:r>
            <a:endParaRPr lang="pt-BR" sz="1000" b="1" dirty="0">
              <a:solidFill>
                <a:srgbClr val="FFFFFF"/>
              </a:solidFill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645152" y="1225296"/>
            <a:ext cx="18745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R$ 19,8 mi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negociada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025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Custo por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R$ 3.245/m2</a:t>
            </a:r>
          </a:p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 ponderado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66928" y="2267712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200" b="1">
                <a:solidFill>
                  <a:srgbClr val="253F8E"/>
                </a:solidFill>
              </a:rPr>
              <a:t>Listagem executiva das obras por valor negociado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578608"/>
            <a:ext cx="376732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334256" y="2578608"/>
            <a:ext cx="420624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754880" y="2578608"/>
            <a:ext cx="93268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687568" y="2578608"/>
            <a:ext cx="987552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675120" y="2578608"/>
            <a:ext cx="84124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16368" y="2578608"/>
            <a:ext cx="74980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66928" y="283921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334256" y="283921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754880" y="283921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687568" y="283921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R$ 13,7 mi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675120" y="283921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4,9 mil m2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516368" y="283921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R$ 2.824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66928" y="309981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9082.SADT HS Santana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334256" y="309981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4754880" y="309981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87568" y="309981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675120" y="309981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496 m2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516368" y="309981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R$ 7.850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66928" y="336042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0000.Transferência Hemodinâmica Limeira p/ Sta. Maria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4334256" y="336042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4754880" y="336042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87568" y="336042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R$ 695,9 mil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675120" y="336042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160 m2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7516368" y="336042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R$ 4.554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66928" y="3621024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3955.Nova Tomografia Ghelfond Guarulhos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4334256" y="3621024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4754880" y="3621024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687568" y="3621024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R$ 260,6 mil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675120" y="3621024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54 m2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7516368" y="3621024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R$ 5.031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3881628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0000.Substituição Tomógrafo HS Jardim América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334256" y="3881628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754880" y="3881628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687568" y="3881628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R$ 188,6 mil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675120" y="3881628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29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7516368" y="3881628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R$ 6.404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4142232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4352.Substituição Raio-X HC São Gerardo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334256" y="4142232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754880" y="4142232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687568" y="4142232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R$ 170,4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675120" y="4142232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70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16368" y="4142232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R$ 2.434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4402836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4351.Substituição Raio-X PA Ananindeua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334256" y="4402836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754880" y="4402836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687568" y="4402836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R$ 107,5 mil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675120" y="4402836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32 m2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16368" y="4402836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R$ 3.359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566928" y="4663440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4346.Substituição Raio-X HC Parangaba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4334256" y="4663440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754880" y="4663440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87568" y="4663440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R$ 97,3 mil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675120" y="4663440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85 m2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516368" y="4663440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R$ 1.145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66928" y="4924044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0000.Novo mamógrafo Clínica Lia Varela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4334256" y="4924044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4754880" y="4924044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87568" y="4924044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R$ 90,8 mil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675120" y="4924044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67 m2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7516368" y="4924044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R$ 1.491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66928" y="5184648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0000.Substituição Mamógrafo Clínica Oldemburgo Paranhos (...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4334256" y="5184648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AL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4754880" y="5184648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87568" y="5184648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R$ 89,2 mil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6675120" y="5184648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19 m2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7516368" y="5184648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R$ 4.646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66928" y="544525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4350.Substituição Raio-X HS Guarás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4334256" y="544525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4754880" y="544525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5687568" y="544525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R$ 78,1 mil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675120" y="544525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22 m2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7516368" y="544525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R$ 3.551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566928" y="570585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4343.Substituição Raio-X HS Lins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334256" y="570585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4754880" y="570585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5687568" y="570585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R$ 77,6 mil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6675120" y="570585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36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7516368" y="570585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R$ 2.156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96646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Demais obras (9)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334256" y="596646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754880" y="596646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Consolidado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687568" y="596646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R$ 450,0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675120" y="596646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224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16368" y="596646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R$ 2.056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8942832" y="2816352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37021"/>
                </a:solidFill>
              </a:rPr>
              <a:t>Top UFs por valor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8942832" y="3182112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311" name="Rect 311"/>
          <p:cNvSpPr/>
          <p:nvPr/>
        </p:nvSpPr>
        <p:spPr>
          <a:xfrm>
            <a:off x="9948672" y="3255264"/>
            <a:ext cx="1042416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2" name="Text 312"/>
          <p:cNvSpPr txBox="1"/>
          <p:nvPr/>
        </p:nvSpPr>
        <p:spPr>
          <a:xfrm>
            <a:off x="11100815" y="3182112"/>
            <a:ext cx="749807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50617F"/>
                </a:solidFill>
              </a:rPr>
              <a:t>R$ 17,8 mi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8942832" y="3566160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314" name="Rect 314"/>
          <p:cNvSpPr/>
          <p:nvPr/>
        </p:nvSpPr>
        <p:spPr>
          <a:xfrm>
            <a:off x="9948672" y="3639312"/>
            <a:ext cx="73152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5" name="Text 315"/>
          <p:cNvSpPr txBox="1"/>
          <p:nvPr/>
        </p:nvSpPr>
        <p:spPr>
          <a:xfrm>
            <a:off x="11100816" y="3566160"/>
            <a:ext cx="854750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R$ 1,1 mi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8942832" y="3950208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317" name="Rect 317"/>
          <p:cNvSpPr/>
          <p:nvPr/>
        </p:nvSpPr>
        <p:spPr>
          <a:xfrm>
            <a:off x="9948672" y="4023360"/>
            <a:ext cx="73152" cy="12801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8" name="Text 318"/>
          <p:cNvSpPr txBox="1"/>
          <p:nvPr/>
        </p:nvSpPr>
        <p:spPr>
          <a:xfrm>
            <a:off x="11100815" y="3950208"/>
            <a:ext cx="837659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R$ 188,6 mil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942832" y="4334256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320" name="Rect 320"/>
          <p:cNvSpPr/>
          <p:nvPr/>
        </p:nvSpPr>
        <p:spPr>
          <a:xfrm>
            <a:off x="9948672" y="4407408"/>
            <a:ext cx="73152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21" name="Text 321"/>
          <p:cNvSpPr txBox="1"/>
          <p:nvPr/>
        </p:nvSpPr>
        <p:spPr>
          <a:xfrm>
            <a:off x="11100816" y="4334256"/>
            <a:ext cx="854750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R$ 174,0 mil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8942832" y="4718304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323" name="Rect 323"/>
          <p:cNvSpPr/>
          <p:nvPr/>
        </p:nvSpPr>
        <p:spPr>
          <a:xfrm>
            <a:off x="9948672" y="4791456"/>
            <a:ext cx="73152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24" name="Text 324"/>
          <p:cNvSpPr txBox="1"/>
          <p:nvPr/>
        </p:nvSpPr>
        <p:spPr>
          <a:xfrm>
            <a:off x="11100815" y="4718304"/>
            <a:ext cx="837659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R$ 168,9 mil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8942832" y="5321808"/>
            <a:ext cx="2697480" cy="56692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900">
                <a:solidFill>
                  <a:srgbClr val="50617F"/>
                </a:solidFill>
              </a:rPr>
              <a:t>Base: 21 obras | 6,2 mil m2 | R$ 19,8 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 err="1">
                <a:solidFill>
                  <a:srgbClr val="FFFFFF"/>
                </a:solidFill>
              </a:rPr>
              <a:t>TEAs</a:t>
            </a:r>
            <a:r>
              <a:rPr lang="pt-BR" b="1" dirty="0">
                <a:solidFill>
                  <a:srgbClr val="FFFFFF"/>
                </a:solidFill>
              </a:rPr>
              <a:t>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30352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TEAs e Laboratórios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03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55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escopo da categoria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587752" y="1225296"/>
            <a:ext cx="18745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 </a:t>
            </a:r>
            <a:r>
              <a:rPr lang="pt-BR" sz="1000" b="1" dirty="0" err="1">
                <a:solidFill>
                  <a:srgbClr val="FFFFFF"/>
                </a:solidFill>
              </a:rPr>
              <a:t>construida</a:t>
            </a:r>
            <a:endParaRPr lang="pt-BR" sz="1000" b="1" dirty="0">
              <a:solidFill>
                <a:srgbClr val="FFFFFF"/>
              </a:solidFill>
            </a:endParaRP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39,3 mil m2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da </a:t>
            </a:r>
            <a:r>
              <a:rPr lang="pt-BR" sz="1000" b="1" dirty="0" err="1">
                <a:solidFill>
                  <a:srgbClr val="FFFFFF"/>
                </a:solidFill>
              </a:rPr>
              <a:t>area</a:t>
            </a:r>
            <a:endParaRPr lang="pt-BR" sz="1000" b="1" dirty="0">
              <a:solidFill>
                <a:srgbClr val="FFFFFF"/>
              </a:solidFill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645152" y="1225296"/>
            <a:ext cx="18745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R$ 75,8 mi</a:t>
            </a:r>
          </a:p>
          <a:p>
            <a:pPr algn="l"/>
            <a:r>
              <a:rPr lang="pt-BR" sz="1000" b="1" dirty="0">
                <a:solidFill>
                  <a:srgbClr val="FFFFFF"/>
                </a:solidFill>
              </a:rPr>
              <a:t>soma negociada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02552" y="1225296"/>
            <a:ext cx="1874520" cy="69494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Custo por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R$ 1.973/m2</a:t>
            </a:r>
          </a:p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 ponderado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66928" y="2267712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200" b="1">
                <a:solidFill>
                  <a:srgbClr val="253F8E"/>
                </a:solidFill>
              </a:rPr>
              <a:t>Listagem executiva das obras por valor negociado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578608"/>
            <a:ext cx="376732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334256" y="2578608"/>
            <a:ext cx="420624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754880" y="2578608"/>
            <a:ext cx="93268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687568" y="2578608"/>
            <a:ext cx="987552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675120" y="2578608"/>
            <a:ext cx="84124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16368" y="2578608"/>
            <a:ext cx="749808" cy="260604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66928" y="283921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4129.Clínica/Lab/Ima Zona Sul 1 e 2 Adolfo Pinheiro (SP)...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334256" y="283921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754880" y="283921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687568" y="283921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R$ 8,2 mi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675120" y="283921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3,3 mil m2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516368" y="283921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R$ 2.588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66928" y="309981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334256" y="309981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4754880" y="309981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87568" y="309981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R$ 5,8 mi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675120" y="309981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516368" y="309981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R$ 1.968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66928" y="336042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4334256" y="336042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4754880" y="336042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87568" y="336042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R$ 5,0 mi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675120" y="336042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7516368" y="336042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R$ 1.708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66928" y="3621024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4127.Clínica/Lab/Ima Zona Norte Henrique Mazzei Tucuruvi...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4334256" y="3621024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4754880" y="3621024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687568" y="3621024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R$ 4,3 mi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675120" y="3621024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2,6 mil m2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7516368" y="3621024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R$ 1.694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3881628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0000.Lab/Ima Zona Leste 2 Ermelino Matarazzo (SP)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334256" y="3881628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754880" y="3881628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687568" y="3881628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675120" y="3881628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936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7516368" y="3881628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R$ 3.404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4142232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4195.Nova Clínica e Coleta Campinas (Bosque Maia)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334256" y="4142232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754880" y="4142232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687568" y="4142232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675120" y="4142232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16368" y="4142232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4402836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4091.Novo TEA e Coleta Zona Sul Autódromo (2025)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334256" y="4402836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754880" y="4402836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687568" y="4402836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R$ 2,9 mi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675120" y="4402836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982 m2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16368" y="4402836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R$ 2.990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566928" y="4663440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3568.TEA Santo André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4334256" y="4663440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754880" y="4663440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87568" y="4663440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675120" y="4663440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967 m2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516368" y="4663440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R$ 2.904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66928" y="4924044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4190.Novo TEA Zona Sul Jabaquara Cidade Vargas (2025)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4334256" y="4924044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4754880" y="4924044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87568" y="4924044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R$ 2,7 mi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675120" y="4924044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7516368" y="4924044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R$ 2.120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66928" y="5184648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4181.Novo TEA Recife Madalena (2025)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4334256" y="5184648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4754880" y="5184648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87568" y="5184648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R$ 2,2 mi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6675120" y="5184648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7516368" y="5184648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R$ 1.837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66928" y="5445252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4178.Novo TEA João Pessoa Rui Barbosa (2025)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4334256" y="5445252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4754880" y="5445252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5687568" y="5445252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675120" y="5445252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743 m2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7516368" y="5445252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R$ 2.668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566928" y="5705856"/>
            <a:ext cx="376732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4179.Novo TEA Paulista Janga PE (2025)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334256" y="5705856"/>
            <a:ext cx="420624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4754880" y="5705856"/>
            <a:ext cx="93268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5687568" y="5705856"/>
            <a:ext cx="987552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6675120" y="5705856"/>
            <a:ext cx="84124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864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7516368" y="5705856"/>
            <a:ext cx="749808" cy="260604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R$ 2.369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966460"/>
            <a:ext cx="376732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Demais obras (43)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334256" y="5966460"/>
            <a:ext cx="420624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754880" y="5966460"/>
            <a:ext cx="93268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Consolidado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687568" y="5966460"/>
            <a:ext cx="987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R$ 31,7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675120" y="5966460"/>
            <a:ext cx="84124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19,0 mil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16368" y="5966460"/>
            <a:ext cx="749808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R$ 1.697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8942832" y="2816352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37021"/>
                </a:solidFill>
              </a:rPr>
              <a:t>Top UFs por valor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8942832" y="3182112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311" name="Rect 311"/>
          <p:cNvSpPr/>
          <p:nvPr/>
        </p:nvSpPr>
        <p:spPr>
          <a:xfrm>
            <a:off x="9948672" y="3255264"/>
            <a:ext cx="1042416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2" name="Text 312"/>
          <p:cNvSpPr txBox="1"/>
          <p:nvPr/>
        </p:nvSpPr>
        <p:spPr>
          <a:xfrm>
            <a:off x="11100815" y="3182112"/>
            <a:ext cx="931663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R$ 59,0 mi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8942832" y="3566160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314" name="Rect 314"/>
          <p:cNvSpPr/>
          <p:nvPr/>
        </p:nvSpPr>
        <p:spPr>
          <a:xfrm>
            <a:off x="9948672" y="3639312"/>
            <a:ext cx="73152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5" name="Text 315"/>
          <p:cNvSpPr txBox="1"/>
          <p:nvPr/>
        </p:nvSpPr>
        <p:spPr>
          <a:xfrm>
            <a:off x="11100816" y="3566160"/>
            <a:ext cx="136749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R$ 4,1 mi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8942832" y="3950208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317" name="Rect 317"/>
          <p:cNvSpPr/>
          <p:nvPr/>
        </p:nvSpPr>
        <p:spPr>
          <a:xfrm>
            <a:off x="9948672" y="4023360"/>
            <a:ext cx="73152" cy="12801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18" name="Text 318"/>
          <p:cNvSpPr txBox="1"/>
          <p:nvPr/>
        </p:nvSpPr>
        <p:spPr>
          <a:xfrm>
            <a:off x="11100816" y="3950208"/>
            <a:ext cx="86329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R$ 4,0 mi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942832" y="4334256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320" name="Rect 320"/>
          <p:cNvSpPr/>
          <p:nvPr/>
        </p:nvSpPr>
        <p:spPr>
          <a:xfrm>
            <a:off x="9948672" y="4407408"/>
            <a:ext cx="73152" cy="1280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21" name="Text 321"/>
          <p:cNvSpPr txBox="1"/>
          <p:nvPr/>
        </p:nvSpPr>
        <p:spPr>
          <a:xfrm>
            <a:off x="11100816" y="4334256"/>
            <a:ext cx="74980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R$ 2,8 mi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8942832" y="4718304"/>
            <a:ext cx="932688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323" name="Rect 323"/>
          <p:cNvSpPr/>
          <p:nvPr/>
        </p:nvSpPr>
        <p:spPr>
          <a:xfrm>
            <a:off x="9948672" y="4791456"/>
            <a:ext cx="73152" cy="1280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 sz="1000"/>
          </a:p>
        </p:txBody>
      </p:sp>
      <p:sp>
        <p:nvSpPr>
          <p:cNvPr id="324" name="Text 324"/>
          <p:cNvSpPr txBox="1"/>
          <p:nvPr/>
        </p:nvSpPr>
        <p:spPr>
          <a:xfrm>
            <a:off x="11100816" y="4718304"/>
            <a:ext cx="863296" cy="35661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dirty="0">
                <a:solidFill>
                  <a:srgbClr val="50617F"/>
                </a:solidFill>
              </a:rPr>
              <a:t>R$ 2,1 mi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8942832" y="5321808"/>
            <a:ext cx="2697480" cy="56692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900">
                <a:solidFill>
                  <a:srgbClr val="50617F"/>
                </a:solidFill>
              </a:rPr>
              <a:t>Base: 55 obras | 39,3 mil m2 | R$ 75,8 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1231</Words>
  <Application>Microsoft Office PowerPoint</Application>
  <PresentationFormat>Widescreen</PresentationFormat>
  <Paragraphs>388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2026-08-17T13:04:07Z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2026-08-17T12:52:11Z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9e22f66c-06c1-4d5a-82e3-31b9dfb8736e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