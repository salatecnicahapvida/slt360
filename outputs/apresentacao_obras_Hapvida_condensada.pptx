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A23790-020A-4CE0-A606-94F0C512CA47}" v="7" dt="2026-08-17T16:57:37.8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LLES DAVIDY GONDIN DA SILVEIRA" userId="a3416262-0fac-4856-884e-2c0d7e6e898d" providerId="ADAL" clId="{1418AD27-A7E6-4FFD-8E07-7066023A75C3}"/>
    <pc:docChg chg="undo custSel mod modSld modMainMaster">
      <pc:chgData name="THALLES DAVIDY GONDIN DA SILVEIRA" userId="a3416262-0fac-4856-884e-2c0d7e6e898d" providerId="ADAL" clId="{1418AD27-A7E6-4FFD-8E07-7066023A75C3}" dt="2026-08-17T16:58:39.687" v="81" actId="478"/>
      <pc:docMkLst>
        <pc:docMk/>
      </pc:docMkLst>
      <pc:sldChg chg="addSp delSp modSp mod">
        <pc:chgData name="THALLES DAVIDY GONDIN DA SILVEIRA" userId="a3416262-0fac-4856-884e-2c0d7e6e898d" providerId="ADAL" clId="{1418AD27-A7E6-4FFD-8E07-7066023A75C3}" dt="2026-08-17T16:57:14.263" v="72" actId="478"/>
        <pc:sldMkLst>
          <pc:docMk/>
          <pc:sldMk cId="0" sldId="256"/>
        </pc:sldMkLst>
        <pc:spChg chg="del mod">
          <ac:chgData name="THALLES DAVIDY GONDIN DA SILVEIRA" userId="a3416262-0fac-4856-884e-2c0d7e6e898d" providerId="ADAL" clId="{1418AD27-A7E6-4FFD-8E07-7066023A75C3}" dt="2026-08-17T16:57:14.263" v="72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48:03.547" v="4" actId="47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55.444" v="67" actId="255"/>
          <ac:spMkLst>
            <pc:docMk/>
            <pc:sldMk cId="0" sldId="256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46.691" v="65" actId="255"/>
          <ac:spMkLst>
            <pc:docMk/>
            <pc:sldMk cId="0" sldId="256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38.838" v="63" actId="255"/>
          <ac:spMkLst>
            <pc:docMk/>
            <pc:sldMk cId="0" sldId="256"/>
            <ac:spMk id="22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48:00.014" v="3" actId="478"/>
          <ac:spMkLst>
            <pc:docMk/>
            <pc:sldMk cId="0" sldId="256"/>
            <ac:spMk id="2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9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9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9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9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10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14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6:24.894" v="60" actId="164"/>
          <ac:spMkLst>
            <pc:docMk/>
            <pc:sldMk cId="0" sldId="256"/>
            <ac:spMk id="149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6:18.291" v="59" actId="478"/>
          <ac:spMkLst>
            <pc:docMk/>
            <pc:sldMk cId="0" sldId="256"/>
            <ac:spMk id="152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6:18.291" v="59" actId="478"/>
          <ac:spMkLst>
            <pc:docMk/>
            <pc:sldMk cId="0" sldId="256"/>
            <ac:spMk id="15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6:18.291" v="59" actId="478"/>
          <ac:spMkLst>
            <pc:docMk/>
            <pc:sldMk cId="0" sldId="256"/>
            <ac:spMk id="154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6:18.291" v="59" actId="478"/>
          <ac:spMkLst>
            <pc:docMk/>
            <pc:sldMk cId="0" sldId="256"/>
            <ac:spMk id="155" creationId="{00000000-0000-0000-0000-000000000000}"/>
          </ac:spMkLst>
        </pc:spChg>
        <pc:spChg chg="del mod">
          <ac:chgData name="THALLES DAVIDY GONDIN DA SILVEIRA" userId="a3416262-0fac-4856-884e-2c0d7e6e898d" providerId="ADAL" clId="{1418AD27-A7E6-4FFD-8E07-7066023A75C3}" dt="2026-08-17T16:56:18.291" v="59" actId="478"/>
          <ac:spMkLst>
            <pc:docMk/>
            <pc:sldMk cId="0" sldId="256"/>
            <ac:spMk id="156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6:18.291" v="59" actId="478"/>
          <ac:spMkLst>
            <pc:docMk/>
            <pc:sldMk cId="0" sldId="256"/>
            <ac:spMk id="157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47:53.881" v="2" actId="478"/>
          <ac:spMkLst>
            <pc:docMk/>
            <pc:sldMk cId="0" sldId="256"/>
            <ac:spMk id="250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7T16:56:27.715" v="61" actId="14100"/>
          <ac:grpSpMkLst>
            <pc:docMk/>
            <pc:sldMk cId="0" sldId="256"/>
            <ac:grpSpMk id="2" creationId="{5C6EEE06-7271-EAF0-F4C5-FB9F6F86DBC0}"/>
          </ac:grpSpMkLst>
        </pc:grpChg>
      </pc:sldChg>
      <pc:sldChg chg="addSp delSp modSp mod">
        <pc:chgData name="THALLES DAVIDY GONDIN DA SILVEIRA" userId="a3416262-0fac-4856-884e-2c0d7e6e898d" providerId="ADAL" clId="{1418AD27-A7E6-4FFD-8E07-7066023A75C3}" dt="2026-08-17T16:50:35.201" v="14" actId="1076"/>
        <pc:sldMkLst>
          <pc:docMk/>
          <pc:sldMk cId="0" sldId="257"/>
        </pc:sldMkLst>
        <pc:spChg chg="mod">
          <ac:chgData name="THALLES DAVIDY GONDIN DA SILVEIRA" userId="a3416262-0fac-4856-884e-2c0d7e6e898d" providerId="ADAL" clId="{1418AD27-A7E6-4FFD-8E07-7066023A75C3}" dt="2026-08-17T16:49:59.148" v="11" actId="255"/>
          <ac:spMkLst>
            <pc:docMk/>
            <pc:sldMk cId="0" sldId="257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49:52.540" v="10" actId="255"/>
          <ac:spMkLst>
            <pc:docMk/>
            <pc:sldMk cId="0" sldId="257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49:40.427" v="9" actId="255"/>
          <ac:spMkLst>
            <pc:docMk/>
            <pc:sldMk cId="0" sldId="257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49:01.723" v="7" actId="255"/>
          <ac:spMkLst>
            <pc:docMk/>
            <pc:sldMk cId="0" sldId="257"/>
            <ac:spMk id="2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48:50.812" v="6" actId="478"/>
          <ac:spMkLst>
            <pc:docMk/>
            <pc:sldMk cId="0" sldId="257"/>
            <ac:spMk id="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12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1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15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16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17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18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20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2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21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0:28.234" v="12" actId="164"/>
          <ac:spMkLst>
            <pc:docMk/>
            <pc:sldMk cId="0" sldId="257"/>
            <ac:spMk id="223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7T16:50:35.201" v="14" actId="1076"/>
          <ac:grpSpMkLst>
            <pc:docMk/>
            <pc:sldMk cId="0" sldId="257"/>
            <ac:grpSpMk id="2" creationId="{60041CD7-A19D-B140-2DBD-32D7CBF2B0E3}"/>
          </ac:grpSpMkLst>
        </pc:grpChg>
      </pc:sldChg>
      <pc:sldChg chg="addSp delSp modSp mod">
        <pc:chgData name="THALLES DAVIDY GONDIN DA SILVEIRA" userId="a3416262-0fac-4856-884e-2c0d7e6e898d" providerId="ADAL" clId="{1418AD27-A7E6-4FFD-8E07-7066023A75C3}" dt="2026-08-17T16:51:39.656" v="23" actId="255"/>
        <pc:sldMkLst>
          <pc:docMk/>
          <pc:sldMk cId="0" sldId="258"/>
        </pc:sldMkLst>
        <pc:spChg chg="mod">
          <ac:chgData name="THALLES DAVIDY GONDIN DA SILVEIRA" userId="a3416262-0fac-4856-884e-2c0d7e6e898d" providerId="ADAL" clId="{1418AD27-A7E6-4FFD-8E07-7066023A75C3}" dt="2026-08-17T16:51:25.773" v="20" actId="255"/>
          <ac:spMkLst>
            <pc:docMk/>
            <pc:sldMk cId="0" sldId="258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30.038" v="21" actId="255"/>
          <ac:spMkLst>
            <pc:docMk/>
            <pc:sldMk cId="0" sldId="258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34.950" v="22" actId="255"/>
          <ac:spMkLst>
            <pc:docMk/>
            <pc:sldMk cId="0" sldId="258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39.656" v="23" actId="255"/>
          <ac:spMkLst>
            <pc:docMk/>
            <pc:sldMk cId="0" sldId="258"/>
            <ac:spMk id="2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1:20.265" v="19" actId="478"/>
          <ac:spMkLst>
            <pc:docMk/>
            <pc:sldMk cId="0" sldId="258"/>
            <ac:spMk id="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0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0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1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1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3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1:08.922" v="16" actId="164"/>
          <ac:spMkLst>
            <pc:docMk/>
            <pc:sldMk cId="0" sldId="258"/>
            <ac:spMk id="139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7T16:51:14.570" v="18" actId="1076"/>
          <ac:grpSpMkLst>
            <pc:docMk/>
            <pc:sldMk cId="0" sldId="258"/>
            <ac:grpSpMk id="2" creationId="{A160F470-39EC-BDDC-165C-D065CF41D0C3}"/>
          </ac:grpSpMkLst>
        </pc:grpChg>
      </pc:sldChg>
      <pc:sldChg chg="addSp delSp modSp mod">
        <pc:chgData name="THALLES DAVIDY GONDIN DA SILVEIRA" userId="a3416262-0fac-4856-884e-2c0d7e6e898d" providerId="ADAL" clId="{1418AD27-A7E6-4FFD-8E07-7066023A75C3}" dt="2026-08-17T16:54:23.166" v="42" actId="1076"/>
        <pc:sldMkLst>
          <pc:docMk/>
          <pc:sldMk cId="0" sldId="259"/>
        </pc:sldMkLst>
        <pc:spChg chg="mod">
          <ac:chgData name="THALLES DAVIDY GONDIN DA SILVEIRA" userId="a3416262-0fac-4856-884e-2c0d7e6e898d" providerId="ADAL" clId="{1418AD27-A7E6-4FFD-8E07-7066023A75C3}" dt="2026-08-17T16:54:23.166" v="4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4:20.062" v="41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4:20.062" v="41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4:20.062" v="41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4:20.062" v="41" actId="1076"/>
          <ac:spMkLst>
            <pc:docMk/>
            <pc:sldMk cId="0" sldId="259"/>
            <ac:spMk id="2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3:45.084" v="36" actId="478"/>
          <ac:spMkLst>
            <pc:docMk/>
            <pc:sldMk cId="0" sldId="259"/>
            <ac:spMk id="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0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1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1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3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4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4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4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6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01.083" v="25" actId="164"/>
          <ac:spMkLst>
            <pc:docMk/>
            <pc:sldMk cId="0" sldId="259"/>
            <ac:spMk id="17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35.718" v="29" actId="255"/>
          <ac:spMkLst>
            <pc:docMk/>
            <pc:sldMk cId="0" sldId="259"/>
            <ac:spMk id="19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19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19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35.718" v="29" actId="255"/>
          <ac:spMkLst>
            <pc:docMk/>
            <pc:sldMk cId="0" sldId="259"/>
            <ac:spMk id="20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20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35.718" v="29" actId="255"/>
          <ac:spMkLst>
            <pc:docMk/>
            <pc:sldMk cId="0" sldId="259"/>
            <ac:spMk id="20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35.718" v="29" actId="255"/>
          <ac:spMkLst>
            <pc:docMk/>
            <pc:sldMk cId="0" sldId="259"/>
            <ac:spMk id="21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35.718" v="29" actId="255"/>
          <ac:spMkLst>
            <pc:docMk/>
            <pc:sldMk cId="0" sldId="259"/>
            <ac:spMk id="2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22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22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23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35.718" v="29" actId="255"/>
          <ac:spMkLst>
            <pc:docMk/>
            <pc:sldMk cId="0" sldId="259"/>
            <ac:spMk id="24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25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35.718" v="29" actId="255"/>
          <ac:spMkLst>
            <pc:docMk/>
            <pc:sldMk cId="0" sldId="259"/>
            <ac:spMk id="256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25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26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35.718" v="29" actId="255"/>
          <ac:spMkLst>
            <pc:docMk/>
            <pc:sldMk cId="0" sldId="259"/>
            <ac:spMk id="27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3:25.626" v="32" actId="164"/>
          <ac:spMkLst>
            <pc:docMk/>
            <pc:sldMk cId="0" sldId="259"/>
            <ac:spMk id="27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2:35.718" v="29" actId="255"/>
          <ac:spMkLst>
            <pc:docMk/>
            <pc:sldMk cId="0" sldId="259"/>
            <ac:spMk id="278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7T16:53:40.606" v="35" actId="1076"/>
          <ac:grpSpMkLst>
            <pc:docMk/>
            <pc:sldMk cId="0" sldId="259"/>
            <ac:grpSpMk id="2" creationId="{48B16173-E178-26D7-9456-9A53AB1E1EE0}"/>
          </ac:grpSpMkLst>
        </pc:grpChg>
        <pc:grpChg chg="mod">
          <ac:chgData name="THALLES DAVIDY GONDIN DA SILVEIRA" userId="a3416262-0fac-4856-884e-2c0d7e6e898d" providerId="ADAL" clId="{1418AD27-A7E6-4FFD-8E07-7066023A75C3}" dt="2026-08-17T16:53:40.606" v="35" actId="1076"/>
          <ac:grpSpMkLst>
            <pc:docMk/>
            <pc:sldMk cId="0" sldId="259"/>
            <ac:grpSpMk id="3" creationId="{BFDF0DCE-5E32-A18A-79E1-2040707456F9}"/>
          </ac:grpSpMkLst>
        </pc:grpChg>
      </pc:sldChg>
      <pc:sldChg chg="addSp delSp modSp mod">
        <pc:chgData name="THALLES DAVIDY GONDIN DA SILVEIRA" userId="a3416262-0fac-4856-884e-2c0d7e6e898d" providerId="ADAL" clId="{1418AD27-A7E6-4FFD-8E07-7066023A75C3}" dt="2026-08-17T16:55:56.250" v="57" actId="255"/>
        <pc:sldMkLst>
          <pc:docMk/>
          <pc:sldMk cId="0" sldId="260"/>
        </pc:sldMkLst>
        <pc:spChg chg="mod">
          <ac:chgData name="THALLES DAVIDY GONDIN DA SILVEIRA" userId="a3416262-0fac-4856-884e-2c0d7e6e898d" providerId="ADAL" clId="{1418AD27-A7E6-4FFD-8E07-7066023A75C3}" dt="2026-08-17T16:55:35.805" v="53" actId="107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25.784" v="51" actId="1076"/>
          <ac:spMkLst>
            <pc:docMk/>
            <pc:sldMk cId="0" sldId="260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40.855" v="54" actId="255"/>
          <ac:spMkLst>
            <pc:docMk/>
            <pc:sldMk cId="0" sldId="260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46.538" v="55" actId="255"/>
          <ac:spMkLst>
            <pc:docMk/>
            <pc:sldMk cId="0" sldId="260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51.382" v="56" actId="255"/>
          <ac:spMkLst>
            <pc:docMk/>
            <pc:sldMk cId="0" sldId="260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56.250" v="57" actId="255"/>
          <ac:spMkLst>
            <pc:docMk/>
            <pc:sldMk cId="0" sldId="260"/>
            <ac:spMk id="2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5:21.080" v="49" actId="478"/>
          <ac:spMkLst>
            <pc:docMk/>
            <pc:sldMk cId="0" sldId="260"/>
            <ac:spMk id="6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12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14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17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17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21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23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28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299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30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5:04.609" v="45" actId="164"/>
          <ac:spMkLst>
            <pc:docMk/>
            <pc:sldMk cId="0" sldId="260"/>
            <ac:spMk id="376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7T16:55:17.195" v="48" actId="14100"/>
          <ac:grpSpMkLst>
            <pc:docMk/>
            <pc:sldMk cId="0" sldId="260"/>
            <ac:grpSpMk id="2" creationId="{8C25FDE8-113F-1BBD-666C-8090C8C5EE87}"/>
          </ac:grpSpMkLst>
        </pc:grpChg>
      </pc:sldChg>
      <pc:sldChg chg="addSp delSp modSp mod">
        <pc:chgData name="THALLES DAVIDY GONDIN DA SILVEIRA" userId="a3416262-0fac-4856-884e-2c0d7e6e898d" providerId="ADAL" clId="{1418AD27-A7E6-4FFD-8E07-7066023A75C3}" dt="2026-08-17T16:58:39.687" v="81" actId="478"/>
        <pc:sldMkLst>
          <pc:docMk/>
          <pc:sldMk cId="0" sldId="261"/>
        </pc:sldMkLst>
        <pc:spChg chg="del">
          <ac:chgData name="THALLES DAVIDY GONDIN DA SILVEIRA" userId="a3416262-0fac-4856-884e-2c0d7e6e898d" providerId="ADAL" clId="{1418AD27-A7E6-4FFD-8E07-7066023A75C3}" dt="2026-08-17T16:58:39.687" v="81" actId="478"/>
          <ac:spMkLst>
            <pc:docMk/>
            <pc:sldMk cId="0" sldId="261"/>
            <ac:spMk id="1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8:34.327" v="80" actId="255"/>
          <ac:spMkLst>
            <pc:docMk/>
            <pc:sldMk cId="0" sldId="261"/>
            <ac:spMk id="2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8:27.129" v="79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54.422" v="78" actId="25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47.625" v="77" actId="255"/>
          <ac:spMkLst>
            <pc:docMk/>
            <pc:sldMk cId="0" sldId="261"/>
            <ac:spMk id="2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107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110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13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143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155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17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208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212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234" creationId="{00000000-0000-0000-0000-000000000000}"/>
          </ac:spMkLst>
        </pc:spChg>
        <pc:spChg chg="mod">
          <ac:chgData name="THALLES DAVIDY GONDIN DA SILVEIRA" userId="a3416262-0fac-4856-884e-2c0d7e6e898d" providerId="ADAL" clId="{1418AD27-A7E6-4FFD-8E07-7066023A75C3}" dt="2026-08-17T16:57:37.838" v="74" actId="164"/>
          <ac:spMkLst>
            <pc:docMk/>
            <pc:sldMk cId="0" sldId="261"/>
            <ac:spMk id="247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48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51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5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54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57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58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59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62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63" creationId="{00000000-0000-0000-0000-000000000000}"/>
          </ac:spMkLst>
        </pc:spChg>
        <pc:spChg chg="del">
          <ac:chgData name="THALLES DAVIDY GONDIN DA SILVEIRA" userId="a3416262-0fac-4856-884e-2c0d7e6e898d" providerId="ADAL" clId="{1418AD27-A7E6-4FFD-8E07-7066023A75C3}" dt="2026-08-17T16:54:41.354" v="43" actId="478"/>
          <ac:spMkLst>
            <pc:docMk/>
            <pc:sldMk cId="0" sldId="261"/>
            <ac:spMk id="267" creationId="{00000000-0000-0000-0000-000000000000}"/>
          </ac:spMkLst>
        </pc:spChg>
        <pc:grpChg chg="mod">
          <ac:chgData name="THALLES DAVIDY GONDIN DA SILVEIRA" userId="a3416262-0fac-4856-884e-2c0d7e6e898d" providerId="ADAL" clId="{1418AD27-A7E6-4FFD-8E07-7066023A75C3}" dt="2026-08-17T16:57:42.705" v="76" actId="1076"/>
          <ac:grpSpMkLst>
            <pc:docMk/>
            <pc:sldMk cId="0" sldId="261"/>
            <ac:grpSpMk id="2" creationId="{C3FF6229-29C1-BC6E-C65B-EFBFD8B942AB}"/>
          </ac:grpSpMkLst>
        </pc:grpChg>
      </pc:sldChg>
      <pc:sldMasterChg chg="addSp mod">
        <pc:chgData name="THALLES DAVIDY GONDIN DA SILVEIRA" userId="a3416262-0fac-4856-884e-2c0d7e6e898d" providerId="ADAL" clId="{1418AD27-A7E6-4FFD-8E07-7066023A75C3}" dt="2026-08-17T16:47:51.141" v="0" actId="33475"/>
        <pc:sldMasterMkLst>
          <pc:docMk/>
          <pc:sldMasterMk cId="2640674209" sldId="2147483648"/>
        </pc:sldMasterMkLst>
        <pc:spChg chg="add">
          <ac:chgData name="THALLES DAVIDY GONDIN DA SILVEIRA" userId="a3416262-0fac-4856-884e-2c0d7e6e898d" providerId="ADAL" clId="{1418AD27-A7E6-4FFD-8E07-7066023A75C3}" dt="2026-08-17T16:47:51.141" v="0" actId="33475"/>
          <ac:spMkLst>
            <pc:docMk/>
            <pc:sldMasterMk cId="2640674209" sldId="2147483648"/>
            <ac:spMk id="9" creationId="{F8635934-F377-1829-4D3A-915B7137D8CC}"/>
          </ac:spMkLst>
        </pc:spChg>
        <pc:spChg chg="add">
          <ac:chgData name="THALLES DAVIDY GONDIN DA SILVEIRA" userId="a3416262-0fac-4856-884e-2c0d7e6e898d" providerId="ADAL" clId="{1418AD27-A7E6-4FFD-8E07-7066023A75C3}" dt="2026-08-17T16:47:51.141" v="0" actId="33475"/>
          <ac:spMkLst>
            <pc:docMk/>
            <pc:sldMasterMk cId="2640674209" sldId="2147483648"/>
            <ac:spMk id="10" creationId="{07E3EEC2-8F90-80C9-4746-89218B39FBD3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8635934-F377-1829-4D3A-915B7137D8C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39587" y="635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E3EEC2-8F90-80C9-4746-89218B39FBD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9587" y="6642100"/>
            <a:ext cx="53816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PÚBLICO</a:t>
            </a:r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261872"/>
            <a:ext cx="2148840" cy="71323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2200" b="1" dirty="0">
                <a:solidFill>
                  <a:srgbClr val="FFFFFF"/>
                </a:solidFill>
              </a:rPr>
              <a:t>108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898648" y="1261872"/>
            <a:ext cx="2148840" cy="71323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sz="2200" b="1" dirty="0">
                <a:solidFill>
                  <a:srgbClr val="FFFFFF"/>
                </a:solidFill>
              </a:rPr>
              <a:t>131,5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5230368" y="1261872"/>
            <a:ext cx="2148840" cy="71323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1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sz="2200" b="1" dirty="0">
                <a:solidFill>
                  <a:srgbClr val="FFFFFF"/>
                </a:solidFill>
              </a:rPr>
              <a:t>R$ 292,6 mi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658368" y="23317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300" b="1" dirty="0">
                <a:solidFill>
                  <a:srgbClr val="253F8E"/>
                </a:solidFill>
              </a:rPr>
              <a:t>Resumo por tipologia e ano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5C6EEE06-7271-EAF0-F4C5-FB9F6F86DBC0}"/>
              </a:ext>
            </a:extLst>
          </p:cNvPr>
          <p:cNvGrpSpPr/>
          <p:nvPr/>
        </p:nvGrpSpPr>
        <p:grpSpPr>
          <a:xfrm>
            <a:off x="658367" y="2651759"/>
            <a:ext cx="9288937" cy="3689219"/>
            <a:chOff x="658368" y="2651760"/>
            <a:chExt cx="7955280" cy="3511296"/>
          </a:xfrm>
        </p:grpSpPr>
        <p:sp>
          <p:nvSpPr>
            <p:cNvPr id="80" name="Text 80"/>
            <p:cNvSpPr txBox="1"/>
            <p:nvPr/>
          </p:nvSpPr>
          <p:spPr>
            <a:xfrm>
              <a:off x="658368" y="2651760"/>
              <a:ext cx="3063240" cy="292608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 b="1">
                  <a:solidFill>
                    <a:srgbClr val="FFFFFF"/>
                  </a:solidFill>
                </a:rPr>
                <a:t>Tipologia</a:t>
              </a:r>
            </a:p>
          </p:txBody>
        </p:sp>
        <p:sp>
          <p:nvSpPr>
            <p:cNvPr id="81" name="Text 81"/>
            <p:cNvSpPr txBox="1"/>
            <p:nvPr/>
          </p:nvSpPr>
          <p:spPr>
            <a:xfrm>
              <a:off x="3721608" y="2651760"/>
              <a:ext cx="960120" cy="292608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 b="1">
                  <a:solidFill>
                    <a:srgbClr val="FFFFFF"/>
                  </a:solidFill>
                </a:rPr>
                <a:t>Ano</a:t>
              </a:r>
            </a:p>
          </p:txBody>
        </p:sp>
        <p:sp>
          <p:nvSpPr>
            <p:cNvPr id="82" name="Text 82"/>
            <p:cNvSpPr txBox="1"/>
            <p:nvPr/>
          </p:nvSpPr>
          <p:spPr>
            <a:xfrm>
              <a:off x="4681728" y="2651760"/>
              <a:ext cx="640080" cy="292608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 b="1">
                  <a:solidFill>
                    <a:srgbClr val="FFFFFF"/>
                  </a:solidFill>
                </a:rPr>
                <a:t>Obras</a:t>
              </a:r>
            </a:p>
          </p:txBody>
        </p:sp>
        <p:sp>
          <p:nvSpPr>
            <p:cNvPr id="83" name="Text 83"/>
            <p:cNvSpPr txBox="1"/>
            <p:nvPr/>
          </p:nvSpPr>
          <p:spPr>
            <a:xfrm>
              <a:off x="5321808" y="2651760"/>
              <a:ext cx="1097280" cy="292608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 b="1">
                  <a:solidFill>
                    <a:srgbClr val="FFFFFF"/>
                  </a:solidFill>
                </a:rPr>
                <a:t>m2</a:t>
              </a:r>
            </a:p>
          </p:txBody>
        </p:sp>
        <p:sp>
          <p:nvSpPr>
            <p:cNvPr id="84" name="Text 84"/>
            <p:cNvSpPr txBox="1"/>
            <p:nvPr/>
          </p:nvSpPr>
          <p:spPr>
            <a:xfrm>
              <a:off x="6419088" y="2651760"/>
              <a:ext cx="1234440" cy="292608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85" name="Text 85"/>
            <p:cNvSpPr txBox="1"/>
            <p:nvPr/>
          </p:nvSpPr>
          <p:spPr>
            <a:xfrm>
              <a:off x="7653528" y="2651760"/>
              <a:ext cx="960120" cy="292608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 b="1">
                  <a:solidFill>
                    <a:srgbClr val="FFFFFF"/>
                  </a:solidFill>
                </a:rPr>
                <a:t>R$/m2</a:t>
              </a:r>
            </a:p>
          </p:txBody>
        </p:sp>
        <p:sp>
          <p:nvSpPr>
            <p:cNvPr id="86" name="Text 86"/>
            <p:cNvSpPr txBox="1"/>
            <p:nvPr/>
          </p:nvSpPr>
          <p:spPr>
            <a:xfrm>
              <a:off x="658368" y="2944368"/>
              <a:ext cx="30632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Hospitais</a:t>
              </a:r>
            </a:p>
          </p:txBody>
        </p:sp>
        <p:sp>
          <p:nvSpPr>
            <p:cNvPr id="87" name="Text 87"/>
            <p:cNvSpPr txBox="1"/>
            <p:nvPr/>
          </p:nvSpPr>
          <p:spPr>
            <a:xfrm>
              <a:off x="3721608" y="2944368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2023</a:t>
              </a:r>
            </a:p>
          </p:txBody>
        </p:sp>
        <p:sp>
          <p:nvSpPr>
            <p:cNvPr id="88" name="Text 88"/>
            <p:cNvSpPr txBox="1"/>
            <p:nvPr/>
          </p:nvSpPr>
          <p:spPr>
            <a:xfrm>
              <a:off x="4681728" y="2944368"/>
              <a:ext cx="6400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6</a:t>
              </a:r>
            </a:p>
          </p:txBody>
        </p:sp>
        <p:sp>
          <p:nvSpPr>
            <p:cNvPr id="89" name="Text 89"/>
            <p:cNvSpPr txBox="1"/>
            <p:nvPr/>
          </p:nvSpPr>
          <p:spPr>
            <a:xfrm>
              <a:off x="5321808" y="2944368"/>
              <a:ext cx="10972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15,3 mil m2</a:t>
              </a:r>
            </a:p>
          </p:txBody>
        </p:sp>
        <p:sp>
          <p:nvSpPr>
            <p:cNvPr id="90" name="Text 90"/>
            <p:cNvSpPr txBox="1"/>
            <p:nvPr/>
          </p:nvSpPr>
          <p:spPr>
            <a:xfrm>
              <a:off x="6419088" y="2944368"/>
              <a:ext cx="12344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R$ 29,7 mi</a:t>
              </a:r>
            </a:p>
          </p:txBody>
        </p:sp>
        <p:sp>
          <p:nvSpPr>
            <p:cNvPr id="91" name="Text 91"/>
            <p:cNvSpPr txBox="1"/>
            <p:nvPr/>
          </p:nvSpPr>
          <p:spPr>
            <a:xfrm>
              <a:off x="7653528" y="2944368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R$ 2.009</a:t>
              </a:r>
            </a:p>
          </p:txBody>
        </p:sp>
        <p:sp>
          <p:nvSpPr>
            <p:cNvPr id="92" name="Text 92"/>
            <p:cNvSpPr txBox="1"/>
            <p:nvPr/>
          </p:nvSpPr>
          <p:spPr>
            <a:xfrm>
              <a:off x="658368" y="3236976"/>
              <a:ext cx="30632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Hospitais</a:t>
              </a:r>
            </a:p>
          </p:txBody>
        </p:sp>
        <p:sp>
          <p:nvSpPr>
            <p:cNvPr id="93" name="Text 93"/>
            <p:cNvSpPr txBox="1"/>
            <p:nvPr/>
          </p:nvSpPr>
          <p:spPr>
            <a:xfrm>
              <a:off x="3721608" y="3236976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2024</a:t>
              </a:r>
            </a:p>
          </p:txBody>
        </p:sp>
        <p:sp>
          <p:nvSpPr>
            <p:cNvPr id="94" name="Text 94"/>
            <p:cNvSpPr txBox="1"/>
            <p:nvPr/>
          </p:nvSpPr>
          <p:spPr>
            <a:xfrm>
              <a:off x="4681728" y="3236976"/>
              <a:ext cx="6400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4</a:t>
              </a:r>
            </a:p>
          </p:txBody>
        </p:sp>
        <p:sp>
          <p:nvSpPr>
            <p:cNvPr id="95" name="Text 95"/>
            <p:cNvSpPr txBox="1"/>
            <p:nvPr/>
          </p:nvSpPr>
          <p:spPr>
            <a:xfrm>
              <a:off x="5321808" y="3236976"/>
              <a:ext cx="10972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4,0 mil m2</a:t>
              </a:r>
            </a:p>
          </p:txBody>
        </p:sp>
        <p:sp>
          <p:nvSpPr>
            <p:cNvPr id="96" name="Text 96"/>
            <p:cNvSpPr txBox="1"/>
            <p:nvPr/>
          </p:nvSpPr>
          <p:spPr>
            <a:xfrm>
              <a:off x="6419088" y="3236976"/>
              <a:ext cx="12344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R$ 7,5 mi</a:t>
              </a:r>
            </a:p>
          </p:txBody>
        </p:sp>
        <p:sp>
          <p:nvSpPr>
            <p:cNvPr id="97" name="Text 97"/>
            <p:cNvSpPr txBox="1"/>
            <p:nvPr/>
          </p:nvSpPr>
          <p:spPr>
            <a:xfrm>
              <a:off x="7653528" y="3236976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R$ 1.930</a:t>
              </a:r>
            </a:p>
          </p:txBody>
        </p:sp>
        <p:sp>
          <p:nvSpPr>
            <p:cNvPr id="98" name="Text 98"/>
            <p:cNvSpPr txBox="1"/>
            <p:nvPr/>
          </p:nvSpPr>
          <p:spPr>
            <a:xfrm>
              <a:off x="658368" y="3529584"/>
              <a:ext cx="30632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Hospitais</a:t>
              </a:r>
            </a:p>
          </p:txBody>
        </p:sp>
        <p:sp>
          <p:nvSpPr>
            <p:cNvPr id="99" name="Text 99"/>
            <p:cNvSpPr txBox="1"/>
            <p:nvPr/>
          </p:nvSpPr>
          <p:spPr>
            <a:xfrm>
              <a:off x="3721608" y="3529584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2025</a:t>
              </a:r>
            </a:p>
          </p:txBody>
        </p:sp>
        <p:sp>
          <p:nvSpPr>
            <p:cNvPr id="100" name="Text 100"/>
            <p:cNvSpPr txBox="1"/>
            <p:nvPr/>
          </p:nvSpPr>
          <p:spPr>
            <a:xfrm>
              <a:off x="4681728" y="3529584"/>
              <a:ext cx="6400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4</a:t>
              </a:r>
            </a:p>
          </p:txBody>
        </p:sp>
        <p:sp>
          <p:nvSpPr>
            <p:cNvPr id="101" name="Text 101"/>
            <p:cNvSpPr txBox="1"/>
            <p:nvPr/>
          </p:nvSpPr>
          <p:spPr>
            <a:xfrm>
              <a:off x="5321808" y="3529584"/>
              <a:ext cx="10972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12,4 mil m2</a:t>
              </a:r>
            </a:p>
          </p:txBody>
        </p:sp>
        <p:sp>
          <p:nvSpPr>
            <p:cNvPr id="102" name="Text 102"/>
            <p:cNvSpPr txBox="1"/>
            <p:nvPr/>
          </p:nvSpPr>
          <p:spPr>
            <a:xfrm>
              <a:off x="6419088" y="3529584"/>
              <a:ext cx="12344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R$ 22,7 mi</a:t>
              </a:r>
            </a:p>
          </p:txBody>
        </p:sp>
        <p:sp>
          <p:nvSpPr>
            <p:cNvPr id="103" name="Text 103"/>
            <p:cNvSpPr txBox="1"/>
            <p:nvPr/>
          </p:nvSpPr>
          <p:spPr>
            <a:xfrm>
              <a:off x="7653528" y="3529584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R$ 1.874</a:t>
              </a:r>
            </a:p>
          </p:txBody>
        </p:sp>
        <p:sp>
          <p:nvSpPr>
            <p:cNvPr id="104" name="Text 104"/>
            <p:cNvSpPr txBox="1"/>
            <p:nvPr/>
          </p:nvSpPr>
          <p:spPr>
            <a:xfrm>
              <a:off x="658368" y="3822192"/>
              <a:ext cx="30632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Hospitais</a:t>
              </a:r>
            </a:p>
          </p:txBody>
        </p:sp>
        <p:sp>
          <p:nvSpPr>
            <p:cNvPr id="105" name="Text 105"/>
            <p:cNvSpPr txBox="1"/>
            <p:nvPr/>
          </p:nvSpPr>
          <p:spPr>
            <a:xfrm>
              <a:off x="3721608" y="3822192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2026</a:t>
              </a:r>
            </a:p>
          </p:txBody>
        </p:sp>
        <p:sp>
          <p:nvSpPr>
            <p:cNvPr id="106" name="Text 106"/>
            <p:cNvSpPr txBox="1"/>
            <p:nvPr/>
          </p:nvSpPr>
          <p:spPr>
            <a:xfrm>
              <a:off x="4681728" y="3822192"/>
              <a:ext cx="6400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3</a:t>
              </a:r>
            </a:p>
          </p:txBody>
        </p:sp>
        <p:sp>
          <p:nvSpPr>
            <p:cNvPr id="107" name="Text 107"/>
            <p:cNvSpPr txBox="1"/>
            <p:nvPr/>
          </p:nvSpPr>
          <p:spPr>
            <a:xfrm>
              <a:off x="5321808" y="3822192"/>
              <a:ext cx="10972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11,0 mil m2</a:t>
              </a:r>
            </a:p>
          </p:txBody>
        </p:sp>
        <p:sp>
          <p:nvSpPr>
            <p:cNvPr id="108" name="Text 108"/>
            <p:cNvSpPr txBox="1"/>
            <p:nvPr/>
          </p:nvSpPr>
          <p:spPr>
            <a:xfrm>
              <a:off x="6419088" y="3822192"/>
              <a:ext cx="12344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R$ 24,2 mi</a:t>
              </a:r>
            </a:p>
          </p:txBody>
        </p:sp>
        <p:sp>
          <p:nvSpPr>
            <p:cNvPr id="109" name="Text 109"/>
            <p:cNvSpPr txBox="1"/>
            <p:nvPr/>
          </p:nvSpPr>
          <p:spPr>
            <a:xfrm>
              <a:off x="7653528" y="3822192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R$ 2.207</a:t>
              </a:r>
            </a:p>
          </p:txBody>
        </p:sp>
        <p:sp>
          <p:nvSpPr>
            <p:cNvPr id="110" name="Text 110"/>
            <p:cNvSpPr txBox="1"/>
            <p:nvPr/>
          </p:nvSpPr>
          <p:spPr>
            <a:xfrm>
              <a:off x="658368" y="4114800"/>
              <a:ext cx="30632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Pronto Atendimento</a:t>
              </a:r>
            </a:p>
          </p:txBody>
        </p:sp>
        <p:sp>
          <p:nvSpPr>
            <p:cNvPr id="111" name="Text 111"/>
            <p:cNvSpPr txBox="1"/>
            <p:nvPr/>
          </p:nvSpPr>
          <p:spPr>
            <a:xfrm>
              <a:off x="3721608" y="4114800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2023</a:t>
              </a:r>
            </a:p>
          </p:txBody>
        </p:sp>
        <p:sp>
          <p:nvSpPr>
            <p:cNvPr id="112" name="Text 112"/>
            <p:cNvSpPr txBox="1"/>
            <p:nvPr/>
          </p:nvSpPr>
          <p:spPr>
            <a:xfrm>
              <a:off x="4681728" y="4114800"/>
              <a:ext cx="6400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3</a:t>
              </a:r>
            </a:p>
          </p:txBody>
        </p:sp>
        <p:sp>
          <p:nvSpPr>
            <p:cNvPr id="113" name="Text 113"/>
            <p:cNvSpPr txBox="1"/>
            <p:nvPr/>
          </p:nvSpPr>
          <p:spPr>
            <a:xfrm>
              <a:off x="5321808" y="4114800"/>
              <a:ext cx="10972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12,3 mil m2</a:t>
              </a:r>
            </a:p>
          </p:txBody>
        </p:sp>
        <p:sp>
          <p:nvSpPr>
            <p:cNvPr id="114" name="Text 114"/>
            <p:cNvSpPr txBox="1"/>
            <p:nvPr/>
          </p:nvSpPr>
          <p:spPr>
            <a:xfrm>
              <a:off x="6419088" y="4114800"/>
              <a:ext cx="12344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R$ 47,6 mi</a:t>
              </a:r>
            </a:p>
          </p:txBody>
        </p:sp>
        <p:sp>
          <p:nvSpPr>
            <p:cNvPr id="115" name="Text 115"/>
            <p:cNvSpPr txBox="1"/>
            <p:nvPr/>
          </p:nvSpPr>
          <p:spPr>
            <a:xfrm>
              <a:off x="7653528" y="4114800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R$ 3.985</a:t>
              </a:r>
            </a:p>
          </p:txBody>
        </p:sp>
        <p:sp>
          <p:nvSpPr>
            <p:cNvPr id="116" name="Text 116"/>
            <p:cNvSpPr txBox="1"/>
            <p:nvPr/>
          </p:nvSpPr>
          <p:spPr>
            <a:xfrm>
              <a:off x="658368" y="4407408"/>
              <a:ext cx="30632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Pronto Atendimento</a:t>
              </a:r>
            </a:p>
          </p:txBody>
        </p:sp>
        <p:sp>
          <p:nvSpPr>
            <p:cNvPr id="117" name="Text 117"/>
            <p:cNvSpPr txBox="1"/>
            <p:nvPr/>
          </p:nvSpPr>
          <p:spPr>
            <a:xfrm>
              <a:off x="3721608" y="4407408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2025</a:t>
              </a:r>
            </a:p>
          </p:txBody>
        </p:sp>
        <p:sp>
          <p:nvSpPr>
            <p:cNvPr id="118" name="Text 118"/>
            <p:cNvSpPr txBox="1"/>
            <p:nvPr/>
          </p:nvSpPr>
          <p:spPr>
            <a:xfrm>
              <a:off x="4681728" y="4407408"/>
              <a:ext cx="6400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</a:t>
              </a:r>
            </a:p>
          </p:txBody>
        </p:sp>
        <p:sp>
          <p:nvSpPr>
            <p:cNvPr id="119" name="Text 119"/>
            <p:cNvSpPr txBox="1"/>
            <p:nvPr/>
          </p:nvSpPr>
          <p:spPr>
            <a:xfrm>
              <a:off x="5321808" y="4407408"/>
              <a:ext cx="10972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1,2 mil m2</a:t>
              </a:r>
            </a:p>
          </p:txBody>
        </p:sp>
        <p:sp>
          <p:nvSpPr>
            <p:cNvPr id="120" name="Text 120"/>
            <p:cNvSpPr txBox="1"/>
            <p:nvPr/>
          </p:nvSpPr>
          <p:spPr>
            <a:xfrm>
              <a:off x="6419088" y="4407408"/>
              <a:ext cx="12344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R$ 2,8 mi</a:t>
              </a:r>
            </a:p>
          </p:txBody>
        </p:sp>
        <p:sp>
          <p:nvSpPr>
            <p:cNvPr id="121" name="Text 121"/>
            <p:cNvSpPr txBox="1"/>
            <p:nvPr/>
          </p:nvSpPr>
          <p:spPr>
            <a:xfrm>
              <a:off x="7653528" y="4407408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R$ 2.302</a:t>
              </a:r>
            </a:p>
          </p:txBody>
        </p:sp>
        <p:sp>
          <p:nvSpPr>
            <p:cNvPr id="122" name="Text 122"/>
            <p:cNvSpPr txBox="1"/>
            <p:nvPr/>
          </p:nvSpPr>
          <p:spPr>
            <a:xfrm>
              <a:off x="658368" y="4700016"/>
              <a:ext cx="30632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Pronto Atendimento</a:t>
              </a:r>
            </a:p>
          </p:txBody>
        </p:sp>
        <p:sp>
          <p:nvSpPr>
            <p:cNvPr id="123" name="Text 123"/>
            <p:cNvSpPr txBox="1"/>
            <p:nvPr/>
          </p:nvSpPr>
          <p:spPr>
            <a:xfrm>
              <a:off x="3721608" y="4700016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2026</a:t>
              </a:r>
            </a:p>
          </p:txBody>
        </p:sp>
        <p:sp>
          <p:nvSpPr>
            <p:cNvPr id="124" name="Text 124"/>
            <p:cNvSpPr txBox="1"/>
            <p:nvPr/>
          </p:nvSpPr>
          <p:spPr>
            <a:xfrm>
              <a:off x="4681728" y="4700016"/>
              <a:ext cx="6400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</a:t>
              </a:r>
            </a:p>
          </p:txBody>
        </p:sp>
        <p:sp>
          <p:nvSpPr>
            <p:cNvPr id="125" name="Text 125"/>
            <p:cNvSpPr txBox="1"/>
            <p:nvPr/>
          </p:nvSpPr>
          <p:spPr>
            <a:xfrm>
              <a:off x="5321808" y="4700016"/>
              <a:ext cx="10972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2,5 mil m2</a:t>
              </a:r>
            </a:p>
          </p:txBody>
        </p:sp>
        <p:sp>
          <p:nvSpPr>
            <p:cNvPr id="126" name="Text 126"/>
            <p:cNvSpPr txBox="1"/>
            <p:nvPr/>
          </p:nvSpPr>
          <p:spPr>
            <a:xfrm>
              <a:off x="6419088" y="4700016"/>
              <a:ext cx="12344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R$ 7,6 mi</a:t>
              </a:r>
            </a:p>
          </p:txBody>
        </p:sp>
        <p:sp>
          <p:nvSpPr>
            <p:cNvPr id="127" name="Text 127"/>
            <p:cNvSpPr txBox="1"/>
            <p:nvPr/>
          </p:nvSpPr>
          <p:spPr>
            <a:xfrm>
              <a:off x="7653528" y="4700016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R$ 3.062</a:t>
              </a:r>
            </a:p>
          </p:txBody>
        </p:sp>
        <p:sp>
          <p:nvSpPr>
            <p:cNvPr id="128" name="Text 128"/>
            <p:cNvSpPr txBox="1"/>
            <p:nvPr/>
          </p:nvSpPr>
          <p:spPr>
            <a:xfrm>
              <a:off x="658368" y="4992624"/>
              <a:ext cx="30632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Clínicas, Diagnósticos, TEA e Laborat...</a:t>
              </a:r>
            </a:p>
          </p:txBody>
        </p:sp>
        <p:sp>
          <p:nvSpPr>
            <p:cNvPr id="129" name="Text 129"/>
            <p:cNvSpPr txBox="1"/>
            <p:nvPr/>
          </p:nvSpPr>
          <p:spPr>
            <a:xfrm>
              <a:off x="3721608" y="4992624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2023</a:t>
              </a:r>
            </a:p>
          </p:txBody>
        </p:sp>
        <p:sp>
          <p:nvSpPr>
            <p:cNvPr id="130" name="Text 130"/>
            <p:cNvSpPr txBox="1"/>
            <p:nvPr/>
          </p:nvSpPr>
          <p:spPr>
            <a:xfrm>
              <a:off x="4681728" y="4992624"/>
              <a:ext cx="6400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11</a:t>
              </a:r>
            </a:p>
          </p:txBody>
        </p:sp>
        <p:sp>
          <p:nvSpPr>
            <p:cNvPr id="131" name="Text 131"/>
            <p:cNvSpPr txBox="1"/>
            <p:nvPr/>
          </p:nvSpPr>
          <p:spPr>
            <a:xfrm>
              <a:off x="5321808" y="4992624"/>
              <a:ext cx="10972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6,1 mil m2</a:t>
              </a:r>
            </a:p>
          </p:txBody>
        </p:sp>
        <p:sp>
          <p:nvSpPr>
            <p:cNvPr id="132" name="Text 132"/>
            <p:cNvSpPr txBox="1"/>
            <p:nvPr/>
          </p:nvSpPr>
          <p:spPr>
            <a:xfrm>
              <a:off x="6419088" y="4992624"/>
              <a:ext cx="12344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R$ 12,3 mi</a:t>
              </a:r>
            </a:p>
          </p:txBody>
        </p:sp>
        <p:sp>
          <p:nvSpPr>
            <p:cNvPr id="133" name="Text 133"/>
            <p:cNvSpPr txBox="1"/>
            <p:nvPr/>
          </p:nvSpPr>
          <p:spPr>
            <a:xfrm>
              <a:off x="7653528" y="4992624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R$ 2.043</a:t>
              </a:r>
            </a:p>
          </p:txBody>
        </p:sp>
        <p:sp>
          <p:nvSpPr>
            <p:cNvPr id="134" name="Text 134"/>
            <p:cNvSpPr txBox="1"/>
            <p:nvPr/>
          </p:nvSpPr>
          <p:spPr>
            <a:xfrm>
              <a:off x="658368" y="5285232"/>
              <a:ext cx="30632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Clínicas, Diagnósticos, TEA e Laborat...</a:t>
              </a:r>
            </a:p>
          </p:txBody>
        </p:sp>
        <p:sp>
          <p:nvSpPr>
            <p:cNvPr id="135" name="Text 135"/>
            <p:cNvSpPr txBox="1"/>
            <p:nvPr/>
          </p:nvSpPr>
          <p:spPr>
            <a:xfrm>
              <a:off x="3721608" y="5285232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2024</a:t>
              </a:r>
            </a:p>
          </p:txBody>
        </p:sp>
        <p:sp>
          <p:nvSpPr>
            <p:cNvPr id="136" name="Text 136"/>
            <p:cNvSpPr txBox="1"/>
            <p:nvPr/>
          </p:nvSpPr>
          <p:spPr>
            <a:xfrm>
              <a:off x="4681728" y="5285232"/>
              <a:ext cx="6400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13</a:t>
              </a:r>
            </a:p>
          </p:txBody>
        </p:sp>
        <p:sp>
          <p:nvSpPr>
            <p:cNvPr id="137" name="Text 137"/>
            <p:cNvSpPr txBox="1"/>
            <p:nvPr/>
          </p:nvSpPr>
          <p:spPr>
            <a:xfrm>
              <a:off x="5321808" y="5285232"/>
              <a:ext cx="10972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3,0 mil m2</a:t>
              </a:r>
            </a:p>
          </p:txBody>
        </p:sp>
        <p:sp>
          <p:nvSpPr>
            <p:cNvPr id="138" name="Text 138"/>
            <p:cNvSpPr txBox="1"/>
            <p:nvPr/>
          </p:nvSpPr>
          <p:spPr>
            <a:xfrm>
              <a:off x="6419088" y="5285232"/>
              <a:ext cx="12344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R$ 4,5 mi</a:t>
              </a:r>
            </a:p>
          </p:txBody>
        </p:sp>
        <p:sp>
          <p:nvSpPr>
            <p:cNvPr id="139" name="Text 139"/>
            <p:cNvSpPr txBox="1"/>
            <p:nvPr/>
          </p:nvSpPr>
          <p:spPr>
            <a:xfrm>
              <a:off x="7653528" y="5285232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R$ 1.538</a:t>
              </a:r>
            </a:p>
          </p:txBody>
        </p:sp>
        <p:sp>
          <p:nvSpPr>
            <p:cNvPr id="140" name="Text 140"/>
            <p:cNvSpPr txBox="1"/>
            <p:nvPr/>
          </p:nvSpPr>
          <p:spPr>
            <a:xfrm>
              <a:off x="658368" y="5577840"/>
              <a:ext cx="30632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Clínicas, Diagnósticos, TEA e Laborat...</a:t>
              </a:r>
            </a:p>
          </p:txBody>
        </p:sp>
        <p:sp>
          <p:nvSpPr>
            <p:cNvPr id="141" name="Text 141"/>
            <p:cNvSpPr txBox="1"/>
            <p:nvPr/>
          </p:nvSpPr>
          <p:spPr>
            <a:xfrm>
              <a:off x="3721608" y="5577840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2025</a:t>
              </a:r>
            </a:p>
          </p:txBody>
        </p:sp>
        <p:sp>
          <p:nvSpPr>
            <p:cNvPr id="142" name="Text 142"/>
            <p:cNvSpPr txBox="1"/>
            <p:nvPr/>
          </p:nvSpPr>
          <p:spPr>
            <a:xfrm>
              <a:off x="4681728" y="5577840"/>
              <a:ext cx="6400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40</a:t>
              </a:r>
            </a:p>
          </p:txBody>
        </p:sp>
        <p:sp>
          <p:nvSpPr>
            <p:cNvPr id="143" name="Text 143"/>
            <p:cNvSpPr txBox="1"/>
            <p:nvPr/>
          </p:nvSpPr>
          <p:spPr>
            <a:xfrm>
              <a:off x="5321808" y="5577840"/>
              <a:ext cx="109728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41,4 mil m2</a:t>
              </a:r>
            </a:p>
          </p:txBody>
        </p:sp>
        <p:sp>
          <p:nvSpPr>
            <p:cNvPr id="144" name="Text 144"/>
            <p:cNvSpPr txBox="1"/>
            <p:nvPr/>
          </p:nvSpPr>
          <p:spPr>
            <a:xfrm>
              <a:off x="6419088" y="5577840"/>
              <a:ext cx="123444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R$ 87,4 mi</a:t>
              </a:r>
            </a:p>
          </p:txBody>
        </p:sp>
        <p:sp>
          <p:nvSpPr>
            <p:cNvPr id="145" name="Text 145"/>
            <p:cNvSpPr txBox="1"/>
            <p:nvPr/>
          </p:nvSpPr>
          <p:spPr>
            <a:xfrm>
              <a:off x="7653528" y="5577840"/>
              <a:ext cx="960120" cy="292608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R$ 2.157</a:t>
              </a:r>
            </a:p>
          </p:txBody>
        </p:sp>
        <p:sp>
          <p:nvSpPr>
            <p:cNvPr id="146" name="Text 146"/>
            <p:cNvSpPr txBox="1"/>
            <p:nvPr/>
          </p:nvSpPr>
          <p:spPr>
            <a:xfrm>
              <a:off x="658368" y="5870448"/>
              <a:ext cx="30632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1000">
                  <a:solidFill>
                    <a:srgbClr val="15253F"/>
                  </a:solidFill>
                </a:rPr>
                <a:t>Clínicas, Diagnósticos, TEA e Laborat...</a:t>
              </a:r>
            </a:p>
          </p:txBody>
        </p:sp>
        <p:sp>
          <p:nvSpPr>
            <p:cNvPr id="147" name="Text 147"/>
            <p:cNvSpPr txBox="1"/>
            <p:nvPr/>
          </p:nvSpPr>
          <p:spPr>
            <a:xfrm>
              <a:off x="3721608" y="5870448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2026</a:t>
              </a:r>
            </a:p>
          </p:txBody>
        </p:sp>
        <p:sp>
          <p:nvSpPr>
            <p:cNvPr id="148" name="Text 148"/>
            <p:cNvSpPr txBox="1"/>
            <p:nvPr/>
          </p:nvSpPr>
          <p:spPr>
            <a:xfrm>
              <a:off x="4681728" y="5870448"/>
              <a:ext cx="6400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20</a:t>
              </a:r>
            </a:p>
          </p:txBody>
        </p:sp>
        <p:sp>
          <p:nvSpPr>
            <p:cNvPr id="149" name="Text 149"/>
            <p:cNvSpPr txBox="1"/>
            <p:nvPr/>
          </p:nvSpPr>
          <p:spPr>
            <a:xfrm>
              <a:off x="5321808" y="5870448"/>
              <a:ext cx="109728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18,8 mil m2</a:t>
              </a:r>
            </a:p>
          </p:txBody>
        </p:sp>
        <p:sp>
          <p:nvSpPr>
            <p:cNvPr id="150" name="Text 150"/>
            <p:cNvSpPr txBox="1"/>
            <p:nvPr/>
          </p:nvSpPr>
          <p:spPr>
            <a:xfrm>
              <a:off x="6419088" y="5870448"/>
              <a:ext cx="123444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R$ 40,2 mi</a:t>
              </a: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7653528" y="5870448"/>
              <a:ext cx="960120" cy="29260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1000">
                  <a:solidFill>
                    <a:srgbClr val="15253F"/>
                  </a:solidFill>
                </a:rPr>
                <a:t>R$ 2.188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Hospitais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2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2023 a 2026 | Pagina 1/1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17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42,6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R$ 84,0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R$ 2.014/m2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60041CD7-A19D-B140-2DBD-32D7CBF2B0E3}"/>
              </a:ext>
            </a:extLst>
          </p:cNvPr>
          <p:cNvGrpSpPr/>
          <p:nvPr/>
        </p:nvGrpSpPr>
        <p:grpSpPr>
          <a:xfrm>
            <a:off x="566928" y="1837944"/>
            <a:ext cx="6748101" cy="4325112"/>
            <a:chOff x="438912" y="1993392"/>
            <a:chExt cx="5376672" cy="4325112"/>
          </a:xfrm>
        </p:grpSpPr>
        <p:sp>
          <p:nvSpPr>
            <p:cNvPr id="100" name="Text 100"/>
            <p:cNvSpPr txBox="1"/>
            <p:nvPr/>
          </p:nvSpPr>
          <p:spPr>
            <a:xfrm>
              <a:off x="438912" y="1993392"/>
              <a:ext cx="221284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</a:t>
              </a:r>
            </a:p>
          </p:txBody>
        </p:sp>
        <p:sp>
          <p:nvSpPr>
            <p:cNvPr id="101" name="Text 101"/>
            <p:cNvSpPr txBox="1"/>
            <p:nvPr/>
          </p:nvSpPr>
          <p:spPr>
            <a:xfrm>
              <a:off x="2651760" y="1993392"/>
              <a:ext cx="25603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UF</a:t>
              </a:r>
            </a:p>
          </p:txBody>
        </p:sp>
        <p:sp>
          <p:nvSpPr>
            <p:cNvPr id="102" name="Text 102"/>
            <p:cNvSpPr txBox="1"/>
            <p:nvPr/>
          </p:nvSpPr>
          <p:spPr>
            <a:xfrm>
              <a:off x="2907792" y="1993392"/>
              <a:ext cx="41148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Fim</a:t>
              </a:r>
            </a:p>
          </p:txBody>
        </p:sp>
        <p:sp>
          <p:nvSpPr>
            <p:cNvPr id="103" name="Text 103"/>
            <p:cNvSpPr txBox="1"/>
            <p:nvPr/>
          </p:nvSpPr>
          <p:spPr>
            <a:xfrm>
              <a:off x="3319272" y="1993392"/>
              <a:ext cx="56692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Status</a:t>
              </a:r>
            </a:p>
          </p:txBody>
        </p:sp>
        <p:sp>
          <p:nvSpPr>
            <p:cNvPr id="104" name="Text 104"/>
            <p:cNvSpPr txBox="1"/>
            <p:nvPr/>
          </p:nvSpPr>
          <p:spPr>
            <a:xfrm>
              <a:off x="3886200" y="1993392"/>
              <a:ext cx="75895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105" name="Text 105"/>
            <p:cNvSpPr txBox="1"/>
            <p:nvPr/>
          </p:nvSpPr>
          <p:spPr>
            <a:xfrm>
              <a:off x="4645152" y="1993392"/>
              <a:ext cx="54864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m2</a:t>
              </a:r>
            </a:p>
          </p:txBody>
        </p:sp>
        <p:sp>
          <p:nvSpPr>
            <p:cNvPr id="106" name="Text 106"/>
            <p:cNvSpPr txBox="1"/>
            <p:nvPr/>
          </p:nvSpPr>
          <p:spPr>
            <a:xfrm>
              <a:off x="5193792" y="1993392"/>
              <a:ext cx="62179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R$/m2</a:t>
              </a:r>
            </a:p>
          </p:txBody>
        </p:sp>
        <p:sp>
          <p:nvSpPr>
            <p:cNvPr id="107" name="Text 107"/>
            <p:cNvSpPr txBox="1"/>
            <p:nvPr/>
          </p:nvSpPr>
          <p:spPr>
            <a:xfrm>
              <a:off x="438912" y="2189988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2023 | 6 obras | 15,3 mil m2 | R$ 29,7 mi | R$ 2.009/m2</a:t>
              </a:r>
            </a:p>
          </p:txBody>
        </p:sp>
        <p:sp>
          <p:nvSpPr>
            <p:cNvPr id="108" name="Text 108"/>
            <p:cNvSpPr txBox="1"/>
            <p:nvPr/>
          </p:nvSpPr>
          <p:spPr>
            <a:xfrm>
              <a:off x="438912" y="238658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3622.Maternidade HS Santa Martha</a:t>
              </a:r>
            </a:p>
          </p:txBody>
        </p:sp>
        <p:sp>
          <p:nvSpPr>
            <p:cNvPr id="109" name="Text 109"/>
            <p:cNvSpPr txBox="1"/>
            <p:nvPr/>
          </p:nvSpPr>
          <p:spPr>
            <a:xfrm>
              <a:off x="2651760" y="238658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RJ</a:t>
              </a:r>
            </a:p>
          </p:txBody>
        </p:sp>
        <p:sp>
          <p:nvSpPr>
            <p:cNvPr id="110" name="Text 110"/>
            <p:cNvSpPr txBox="1"/>
            <p:nvPr/>
          </p:nvSpPr>
          <p:spPr>
            <a:xfrm>
              <a:off x="2907792" y="238658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Set/23</a:t>
              </a:r>
            </a:p>
          </p:txBody>
        </p:sp>
        <p:sp>
          <p:nvSpPr>
            <p:cNvPr id="111" name="Text 111"/>
            <p:cNvSpPr txBox="1"/>
            <p:nvPr/>
          </p:nvSpPr>
          <p:spPr>
            <a:xfrm>
              <a:off x="3319272" y="238658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2" name="Text 112"/>
            <p:cNvSpPr txBox="1"/>
            <p:nvPr/>
          </p:nvSpPr>
          <p:spPr>
            <a:xfrm>
              <a:off x="3886200" y="238658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R$ 1,3 mi</a:t>
              </a:r>
            </a:p>
          </p:txBody>
        </p:sp>
        <p:sp>
          <p:nvSpPr>
            <p:cNvPr id="113" name="Text 113"/>
            <p:cNvSpPr txBox="1"/>
            <p:nvPr/>
          </p:nvSpPr>
          <p:spPr>
            <a:xfrm>
              <a:off x="4645152" y="238658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1,3 mil m2</a:t>
              </a:r>
            </a:p>
          </p:txBody>
        </p:sp>
        <p:sp>
          <p:nvSpPr>
            <p:cNvPr id="114" name="Text 114"/>
            <p:cNvSpPr txBox="1"/>
            <p:nvPr/>
          </p:nvSpPr>
          <p:spPr>
            <a:xfrm>
              <a:off x="5193792" y="238658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R$ 1.025</a:t>
              </a:r>
            </a:p>
          </p:txBody>
        </p:sp>
        <p:sp>
          <p:nvSpPr>
            <p:cNvPr id="115" name="Text 115"/>
            <p:cNvSpPr txBox="1"/>
            <p:nvPr/>
          </p:nvSpPr>
          <p:spPr>
            <a:xfrm>
              <a:off x="438912" y="258318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3131.Retrofit HB Saúde</a:t>
              </a:r>
            </a:p>
          </p:txBody>
        </p:sp>
        <p:sp>
          <p:nvSpPr>
            <p:cNvPr id="116" name="Text 116"/>
            <p:cNvSpPr txBox="1"/>
            <p:nvPr/>
          </p:nvSpPr>
          <p:spPr>
            <a:xfrm>
              <a:off x="2651760" y="258318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17" name="Text 117"/>
            <p:cNvSpPr txBox="1"/>
            <p:nvPr/>
          </p:nvSpPr>
          <p:spPr>
            <a:xfrm>
              <a:off x="2907792" y="258318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Nov/23</a:t>
              </a:r>
            </a:p>
          </p:txBody>
        </p:sp>
        <p:sp>
          <p:nvSpPr>
            <p:cNvPr id="118" name="Text 118"/>
            <p:cNvSpPr txBox="1"/>
            <p:nvPr/>
          </p:nvSpPr>
          <p:spPr>
            <a:xfrm>
              <a:off x="3319272" y="258318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9" name="Text 119"/>
            <p:cNvSpPr txBox="1"/>
            <p:nvPr/>
          </p:nvSpPr>
          <p:spPr>
            <a:xfrm>
              <a:off x="3886200" y="258318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 dirty="0">
                  <a:solidFill>
                    <a:srgbClr val="15253F"/>
                  </a:solidFill>
                </a:rPr>
                <a:t>R$ 22,7 mi</a:t>
              </a:r>
            </a:p>
          </p:txBody>
        </p:sp>
        <p:sp>
          <p:nvSpPr>
            <p:cNvPr id="120" name="Text 120"/>
            <p:cNvSpPr txBox="1"/>
            <p:nvPr/>
          </p:nvSpPr>
          <p:spPr>
            <a:xfrm>
              <a:off x="4645152" y="258318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13,0 mil m2</a:t>
              </a:r>
            </a:p>
          </p:txBody>
        </p:sp>
        <p:sp>
          <p:nvSpPr>
            <p:cNvPr id="121" name="Text 121"/>
            <p:cNvSpPr txBox="1"/>
            <p:nvPr/>
          </p:nvSpPr>
          <p:spPr>
            <a:xfrm>
              <a:off x="5193792" y="258318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R$ 1.811</a:t>
              </a:r>
            </a:p>
          </p:txBody>
        </p:sp>
        <p:sp>
          <p:nvSpPr>
            <p:cNvPr id="122" name="Text 122"/>
            <p:cNvSpPr txBox="1"/>
            <p:nvPr/>
          </p:nvSpPr>
          <p:spPr>
            <a:xfrm>
              <a:off x="438912" y="277977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9063.PS HS São Lucas</a:t>
              </a:r>
            </a:p>
          </p:txBody>
        </p:sp>
        <p:sp>
          <p:nvSpPr>
            <p:cNvPr id="123" name="Text 123"/>
            <p:cNvSpPr txBox="1"/>
            <p:nvPr/>
          </p:nvSpPr>
          <p:spPr>
            <a:xfrm>
              <a:off x="2651760" y="277977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24" name="Text 124"/>
            <p:cNvSpPr txBox="1"/>
            <p:nvPr/>
          </p:nvSpPr>
          <p:spPr>
            <a:xfrm>
              <a:off x="2907792" y="277977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Mar/23</a:t>
              </a:r>
            </a:p>
          </p:txBody>
        </p:sp>
        <p:sp>
          <p:nvSpPr>
            <p:cNvPr id="125" name="Text 125"/>
            <p:cNvSpPr txBox="1"/>
            <p:nvPr/>
          </p:nvSpPr>
          <p:spPr>
            <a:xfrm>
              <a:off x="3319272" y="277977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26" name="Text 126"/>
            <p:cNvSpPr txBox="1"/>
            <p:nvPr/>
          </p:nvSpPr>
          <p:spPr>
            <a:xfrm>
              <a:off x="3886200" y="277977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R$ 1,4 mi</a:t>
              </a:r>
            </a:p>
          </p:txBody>
        </p:sp>
        <p:sp>
          <p:nvSpPr>
            <p:cNvPr id="127" name="Text 127"/>
            <p:cNvSpPr txBox="1"/>
            <p:nvPr/>
          </p:nvSpPr>
          <p:spPr>
            <a:xfrm>
              <a:off x="4645152" y="277977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303 m2</a:t>
              </a:r>
            </a:p>
          </p:txBody>
        </p:sp>
        <p:sp>
          <p:nvSpPr>
            <p:cNvPr id="128" name="Text 128"/>
            <p:cNvSpPr txBox="1"/>
            <p:nvPr/>
          </p:nvSpPr>
          <p:spPr>
            <a:xfrm>
              <a:off x="5193792" y="277977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R$ 4.663</a:t>
              </a:r>
            </a:p>
          </p:txBody>
        </p:sp>
        <p:sp>
          <p:nvSpPr>
            <p:cNvPr id="129" name="Text 129"/>
            <p:cNvSpPr txBox="1"/>
            <p:nvPr/>
          </p:nvSpPr>
          <p:spPr>
            <a:xfrm>
              <a:off x="438912" y="297637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9082.SADT HS Santana</a:t>
              </a:r>
            </a:p>
          </p:txBody>
        </p:sp>
        <p:sp>
          <p:nvSpPr>
            <p:cNvPr id="130" name="Text 130"/>
            <p:cNvSpPr txBox="1"/>
            <p:nvPr/>
          </p:nvSpPr>
          <p:spPr>
            <a:xfrm>
              <a:off x="2651760" y="297637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31" name="Text 131"/>
            <p:cNvSpPr txBox="1"/>
            <p:nvPr/>
          </p:nvSpPr>
          <p:spPr>
            <a:xfrm>
              <a:off x="2907792" y="297637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Jul/23</a:t>
              </a:r>
            </a:p>
          </p:txBody>
        </p:sp>
        <p:sp>
          <p:nvSpPr>
            <p:cNvPr id="132" name="Text 132"/>
            <p:cNvSpPr txBox="1"/>
            <p:nvPr/>
          </p:nvSpPr>
          <p:spPr>
            <a:xfrm>
              <a:off x="3319272" y="297637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33" name="Text 133"/>
            <p:cNvSpPr txBox="1"/>
            <p:nvPr/>
          </p:nvSpPr>
          <p:spPr>
            <a:xfrm>
              <a:off x="3886200" y="297637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R$ 3,8 mi</a:t>
              </a:r>
            </a:p>
          </p:txBody>
        </p:sp>
        <p:sp>
          <p:nvSpPr>
            <p:cNvPr id="134" name="Text 134"/>
            <p:cNvSpPr txBox="1"/>
            <p:nvPr/>
          </p:nvSpPr>
          <p:spPr>
            <a:xfrm>
              <a:off x="4645152" y="297637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496 m2</a:t>
              </a:r>
            </a:p>
          </p:txBody>
        </p:sp>
        <p:sp>
          <p:nvSpPr>
            <p:cNvPr id="135" name="Text 135"/>
            <p:cNvSpPr txBox="1"/>
            <p:nvPr/>
          </p:nvSpPr>
          <p:spPr>
            <a:xfrm>
              <a:off x="5193792" y="297637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R$ 7.850</a:t>
              </a:r>
            </a:p>
          </p:txBody>
        </p:sp>
        <p:sp>
          <p:nvSpPr>
            <p:cNvPr id="136" name="Text 136"/>
            <p:cNvSpPr txBox="1"/>
            <p:nvPr/>
          </p:nvSpPr>
          <p:spPr>
            <a:xfrm>
              <a:off x="438912" y="317296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3595.Adequação Capelas HS Santa M...</a:t>
              </a:r>
            </a:p>
          </p:txBody>
        </p:sp>
        <p:sp>
          <p:nvSpPr>
            <p:cNvPr id="137" name="Text 137"/>
            <p:cNvSpPr txBox="1"/>
            <p:nvPr/>
          </p:nvSpPr>
          <p:spPr>
            <a:xfrm>
              <a:off x="2651760" y="317296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RJ</a:t>
              </a:r>
            </a:p>
          </p:txBody>
        </p:sp>
        <p:sp>
          <p:nvSpPr>
            <p:cNvPr id="138" name="Text 138"/>
            <p:cNvSpPr txBox="1"/>
            <p:nvPr/>
          </p:nvSpPr>
          <p:spPr>
            <a:xfrm>
              <a:off x="2907792" y="317296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Jul/23</a:t>
              </a:r>
            </a:p>
          </p:txBody>
        </p:sp>
        <p:sp>
          <p:nvSpPr>
            <p:cNvPr id="139" name="Text 139"/>
            <p:cNvSpPr txBox="1"/>
            <p:nvPr/>
          </p:nvSpPr>
          <p:spPr>
            <a:xfrm>
              <a:off x="3319272" y="317296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40" name="Text 140"/>
            <p:cNvSpPr txBox="1"/>
            <p:nvPr/>
          </p:nvSpPr>
          <p:spPr>
            <a:xfrm>
              <a:off x="3886200" y="317296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R$ 286,5 mil</a:t>
              </a:r>
            </a:p>
          </p:txBody>
        </p:sp>
        <p:sp>
          <p:nvSpPr>
            <p:cNvPr id="141" name="Text 141"/>
            <p:cNvSpPr txBox="1"/>
            <p:nvPr/>
          </p:nvSpPr>
          <p:spPr>
            <a:xfrm>
              <a:off x="4645152" y="317296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108 m2</a:t>
              </a:r>
            </a:p>
          </p:txBody>
        </p:sp>
        <p:sp>
          <p:nvSpPr>
            <p:cNvPr id="142" name="Text 142"/>
            <p:cNvSpPr txBox="1"/>
            <p:nvPr/>
          </p:nvSpPr>
          <p:spPr>
            <a:xfrm>
              <a:off x="5193792" y="317296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R$ 2.642</a:t>
              </a:r>
            </a:p>
          </p:txBody>
        </p:sp>
        <p:sp>
          <p:nvSpPr>
            <p:cNvPr id="143" name="Text 143"/>
            <p:cNvSpPr txBox="1"/>
            <p:nvPr/>
          </p:nvSpPr>
          <p:spPr>
            <a:xfrm>
              <a:off x="438912" y="336956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3616.Adequação Capelas HS Salvalus</a:t>
              </a:r>
            </a:p>
          </p:txBody>
        </p:sp>
        <p:sp>
          <p:nvSpPr>
            <p:cNvPr id="144" name="Text 144"/>
            <p:cNvSpPr txBox="1"/>
            <p:nvPr/>
          </p:nvSpPr>
          <p:spPr>
            <a:xfrm>
              <a:off x="2651760" y="336956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45" name="Text 145"/>
            <p:cNvSpPr txBox="1"/>
            <p:nvPr/>
          </p:nvSpPr>
          <p:spPr>
            <a:xfrm>
              <a:off x="2907792" y="336956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Jul/23</a:t>
              </a:r>
            </a:p>
          </p:txBody>
        </p:sp>
        <p:sp>
          <p:nvSpPr>
            <p:cNvPr id="146" name="Text 146"/>
            <p:cNvSpPr txBox="1"/>
            <p:nvPr/>
          </p:nvSpPr>
          <p:spPr>
            <a:xfrm>
              <a:off x="3319272" y="336956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47" name="Text 147"/>
            <p:cNvSpPr txBox="1"/>
            <p:nvPr/>
          </p:nvSpPr>
          <p:spPr>
            <a:xfrm>
              <a:off x="3886200" y="336956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R$ 215,1 mil</a:t>
              </a:r>
            </a:p>
          </p:txBody>
        </p:sp>
        <p:sp>
          <p:nvSpPr>
            <p:cNvPr id="148" name="Text 148"/>
            <p:cNvSpPr txBox="1"/>
            <p:nvPr/>
          </p:nvSpPr>
          <p:spPr>
            <a:xfrm>
              <a:off x="4645152" y="336956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81 m2</a:t>
              </a:r>
            </a:p>
          </p:txBody>
        </p:sp>
        <p:sp>
          <p:nvSpPr>
            <p:cNvPr id="149" name="Text 149"/>
            <p:cNvSpPr txBox="1"/>
            <p:nvPr/>
          </p:nvSpPr>
          <p:spPr>
            <a:xfrm>
              <a:off x="5193792" y="336956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R$ 2.650</a:t>
              </a:r>
            </a:p>
          </p:txBody>
        </p:sp>
        <p:sp>
          <p:nvSpPr>
            <p:cNvPr id="150" name="Text 150"/>
            <p:cNvSpPr txBox="1"/>
            <p:nvPr/>
          </p:nvSpPr>
          <p:spPr>
            <a:xfrm>
              <a:off x="438912" y="3566160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2024 | 4 obras | 4,0 mil m2 | R$ 7,5 mi | R$ 1.930/m2</a:t>
              </a: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438912" y="376275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3523.Maternidade e Laboratório HS...</a:t>
              </a:r>
            </a:p>
          </p:txBody>
        </p:sp>
        <p:sp>
          <p:nvSpPr>
            <p:cNvPr id="152" name="Text 152"/>
            <p:cNvSpPr txBox="1"/>
            <p:nvPr/>
          </p:nvSpPr>
          <p:spPr>
            <a:xfrm>
              <a:off x="2651760" y="376275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RS</a:t>
              </a:r>
            </a:p>
          </p:txBody>
        </p:sp>
        <p:sp>
          <p:nvSpPr>
            <p:cNvPr id="153" name="Text 153"/>
            <p:cNvSpPr txBox="1"/>
            <p:nvPr/>
          </p:nvSpPr>
          <p:spPr>
            <a:xfrm>
              <a:off x="2907792" y="376275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Nov/24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3319272" y="376275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3886200" y="376275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R$ 3,8 mi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4645152" y="376275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2,3 mil m2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5193792" y="376275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R$ 1.706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438912" y="395935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3639.Retrofit Maternidade HS São...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2651760" y="395935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2907792" y="395935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Mai/24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3319272" y="395935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3886200" y="395935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R$ 830,0 mil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4645152" y="395935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406 m2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5193792" y="395935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R$ 2.042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438912" y="415594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3539.Retrofit Maternidade HS Sant...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2651760" y="415594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2907792" y="415594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Jun/24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3319272" y="415594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3886200" y="415594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R$ 2,5 mi</a:t>
              </a:r>
            </a:p>
          </p:txBody>
        </p:sp>
        <p:sp>
          <p:nvSpPr>
            <p:cNvPr id="170" name="Text 170"/>
            <p:cNvSpPr txBox="1"/>
            <p:nvPr/>
          </p:nvSpPr>
          <p:spPr>
            <a:xfrm>
              <a:off x="4645152" y="415594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942 m2</a:t>
              </a:r>
            </a:p>
          </p:txBody>
        </p:sp>
        <p:sp>
          <p:nvSpPr>
            <p:cNvPr id="171" name="Text 171"/>
            <p:cNvSpPr txBox="1"/>
            <p:nvPr/>
          </p:nvSpPr>
          <p:spPr>
            <a:xfrm>
              <a:off x="5193792" y="415594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R$ 2.637</a:t>
              </a:r>
            </a:p>
          </p:txBody>
        </p:sp>
        <p:sp>
          <p:nvSpPr>
            <p:cNvPr id="172" name="Text 172"/>
            <p:cNvSpPr txBox="1"/>
            <p:nvPr/>
          </p:nvSpPr>
          <p:spPr>
            <a:xfrm>
              <a:off x="438912" y="435254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3438.Nova Psiquiatria HS Ana Lima</a:t>
              </a:r>
            </a:p>
          </p:txBody>
        </p:sp>
        <p:sp>
          <p:nvSpPr>
            <p:cNvPr id="173" name="Text 173"/>
            <p:cNvSpPr txBox="1"/>
            <p:nvPr/>
          </p:nvSpPr>
          <p:spPr>
            <a:xfrm>
              <a:off x="2651760" y="435254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174" name="Text 174"/>
            <p:cNvSpPr txBox="1"/>
            <p:nvPr/>
          </p:nvSpPr>
          <p:spPr>
            <a:xfrm>
              <a:off x="2907792" y="435254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Jul/24</a:t>
              </a:r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3319272" y="435254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76" name="Text 176"/>
            <p:cNvSpPr txBox="1"/>
            <p:nvPr/>
          </p:nvSpPr>
          <p:spPr>
            <a:xfrm>
              <a:off x="3886200" y="435254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R$ 379,0 mil</a:t>
              </a:r>
            </a:p>
          </p:txBody>
        </p:sp>
        <p:sp>
          <p:nvSpPr>
            <p:cNvPr id="177" name="Text 177"/>
            <p:cNvSpPr txBox="1"/>
            <p:nvPr/>
          </p:nvSpPr>
          <p:spPr>
            <a:xfrm>
              <a:off x="4645152" y="435254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298 m2</a:t>
              </a:r>
            </a:p>
          </p:txBody>
        </p:sp>
        <p:sp>
          <p:nvSpPr>
            <p:cNvPr id="178" name="Text 178"/>
            <p:cNvSpPr txBox="1"/>
            <p:nvPr/>
          </p:nvSpPr>
          <p:spPr>
            <a:xfrm>
              <a:off x="5193792" y="435254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R$ 1.271</a:t>
              </a:r>
            </a:p>
          </p:txBody>
        </p:sp>
        <p:sp>
          <p:nvSpPr>
            <p:cNvPr id="179" name="Text 179"/>
            <p:cNvSpPr txBox="1"/>
            <p:nvPr/>
          </p:nvSpPr>
          <p:spPr>
            <a:xfrm>
              <a:off x="438912" y="4549140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2025 | 4 obras | 12,4 mil m2 | R$ 22,7 mi | R$ 1.874/m2</a:t>
              </a:r>
            </a:p>
          </p:txBody>
        </p:sp>
        <p:sp>
          <p:nvSpPr>
            <p:cNvPr id="180" name="Text 180"/>
            <p:cNvSpPr txBox="1"/>
            <p:nvPr/>
          </p:nvSpPr>
          <p:spPr>
            <a:xfrm>
              <a:off x="438912" y="474573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4065.Reabertura HS Analia Franco...</a:t>
              </a:r>
            </a:p>
          </p:txBody>
        </p:sp>
        <p:sp>
          <p:nvSpPr>
            <p:cNvPr id="181" name="Text 181"/>
            <p:cNvSpPr txBox="1"/>
            <p:nvPr/>
          </p:nvSpPr>
          <p:spPr>
            <a:xfrm>
              <a:off x="2651760" y="474573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82" name="Text 182"/>
            <p:cNvSpPr txBox="1"/>
            <p:nvPr/>
          </p:nvSpPr>
          <p:spPr>
            <a:xfrm>
              <a:off x="2907792" y="474573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Jan/25</a:t>
              </a:r>
            </a:p>
          </p:txBody>
        </p:sp>
        <p:sp>
          <p:nvSpPr>
            <p:cNvPr id="183" name="Text 183"/>
            <p:cNvSpPr txBox="1"/>
            <p:nvPr/>
          </p:nvSpPr>
          <p:spPr>
            <a:xfrm>
              <a:off x="3319272" y="474573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84" name="Text 184"/>
            <p:cNvSpPr txBox="1"/>
            <p:nvPr/>
          </p:nvSpPr>
          <p:spPr>
            <a:xfrm>
              <a:off x="3886200" y="474573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R$ 6,5 mi</a:t>
              </a:r>
            </a:p>
          </p:txBody>
        </p:sp>
        <p:sp>
          <p:nvSpPr>
            <p:cNvPr id="185" name="Text 185"/>
            <p:cNvSpPr txBox="1"/>
            <p:nvPr/>
          </p:nvSpPr>
          <p:spPr>
            <a:xfrm>
              <a:off x="4645152" y="474573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6,2 mil m2</a:t>
              </a:r>
            </a:p>
          </p:txBody>
        </p:sp>
        <p:sp>
          <p:nvSpPr>
            <p:cNvPr id="186" name="Text 186"/>
            <p:cNvSpPr txBox="1"/>
            <p:nvPr/>
          </p:nvSpPr>
          <p:spPr>
            <a:xfrm>
              <a:off x="5193792" y="474573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R$ 1.064</a:t>
              </a:r>
            </a:p>
          </p:txBody>
        </p:sp>
        <p:sp>
          <p:nvSpPr>
            <p:cNvPr id="187" name="Text 187"/>
            <p:cNvSpPr txBox="1"/>
            <p:nvPr/>
          </p:nvSpPr>
          <p:spPr>
            <a:xfrm>
              <a:off x="438912" y="494233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0000.Ampliação de Leitos HS Santa...</a:t>
              </a:r>
            </a:p>
          </p:txBody>
        </p:sp>
        <p:sp>
          <p:nvSpPr>
            <p:cNvPr id="188" name="Text 188"/>
            <p:cNvSpPr txBox="1"/>
            <p:nvPr/>
          </p:nvSpPr>
          <p:spPr>
            <a:xfrm>
              <a:off x="2651760" y="494233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189" name="Text 189"/>
            <p:cNvSpPr txBox="1"/>
            <p:nvPr/>
          </p:nvSpPr>
          <p:spPr>
            <a:xfrm>
              <a:off x="2907792" y="494233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190" name="Text 190"/>
            <p:cNvSpPr txBox="1"/>
            <p:nvPr/>
          </p:nvSpPr>
          <p:spPr>
            <a:xfrm>
              <a:off x="3319272" y="494233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91" name="Text 191"/>
            <p:cNvSpPr txBox="1"/>
            <p:nvPr/>
          </p:nvSpPr>
          <p:spPr>
            <a:xfrm>
              <a:off x="3886200" y="494233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R$ 1,3 mi</a:t>
              </a:r>
            </a:p>
          </p:txBody>
        </p:sp>
        <p:sp>
          <p:nvSpPr>
            <p:cNvPr id="192" name="Text 192"/>
            <p:cNvSpPr txBox="1"/>
            <p:nvPr/>
          </p:nvSpPr>
          <p:spPr>
            <a:xfrm>
              <a:off x="4645152" y="494233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709 m2</a:t>
              </a:r>
            </a:p>
          </p:txBody>
        </p:sp>
        <p:sp>
          <p:nvSpPr>
            <p:cNvPr id="193" name="Text 193"/>
            <p:cNvSpPr txBox="1"/>
            <p:nvPr/>
          </p:nvSpPr>
          <p:spPr>
            <a:xfrm>
              <a:off x="5193792" y="494233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R$ 1.797</a:t>
              </a:r>
            </a:p>
          </p:txBody>
        </p:sp>
        <p:sp>
          <p:nvSpPr>
            <p:cNvPr id="194" name="Text 194"/>
            <p:cNvSpPr txBox="1"/>
            <p:nvPr/>
          </p:nvSpPr>
          <p:spPr>
            <a:xfrm>
              <a:off x="438912" y="513892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0000.Ampliação de Leitos HS Santa...</a:t>
              </a:r>
            </a:p>
          </p:txBody>
        </p:sp>
        <p:sp>
          <p:nvSpPr>
            <p:cNvPr id="195" name="Text 195"/>
            <p:cNvSpPr txBox="1"/>
            <p:nvPr/>
          </p:nvSpPr>
          <p:spPr>
            <a:xfrm>
              <a:off x="2651760" y="513892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196" name="Text 196"/>
            <p:cNvSpPr txBox="1"/>
            <p:nvPr/>
          </p:nvSpPr>
          <p:spPr>
            <a:xfrm>
              <a:off x="2907792" y="513892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197" name="Text 197"/>
            <p:cNvSpPr txBox="1"/>
            <p:nvPr/>
          </p:nvSpPr>
          <p:spPr>
            <a:xfrm>
              <a:off x="3319272" y="513892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98" name="Text 198"/>
            <p:cNvSpPr txBox="1"/>
            <p:nvPr/>
          </p:nvSpPr>
          <p:spPr>
            <a:xfrm>
              <a:off x="3886200" y="513892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R$ 427,8 mil</a:t>
              </a:r>
            </a:p>
          </p:txBody>
        </p:sp>
        <p:sp>
          <p:nvSpPr>
            <p:cNvPr id="199" name="Text 199"/>
            <p:cNvSpPr txBox="1"/>
            <p:nvPr/>
          </p:nvSpPr>
          <p:spPr>
            <a:xfrm>
              <a:off x="4645152" y="513892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447 m2</a:t>
              </a:r>
            </a:p>
          </p:txBody>
        </p:sp>
        <p:sp>
          <p:nvSpPr>
            <p:cNvPr id="200" name="Text 200"/>
            <p:cNvSpPr txBox="1"/>
            <p:nvPr/>
          </p:nvSpPr>
          <p:spPr>
            <a:xfrm>
              <a:off x="5193792" y="513892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R$ 1.067</a:t>
              </a:r>
            </a:p>
          </p:txBody>
        </p:sp>
        <p:sp>
          <p:nvSpPr>
            <p:cNvPr id="201" name="Text 201"/>
            <p:cNvSpPr txBox="1"/>
            <p:nvPr/>
          </p:nvSpPr>
          <p:spPr>
            <a:xfrm>
              <a:off x="438912" y="533552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4032.Reabertura do HS Layr Maia</a:t>
              </a:r>
            </a:p>
          </p:txBody>
        </p:sp>
        <p:sp>
          <p:nvSpPr>
            <p:cNvPr id="202" name="Text 202"/>
            <p:cNvSpPr txBox="1"/>
            <p:nvPr/>
          </p:nvSpPr>
          <p:spPr>
            <a:xfrm>
              <a:off x="2651760" y="533552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PA</a:t>
              </a:r>
            </a:p>
          </p:txBody>
        </p:sp>
        <p:sp>
          <p:nvSpPr>
            <p:cNvPr id="203" name="Text 203"/>
            <p:cNvSpPr txBox="1"/>
            <p:nvPr/>
          </p:nvSpPr>
          <p:spPr>
            <a:xfrm>
              <a:off x="2907792" y="533552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Abr/25</a:t>
              </a:r>
            </a:p>
          </p:txBody>
        </p:sp>
        <p:sp>
          <p:nvSpPr>
            <p:cNvPr id="204" name="Text 204"/>
            <p:cNvSpPr txBox="1"/>
            <p:nvPr/>
          </p:nvSpPr>
          <p:spPr>
            <a:xfrm>
              <a:off x="3319272" y="533552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05" name="Text 205"/>
            <p:cNvSpPr txBox="1"/>
            <p:nvPr/>
          </p:nvSpPr>
          <p:spPr>
            <a:xfrm>
              <a:off x="3886200" y="533552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R$ 14,5 mi</a:t>
              </a:r>
            </a:p>
          </p:txBody>
        </p:sp>
        <p:sp>
          <p:nvSpPr>
            <p:cNvPr id="206" name="Text 206"/>
            <p:cNvSpPr txBox="1"/>
            <p:nvPr/>
          </p:nvSpPr>
          <p:spPr>
            <a:xfrm>
              <a:off x="4645152" y="533552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5,1 mil m2</a:t>
              </a:r>
            </a:p>
          </p:txBody>
        </p:sp>
        <p:sp>
          <p:nvSpPr>
            <p:cNvPr id="207" name="Text 207"/>
            <p:cNvSpPr txBox="1"/>
            <p:nvPr/>
          </p:nvSpPr>
          <p:spPr>
            <a:xfrm>
              <a:off x="5193792" y="533552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R$ 2.943</a:t>
              </a:r>
            </a:p>
          </p:txBody>
        </p:sp>
        <p:sp>
          <p:nvSpPr>
            <p:cNvPr id="208" name="Text 208"/>
            <p:cNvSpPr txBox="1"/>
            <p:nvPr/>
          </p:nvSpPr>
          <p:spPr>
            <a:xfrm>
              <a:off x="438912" y="5532120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2026 | 3 obras | 11,0 mil m2 | R$ 24,2 mi | R$ 2.207/m2</a:t>
              </a:r>
            </a:p>
          </p:txBody>
        </p:sp>
        <p:sp>
          <p:nvSpPr>
            <p:cNvPr id="209" name="Text 209"/>
            <p:cNvSpPr txBox="1"/>
            <p:nvPr/>
          </p:nvSpPr>
          <p:spPr>
            <a:xfrm>
              <a:off x="438912" y="572871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0000.Transformação PA em Hospital...</a:t>
              </a:r>
            </a:p>
          </p:txBody>
        </p:sp>
        <p:sp>
          <p:nvSpPr>
            <p:cNvPr id="210" name="Text 210"/>
            <p:cNvSpPr txBox="1"/>
            <p:nvPr/>
          </p:nvSpPr>
          <p:spPr>
            <a:xfrm>
              <a:off x="2651760" y="572871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11" name="Text 211"/>
            <p:cNvSpPr txBox="1"/>
            <p:nvPr/>
          </p:nvSpPr>
          <p:spPr>
            <a:xfrm>
              <a:off x="2907792" y="572871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Mar/26</a:t>
              </a:r>
            </a:p>
          </p:txBody>
        </p:sp>
        <p:sp>
          <p:nvSpPr>
            <p:cNvPr id="212" name="Text 212"/>
            <p:cNvSpPr txBox="1"/>
            <p:nvPr/>
          </p:nvSpPr>
          <p:spPr>
            <a:xfrm>
              <a:off x="3319272" y="572871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13" name="Text 213"/>
            <p:cNvSpPr txBox="1"/>
            <p:nvPr/>
          </p:nvSpPr>
          <p:spPr>
            <a:xfrm>
              <a:off x="3886200" y="572871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R$ 23,2 mi</a:t>
              </a:r>
            </a:p>
          </p:txBody>
        </p:sp>
        <p:sp>
          <p:nvSpPr>
            <p:cNvPr id="214" name="Text 214"/>
            <p:cNvSpPr txBox="1"/>
            <p:nvPr/>
          </p:nvSpPr>
          <p:spPr>
            <a:xfrm>
              <a:off x="4645152" y="572871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10,4 mil m2</a:t>
              </a:r>
            </a:p>
          </p:txBody>
        </p:sp>
        <p:sp>
          <p:nvSpPr>
            <p:cNvPr id="215" name="Text 215"/>
            <p:cNvSpPr txBox="1"/>
            <p:nvPr/>
          </p:nvSpPr>
          <p:spPr>
            <a:xfrm>
              <a:off x="5193792" y="572871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R$ 2.234</a:t>
              </a:r>
            </a:p>
          </p:txBody>
        </p:sp>
        <p:sp>
          <p:nvSpPr>
            <p:cNvPr id="216" name="Text 216"/>
            <p:cNvSpPr txBox="1"/>
            <p:nvPr/>
          </p:nvSpPr>
          <p:spPr>
            <a:xfrm>
              <a:off x="438912" y="592531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0000.Ampliação de Leitos HS Nossa...</a:t>
              </a:r>
            </a:p>
          </p:txBody>
        </p:sp>
        <p:sp>
          <p:nvSpPr>
            <p:cNvPr id="217" name="Text 217"/>
            <p:cNvSpPr txBox="1"/>
            <p:nvPr/>
          </p:nvSpPr>
          <p:spPr>
            <a:xfrm>
              <a:off x="2651760" y="592531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18" name="Text 218"/>
            <p:cNvSpPr txBox="1"/>
            <p:nvPr/>
          </p:nvSpPr>
          <p:spPr>
            <a:xfrm>
              <a:off x="2907792" y="592531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Abr/26</a:t>
              </a:r>
            </a:p>
          </p:txBody>
        </p:sp>
        <p:sp>
          <p:nvSpPr>
            <p:cNvPr id="219" name="Text 219"/>
            <p:cNvSpPr txBox="1"/>
            <p:nvPr/>
          </p:nvSpPr>
          <p:spPr>
            <a:xfrm>
              <a:off x="3319272" y="592531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20" name="Text 220"/>
            <p:cNvSpPr txBox="1"/>
            <p:nvPr/>
          </p:nvSpPr>
          <p:spPr>
            <a:xfrm>
              <a:off x="3886200" y="592531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R$ 598,6 mil</a:t>
              </a:r>
            </a:p>
          </p:txBody>
        </p:sp>
        <p:sp>
          <p:nvSpPr>
            <p:cNvPr id="221" name="Text 221"/>
            <p:cNvSpPr txBox="1"/>
            <p:nvPr/>
          </p:nvSpPr>
          <p:spPr>
            <a:xfrm>
              <a:off x="4645152" y="592531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362 m2</a:t>
              </a:r>
            </a:p>
          </p:txBody>
        </p:sp>
        <p:sp>
          <p:nvSpPr>
            <p:cNvPr id="222" name="Text 222"/>
            <p:cNvSpPr txBox="1"/>
            <p:nvPr/>
          </p:nvSpPr>
          <p:spPr>
            <a:xfrm>
              <a:off x="5193792" y="592531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R$ 1.655</a:t>
              </a:r>
            </a:p>
          </p:txBody>
        </p:sp>
        <p:sp>
          <p:nvSpPr>
            <p:cNvPr id="223" name="Text 223"/>
            <p:cNvSpPr txBox="1"/>
            <p:nvPr/>
          </p:nvSpPr>
          <p:spPr>
            <a:xfrm>
              <a:off x="438912" y="612190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0000.Ampliação de Leitos HS Santa...</a:t>
              </a:r>
            </a:p>
          </p:txBody>
        </p:sp>
        <p:sp>
          <p:nvSpPr>
            <p:cNvPr id="224" name="Text 224"/>
            <p:cNvSpPr txBox="1"/>
            <p:nvPr/>
          </p:nvSpPr>
          <p:spPr>
            <a:xfrm>
              <a:off x="2651760" y="612190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25" name="Text 225"/>
            <p:cNvSpPr txBox="1"/>
            <p:nvPr/>
          </p:nvSpPr>
          <p:spPr>
            <a:xfrm>
              <a:off x="2907792" y="612190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Abr/26</a:t>
              </a:r>
            </a:p>
          </p:txBody>
        </p:sp>
        <p:sp>
          <p:nvSpPr>
            <p:cNvPr id="226" name="Text 226"/>
            <p:cNvSpPr txBox="1"/>
            <p:nvPr/>
          </p:nvSpPr>
          <p:spPr>
            <a:xfrm>
              <a:off x="3319272" y="612190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27" name="Text 227"/>
            <p:cNvSpPr txBox="1"/>
            <p:nvPr/>
          </p:nvSpPr>
          <p:spPr>
            <a:xfrm>
              <a:off x="3886200" y="612190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 dirty="0">
                  <a:solidFill>
                    <a:srgbClr val="15253F"/>
                  </a:solidFill>
                </a:rPr>
                <a:t>R$ 426,7 mil</a:t>
              </a:r>
            </a:p>
          </p:txBody>
        </p:sp>
        <p:sp>
          <p:nvSpPr>
            <p:cNvPr id="228" name="Text 228"/>
            <p:cNvSpPr txBox="1"/>
            <p:nvPr/>
          </p:nvSpPr>
          <p:spPr>
            <a:xfrm>
              <a:off x="4645152" y="612190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231 m2</a:t>
              </a:r>
            </a:p>
          </p:txBody>
        </p:sp>
        <p:sp>
          <p:nvSpPr>
            <p:cNvPr id="229" name="Text 229"/>
            <p:cNvSpPr txBox="1"/>
            <p:nvPr/>
          </p:nvSpPr>
          <p:spPr>
            <a:xfrm>
              <a:off x="5193792" y="612190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R$ 1.846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Pronto Atendimento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3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Pronto Atendimento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2023, 2025, 2026 | Pagina 1/1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15,9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R$ 57,9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R$ 3.715/m2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160F470-39EC-BDDC-165C-D065CF41D0C3}"/>
              </a:ext>
            </a:extLst>
          </p:cNvPr>
          <p:cNvGrpSpPr/>
          <p:nvPr/>
        </p:nvGrpSpPr>
        <p:grpSpPr>
          <a:xfrm>
            <a:off x="566928" y="2039112"/>
            <a:ext cx="7166845" cy="1769364"/>
            <a:chOff x="438912" y="1993392"/>
            <a:chExt cx="5376672" cy="1769364"/>
          </a:xfrm>
        </p:grpSpPr>
        <p:sp>
          <p:nvSpPr>
            <p:cNvPr id="100" name="Text 100"/>
            <p:cNvSpPr txBox="1"/>
            <p:nvPr/>
          </p:nvSpPr>
          <p:spPr>
            <a:xfrm>
              <a:off x="438912" y="1993392"/>
              <a:ext cx="221284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</a:t>
              </a:r>
            </a:p>
          </p:txBody>
        </p:sp>
        <p:sp>
          <p:nvSpPr>
            <p:cNvPr id="101" name="Text 101"/>
            <p:cNvSpPr txBox="1"/>
            <p:nvPr/>
          </p:nvSpPr>
          <p:spPr>
            <a:xfrm>
              <a:off x="2651760" y="1993392"/>
              <a:ext cx="25603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UF</a:t>
              </a:r>
            </a:p>
          </p:txBody>
        </p:sp>
        <p:sp>
          <p:nvSpPr>
            <p:cNvPr id="102" name="Text 102"/>
            <p:cNvSpPr txBox="1"/>
            <p:nvPr/>
          </p:nvSpPr>
          <p:spPr>
            <a:xfrm>
              <a:off x="2907792" y="1993392"/>
              <a:ext cx="41148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Fim</a:t>
              </a:r>
            </a:p>
          </p:txBody>
        </p:sp>
        <p:sp>
          <p:nvSpPr>
            <p:cNvPr id="103" name="Text 103"/>
            <p:cNvSpPr txBox="1"/>
            <p:nvPr/>
          </p:nvSpPr>
          <p:spPr>
            <a:xfrm>
              <a:off x="3319272" y="1993392"/>
              <a:ext cx="56692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Status</a:t>
              </a:r>
            </a:p>
          </p:txBody>
        </p:sp>
        <p:sp>
          <p:nvSpPr>
            <p:cNvPr id="104" name="Text 104"/>
            <p:cNvSpPr txBox="1"/>
            <p:nvPr/>
          </p:nvSpPr>
          <p:spPr>
            <a:xfrm>
              <a:off x="3886200" y="1993392"/>
              <a:ext cx="75895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105" name="Text 105"/>
            <p:cNvSpPr txBox="1"/>
            <p:nvPr/>
          </p:nvSpPr>
          <p:spPr>
            <a:xfrm>
              <a:off x="4645152" y="1993392"/>
              <a:ext cx="54864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m2</a:t>
              </a:r>
            </a:p>
          </p:txBody>
        </p:sp>
        <p:sp>
          <p:nvSpPr>
            <p:cNvPr id="106" name="Text 106"/>
            <p:cNvSpPr txBox="1"/>
            <p:nvPr/>
          </p:nvSpPr>
          <p:spPr>
            <a:xfrm>
              <a:off x="5193792" y="1993392"/>
              <a:ext cx="62179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R$/m2</a:t>
              </a:r>
            </a:p>
          </p:txBody>
        </p:sp>
        <p:sp>
          <p:nvSpPr>
            <p:cNvPr id="107" name="Text 107"/>
            <p:cNvSpPr txBox="1"/>
            <p:nvPr/>
          </p:nvSpPr>
          <p:spPr>
            <a:xfrm>
              <a:off x="438912" y="2189988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2023 | 3 obras | 12,3 mil m2 | R$ 47,6 mi | R$ 3.985/m2</a:t>
              </a:r>
            </a:p>
          </p:txBody>
        </p:sp>
        <p:sp>
          <p:nvSpPr>
            <p:cNvPr id="108" name="Text 108"/>
            <p:cNvSpPr txBox="1"/>
            <p:nvPr/>
          </p:nvSpPr>
          <p:spPr>
            <a:xfrm>
              <a:off x="438912" y="238658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9012.PA Lifecenter Contagem</a:t>
              </a:r>
            </a:p>
          </p:txBody>
        </p:sp>
        <p:sp>
          <p:nvSpPr>
            <p:cNvPr id="109" name="Text 109"/>
            <p:cNvSpPr txBox="1"/>
            <p:nvPr/>
          </p:nvSpPr>
          <p:spPr>
            <a:xfrm>
              <a:off x="2651760" y="238658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MG</a:t>
              </a:r>
            </a:p>
          </p:txBody>
        </p:sp>
        <p:sp>
          <p:nvSpPr>
            <p:cNvPr id="110" name="Text 110"/>
            <p:cNvSpPr txBox="1"/>
            <p:nvPr/>
          </p:nvSpPr>
          <p:spPr>
            <a:xfrm>
              <a:off x="2907792" y="238658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Mar/23</a:t>
              </a:r>
            </a:p>
          </p:txBody>
        </p:sp>
        <p:sp>
          <p:nvSpPr>
            <p:cNvPr id="111" name="Text 111"/>
            <p:cNvSpPr txBox="1"/>
            <p:nvPr/>
          </p:nvSpPr>
          <p:spPr>
            <a:xfrm>
              <a:off x="3319272" y="238658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2" name="Text 112"/>
            <p:cNvSpPr txBox="1"/>
            <p:nvPr/>
          </p:nvSpPr>
          <p:spPr>
            <a:xfrm>
              <a:off x="3886200" y="238658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R$ 21,9 mi</a:t>
              </a:r>
            </a:p>
          </p:txBody>
        </p:sp>
        <p:sp>
          <p:nvSpPr>
            <p:cNvPr id="113" name="Text 113"/>
            <p:cNvSpPr txBox="1"/>
            <p:nvPr/>
          </p:nvSpPr>
          <p:spPr>
            <a:xfrm>
              <a:off x="4645152" y="238658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5,5 mil m2</a:t>
              </a:r>
            </a:p>
          </p:txBody>
        </p:sp>
        <p:sp>
          <p:nvSpPr>
            <p:cNvPr id="114" name="Text 114"/>
            <p:cNvSpPr txBox="1"/>
            <p:nvPr/>
          </p:nvSpPr>
          <p:spPr>
            <a:xfrm>
              <a:off x="5193792" y="238658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R$ 3.996</a:t>
              </a:r>
            </a:p>
          </p:txBody>
        </p:sp>
        <p:sp>
          <p:nvSpPr>
            <p:cNvPr id="115" name="Text 115"/>
            <p:cNvSpPr txBox="1"/>
            <p:nvPr/>
          </p:nvSpPr>
          <p:spPr>
            <a:xfrm>
              <a:off x="438912" y="258318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2013.HC Santa Efigênia (Contorno)...</a:t>
              </a:r>
            </a:p>
          </p:txBody>
        </p:sp>
        <p:sp>
          <p:nvSpPr>
            <p:cNvPr id="116" name="Text 116"/>
            <p:cNvSpPr txBox="1"/>
            <p:nvPr/>
          </p:nvSpPr>
          <p:spPr>
            <a:xfrm>
              <a:off x="2651760" y="258318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MG</a:t>
              </a:r>
            </a:p>
          </p:txBody>
        </p:sp>
        <p:sp>
          <p:nvSpPr>
            <p:cNvPr id="117" name="Text 117"/>
            <p:cNvSpPr txBox="1"/>
            <p:nvPr/>
          </p:nvSpPr>
          <p:spPr>
            <a:xfrm>
              <a:off x="2907792" y="258318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Mai/23</a:t>
              </a:r>
            </a:p>
          </p:txBody>
        </p:sp>
        <p:sp>
          <p:nvSpPr>
            <p:cNvPr id="118" name="Text 118"/>
            <p:cNvSpPr txBox="1"/>
            <p:nvPr/>
          </p:nvSpPr>
          <p:spPr>
            <a:xfrm>
              <a:off x="3319272" y="258318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9" name="Text 119"/>
            <p:cNvSpPr txBox="1"/>
            <p:nvPr/>
          </p:nvSpPr>
          <p:spPr>
            <a:xfrm>
              <a:off x="3886200" y="258318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R$ 14,7 mi</a:t>
              </a:r>
            </a:p>
          </p:txBody>
        </p:sp>
        <p:sp>
          <p:nvSpPr>
            <p:cNvPr id="120" name="Text 120"/>
            <p:cNvSpPr txBox="1"/>
            <p:nvPr/>
          </p:nvSpPr>
          <p:spPr>
            <a:xfrm>
              <a:off x="4645152" y="258318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3,7 mil m2</a:t>
              </a:r>
            </a:p>
          </p:txBody>
        </p:sp>
        <p:sp>
          <p:nvSpPr>
            <p:cNvPr id="121" name="Text 121"/>
            <p:cNvSpPr txBox="1"/>
            <p:nvPr/>
          </p:nvSpPr>
          <p:spPr>
            <a:xfrm>
              <a:off x="5193792" y="258318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R$ 3.995</a:t>
              </a:r>
            </a:p>
          </p:txBody>
        </p:sp>
        <p:sp>
          <p:nvSpPr>
            <p:cNvPr id="122" name="Text 122"/>
            <p:cNvSpPr txBox="1"/>
            <p:nvPr/>
          </p:nvSpPr>
          <p:spPr>
            <a:xfrm>
              <a:off x="438912" y="277977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9040.Novo PA Venda Nova</a:t>
              </a:r>
            </a:p>
          </p:txBody>
        </p:sp>
        <p:sp>
          <p:nvSpPr>
            <p:cNvPr id="123" name="Text 123"/>
            <p:cNvSpPr txBox="1"/>
            <p:nvPr/>
          </p:nvSpPr>
          <p:spPr>
            <a:xfrm>
              <a:off x="2651760" y="277977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MG</a:t>
              </a:r>
            </a:p>
          </p:txBody>
        </p:sp>
        <p:sp>
          <p:nvSpPr>
            <p:cNvPr id="124" name="Text 124"/>
            <p:cNvSpPr txBox="1"/>
            <p:nvPr/>
          </p:nvSpPr>
          <p:spPr>
            <a:xfrm>
              <a:off x="2907792" y="277977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Jun/23</a:t>
              </a:r>
            </a:p>
          </p:txBody>
        </p:sp>
        <p:sp>
          <p:nvSpPr>
            <p:cNvPr id="125" name="Text 125"/>
            <p:cNvSpPr txBox="1"/>
            <p:nvPr/>
          </p:nvSpPr>
          <p:spPr>
            <a:xfrm>
              <a:off x="3319272" y="277977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26" name="Text 126"/>
            <p:cNvSpPr txBox="1"/>
            <p:nvPr/>
          </p:nvSpPr>
          <p:spPr>
            <a:xfrm>
              <a:off x="3886200" y="277977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R$ 11,0 mi</a:t>
              </a:r>
            </a:p>
          </p:txBody>
        </p:sp>
        <p:sp>
          <p:nvSpPr>
            <p:cNvPr id="127" name="Text 127"/>
            <p:cNvSpPr txBox="1"/>
            <p:nvPr/>
          </p:nvSpPr>
          <p:spPr>
            <a:xfrm>
              <a:off x="4645152" y="277977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3,0 mil m2</a:t>
              </a:r>
            </a:p>
          </p:txBody>
        </p:sp>
        <p:sp>
          <p:nvSpPr>
            <p:cNvPr id="128" name="Text 128"/>
            <p:cNvSpPr txBox="1"/>
            <p:nvPr/>
          </p:nvSpPr>
          <p:spPr>
            <a:xfrm>
              <a:off x="5193792" y="277977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R$ 3.953</a:t>
              </a:r>
            </a:p>
          </p:txBody>
        </p:sp>
        <p:sp>
          <p:nvSpPr>
            <p:cNvPr id="129" name="Text 129"/>
            <p:cNvSpPr txBox="1"/>
            <p:nvPr/>
          </p:nvSpPr>
          <p:spPr>
            <a:xfrm>
              <a:off x="438912" y="2976372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2025 | 1 obras | 1,2 mil m2 | R$ 2,8 mi | R$ 2.302/m2</a:t>
              </a:r>
            </a:p>
          </p:txBody>
        </p:sp>
        <p:sp>
          <p:nvSpPr>
            <p:cNvPr id="130" name="Text 130"/>
            <p:cNvSpPr txBox="1"/>
            <p:nvPr/>
          </p:nvSpPr>
          <p:spPr>
            <a:xfrm>
              <a:off x="438912" y="3172968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3593.Adequação PA Pediátrico HS A...</a:t>
              </a:r>
            </a:p>
          </p:txBody>
        </p:sp>
        <p:sp>
          <p:nvSpPr>
            <p:cNvPr id="131" name="Text 131"/>
            <p:cNvSpPr txBox="1"/>
            <p:nvPr/>
          </p:nvSpPr>
          <p:spPr>
            <a:xfrm>
              <a:off x="2651760" y="3172968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GO</a:t>
              </a:r>
            </a:p>
          </p:txBody>
        </p:sp>
        <p:sp>
          <p:nvSpPr>
            <p:cNvPr id="132" name="Text 132"/>
            <p:cNvSpPr txBox="1"/>
            <p:nvPr/>
          </p:nvSpPr>
          <p:spPr>
            <a:xfrm>
              <a:off x="2907792" y="3172968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Jan/25</a:t>
              </a:r>
            </a:p>
          </p:txBody>
        </p:sp>
        <p:sp>
          <p:nvSpPr>
            <p:cNvPr id="133" name="Text 133"/>
            <p:cNvSpPr txBox="1"/>
            <p:nvPr/>
          </p:nvSpPr>
          <p:spPr>
            <a:xfrm>
              <a:off x="3319272" y="3172968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34" name="Text 134"/>
            <p:cNvSpPr txBox="1"/>
            <p:nvPr/>
          </p:nvSpPr>
          <p:spPr>
            <a:xfrm>
              <a:off x="3886200" y="3172968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R$ 2,8 mi</a:t>
              </a:r>
            </a:p>
          </p:txBody>
        </p:sp>
        <p:sp>
          <p:nvSpPr>
            <p:cNvPr id="135" name="Text 135"/>
            <p:cNvSpPr txBox="1"/>
            <p:nvPr/>
          </p:nvSpPr>
          <p:spPr>
            <a:xfrm>
              <a:off x="4645152" y="3172968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1,2 mil m2</a:t>
              </a:r>
            </a:p>
          </p:txBody>
        </p:sp>
        <p:sp>
          <p:nvSpPr>
            <p:cNvPr id="136" name="Text 136"/>
            <p:cNvSpPr txBox="1"/>
            <p:nvPr/>
          </p:nvSpPr>
          <p:spPr>
            <a:xfrm>
              <a:off x="5193792" y="3172968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R$ 2.302</a:t>
              </a:r>
            </a:p>
          </p:txBody>
        </p:sp>
        <p:sp>
          <p:nvSpPr>
            <p:cNvPr id="137" name="Text 137"/>
            <p:cNvSpPr txBox="1"/>
            <p:nvPr/>
          </p:nvSpPr>
          <p:spPr>
            <a:xfrm>
              <a:off x="438912" y="3369564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2026 | 1 obras | 2,5 mil m2 | R$ 7,6 mi | R$ 3.062/m2</a:t>
              </a:r>
            </a:p>
          </p:txBody>
        </p:sp>
        <p:sp>
          <p:nvSpPr>
            <p:cNvPr id="138" name="Text 138"/>
            <p:cNvSpPr txBox="1"/>
            <p:nvPr/>
          </p:nvSpPr>
          <p:spPr>
            <a:xfrm>
              <a:off x="438912" y="3566160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0000.Pronto Atendimento Penha (RJ)</a:t>
              </a:r>
            </a:p>
          </p:txBody>
        </p:sp>
        <p:sp>
          <p:nvSpPr>
            <p:cNvPr id="139" name="Text 139"/>
            <p:cNvSpPr txBox="1"/>
            <p:nvPr/>
          </p:nvSpPr>
          <p:spPr>
            <a:xfrm>
              <a:off x="2651760" y="3566160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RJ</a:t>
              </a:r>
            </a:p>
          </p:txBody>
        </p:sp>
        <p:sp>
          <p:nvSpPr>
            <p:cNvPr id="140" name="Text 140"/>
            <p:cNvSpPr txBox="1"/>
            <p:nvPr/>
          </p:nvSpPr>
          <p:spPr>
            <a:xfrm>
              <a:off x="2907792" y="3566160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Fev/26</a:t>
              </a:r>
            </a:p>
          </p:txBody>
        </p:sp>
        <p:sp>
          <p:nvSpPr>
            <p:cNvPr id="141" name="Text 141"/>
            <p:cNvSpPr txBox="1"/>
            <p:nvPr/>
          </p:nvSpPr>
          <p:spPr>
            <a:xfrm>
              <a:off x="3319272" y="3566160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42" name="Text 142"/>
            <p:cNvSpPr txBox="1"/>
            <p:nvPr/>
          </p:nvSpPr>
          <p:spPr>
            <a:xfrm>
              <a:off x="3886200" y="3566160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R$ 7,6 mi</a:t>
              </a:r>
            </a:p>
          </p:txBody>
        </p:sp>
        <p:sp>
          <p:nvSpPr>
            <p:cNvPr id="143" name="Text 143"/>
            <p:cNvSpPr txBox="1"/>
            <p:nvPr/>
          </p:nvSpPr>
          <p:spPr>
            <a:xfrm>
              <a:off x="4645152" y="3566160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2,5 mil m2</a:t>
              </a:r>
            </a:p>
          </p:txBody>
        </p:sp>
        <p:sp>
          <p:nvSpPr>
            <p:cNvPr id="144" name="Text 144"/>
            <p:cNvSpPr txBox="1"/>
            <p:nvPr/>
          </p:nvSpPr>
          <p:spPr>
            <a:xfrm>
              <a:off x="5193792" y="3566160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R$ 3.062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4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29184" y="731520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 dirty="0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2023 a 2024 | Pagina 1/3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329184" y="128016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24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478024" y="128016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9,1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626864" y="128016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R$ 16,8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775704" y="128016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R$ 1.876/m2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8B16173-E178-26D7-9456-9A53AB1E1EE0}"/>
              </a:ext>
            </a:extLst>
          </p:cNvPr>
          <p:cNvGrpSpPr/>
          <p:nvPr/>
        </p:nvGrpSpPr>
        <p:grpSpPr>
          <a:xfrm>
            <a:off x="329184" y="1996821"/>
            <a:ext cx="5738672" cy="2555748"/>
            <a:chOff x="438912" y="1993392"/>
            <a:chExt cx="5376672" cy="2555748"/>
          </a:xfrm>
        </p:grpSpPr>
        <p:sp>
          <p:nvSpPr>
            <p:cNvPr id="100" name="Text 100"/>
            <p:cNvSpPr txBox="1"/>
            <p:nvPr/>
          </p:nvSpPr>
          <p:spPr>
            <a:xfrm>
              <a:off x="438912" y="1993392"/>
              <a:ext cx="221284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</a:t>
              </a:r>
            </a:p>
          </p:txBody>
        </p:sp>
        <p:sp>
          <p:nvSpPr>
            <p:cNvPr id="101" name="Text 101"/>
            <p:cNvSpPr txBox="1"/>
            <p:nvPr/>
          </p:nvSpPr>
          <p:spPr>
            <a:xfrm>
              <a:off x="2651760" y="1993392"/>
              <a:ext cx="25603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UF</a:t>
              </a:r>
            </a:p>
          </p:txBody>
        </p:sp>
        <p:sp>
          <p:nvSpPr>
            <p:cNvPr id="102" name="Text 102"/>
            <p:cNvSpPr txBox="1"/>
            <p:nvPr/>
          </p:nvSpPr>
          <p:spPr>
            <a:xfrm>
              <a:off x="2907792" y="1993392"/>
              <a:ext cx="41148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Fim</a:t>
              </a:r>
            </a:p>
          </p:txBody>
        </p:sp>
        <p:sp>
          <p:nvSpPr>
            <p:cNvPr id="103" name="Text 103"/>
            <p:cNvSpPr txBox="1"/>
            <p:nvPr/>
          </p:nvSpPr>
          <p:spPr>
            <a:xfrm>
              <a:off x="3319272" y="1993392"/>
              <a:ext cx="56692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Status</a:t>
              </a:r>
            </a:p>
          </p:txBody>
        </p:sp>
        <p:sp>
          <p:nvSpPr>
            <p:cNvPr id="104" name="Text 104"/>
            <p:cNvSpPr txBox="1"/>
            <p:nvPr/>
          </p:nvSpPr>
          <p:spPr>
            <a:xfrm>
              <a:off x="3886200" y="1993392"/>
              <a:ext cx="75895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105" name="Text 105"/>
            <p:cNvSpPr txBox="1"/>
            <p:nvPr/>
          </p:nvSpPr>
          <p:spPr>
            <a:xfrm>
              <a:off x="4645152" y="1993392"/>
              <a:ext cx="54864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m2</a:t>
              </a:r>
            </a:p>
          </p:txBody>
        </p:sp>
        <p:sp>
          <p:nvSpPr>
            <p:cNvPr id="106" name="Text 106"/>
            <p:cNvSpPr txBox="1"/>
            <p:nvPr/>
          </p:nvSpPr>
          <p:spPr>
            <a:xfrm>
              <a:off x="5193792" y="1993392"/>
              <a:ext cx="62179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R$/m2</a:t>
              </a:r>
            </a:p>
          </p:txBody>
        </p:sp>
        <p:sp>
          <p:nvSpPr>
            <p:cNvPr id="107" name="Text 107"/>
            <p:cNvSpPr txBox="1"/>
            <p:nvPr/>
          </p:nvSpPr>
          <p:spPr>
            <a:xfrm>
              <a:off x="438912" y="2189988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2023 | 11 obras | 6,1 mil m2 | R$ 12,3 mi | R$ 2.043/m2</a:t>
              </a:r>
            </a:p>
          </p:txBody>
        </p:sp>
        <p:sp>
          <p:nvSpPr>
            <p:cNvPr id="108" name="Text 108"/>
            <p:cNvSpPr txBox="1"/>
            <p:nvPr/>
          </p:nvSpPr>
          <p:spPr>
            <a:xfrm>
              <a:off x="438912" y="238658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1397.Substituição HC Pituba 2</a:t>
              </a:r>
            </a:p>
          </p:txBody>
        </p:sp>
        <p:sp>
          <p:nvSpPr>
            <p:cNvPr id="109" name="Text 109"/>
            <p:cNvSpPr txBox="1"/>
            <p:nvPr/>
          </p:nvSpPr>
          <p:spPr>
            <a:xfrm>
              <a:off x="2651760" y="238658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BA</a:t>
              </a:r>
            </a:p>
          </p:txBody>
        </p:sp>
        <p:sp>
          <p:nvSpPr>
            <p:cNvPr id="110" name="Text 110"/>
            <p:cNvSpPr txBox="1"/>
            <p:nvPr/>
          </p:nvSpPr>
          <p:spPr>
            <a:xfrm>
              <a:off x="2907792" y="238658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Mar/23</a:t>
              </a:r>
            </a:p>
          </p:txBody>
        </p:sp>
        <p:sp>
          <p:nvSpPr>
            <p:cNvPr id="111" name="Text 111"/>
            <p:cNvSpPr txBox="1"/>
            <p:nvPr/>
          </p:nvSpPr>
          <p:spPr>
            <a:xfrm>
              <a:off x="3319272" y="238658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2" name="Text 112"/>
            <p:cNvSpPr txBox="1"/>
            <p:nvPr/>
          </p:nvSpPr>
          <p:spPr>
            <a:xfrm>
              <a:off x="3886200" y="238658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R$ 3,1 mi</a:t>
              </a:r>
            </a:p>
          </p:txBody>
        </p:sp>
        <p:sp>
          <p:nvSpPr>
            <p:cNvPr id="113" name="Text 113"/>
            <p:cNvSpPr txBox="1"/>
            <p:nvPr/>
          </p:nvSpPr>
          <p:spPr>
            <a:xfrm>
              <a:off x="4645152" y="238658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1,6 mil m2</a:t>
              </a:r>
            </a:p>
          </p:txBody>
        </p:sp>
        <p:sp>
          <p:nvSpPr>
            <p:cNvPr id="114" name="Text 114"/>
            <p:cNvSpPr txBox="1"/>
            <p:nvPr/>
          </p:nvSpPr>
          <p:spPr>
            <a:xfrm>
              <a:off x="5193792" y="238658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R$ 1.950</a:t>
              </a:r>
            </a:p>
          </p:txBody>
        </p:sp>
        <p:sp>
          <p:nvSpPr>
            <p:cNvPr id="115" name="Text 115"/>
            <p:cNvSpPr txBox="1"/>
            <p:nvPr/>
          </p:nvSpPr>
          <p:spPr>
            <a:xfrm>
              <a:off x="438912" y="258318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3291.TEA Fortaleza</a:t>
              </a:r>
            </a:p>
          </p:txBody>
        </p:sp>
        <p:sp>
          <p:nvSpPr>
            <p:cNvPr id="116" name="Text 116"/>
            <p:cNvSpPr txBox="1"/>
            <p:nvPr/>
          </p:nvSpPr>
          <p:spPr>
            <a:xfrm>
              <a:off x="2651760" y="258318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117" name="Text 117"/>
            <p:cNvSpPr txBox="1"/>
            <p:nvPr/>
          </p:nvSpPr>
          <p:spPr>
            <a:xfrm>
              <a:off x="2907792" y="258318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Mai/23</a:t>
              </a:r>
            </a:p>
          </p:txBody>
        </p:sp>
        <p:sp>
          <p:nvSpPr>
            <p:cNvPr id="118" name="Text 118"/>
            <p:cNvSpPr txBox="1"/>
            <p:nvPr/>
          </p:nvSpPr>
          <p:spPr>
            <a:xfrm>
              <a:off x="3319272" y="258318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9" name="Text 119"/>
            <p:cNvSpPr txBox="1"/>
            <p:nvPr/>
          </p:nvSpPr>
          <p:spPr>
            <a:xfrm>
              <a:off x="3886200" y="258318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R$ 717,4 mil</a:t>
              </a:r>
            </a:p>
          </p:txBody>
        </p:sp>
        <p:sp>
          <p:nvSpPr>
            <p:cNvPr id="120" name="Text 120"/>
            <p:cNvSpPr txBox="1"/>
            <p:nvPr/>
          </p:nvSpPr>
          <p:spPr>
            <a:xfrm>
              <a:off x="4645152" y="258318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609 m2</a:t>
              </a:r>
            </a:p>
          </p:txBody>
        </p:sp>
        <p:sp>
          <p:nvSpPr>
            <p:cNvPr id="121" name="Text 121"/>
            <p:cNvSpPr txBox="1"/>
            <p:nvPr/>
          </p:nvSpPr>
          <p:spPr>
            <a:xfrm>
              <a:off x="5193792" y="258318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R$ 1.178</a:t>
              </a:r>
            </a:p>
          </p:txBody>
        </p:sp>
        <p:sp>
          <p:nvSpPr>
            <p:cNvPr id="122" name="Text 122"/>
            <p:cNvSpPr txBox="1"/>
            <p:nvPr/>
          </p:nvSpPr>
          <p:spPr>
            <a:xfrm>
              <a:off x="438912" y="277977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3288.TEA Maceió</a:t>
              </a:r>
            </a:p>
          </p:txBody>
        </p:sp>
        <p:sp>
          <p:nvSpPr>
            <p:cNvPr id="123" name="Text 123"/>
            <p:cNvSpPr txBox="1"/>
            <p:nvPr/>
          </p:nvSpPr>
          <p:spPr>
            <a:xfrm>
              <a:off x="2651760" y="277977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AL</a:t>
              </a:r>
            </a:p>
          </p:txBody>
        </p:sp>
        <p:sp>
          <p:nvSpPr>
            <p:cNvPr id="124" name="Text 124"/>
            <p:cNvSpPr txBox="1"/>
            <p:nvPr/>
          </p:nvSpPr>
          <p:spPr>
            <a:xfrm>
              <a:off x="2907792" y="277977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Jun/23</a:t>
              </a:r>
            </a:p>
          </p:txBody>
        </p:sp>
        <p:sp>
          <p:nvSpPr>
            <p:cNvPr id="125" name="Text 125"/>
            <p:cNvSpPr txBox="1"/>
            <p:nvPr/>
          </p:nvSpPr>
          <p:spPr>
            <a:xfrm>
              <a:off x="3319272" y="277977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26" name="Text 126"/>
            <p:cNvSpPr txBox="1"/>
            <p:nvPr/>
          </p:nvSpPr>
          <p:spPr>
            <a:xfrm>
              <a:off x="3886200" y="277977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R$ 278,3 mil</a:t>
              </a:r>
            </a:p>
          </p:txBody>
        </p:sp>
        <p:sp>
          <p:nvSpPr>
            <p:cNvPr id="127" name="Text 127"/>
            <p:cNvSpPr txBox="1"/>
            <p:nvPr/>
          </p:nvSpPr>
          <p:spPr>
            <a:xfrm>
              <a:off x="4645152" y="277977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217 m2</a:t>
              </a:r>
            </a:p>
          </p:txBody>
        </p:sp>
        <p:sp>
          <p:nvSpPr>
            <p:cNvPr id="128" name="Text 128"/>
            <p:cNvSpPr txBox="1"/>
            <p:nvPr/>
          </p:nvSpPr>
          <p:spPr>
            <a:xfrm>
              <a:off x="5193792" y="277977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R$ 1.280</a:t>
              </a:r>
            </a:p>
          </p:txBody>
        </p:sp>
        <p:sp>
          <p:nvSpPr>
            <p:cNvPr id="129" name="Text 129"/>
            <p:cNvSpPr txBox="1"/>
            <p:nvPr/>
          </p:nvSpPr>
          <p:spPr>
            <a:xfrm>
              <a:off x="438912" y="297637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3568.TEA Santo André</a:t>
              </a:r>
            </a:p>
          </p:txBody>
        </p:sp>
        <p:sp>
          <p:nvSpPr>
            <p:cNvPr id="130" name="Text 130"/>
            <p:cNvSpPr txBox="1"/>
            <p:nvPr/>
          </p:nvSpPr>
          <p:spPr>
            <a:xfrm>
              <a:off x="2651760" y="297637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31" name="Text 131"/>
            <p:cNvSpPr txBox="1"/>
            <p:nvPr/>
          </p:nvSpPr>
          <p:spPr>
            <a:xfrm>
              <a:off x="2907792" y="297637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Jul/23</a:t>
              </a:r>
            </a:p>
          </p:txBody>
        </p:sp>
        <p:sp>
          <p:nvSpPr>
            <p:cNvPr id="132" name="Text 132"/>
            <p:cNvSpPr txBox="1"/>
            <p:nvPr/>
          </p:nvSpPr>
          <p:spPr>
            <a:xfrm>
              <a:off x="3319272" y="297637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33" name="Text 133"/>
            <p:cNvSpPr txBox="1"/>
            <p:nvPr/>
          </p:nvSpPr>
          <p:spPr>
            <a:xfrm>
              <a:off x="3886200" y="297637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R$ 2,8 mi</a:t>
              </a:r>
            </a:p>
          </p:txBody>
        </p:sp>
        <p:sp>
          <p:nvSpPr>
            <p:cNvPr id="134" name="Text 134"/>
            <p:cNvSpPr txBox="1"/>
            <p:nvPr/>
          </p:nvSpPr>
          <p:spPr>
            <a:xfrm>
              <a:off x="4645152" y="297637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967 m2</a:t>
              </a:r>
            </a:p>
          </p:txBody>
        </p:sp>
        <p:sp>
          <p:nvSpPr>
            <p:cNvPr id="135" name="Text 135"/>
            <p:cNvSpPr txBox="1"/>
            <p:nvPr/>
          </p:nvSpPr>
          <p:spPr>
            <a:xfrm>
              <a:off x="5193792" y="297637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R$ 2.904</a:t>
              </a:r>
            </a:p>
          </p:txBody>
        </p:sp>
        <p:sp>
          <p:nvSpPr>
            <p:cNvPr id="136" name="Text 136"/>
            <p:cNvSpPr txBox="1"/>
            <p:nvPr/>
          </p:nvSpPr>
          <p:spPr>
            <a:xfrm>
              <a:off x="438912" y="317296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3034.Transferência HC Piracicaba</a:t>
              </a:r>
            </a:p>
          </p:txBody>
        </p:sp>
        <p:sp>
          <p:nvSpPr>
            <p:cNvPr id="137" name="Text 137"/>
            <p:cNvSpPr txBox="1"/>
            <p:nvPr/>
          </p:nvSpPr>
          <p:spPr>
            <a:xfrm>
              <a:off x="2651760" y="317296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38" name="Text 138"/>
            <p:cNvSpPr txBox="1"/>
            <p:nvPr/>
          </p:nvSpPr>
          <p:spPr>
            <a:xfrm>
              <a:off x="2907792" y="317296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Jul/23</a:t>
              </a:r>
            </a:p>
          </p:txBody>
        </p:sp>
        <p:sp>
          <p:nvSpPr>
            <p:cNvPr id="139" name="Text 139"/>
            <p:cNvSpPr txBox="1"/>
            <p:nvPr/>
          </p:nvSpPr>
          <p:spPr>
            <a:xfrm>
              <a:off x="3319272" y="317296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40" name="Text 140"/>
            <p:cNvSpPr txBox="1"/>
            <p:nvPr/>
          </p:nvSpPr>
          <p:spPr>
            <a:xfrm>
              <a:off x="3886200" y="317296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R$ 2,6 mi</a:t>
              </a:r>
            </a:p>
          </p:txBody>
        </p:sp>
        <p:sp>
          <p:nvSpPr>
            <p:cNvPr id="141" name="Text 141"/>
            <p:cNvSpPr txBox="1"/>
            <p:nvPr/>
          </p:nvSpPr>
          <p:spPr>
            <a:xfrm>
              <a:off x="4645152" y="317296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1,2 mil m2</a:t>
              </a:r>
            </a:p>
          </p:txBody>
        </p:sp>
        <p:sp>
          <p:nvSpPr>
            <p:cNvPr id="142" name="Text 142"/>
            <p:cNvSpPr txBox="1"/>
            <p:nvPr/>
          </p:nvSpPr>
          <p:spPr>
            <a:xfrm>
              <a:off x="5193792" y="317296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R$ 2.089</a:t>
              </a:r>
            </a:p>
          </p:txBody>
        </p:sp>
        <p:sp>
          <p:nvSpPr>
            <p:cNvPr id="143" name="Text 143"/>
            <p:cNvSpPr txBox="1"/>
            <p:nvPr/>
          </p:nvSpPr>
          <p:spPr>
            <a:xfrm>
              <a:off x="438912" y="336956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3569.TEA Arujá</a:t>
              </a:r>
            </a:p>
          </p:txBody>
        </p:sp>
        <p:sp>
          <p:nvSpPr>
            <p:cNvPr id="144" name="Text 144"/>
            <p:cNvSpPr txBox="1"/>
            <p:nvPr/>
          </p:nvSpPr>
          <p:spPr>
            <a:xfrm>
              <a:off x="2651760" y="336956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45" name="Text 145"/>
            <p:cNvSpPr txBox="1"/>
            <p:nvPr/>
          </p:nvSpPr>
          <p:spPr>
            <a:xfrm>
              <a:off x="2907792" y="336956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Jul/23</a:t>
              </a:r>
            </a:p>
          </p:txBody>
        </p:sp>
        <p:sp>
          <p:nvSpPr>
            <p:cNvPr id="146" name="Text 146"/>
            <p:cNvSpPr txBox="1"/>
            <p:nvPr/>
          </p:nvSpPr>
          <p:spPr>
            <a:xfrm>
              <a:off x="3319272" y="336956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47" name="Text 147"/>
            <p:cNvSpPr txBox="1"/>
            <p:nvPr/>
          </p:nvSpPr>
          <p:spPr>
            <a:xfrm>
              <a:off x="3886200" y="336956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R$ 1,5 mi</a:t>
              </a:r>
            </a:p>
          </p:txBody>
        </p:sp>
        <p:sp>
          <p:nvSpPr>
            <p:cNvPr id="148" name="Text 148"/>
            <p:cNvSpPr txBox="1"/>
            <p:nvPr/>
          </p:nvSpPr>
          <p:spPr>
            <a:xfrm>
              <a:off x="4645152" y="336956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495 m2</a:t>
              </a:r>
            </a:p>
          </p:txBody>
        </p:sp>
        <p:sp>
          <p:nvSpPr>
            <p:cNvPr id="149" name="Text 149"/>
            <p:cNvSpPr txBox="1"/>
            <p:nvPr/>
          </p:nvSpPr>
          <p:spPr>
            <a:xfrm>
              <a:off x="5193792" y="336956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R$ 3.025</a:t>
              </a:r>
            </a:p>
          </p:txBody>
        </p:sp>
        <p:sp>
          <p:nvSpPr>
            <p:cNvPr id="150" name="Text 150"/>
            <p:cNvSpPr txBox="1"/>
            <p:nvPr/>
          </p:nvSpPr>
          <p:spPr>
            <a:xfrm>
              <a:off x="438912" y="3566160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3579.Adequação Capelas CC Mercês</a:t>
              </a: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2651760" y="3566160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PR</a:t>
              </a:r>
            </a:p>
          </p:txBody>
        </p:sp>
        <p:sp>
          <p:nvSpPr>
            <p:cNvPr id="152" name="Text 152"/>
            <p:cNvSpPr txBox="1"/>
            <p:nvPr/>
          </p:nvSpPr>
          <p:spPr>
            <a:xfrm>
              <a:off x="2907792" y="3566160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Jul/23</a:t>
              </a:r>
            </a:p>
          </p:txBody>
        </p:sp>
        <p:sp>
          <p:nvSpPr>
            <p:cNvPr id="153" name="Text 153"/>
            <p:cNvSpPr txBox="1"/>
            <p:nvPr/>
          </p:nvSpPr>
          <p:spPr>
            <a:xfrm>
              <a:off x="3319272" y="3566160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3886200" y="3566160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R$ 201,0 mil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4645152" y="3566160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55 m2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5193792" y="3566160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R$ 3.678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438912" y="3762756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3227.TEA HC Bucarein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2651760" y="3762756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SC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2907792" y="3762756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Jan/23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3319272" y="3762756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3886200" y="3762756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R$ 283,5 mil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4645152" y="3762756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133 m2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5193792" y="3762756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R$ 2.133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438912" y="3959352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3287.TEA HS Celina Guimarães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2651760" y="3959352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RN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2907792" y="3959352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Fev/23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3319272" y="3959352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3886200" y="3959352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R$ 363,9 mil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4645152" y="3959352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289 m2</a:t>
              </a:r>
            </a:p>
          </p:txBody>
        </p:sp>
        <p:sp>
          <p:nvSpPr>
            <p:cNvPr id="170" name="Text 170"/>
            <p:cNvSpPr txBox="1"/>
            <p:nvPr/>
          </p:nvSpPr>
          <p:spPr>
            <a:xfrm>
              <a:off x="5193792" y="3959352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R$ 1.259</a:t>
              </a:r>
            </a:p>
          </p:txBody>
        </p:sp>
        <p:sp>
          <p:nvSpPr>
            <p:cNvPr id="171" name="Text 171"/>
            <p:cNvSpPr txBox="1"/>
            <p:nvPr/>
          </p:nvSpPr>
          <p:spPr>
            <a:xfrm>
              <a:off x="438912" y="4155948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3236.Nova Coleta Campina Grande</a:t>
              </a:r>
            </a:p>
          </p:txBody>
        </p:sp>
        <p:sp>
          <p:nvSpPr>
            <p:cNvPr id="172" name="Text 172"/>
            <p:cNvSpPr txBox="1"/>
            <p:nvPr/>
          </p:nvSpPr>
          <p:spPr>
            <a:xfrm>
              <a:off x="2651760" y="4155948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PB</a:t>
              </a:r>
            </a:p>
          </p:txBody>
        </p:sp>
        <p:sp>
          <p:nvSpPr>
            <p:cNvPr id="173" name="Text 173"/>
            <p:cNvSpPr txBox="1"/>
            <p:nvPr/>
          </p:nvSpPr>
          <p:spPr>
            <a:xfrm>
              <a:off x="2907792" y="4155948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Fev/23</a:t>
              </a:r>
            </a:p>
          </p:txBody>
        </p:sp>
        <p:sp>
          <p:nvSpPr>
            <p:cNvPr id="174" name="Text 174"/>
            <p:cNvSpPr txBox="1"/>
            <p:nvPr/>
          </p:nvSpPr>
          <p:spPr>
            <a:xfrm>
              <a:off x="3319272" y="4155948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3886200" y="4155948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R$ 179,4 mil</a:t>
              </a:r>
            </a:p>
          </p:txBody>
        </p:sp>
        <p:sp>
          <p:nvSpPr>
            <p:cNvPr id="176" name="Text 176"/>
            <p:cNvSpPr txBox="1"/>
            <p:nvPr/>
          </p:nvSpPr>
          <p:spPr>
            <a:xfrm>
              <a:off x="4645152" y="4155948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163 m2</a:t>
              </a:r>
            </a:p>
          </p:txBody>
        </p:sp>
        <p:sp>
          <p:nvSpPr>
            <p:cNvPr id="177" name="Text 177"/>
            <p:cNvSpPr txBox="1"/>
            <p:nvPr/>
          </p:nvSpPr>
          <p:spPr>
            <a:xfrm>
              <a:off x="5193792" y="4155948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R$ 1.100</a:t>
              </a:r>
            </a:p>
          </p:txBody>
        </p:sp>
        <p:sp>
          <p:nvSpPr>
            <p:cNvPr id="178" name="Text 178"/>
            <p:cNvSpPr txBox="1"/>
            <p:nvPr/>
          </p:nvSpPr>
          <p:spPr>
            <a:xfrm>
              <a:off x="438912" y="435254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3545.TEA Taboão da Serra</a:t>
              </a:r>
            </a:p>
          </p:txBody>
        </p:sp>
        <p:sp>
          <p:nvSpPr>
            <p:cNvPr id="179" name="Text 179"/>
            <p:cNvSpPr txBox="1"/>
            <p:nvPr/>
          </p:nvSpPr>
          <p:spPr>
            <a:xfrm>
              <a:off x="2651760" y="435254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80" name="Text 180"/>
            <p:cNvSpPr txBox="1"/>
            <p:nvPr/>
          </p:nvSpPr>
          <p:spPr>
            <a:xfrm>
              <a:off x="2907792" y="435254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Ago/23</a:t>
              </a:r>
            </a:p>
          </p:txBody>
        </p:sp>
        <p:sp>
          <p:nvSpPr>
            <p:cNvPr id="181" name="Text 181"/>
            <p:cNvSpPr txBox="1"/>
            <p:nvPr/>
          </p:nvSpPr>
          <p:spPr>
            <a:xfrm>
              <a:off x="3319272" y="435254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82" name="Text 182"/>
            <p:cNvSpPr txBox="1"/>
            <p:nvPr/>
          </p:nvSpPr>
          <p:spPr>
            <a:xfrm>
              <a:off x="3886200" y="435254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R$ 305,7 mil</a:t>
              </a:r>
            </a:p>
          </p:txBody>
        </p:sp>
        <p:sp>
          <p:nvSpPr>
            <p:cNvPr id="183" name="Text 183"/>
            <p:cNvSpPr txBox="1"/>
            <p:nvPr/>
          </p:nvSpPr>
          <p:spPr>
            <a:xfrm>
              <a:off x="4645152" y="435254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274 m2</a:t>
              </a:r>
            </a:p>
          </p:txBody>
        </p:sp>
        <p:sp>
          <p:nvSpPr>
            <p:cNvPr id="184" name="Text 184"/>
            <p:cNvSpPr txBox="1"/>
            <p:nvPr/>
          </p:nvSpPr>
          <p:spPr>
            <a:xfrm>
              <a:off x="5193792" y="435254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R$ 1.116</a:t>
              </a: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BFDF0DCE-5E32-A18A-79E1-2040707456F9}"/>
              </a:ext>
            </a:extLst>
          </p:cNvPr>
          <p:cNvGrpSpPr/>
          <p:nvPr/>
        </p:nvGrpSpPr>
        <p:grpSpPr>
          <a:xfrm>
            <a:off x="6149383" y="2003679"/>
            <a:ext cx="5947360" cy="2948940"/>
            <a:chOff x="6016752" y="1993392"/>
            <a:chExt cx="5376672" cy="2948940"/>
          </a:xfrm>
        </p:grpSpPr>
        <p:sp>
          <p:nvSpPr>
            <p:cNvPr id="185" name="Text 185"/>
            <p:cNvSpPr txBox="1"/>
            <p:nvPr/>
          </p:nvSpPr>
          <p:spPr>
            <a:xfrm>
              <a:off x="6016752" y="1993392"/>
              <a:ext cx="221284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</a:t>
              </a:r>
            </a:p>
          </p:txBody>
        </p:sp>
        <p:sp>
          <p:nvSpPr>
            <p:cNvPr id="186" name="Text 186"/>
            <p:cNvSpPr txBox="1"/>
            <p:nvPr/>
          </p:nvSpPr>
          <p:spPr>
            <a:xfrm>
              <a:off x="8229600" y="1993392"/>
              <a:ext cx="25603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UF</a:t>
              </a:r>
            </a:p>
          </p:txBody>
        </p:sp>
        <p:sp>
          <p:nvSpPr>
            <p:cNvPr id="187" name="Text 187"/>
            <p:cNvSpPr txBox="1"/>
            <p:nvPr/>
          </p:nvSpPr>
          <p:spPr>
            <a:xfrm>
              <a:off x="8485632" y="1993392"/>
              <a:ext cx="41148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Fim</a:t>
              </a:r>
            </a:p>
          </p:txBody>
        </p:sp>
        <p:sp>
          <p:nvSpPr>
            <p:cNvPr id="188" name="Text 188"/>
            <p:cNvSpPr txBox="1"/>
            <p:nvPr/>
          </p:nvSpPr>
          <p:spPr>
            <a:xfrm>
              <a:off x="8897112" y="1993392"/>
              <a:ext cx="56692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Status</a:t>
              </a:r>
            </a:p>
          </p:txBody>
        </p:sp>
        <p:sp>
          <p:nvSpPr>
            <p:cNvPr id="189" name="Text 189"/>
            <p:cNvSpPr txBox="1"/>
            <p:nvPr/>
          </p:nvSpPr>
          <p:spPr>
            <a:xfrm>
              <a:off x="9464040" y="1993392"/>
              <a:ext cx="75895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190" name="Text 190"/>
            <p:cNvSpPr txBox="1"/>
            <p:nvPr/>
          </p:nvSpPr>
          <p:spPr>
            <a:xfrm>
              <a:off x="10222992" y="1993392"/>
              <a:ext cx="54864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m2</a:t>
              </a:r>
            </a:p>
          </p:txBody>
        </p:sp>
        <p:sp>
          <p:nvSpPr>
            <p:cNvPr id="191" name="Text 191"/>
            <p:cNvSpPr txBox="1"/>
            <p:nvPr/>
          </p:nvSpPr>
          <p:spPr>
            <a:xfrm>
              <a:off x="10771632" y="1993392"/>
              <a:ext cx="62179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R$/m2</a:t>
              </a:r>
            </a:p>
          </p:txBody>
        </p:sp>
        <p:sp>
          <p:nvSpPr>
            <p:cNvPr id="192" name="Text 192"/>
            <p:cNvSpPr txBox="1"/>
            <p:nvPr/>
          </p:nvSpPr>
          <p:spPr>
            <a:xfrm>
              <a:off x="6016752" y="2189988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2024 | 13 obras | 3,0 mil m2 | R$ 4,5 mi | R$ 1.538/m2</a:t>
              </a:r>
            </a:p>
          </p:txBody>
        </p:sp>
        <p:sp>
          <p:nvSpPr>
            <p:cNvPr id="193" name="Text 193"/>
            <p:cNvSpPr txBox="1"/>
            <p:nvPr/>
          </p:nvSpPr>
          <p:spPr>
            <a:xfrm>
              <a:off x="6016752" y="238658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3895.Novo TEA Belém (2024)</a:t>
              </a:r>
            </a:p>
          </p:txBody>
        </p:sp>
        <p:sp>
          <p:nvSpPr>
            <p:cNvPr id="194" name="Text 194"/>
            <p:cNvSpPr txBox="1"/>
            <p:nvPr/>
          </p:nvSpPr>
          <p:spPr>
            <a:xfrm>
              <a:off x="8229600" y="238658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PA</a:t>
              </a:r>
            </a:p>
          </p:txBody>
        </p:sp>
        <p:sp>
          <p:nvSpPr>
            <p:cNvPr id="195" name="Text 195"/>
            <p:cNvSpPr txBox="1"/>
            <p:nvPr/>
          </p:nvSpPr>
          <p:spPr>
            <a:xfrm>
              <a:off x="8485632" y="238658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Set/24</a:t>
              </a:r>
            </a:p>
          </p:txBody>
        </p:sp>
        <p:sp>
          <p:nvSpPr>
            <p:cNvPr id="196" name="Text 196"/>
            <p:cNvSpPr txBox="1"/>
            <p:nvPr/>
          </p:nvSpPr>
          <p:spPr>
            <a:xfrm>
              <a:off x="8897112" y="238658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97" name="Text 197"/>
            <p:cNvSpPr txBox="1"/>
            <p:nvPr/>
          </p:nvSpPr>
          <p:spPr>
            <a:xfrm>
              <a:off x="9464040" y="238658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R$ 602,6 mil</a:t>
              </a:r>
            </a:p>
          </p:txBody>
        </p:sp>
        <p:sp>
          <p:nvSpPr>
            <p:cNvPr id="198" name="Text 198"/>
            <p:cNvSpPr txBox="1"/>
            <p:nvPr/>
          </p:nvSpPr>
          <p:spPr>
            <a:xfrm>
              <a:off x="10222992" y="238658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381 m2</a:t>
              </a:r>
            </a:p>
          </p:txBody>
        </p:sp>
        <p:sp>
          <p:nvSpPr>
            <p:cNvPr id="199" name="Text 199"/>
            <p:cNvSpPr txBox="1"/>
            <p:nvPr/>
          </p:nvSpPr>
          <p:spPr>
            <a:xfrm>
              <a:off x="10771632" y="238658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R$ 1.626</a:t>
              </a:r>
            </a:p>
          </p:txBody>
        </p:sp>
        <p:sp>
          <p:nvSpPr>
            <p:cNvPr id="200" name="Text 200"/>
            <p:cNvSpPr txBox="1"/>
            <p:nvPr/>
          </p:nvSpPr>
          <p:spPr>
            <a:xfrm>
              <a:off x="6016752" y="258318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3915.Novo TEA Zona Sul SP (2024)</a:t>
              </a:r>
            </a:p>
          </p:txBody>
        </p:sp>
        <p:sp>
          <p:nvSpPr>
            <p:cNvPr id="201" name="Text 201"/>
            <p:cNvSpPr txBox="1"/>
            <p:nvPr/>
          </p:nvSpPr>
          <p:spPr>
            <a:xfrm>
              <a:off x="8229600" y="258318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02" name="Text 202"/>
            <p:cNvSpPr txBox="1"/>
            <p:nvPr/>
          </p:nvSpPr>
          <p:spPr>
            <a:xfrm>
              <a:off x="8485632" y="258318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Set/24</a:t>
              </a:r>
            </a:p>
          </p:txBody>
        </p:sp>
        <p:sp>
          <p:nvSpPr>
            <p:cNvPr id="203" name="Text 203"/>
            <p:cNvSpPr txBox="1"/>
            <p:nvPr/>
          </p:nvSpPr>
          <p:spPr>
            <a:xfrm>
              <a:off x="8897112" y="258318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04" name="Text 204"/>
            <p:cNvSpPr txBox="1"/>
            <p:nvPr/>
          </p:nvSpPr>
          <p:spPr>
            <a:xfrm>
              <a:off x="9464040" y="258318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R$ 259,3 mil</a:t>
              </a:r>
            </a:p>
          </p:txBody>
        </p:sp>
        <p:sp>
          <p:nvSpPr>
            <p:cNvPr id="205" name="Text 205"/>
            <p:cNvSpPr txBox="1"/>
            <p:nvPr/>
          </p:nvSpPr>
          <p:spPr>
            <a:xfrm>
              <a:off x="10222992" y="258318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143 m2</a:t>
              </a:r>
            </a:p>
          </p:txBody>
        </p:sp>
        <p:sp>
          <p:nvSpPr>
            <p:cNvPr id="206" name="Text 206"/>
            <p:cNvSpPr txBox="1"/>
            <p:nvPr/>
          </p:nvSpPr>
          <p:spPr>
            <a:xfrm>
              <a:off x="10771632" y="258318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R$ 1.830</a:t>
              </a:r>
            </a:p>
          </p:txBody>
        </p:sp>
        <p:sp>
          <p:nvSpPr>
            <p:cNvPr id="207" name="Text 207"/>
            <p:cNvSpPr txBox="1"/>
            <p:nvPr/>
          </p:nvSpPr>
          <p:spPr>
            <a:xfrm>
              <a:off x="6016752" y="277977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3904.Novo TEA Campina Grande (202...</a:t>
              </a:r>
            </a:p>
          </p:txBody>
        </p:sp>
        <p:sp>
          <p:nvSpPr>
            <p:cNvPr id="208" name="Text 208"/>
            <p:cNvSpPr txBox="1"/>
            <p:nvPr/>
          </p:nvSpPr>
          <p:spPr>
            <a:xfrm>
              <a:off x="8229600" y="277977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PB</a:t>
              </a:r>
            </a:p>
          </p:txBody>
        </p:sp>
        <p:sp>
          <p:nvSpPr>
            <p:cNvPr id="209" name="Text 209"/>
            <p:cNvSpPr txBox="1"/>
            <p:nvPr/>
          </p:nvSpPr>
          <p:spPr>
            <a:xfrm>
              <a:off x="8485632" y="277977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Out/24</a:t>
              </a:r>
            </a:p>
          </p:txBody>
        </p:sp>
        <p:sp>
          <p:nvSpPr>
            <p:cNvPr id="210" name="Text 210"/>
            <p:cNvSpPr txBox="1"/>
            <p:nvPr/>
          </p:nvSpPr>
          <p:spPr>
            <a:xfrm>
              <a:off x="8897112" y="277977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11" name="Text 211"/>
            <p:cNvSpPr txBox="1"/>
            <p:nvPr/>
          </p:nvSpPr>
          <p:spPr>
            <a:xfrm>
              <a:off x="9464040" y="277977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R$ 431,4 mil</a:t>
              </a:r>
            </a:p>
          </p:txBody>
        </p:sp>
        <p:sp>
          <p:nvSpPr>
            <p:cNvPr id="212" name="Text 212"/>
            <p:cNvSpPr txBox="1"/>
            <p:nvPr/>
          </p:nvSpPr>
          <p:spPr>
            <a:xfrm>
              <a:off x="10222992" y="277977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409 m2</a:t>
              </a:r>
            </a:p>
          </p:txBody>
        </p:sp>
        <p:sp>
          <p:nvSpPr>
            <p:cNvPr id="213" name="Text 213"/>
            <p:cNvSpPr txBox="1"/>
            <p:nvPr/>
          </p:nvSpPr>
          <p:spPr>
            <a:xfrm>
              <a:off x="10771632" y="277977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R$ 1.054</a:t>
              </a:r>
            </a:p>
          </p:txBody>
        </p:sp>
        <p:sp>
          <p:nvSpPr>
            <p:cNvPr id="214" name="Text 214"/>
            <p:cNvSpPr txBox="1"/>
            <p:nvPr/>
          </p:nvSpPr>
          <p:spPr>
            <a:xfrm>
              <a:off x="6016752" y="297637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3759.TEA Manaus (STO Centro Médic...</a:t>
              </a:r>
            </a:p>
          </p:txBody>
        </p:sp>
        <p:sp>
          <p:nvSpPr>
            <p:cNvPr id="215" name="Text 215"/>
            <p:cNvSpPr txBox="1"/>
            <p:nvPr/>
          </p:nvSpPr>
          <p:spPr>
            <a:xfrm>
              <a:off x="8229600" y="297637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AM</a:t>
              </a:r>
            </a:p>
          </p:txBody>
        </p:sp>
        <p:sp>
          <p:nvSpPr>
            <p:cNvPr id="216" name="Text 216"/>
            <p:cNvSpPr txBox="1"/>
            <p:nvPr/>
          </p:nvSpPr>
          <p:spPr>
            <a:xfrm>
              <a:off x="8485632" y="297637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Mar/24</a:t>
              </a:r>
            </a:p>
          </p:txBody>
        </p:sp>
        <p:sp>
          <p:nvSpPr>
            <p:cNvPr id="217" name="Text 217"/>
            <p:cNvSpPr txBox="1"/>
            <p:nvPr/>
          </p:nvSpPr>
          <p:spPr>
            <a:xfrm>
              <a:off x="8897112" y="297637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18" name="Text 218"/>
            <p:cNvSpPr txBox="1"/>
            <p:nvPr/>
          </p:nvSpPr>
          <p:spPr>
            <a:xfrm>
              <a:off x="9464040" y="297637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R$ 270,0 mil</a:t>
              </a:r>
            </a:p>
          </p:txBody>
        </p:sp>
        <p:sp>
          <p:nvSpPr>
            <p:cNvPr id="219" name="Text 219"/>
            <p:cNvSpPr txBox="1"/>
            <p:nvPr/>
          </p:nvSpPr>
          <p:spPr>
            <a:xfrm>
              <a:off x="10222992" y="297637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199 m2</a:t>
              </a:r>
            </a:p>
          </p:txBody>
        </p:sp>
        <p:sp>
          <p:nvSpPr>
            <p:cNvPr id="220" name="Text 220"/>
            <p:cNvSpPr txBox="1"/>
            <p:nvPr/>
          </p:nvSpPr>
          <p:spPr>
            <a:xfrm>
              <a:off x="10771632" y="297637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 dirty="0">
                  <a:solidFill>
                    <a:srgbClr val="15253F"/>
                  </a:solidFill>
                </a:rPr>
                <a:t>R$ 1.359</a:t>
              </a:r>
            </a:p>
          </p:txBody>
        </p:sp>
        <p:sp>
          <p:nvSpPr>
            <p:cNvPr id="221" name="Text 221"/>
            <p:cNvSpPr txBox="1"/>
            <p:nvPr/>
          </p:nvSpPr>
          <p:spPr>
            <a:xfrm>
              <a:off x="6016752" y="317296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3919.Novo TEA Santo André (2024)</a:t>
              </a:r>
            </a:p>
          </p:txBody>
        </p:sp>
        <p:sp>
          <p:nvSpPr>
            <p:cNvPr id="222" name="Text 222"/>
            <p:cNvSpPr txBox="1"/>
            <p:nvPr/>
          </p:nvSpPr>
          <p:spPr>
            <a:xfrm>
              <a:off x="8229600" y="317296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23" name="Text 223"/>
            <p:cNvSpPr txBox="1"/>
            <p:nvPr/>
          </p:nvSpPr>
          <p:spPr>
            <a:xfrm>
              <a:off x="8485632" y="317296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Jun/24</a:t>
              </a:r>
            </a:p>
          </p:txBody>
        </p:sp>
        <p:sp>
          <p:nvSpPr>
            <p:cNvPr id="224" name="Text 224"/>
            <p:cNvSpPr txBox="1"/>
            <p:nvPr/>
          </p:nvSpPr>
          <p:spPr>
            <a:xfrm>
              <a:off x="8897112" y="317296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25" name="Text 225"/>
            <p:cNvSpPr txBox="1"/>
            <p:nvPr/>
          </p:nvSpPr>
          <p:spPr>
            <a:xfrm>
              <a:off x="9464040" y="317296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R$ 101,4 mil</a:t>
              </a:r>
            </a:p>
          </p:txBody>
        </p:sp>
        <p:sp>
          <p:nvSpPr>
            <p:cNvPr id="226" name="Text 226"/>
            <p:cNvSpPr txBox="1"/>
            <p:nvPr/>
          </p:nvSpPr>
          <p:spPr>
            <a:xfrm>
              <a:off x="10222992" y="317296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53 m2</a:t>
              </a:r>
            </a:p>
          </p:txBody>
        </p:sp>
        <p:sp>
          <p:nvSpPr>
            <p:cNvPr id="227" name="Text 227"/>
            <p:cNvSpPr txBox="1"/>
            <p:nvPr/>
          </p:nvSpPr>
          <p:spPr>
            <a:xfrm>
              <a:off x="10771632" y="317296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R$ 1.929</a:t>
              </a:r>
            </a:p>
          </p:txBody>
        </p:sp>
        <p:sp>
          <p:nvSpPr>
            <p:cNvPr id="228" name="Text 228"/>
            <p:cNvSpPr txBox="1"/>
            <p:nvPr/>
          </p:nvSpPr>
          <p:spPr>
            <a:xfrm>
              <a:off x="6016752" y="336956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3774.Novo TEA Maracanaú (2024)</a:t>
              </a:r>
            </a:p>
          </p:txBody>
        </p:sp>
        <p:sp>
          <p:nvSpPr>
            <p:cNvPr id="229" name="Text 229"/>
            <p:cNvSpPr txBox="1"/>
            <p:nvPr/>
          </p:nvSpPr>
          <p:spPr>
            <a:xfrm>
              <a:off x="8229600" y="336956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230" name="Text 230"/>
            <p:cNvSpPr txBox="1"/>
            <p:nvPr/>
          </p:nvSpPr>
          <p:spPr>
            <a:xfrm>
              <a:off x="8485632" y="336956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Jul/24</a:t>
              </a:r>
            </a:p>
          </p:txBody>
        </p:sp>
        <p:sp>
          <p:nvSpPr>
            <p:cNvPr id="231" name="Text 231"/>
            <p:cNvSpPr txBox="1"/>
            <p:nvPr/>
          </p:nvSpPr>
          <p:spPr>
            <a:xfrm>
              <a:off x="8897112" y="336956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32" name="Text 232"/>
            <p:cNvSpPr txBox="1"/>
            <p:nvPr/>
          </p:nvSpPr>
          <p:spPr>
            <a:xfrm>
              <a:off x="9464040" y="336956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R$ 537,8 mil</a:t>
              </a:r>
            </a:p>
          </p:txBody>
        </p:sp>
        <p:sp>
          <p:nvSpPr>
            <p:cNvPr id="233" name="Text 233"/>
            <p:cNvSpPr txBox="1"/>
            <p:nvPr/>
          </p:nvSpPr>
          <p:spPr>
            <a:xfrm>
              <a:off x="10222992" y="336956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171 m2</a:t>
              </a:r>
            </a:p>
          </p:txBody>
        </p:sp>
        <p:sp>
          <p:nvSpPr>
            <p:cNvPr id="234" name="Text 234"/>
            <p:cNvSpPr txBox="1"/>
            <p:nvPr/>
          </p:nvSpPr>
          <p:spPr>
            <a:xfrm>
              <a:off x="10771632" y="336956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R$ 3.581</a:t>
              </a:r>
            </a:p>
          </p:txBody>
        </p:sp>
        <p:sp>
          <p:nvSpPr>
            <p:cNvPr id="235" name="Text 235"/>
            <p:cNvSpPr txBox="1"/>
            <p:nvPr/>
          </p:nvSpPr>
          <p:spPr>
            <a:xfrm>
              <a:off x="6016752" y="3566160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3900.Novo TEA Mossoró (2024)</a:t>
              </a:r>
            </a:p>
          </p:txBody>
        </p:sp>
        <p:sp>
          <p:nvSpPr>
            <p:cNvPr id="236" name="Text 236"/>
            <p:cNvSpPr txBox="1"/>
            <p:nvPr/>
          </p:nvSpPr>
          <p:spPr>
            <a:xfrm>
              <a:off x="8229600" y="3566160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RN</a:t>
              </a:r>
            </a:p>
          </p:txBody>
        </p:sp>
        <p:sp>
          <p:nvSpPr>
            <p:cNvPr id="237" name="Text 237"/>
            <p:cNvSpPr txBox="1"/>
            <p:nvPr/>
          </p:nvSpPr>
          <p:spPr>
            <a:xfrm>
              <a:off x="8485632" y="3566160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Jul/24</a:t>
              </a:r>
            </a:p>
          </p:txBody>
        </p:sp>
        <p:sp>
          <p:nvSpPr>
            <p:cNvPr id="238" name="Text 238"/>
            <p:cNvSpPr txBox="1"/>
            <p:nvPr/>
          </p:nvSpPr>
          <p:spPr>
            <a:xfrm>
              <a:off x="8897112" y="3566160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39" name="Text 239"/>
            <p:cNvSpPr txBox="1"/>
            <p:nvPr/>
          </p:nvSpPr>
          <p:spPr>
            <a:xfrm>
              <a:off x="9464040" y="3566160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R$ 537,5 mil</a:t>
              </a:r>
            </a:p>
          </p:txBody>
        </p:sp>
        <p:sp>
          <p:nvSpPr>
            <p:cNvPr id="240" name="Text 240"/>
            <p:cNvSpPr txBox="1"/>
            <p:nvPr/>
          </p:nvSpPr>
          <p:spPr>
            <a:xfrm>
              <a:off x="10222992" y="3566160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283 m2</a:t>
              </a:r>
            </a:p>
          </p:txBody>
        </p:sp>
        <p:sp>
          <p:nvSpPr>
            <p:cNvPr id="241" name="Text 241"/>
            <p:cNvSpPr txBox="1"/>
            <p:nvPr/>
          </p:nvSpPr>
          <p:spPr>
            <a:xfrm>
              <a:off x="10771632" y="3566160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R$ 1.922</a:t>
              </a:r>
            </a:p>
          </p:txBody>
        </p:sp>
        <p:sp>
          <p:nvSpPr>
            <p:cNvPr id="242" name="Text 242"/>
            <p:cNvSpPr txBox="1"/>
            <p:nvPr/>
          </p:nvSpPr>
          <p:spPr>
            <a:xfrm>
              <a:off x="6016752" y="3762756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3924.Novo TEA Guarulhos (2024)</a:t>
              </a:r>
            </a:p>
          </p:txBody>
        </p:sp>
        <p:sp>
          <p:nvSpPr>
            <p:cNvPr id="243" name="Text 243"/>
            <p:cNvSpPr txBox="1"/>
            <p:nvPr/>
          </p:nvSpPr>
          <p:spPr>
            <a:xfrm>
              <a:off x="8229600" y="3762756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44" name="Text 244"/>
            <p:cNvSpPr txBox="1"/>
            <p:nvPr/>
          </p:nvSpPr>
          <p:spPr>
            <a:xfrm>
              <a:off x="8485632" y="3762756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Jul/24</a:t>
              </a:r>
            </a:p>
          </p:txBody>
        </p:sp>
        <p:sp>
          <p:nvSpPr>
            <p:cNvPr id="245" name="Text 245"/>
            <p:cNvSpPr txBox="1"/>
            <p:nvPr/>
          </p:nvSpPr>
          <p:spPr>
            <a:xfrm>
              <a:off x="8897112" y="3762756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46" name="Text 246"/>
            <p:cNvSpPr txBox="1"/>
            <p:nvPr/>
          </p:nvSpPr>
          <p:spPr>
            <a:xfrm>
              <a:off x="9464040" y="3762756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R$ 441,4 mil</a:t>
              </a:r>
            </a:p>
          </p:txBody>
        </p:sp>
        <p:sp>
          <p:nvSpPr>
            <p:cNvPr id="247" name="Text 247"/>
            <p:cNvSpPr txBox="1"/>
            <p:nvPr/>
          </p:nvSpPr>
          <p:spPr>
            <a:xfrm>
              <a:off x="10222992" y="3762756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346 m2</a:t>
              </a:r>
            </a:p>
          </p:txBody>
        </p:sp>
        <p:sp>
          <p:nvSpPr>
            <p:cNvPr id="248" name="Text 248"/>
            <p:cNvSpPr txBox="1"/>
            <p:nvPr/>
          </p:nvSpPr>
          <p:spPr>
            <a:xfrm>
              <a:off x="10771632" y="3762756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R$ 1.276</a:t>
              </a:r>
            </a:p>
          </p:txBody>
        </p:sp>
        <p:sp>
          <p:nvSpPr>
            <p:cNvPr id="249" name="Text 249"/>
            <p:cNvSpPr txBox="1"/>
            <p:nvPr/>
          </p:nvSpPr>
          <p:spPr>
            <a:xfrm>
              <a:off x="6016752" y="3959352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3914.Novo TEA Ferraz (2024)</a:t>
              </a:r>
            </a:p>
          </p:txBody>
        </p:sp>
        <p:sp>
          <p:nvSpPr>
            <p:cNvPr id="250" name="Text 250"/>
            <p:cNvSpPr txBox="1"/>
            <p:nvPr/>
          </p:nvSpPr>
          <p:spPr>
            <a:xfrm>
              <a:off x="8229600" y="3959352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51" name="Text 251"/>
            <p:cNvSpPr txBox="1"/>
            <p:nvPr/>
          </p:nvSpPr>
          <p:spPr>
            <a:xfrm>
              <a:off x="8485632" y="3959352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Jul/24</a:t>
              </a:r>
            </a:p>
          </p:txBody>
        </p:sp>
        <p:sp>
          <p:nvSpPr>
            <p:cNvPr id="252" name="Text 252"/>
            <p:cNvSpPr txBox="1"/>
            <p:nvPr/>
          </p:nvSpPr>
          <p:spPr>
            <a:xfrm>
              <a:off x="8897112" y="3959352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53" name="Text 253"/>
            <p:cNvSpPr txBox="1"/>
            <p:nvPr/>
          </p:nvSpPr>
          <p:spPr>
            <a:xfrm>
              <a:off x="9464040" y="3959352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R$ 145,2 mil</a:t>
              </a:r>
            </a:p>
          </p:txBody>
        </p:sp>
        <p:sp>
          <p:nvSpPr>
            <p:cNvPr id="254" name="Text 254"/>
            <p:cNvSpPr txBox="1"/>
            <p:nvPr/>
          </p:nvSpPr>
          <p:spPr>
            <a:xfrm>
              <a:off x="10222992" y="3959352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106 m2</a:t>
              </a:r>
            </a:p>
          </p:txBody>
        </p:sp>
        <p:sp>
          <p:nvSpPr>
            <p:cNvPr id="255" name="Text 255"/>
            <p:cNvSpPr txBox="1"/>
            <p:nvPr/>
          </p:nvSpPr>
          <p:spPr>
            <a:xfrm>
              <a:off x="10771632" y="3959352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R$ 1.426</a:t>
              </a:r>
            </a:p>
          </p:txBody>
        </p:sp>
        <p:sp>
          <p:nvSpPr>
            <p:cNvPr id="256" name="Text 256"/>
            <p:cNvSpPr txBox="1"/>
            <p:nvPr/>
          </p:nvSpPr>
          <p:spPr>
            <a:xfrm>
              <a:off x="6016752" y="4155948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3713.TEA Guarulhos</a:t>
              </a:r>
            </a:p>
          </p:txBody>
        </p:sp>
        <p:sp>
          <p:nvSpPr>
            <p:cNvPr id="257" name="Text 257"/>
            <p:cNvSpPr txBox="1"/>
            <p:nvPr/>
          </p:nvSpPr>
          <p:spPr>
            <a:xfrm>
              <a:off x="8229600" y="4155948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58" name="Text 258"/>
            <p:cNvSpPr txBox="1"/>
            <p:nvPr/>
          </p:nvSpPr>
          <p:spPr>
            <a:xfrm>
              <a:off x="8485632" y="4155948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Jan/24</a:t>
              </a:r>
            </a:p>
          </p:txBody>
        </p:sp>
        <p:sp>
          <p:nvSpPr>
            <p:cNvPr id="259" name="Text 259"/>
            <p:cNvSpPr txBox="1"/>
            <p:nvPr/>
          </p:nvSpPr>
          <p:spPr>
            <a:xfrm>
              <a:off x="8897112" y="4155948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60" name="Text 260"/>
            <p:cNvSpPr txBox="1"/>
            <p:nvPr/>
          </p:nvSpPr>
          <p:spPr>
            <a:xfrm>
              <a:off x="9464040" y="4155948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R$ 338,6 mil</a:t>
              </a:r>
            </a:p>
          </p:txBody>
        </p:sp>
        <p:sp>
          <p:nvSpPr>
            <p:cNvPr id="261" name="Text 261"/>
            <p:cNvSpPr txBox="1"/>
            <p:nvPr/>
          </p:nvSpPr>
          <p:spPr>
            <a:xfrm>
              <a:off x="10222992" y="4155948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270 m2</a:t>
              </a:r>
            </a:p>
          </p:txBody>
        </p:sp>
        <p:sp>
          <p:nvSpPr>
            <p:cNvPr id="262" name="Text 262"/>
            <p:cNvSpPr txBox="1"/>
            <p:nvPr/>
          </p:nvSpPr>
          <p:spPr>
            <a:xfrm>
              <a:off x="10771632" y="4155948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R$ 1.254</a:t>
              </a:r>
            </a:p>
          </p:txBody>
        </p:sp>
        <p:sp>
          <p:nvSpPr>
            <p:cNvPr id="263" name="Text 263"/>
            <p:cNvSpPr txBox="1"/>
            <p:nvPr/>
          </p:nvSpPr>
          <p:spPr>
            <a:xfrm>
              <a:off x="6016752" y="435254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3716.TEA Mogi das Cruzes 2</a:t>
              </a:r>
            </a:p>
          </p:txBody>
        </p:sp>
        <p:sp>
          <p:nvSpPr>
            <p:cNvPr id="264" name="Text 264"/>
            <p:cNvSpPr txBox="1"/>
            <p:nvPr/>
          </p:nvSpPr>
          <p:spPr>
            <a:xfrm>
              <a:off x="8229600" y="435254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65" name="Text 265"/>
            <p:cNvSpPr txBox="1"/>
            <p:nvPr/>
          </p:nvSpPr>
          <p:spPr>
            <a:xfrm>
              <a:off x="8485632" y="435254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Jan/24</a:t>
              </a:r>
            </a:p>
          </p:txBody>
        </p:sp>
        <p:sp>
          <p:nvSpPr>
            <p:cNvPr id="266" name="Text 266"/>
            <p:cNvSpPr txBox="1"/>
            <p:nvPr/>
          </p:nvSpPr>
          <p:spPr>
            <a:xfrm>
              <a:off x="8897112" y="435254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67" name="Text 267"/>
            <p:cNvSpPr txBox="1"/>
            <p:nvPr/>
          </p:nvSpPr>
          <p:spPr>
            <a:xfrm>
              <a:off x="9464040" y="435254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R$ 262,6 mil</a:t>
              </a:r>
            </a:p>
          </p:txBody>
        </p:sp>
        <p:sp>
          <p:nvSpPr>
            <p:cNvPr id="268" name="Text 268"/>
            <p:cNvSpPr txBox="1"/>
            <p:nvPr/>
          </p:nvSpPr>
          <p:spPr>
            <a:xfrm>
              <a:off x="10222992" y="435254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258 m2</a:t>
              </a:r>
            </a:p>
          </p:txBody>
        </p:sp>
        <p:sp>
          <p:nvSpPr>
            <p:cNvPr id="269" name="Text 269"/>
            <p:cNvSpPr txBox="1"/>
            <p:nvPr/>
          </p:nvSpPr>
          <p:spPr>
            <a:xfrm>
              <a:off x="10771632" y="435254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R$ 1.018</a:t>
              </a:r>
            </a:p>
          </p:txBody>
        </p:sp>
        <p:sp>
          <p:nvSpPr>
            <p:cNvPr id="270" name="Text 270"/>
            <p:cNvSpPr txBox="1"/>
            <p:nvPr/>
          </p:nvSpPr>
          <p:spPr>
            <a:xfrm>
              <a:off x="6016752" y="454914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3541.TEA Fortaleza 2 (Pereira Fil...</a:t>
              </a:r>
            </a:p>
          </p:txBody>
        </p:sp>
        <p:sp>
          <p:nvSpPr>
            <p:cNvPr id="271" name="Text 271"/>
            <p:cNvSpPr txBox="1"/>
            <p:nvPr/>
          </p:nvSpPr>
          <p:spPr>
            <a:xfrm>
              <a:off x="8229600" y="454914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272" name="Text 272"/>
            <p:cNvSpPr txBox="1"/>
            <p:nvPr/>
          </p:nvSpPr>
          <p:spPr>
            <a:xfrm>
              <a:off x="8485632" y="454914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Jan/24</a:t>
              </a:r>
            </a:p>
          </p:txBody>
        </p:sp>
        <p:sp>
          <p:nvSpPr>
            <p:cNvPr id="273" name="Text 273"/>
            <p:cNvSpPr txBox="1"/>
            <p:nvPr/>
          </p:nvSpPr>
          <p:spPr>
            <a:xfrm>
              <a:off x="8897112" y="454914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74" name="Text 274"/>
            <p:cNvSpPr txBox="1"/>
            <p:nvPr/>
          </p:nvSpPr>
          <p:spPr>
            <a:xfrm>
              <a:off x="9464040" y="454914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R$ 97,5 mil</a:t>
              </a:r>
            </a:p>
          </p:txBody>
        </p:sp>
        <p:sp>
          <p:nvSpPr>
            <p:cNvPr id="275" name="Text 275"/>
            <p:cNvSpPr txBox="1"/>
            <p:nvPr/>
          </p:nvSpPr>
          <p:spPr>
            <a:xfrm>
              <a:off x="10222992" y="454914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67 m2</a:t>
              </a:r>
            </a:p>
          </p:txBody>
        </p:sp>
        <p:sp>
          <p:nvSpPr>
            <p:cNvPr id="276" name="Text 276"/>
            <p:cNvSpPr txBox="1"/>
            <p:nvPr/>
          </p:nvSpPr>
          <p:spPr>
            <a:xfrm>
              <a:off x="10771632" y="454914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R$ 1.455</a:t>
              </a:r>
            </a:p>
          </p:txBody>
        </p:sp>
        <p:sp>
          <p:nvSpPr>
            <p:cNvPr id="277" name="Text 277"/>
            <p:cNvSpPr txBox="1"/>
            <p:nvPr/>
          </p:nvSpPr>
          <p:spPr>
            <a:xfrm>
              <a:off x="6016752" y="474573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3928.Novo TEA Limeira (2024)</a:t>
              </a:r>
            </a:p>
          </p:txBody>
        </p:sp>
        <p:sp>
          <p:nvSpPr>
            <p:cNvPr id="278" name="Text 278"/>
            <p:cNvSpPr txBox="1"/>
            <p:nvPr/>
          </p:nvSpPr>
          <p:spPr>
            <a:xfrm>
              <a:off x="8229600" y="474573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79" name="Text 279"/>
            <p:cNvSpPr txBox="1"/>
            <p:nvPr/>
          </p:nvSpPr>
          <p:spPr>
            <a:xfrm>
              <a:off x="8485632" y="474573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Ago/24</a:t>
              </a:r>
            </a:p>
          </p:txBody>
        </p:sp>
        <p:sp>
          <p:nvSpPr>
            <p:cNvPr id="280" name="Text 280"/>
            <p:cNvSpPr txBox="1"/>
            <p:nvPr/>
          </p:nvSpPr>
          <p:spPr>
            <a:xfrm>
              <a:off x="8897112" y="474573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81" name="Text 281"/>
            <p:cNvSpPr txBox="1"/>
            <p:nvPr/>
          </p:nvSpPr>
          <p:spPr>
            <a:xfrm>
              <a:off x="9464040" y="474573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R$ 462,2 mil</a:t>
              </a:r>
            </a:p>
          </p:txBody>
        </p:sp>
        <p:sp>
          <p:nvSpPr>
            <p:cNvPr id="282" name="Text 282"/>
            <p:cNvSpPr txBox="1"/>
            <p:nvPr/>
          </p:nvSpPr>
          <p:spPr>
            <a:xfrm>
              <a:off x="10222992" y="474573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304 m2</a:t>
              </a:r>
            </a:p>
          </p:txBody>
        </p:sp>
        <p:sp>
          <p:nvSpPr>
            <p:cNvPr id="283" name="Text 283"/>
            <p:cNvSpPr txBox="1"/>
            <p:nvPr/>
          </p:nvSpPr>
          <p:spPr>
            <a:xfrm>
              <a:off x="10771632" y="474573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R$ 1.541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5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236221" y="78638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 dirty="0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8138160" y="768096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900">
                <a:solidFill>
                  <a:srgbClr val="50617F"/>
                </a:solidFill>
              </a:rPr>
              <a:t>Anos: 2025 | Pagina 2/3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283464" y="128016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432304" y="128016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41,4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581144" y="128016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R$ 87,4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6729984" y="128016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R$ 2.157/m2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8C25FDE8-113F-1BBD-666C-8090C8C5EE87}"/>
              </a:ext>
            </a:extLst>
          </p:cNvPr>
          <p:cNvGrpSpPr/>
          <p:nvPr/>
        </p:nvGrpSpPr>
        <p:grpSpPr>
          <a:xfrm>
            <a:off x="273426" y="2020824"/>
            <a:ext cx="11767598" cy="4325112"/>
            <a:chOff x="438912" y="1993392"/>
            <a:chExt cx="10954512" cy="4325112"/>
          </a:xfrm>
        </p:grpSpPr>
        <p:sp>
          <p:nvSpPr>
            <p:cNvPr id="100" name="Text 100"/>
            <p:cNvSpPr txBox="1"/>
            <p:nvPr/>
          </p:nvSpPr>
          <p:spPr>
            <a:xfrm>
              <a:off x="438912" y="1993392"/>
              <a:ext cx="221284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</a:t>
              </a:r>
            </a:p>
          </p:txBody>
        </p:sp>
        <p:sp>
          <p:nvSpPr>
            <p:cNvPr id="101" name="Text 101"/>
            <p:cNvSpPr txBox="1"/>
            <p:nvPr/>
          </p:nvSpPr>
          <p:spPr>
            <a:xfrm>
              <a:off x="2651760" y="1993392"/>
              <a:ext cx="25603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UF</a:t>
              </a:r>
            </a:p>
          </p:txBody>
        </p:sp>
        <p:sp>
          <p:nvSpPr>
            <p:cNvPr id="102" name="Text 102"/>
            <p:cNvSpPr txBox="1"/>
            <p:nvPr/>
          </p:nvSpPr>
          <p:spPr>
            <a:xfrm>
              <a:off x="2907792" y="1993392"/>
              <a:ext cx="41148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Fim</a:t>
              </a:r>
            </a:p>
          </p:txBody>
        </p:sp>
        <p:sp>
          <p:nvSpPr>
            <p:cNvPr id="103" name="Text 103"/>
            <p:cNvSpPr txBox="1"/>
            <p:nvPr/>
          </p:nvSpPr>
          <p:spPr>
            <a:xfrm>
              <a:off x="3319272" y="1993392"/>
              <a:ext cx="56692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Status</a:t>
              </a:r>
            </a:p>
          </p:txBody>
        </p:sp>
        <p:sp>
          <p:nvSpPr>
            <p:cNvPr id="104" name="Text 104"/>
            <p:cNvSpPr txBox="1"/>
            <p:nvPr/>
          </p:nvSpPr>
          <p:spPr>
            <a:xfrm>
              <a:off x="3886200" y="1993392"/>
              <a:ext cx="75895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105" name="Text 105"/>
            <p:cNvSpPr txBox="1"/>
            <p:nvPr/>
          </p:nvSpPr>
          <p:spPr>
            <a:xfrm>
              <a:off x="4645152" y="1993392"/>
              <a:ext cx="54864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m2</a:t>
              </a:r>
            </a:p>
          </p:txBody>
        </p:sp>
        <p:sp>
          <p:nvSpPr>
            <p:cNvPr id="106" name="Text 106"/>
            <p:cNvSpPr txBox="1"/>
            <p:nvPr/>
          </p:nvSpPr>
          <p:spPr>
            <a:xfrm>
              <a:off x="5193792" y="1993392"/>
              <a:ext cx="62179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R$/m2</a:t>
              </a:r>
            </a:p>
          </p:txBody>
        </p:sp>
        <p:sp>
          <p:nvSpPr>
            <p:cNvPr id="107" name="Text 107"/>
            <p:cNvSpPr txBox="1"/>
            <p:nvPr/>
          </p:nvSpPr>
          <p:spPr>
            <a:xfrm>
              <a:off x="438912" y="2189988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2025 | 40 obras | 41,4 mil m2 | R$ 87,4 mi | R$ 2.157/m2</a:t>
              </a:r>
            </a:p>
          </p:txBody>
        </p:sp>
        <p:sp>
          <p:nvSpPr>
            <p:cNvPr id="108" name="Text 108"/>
            <p:cNvSpPr txBox="1"/>
            <p:nvPr/>
          </p:nvSpPr>
          <p:spPr>
            <a:xfrm>
              <a:off x="438912" y="238658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0000.Nova Coleta Parque 10 (Nilto...</a:t>
              </a:r>
            </a:p>
          </p:txBody>
        </p:sp>
        <p:sp>
          <p:nvSpPr>
            <p:cNvPr id="109" name="Text 109"/>
            <p:cNvSpPr txBox="1"/>
            <p:nvPr/>
          </p:nvSpPr>
          <p:spPr>
            <a:xfrm>
              <a:off x="2651760" y="238658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AM</a:t>
              </a:r>
            </a:p>
          </p:txBody>
        </p:sp>
        <p:sp>
          <p:nvSpPr>
            <p:cNvPr id="110" name="Text 110"/>
            <p:cNvSpPr txBox="1"/>
            <p:nvPr/>
          </p:nvSpPr>
          <p:spPr>
            <a:xfrm>
              <a:off x="2907792" y="238658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Set/25</a:t>
              </a:r>
            </a:p>
          </p:txBody>
        </p:sp>
        <p:sp>
          <p:nvSpPr>
            <p:cNvPr id="111" name="Text 111"/>
            <p:cNvSpPr txBox="1"/>
            <p:nvPr/>
          </p:nvSpPr>
          <p:spPr>
            <a:xfrm>
              <a:off x="3319272" y="238658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2" name="Text 112"/>
            <p:cNvSpPr txBox="1"/>
            <p:nvPr/>
          </p:nvSpPr>
          <p:spPr>
            <a:xfrm>
              <a:off x="3886200" y="238658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R$ 634,0 mil</a:t>
              </a:r>
            </a:p>
          </p:txBody>
        </p:sp>
        <p:sp>
          <p:nvSpPr>
            <p:cNvPr id="113" name="Text 113"/>
            <p:cNvSpPr txBox="1"/>
            <p:nvPr/>
          </p:nvSpPr>
          <p:spPr>
            <a:xfrm>
              <a:off x="4645152" y="238658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235 m2</a:t>
              </a:r>
            </a:p>
          </p:txBody>
        </p:sp>
        <p:sp>
          <p:nvSpPr>
            <p:cNvPr id="114" name="Text 114"/>
            <p:cNvSpPr txBox="1"/>
            <p:nvPr/>
          </p:nvSpPr>
          <p:spPr>
            <a:xfrm>
              <a:off x="5193792" y="238658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R$ 2.698</a:t>
              </a:r>
            </a:p>
          </p:txBody>
        </p:sp>
        <p:sp>
          <p:nvSpPr>
            <p:cNvPr id="115" name="Text 115"/>
            <p:cNvSpPr txBox="1"/>
            <p:nvPr/>
          </p:nvSpPr>
          <p:spPr>
            <a:xfrm>
              <a:off x="438912" y="258318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0000.Novo NTE SP</a:t>
              </a:r>
            </a:p>
          </p:txBody>
        </p:sp>
        <p:sp>
          <p:nvSpPr>
            <p:cNvPr id="116" name="Text 116"/>
            <p:cNvSpPr txBox="1"/>
            <p:nvPr/>
          </p:nvSpPr>
          <p:spPr>
            <a:xfrm>
              <a:off x="2651760" y="258318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17" name="Text 117"/>
            <p:cNvSpPr txBox="1"/>
            <p:nvPr/>
          </p:nvSpPr>
          <p:spPr>
            <a:xfrm>
              <a:off x="2907792" y="258318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Out/25</a:t>
              </a:r>
            </a:p>
          </p:txBody>
        </p:sp>
        <p:sp>
          <p:nvSpPr>
            <p:cNvPr id="118" name="Text 118"/>
            <p:cNvSpPr txBox="1"/>
            <p:nvPr/>
          </p:nvSpPr>
          <p:spPr>
            <a:xfrm>
              <a:off x="3319272" y="258318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9" name="Text 119"/>
            <p:cNvSpPr txBox="1"/>
            <p:nvPr/>
          </p:nvSpPr>
          <p:spPr>
            <a:xfrm>
              <a:off x="3886200" y="258318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R$ 7,5 mi</a:t>
              </a:r>
            </a:p>
          </p:txBody>
        </p:sp>
        <p:sp>
          <p:nvSpPr>
            <p:cNvPr id="120" name="Text 120"/>
            <p:cNvSpPr txBox="1"/>
            <p:nvPr/>
          </p:nvSpPr>
          <p:spPr>
            <a:xfrm>
              <a:off x="4645152" y="258318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2,5 mil m2</a:t>
              </a:r>
            </a:p>
          </p:txBody>
        </p:sp>
        <p:sp>
          <p:nvSpPr>
            <p:cNvPr id="121" name="Text 121"/>
            <p:cNvSpPr txBox="1"/>
            <p:nvPr/>
          </p:nvSpPr>
          <p:spPr>
            <a:xfrm>
              <a:off x="5193792" y="258318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R$ 3.078</a:t>
              </a:r>
            </a:p>
          </p:txBody>
        </p:sp>
        <p:sp>
          <p:nvSpPr>
            <p:cNvPr id="122" name="Text 122"/>
            <p:cNvSpPr txBox="1"/>
            <p:nvPr/>
          </p:nvSpPr>
          <p:spPr>
            <a:xfrm>
              <a:off x="438912" y="277977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4197.Transferência Clínica Areião</a:t>
              </a:r>
            </a:p>
          </p:txBody>
        </p:sp>
        <p:sp>
          <p:nvSpPr>
            <p:cNvPr id="123" name="Text 123"/>
            <p:cNvSpPr txBox="1"/>
            <p:nvPr/>
          </p:nvSpPr>
          <p:spPr>
            <a:xfrm>
              <a:off x="2651760" y="277977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GO</a:t>
              </a:r>
            </a:p>
          </p:txBody>
        </p:sp>
        <p:sp>
          <p:nvSpPr>
            <p:cNvPr id="124" name="Text 124"/>
            <p:cNvSpPr txBox="1"/>
            <p:nvPr/>
          </p:nvSpPr>
          <p:spPr>
            <a:xfrm>
              <a:off x="2907792" y="277977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Out/25</a:t>
              </a:r>
            </a:p>
          </p:txBody>
        </p:sp>
        <p:sp>
          <p:nvSpPr>
            <p:cNvPr id="125" name="Text 125"/>
            <p:cNvSpPr txBox="1"/>
            <p:nvPr/>
          </p:nvSpPr>
          <p:spPr>
            <a:xfrm>
              <a:off x="3319272" y="277977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26" name="Text 126"/>
            <p:cNvSpPr txBox="1"/>
            <p:nvPr/>
          </p:nvSpPr>
          <p:spPr>
            <a:xfrm>
              <a:off x="3886200" y="277977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R$ 1,6 mi</a:t>
              </a:r>
            </a:p>
          </p:txBody>
        </p:sp>
        <p:sp>
          <p:nvSpPr>
            <p:cNvPr id="127" name="Text 127"/>
            <p:cNvSpPr txBox="1"/>
            <p:nvPr/>
          </p:nvSpPr>
          <p:spPr>
            <a:xfrm>
              <a:off x="4645152" y="277977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581 m2</a:t>
              </a:r>
            </a:p>
          </p:txBody>
        </p:sp>
        <p:sp>
          <p:nvSpPr>
            <p:cNvPr id="128" name="Text 128"/>
            <p:cNvSpPr txBox="1"/>
            <p:nvPr/>
          </p:nvSpPr>
          <p:spPr>
            <a:xfrm>
              <a:off x="5193792" y="277977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R$ 2.905</a:t>
              </a:r>
            </a:p>
          </p:txBody>
        </p:sp>
        <p:sp>
          <p:nvSpPr>
            <p:cNvPr id="129" name="Text 129"/>
            <p:cNvSpPr txBox="1"/>
            <p:nvPr/>
          </p:nvSpPr>
          <p:spPr>
            <a:xfrm>
              <a:off x="438912" y="297637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4082.Nova Coleta Zona Leste (Mooc...</a:t>
              </a:r>
            </a:p>
          </p:txBody>
        </p:sp>
        <p:sp>
          <p:nvSpPr>
            <p:cNvPr id="130" name="Text 130"/>
            <p:cNvSpPr txBox="1"/>
            <p:nvPr/>
          </p:nvSpPr>
          <p:spPr>
            <a:xfrm>
              <a:off x="2651760" y="297637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31" name="Text 131"/>
            <p:cNvSpPr txBox="1"/>
            <p:nvPr/>
          </p:nvSpPr>
          <p:spPr>
            <a:xfrm>
              <a:off x="2907792" y="297637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Out/25</a:t>
              </a:r>
            </a:p>
          </p:txBody>
        </p:sp>
        <p:sp>
          <p:nvSpPr>
            <p:cNvPr id="132" name="Text 132"/>
            <p:cNvSpPr txBox="1"/>
            <p:nvPr/>
          </p:nvSpPr>
          <p:spPr>
            <a:xfrm>
              <a:off x="3319272" y="297637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33" name="Text 133"/>
            <p:cNvSpPr txBox="1"/>
            <p:nvPr/>
          </p:nvSpPr>
          <p:spPr>
            <a:xfrm>
              <a:off x="3886200" y="297637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R$ 528,9 mil</a:t>
              </a:r>
            </a:p>
          </p:txBody>
        </p:sp>
        <p:sp>
          <p:nvSpPr>
            <p:cNvPr id="134" name="Text 134"/>
            <p:cNvSpPr txBox="1"/>
            <p:nvPr/>
          </p:nvSpPr>
          <p:spPr>
            <a:xfrm>
              <a:off x="4645152" y="297637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228 m2</a:t>
              </a:r>
            </a:p>
          </p:txBody>
        </p:sp>
        <p:sp>
          <p:nvSpPr>
            <p:cNvPr id="135" name="Text 135"/>
            <p:cNvSpPr txBox="1"/>
            <p:nvPr/>
          </p:nvSpPr>
          <p:spPr>
            <a:xfrm>
              <a:off x="5193792" y="297637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R$ 2.442</a:t>
              </a:r>
            </a:p>
          </p:txBody>
        </p:sp>
        <p:sp>
          <p:nvSpPr>
            <p:cNvPr id="136" name="Text 136"/>
            <p:cNvSpPr txBox="1"/>
            <p:nvPr/>
          </p:nvSpPr>
          <p:spPr>
            <a:xfrm>
              <a:off x="438912" y="317296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0000.Ampliação TEA Natal (2025)</a:t>
              </a:r>
            </a:p>
          </p:txBody>
        </p:sp>
        <p:sp>
          <p:nvSpPr>
            <p:cNvPr id="137" name="Text 137"/>
            <p:cNvSpPr txBox="1"/>
            <p:nvPr/>
          </p:nvSpPr>
          <p:spPr>
            <a:xfrm>
              <a:off x="2651760" y="317296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RN</a:t>
              </a:r>
            </a:p>
          </p:txBody>
        </p:sp>
        <p:sp>
          <p:nvSpPr>
            <p:cNvPr id="138" name="Text 138"/>
            <p:cNvSpPr txBox="1"/>
            <p:nvPr/>
          </p:nvSpPr>
          <p:spPr>
            <a:xfrm>
              <a:off x="2907792" y="317296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Out/25</a:t>
              </a:r>
            </a:p>
          </p:txBody>
        </p:sp>
        <p:sp>
          <p:nvSpPr>
            <p:cNvPr id="139" name="Text 139"/>
            <p:cNvSpPr txBox="1"/>
            <p:nvPr/>
          </p:nvSpPr>
          <p:spPr>
            <a:xfrm>
              <a:off x="3319272" y="317296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40" name="Text 140"/>
            <p:cNvSpPr txBox="1"/>
            <p:nvPr/>
          </p:nvSpPr>
          <p:spPr>
            <a:xfrm>
              <a:off x="3886200" y="317296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R$ 387,6 mil</a:t>
              </a:r>
            </a:p>
          </p:txBody>
        </p:sp>
        <p:sp>
          <p:nvSpPr>
            <p:cNvPr id="141" name="Text 141"/>
            <p:cNvSpPr txBox="1"/>
            <p:nvPr/>
          </p:nvSpPr>
          <p:spPr>
            <a:xfrm>
              <a:off x="4645152" y="317296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359 m2</a:t>
              </a:r>
            </a:p>
          </p:txBody>
        </p:sp>
        <p:sp>
          <p:nvSpPr>
            <p:cNvPr id="142" name="Text 142"/>
            <p:cNvSpPr txBox="1"/>
            <p:nvPr/>
          </p:nvSpPr>
          <p:spPr>
            <a:xfrm>
              <a:off x="5193792" y="317296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R$ 1.080</a:t>
              </a:r>
            </a:p>
          </p:txBody>
        </p:sp>
        <p:sp>
          <p:nvSpPr>
            <p:cNvPr id="143" name="Text 143"/>
            <p:cNvSpPr txBox="1"/>
            <p:nvPr/>
          </p:nvSpPr>
          <p:spPr>
            <a:xfrm>
              <a:off x="438912" y="336956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4129.Clínica/Lab/Ima Zona Sul 1 e...</a:t>
              </a:r>
            </a:p>
          </p:txBody>
        </p:sp>
        <p:sp>
          <p:nvSpPr>
            <p:cNvPr id="144" name="Text 144"/>
            <p:cNvSpPr txBox="1"/>
            <p:nvPr/>
          </p:nvSpPr>
          <p:spPr>
            <a:xfrm>
              <a:off x="2651760" y="336956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45" name="Text 145"/>
            <p:cNvSpPr txBox="1"/>
            <p:nvPr/>
          </p:nvSpPr>
          <p:spPr>
            <a:xfrm>
              <a:off x="2907792" y="336956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Nov/25</a:t>
              </a:r>
            </a:p>
          </p:txBody>
        </p:sp>
        <p:sp>
          <p:nvSpPr>
            <p:cNvPr id="146" name="Text 146"/>
            <p:cNvSpPr txBox="1"/>
            <p:nvPr/>
          </p:nvSpPr>
          <p:spPr>
            <a:xfrm>
              <a:off x="3319272" y="336956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47" name="Text 147"/>
            <p:cNvSpPr txBox="1"/>
            <p:nvPr/>
          </p:nvSpPr>
          <p:spPr>
            <a:xfrm>
              <a:off x="3886200" y="336956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R$ 8,2 mi</a:t>
              </a:r>
            </a:p>
          </p:txBody>
        </p:sp>
        <p:sp>
          <p:nvSpPr>
            <p:cNvPr id="148" name="Text 148"/>
            <p:cNvSpPr txBox="1"/>
            <p:nvPr/>
          </p:nvSpPr>
          <p:spPr>
            <a:xfrm>
              <a:off x="4645152" y="336956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3,3 mil m2</a:t>
              </a:r>
            </a:p>
          </p:txBody>
        </p:sp>
        <p:sp>
          <p:nvSpPr>
            <p:cNvPr id="149" name="Text 149"/>
            <p:cNvSpPr txBox="1"/>
            <p:nvPr/>
          </p:nvSpPr>
          <p:spPr>
            <a:xfrm>
              <a:off x="5193792" y="336956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R$ 2.588</a:t>
              </a:r>
            </a:p>
          </p:txBody>
        </p:sp>
        <p:sp>
          <p:nvSpPr>
            <p:cNvPr id="150" name="Text 150"/>
            <p:cNvSpPr txBox="1"/>
            <p:nvPr/>
          </p:nvSpPr>
          <p:spPr>
            <a:xfrm>
              <a:off x="438912" y="3566160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4127.Clínica/Lab/Ima Zona Norte H...</a:t>
              </a: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2651760" y="3566160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52" name="Text 152"/>
            <p:cNvSpPr txBox="1"/>
            <p:nvPr/>
          </p:nvSpPr>
          <p:spPr>
            <a:xfrm>
              <a:off x="2907792" y="3566160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Nov/25</a:t>
              </a:r>
            </a:p>
          </p:txBody>
        </p:sp>
        <p:sp>
          <p:nvSpPr>
            <p:cNvPr id="153" name="Text 153"/>
            <p:cNvSpPr txBox="1"/>
            <p:nvPr/>
          </p:nvSpPr>
          <p:spPr>
            <a:xfrm>
              <a:off x="3319272" y="3566160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3886200" y="3566160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R$ 4,3 mi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4645152" y="3566160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2,6 mil m2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5193792" y="3566160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R$ 1.694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438912" y="3762756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0000.Nova Clínica da Criança e Mu...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2651760" y="3762756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2907792" y="3762756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Nov/25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3319272" y="3762756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3886200" y="3762756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R$ 3,6 mi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4645152" y="3762756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1,7 mil m2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5193792" y="3762756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R$ 2.151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438912" y="3959352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4195.Nova Clínica e Coleta Campin...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2651760" y="3959352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2907792" y="3959352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Nov/25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3319272" y="3959352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3886200" y="3959352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R$ 3,0 mi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4645152" y="3959352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1,2 mil m2</a:t>
              </a:r>
            </a:p>
          </p:txBody>
        </p:sp>
        <p:sp>
          <p:nvSpPr>
            <p:cNvPr id="170" name="Text 170"/>
            <p:cNvSpPr txBox="1"/>
            <p:nvPr/>
          </p:nvSpPr>
          <p:spPr>
            <a:xfrm>
              <a:off x="5193792" y="3959352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R$ 2.498</a:t>
              </a:r>
            </a:p>
          </p:txBody>
        </p:sp>
        <p:sp>
          <p:nvSpPr>
            <p:cNvPr id="171" name="Text 171"/>
            <p:cNvSpPr txBox="1"/>
            <p:nvPr/>
          </p:nvSpPr>
          <p:spPr>
            <a:xfrm>
              <a:off x="438912" y="4155948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4196.Nova Clínica e Fisioterapia...</a:t>
              </a:r>
            </a:p>
          </p:txBody>
        </p:sp>
        <p:sp>
          <p:nvSpPr>
            <p:cNvPr id="172" name="Text 172"/>
            <p:cNvSpPr txBox="1"/>
            <p:nvPr/>
          </p:nvSpPr>
          <p:spPr>
            <a:xfrm>
              <a:off x="2651760" y="4155948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BA</a:t>
              </a:r>
            </a:p>
          </p:txBody>
        </p:sp>
        <p:sp>
          <p:nvSpPr>
            <p:cNvPr id="173" name="Text 173"/>
            <p:cNvSpPr txBox="1"/>
            <p:nvPr/>
          </p:nvSpPr>
          <p:spPr>
            <a:xfrm>
              <a:off x="2907792" y="4155948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Nov/25</a:t>
              </a:r>
            </a:p>
          </p:txBody>
        </p:sp>
        <p:sp>
          <p:nvSpPr>
            <p:cNvPr id="174" name="Text 174"/>
            <p:cNvSpPr txBox="1"/>
            <p:nvPr/>
          </p:nvSpPr>
          <p:spPr>
            <a:xfrm>
              <a:off x="3319272" y="4155948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3886200" y="4155948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R$ 3,0 mi</a:t>
              </a:r>
            </a:p>
          </p:txBody>
        </p:sp>
        <p:sp>
          <p:nvSpPr>
            <p:cNvPr id="176" name="Text 176"/>
            <p:cNvSpPr txBox="1"/>
            <p:nvPr/>
          </p:nvSpPr>
          <p:spPr>
            <a:xfrm>
              <a:off x="4645152" y="4155948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1,8 mil m2</a:t>
              </a:r>
            </a:p>
          </p:txBody>
        </p:sp>
        <p:sp>
          <p:nvSpPr>
            <p:cNvPr id="177" name="Text 177"/>
            <p:cNvSpPr txBox="1"/>
            <p:nvPr/>
          </p:nvSpPr>
          <p:spPr>
            <a:xfrm>
              <a:off x="5193792" y="4155948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R$ 1.946</a:t>
              </a:r>
            </a:p>
          </p:txBody>
        </p:sp>
        <p:sp>
          <p:nvSpPr>
            <p:cNvPr id="178" name="Text 178"/>
            <p:cNvSpPr txBox="1"/>
            <p:nvPr/>
          </p:nvSpPr>
          <p:spPr>
            <a:xfrm>
              <a:off x="438912" y="435254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4194.Nova Clínica Nova Iguaçu</a:t>
              </a:r>
            </a:p>
          </p:txBody>
        </p:sp>
        <p:sp>
          <p:nvSpPr>
            <p:cNvPr id="179" name="Text 179"/>
            <p:cNvSpPr txBox="1"/>
            <p:nvPr/>
          </p:nvSpPr>
          <p:spPr>
            <a:xfrm>
              <a:off x="2651760" y="435254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RJ</a:t>
              </a:r>
            </a:p>
          </p:txBody>
        </p:sp>
        <p:sp>
          <p:nvSpPr>
            <p:cNvPr id="180" name="Text 180"/>
            <p:cNvSpPr txBox="1"/>
            <p:nvPr/>
          </p:nvSpPr>
          <p:spPr>
            <a:xfrm>
              <a:off x="2907792" y="435254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Nov/25</a:t>
              </a:r>
            </a:p>
          </p:txBody>
        </p:sp>
        <p:sp>
          <p:nvSpPr>
            <p:cNvPr id="181" name="Text 181"/>
            <p:cNvSpPr txBox="1"/>
            <p:nvPr/>
          </p:nvSpPr>
          <p:spPr>
            <a:xfrm>
              <a:off x="3319272" y="435254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82" name="Text 182"/>
            <p:cNvSpPr txBox="1"/>
            <p:nvPr/>
          </p:nvSpPr>
          <p:spPr>
            <a:xfrm>
              <a:off x="3886200" y="435254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R$ 2,0 mi</a:t>
              </a:r>
            </a:p>
          </p:txBody>
        </p:sp>
        <p:sp>
          <p:nvSpPr>
            <p:cNvPr id="183" name="Text 183"/>
            <p:cNvSpPr txBox="1"/>
            <p:nvPr/>
          </p:nvSpPr>
          <p:spPr>
            <a:xfrm>
              <a:off x="4645152" y="435254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668 m2</a:t>
              </a:r>
            </a:p>
          </p:txBody>
        </p:sp>
        <p:sp>
          <p:nvSpPr>
            <p:cNvPr id="184" name="Text 184"/>
            <p:cNvSpPr txBox="1"/>
            <p:nvPr/>
          </p:nvSpPr>
          <p:spPr>
            <a:xfrm>
              <a:off x="5193792" y="435254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R$ 3.147</a:t>
              </a:r>
            </a:p>
          </p:txBody>
        </p:sp>
        <p:sp>
          <p:nvSpPr>
            <p:cNvPr id="185" name="Text 185"/>
            <p:cNvSpPr txBox="1"/>
            <p:nvPr/>
          </p:nvSpPr>
          <p:spPr>
            <a:xfrm>
              <a:off x="438912" y="454914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4081.Nova Coleta Zona Leste Parqu...</a:t>
              </a:r>
            </a:p>
          </p:txBody>
        </p:sp>
        <p:sp>
          <p:nvSpPr>
            <p:cNvPr id="186" name="Text 186"/>
            <p:cNvSpPr txBox="1"/>
            <p:nvPr/>
          </p:nvSpPr>
          <p:spPr>
            <a:xfrm>
              <a:off x="2651760" y="454914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87" name="Text 187"/>
            <p:cNvSpPr txBox="1"/>
            <p:nvPr/>
          </p:nvSpPr>
          <p:spPr>
            <a:xfrm>
              <a:off x="2907792" y="454914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Nov/25</a:t>
              </a:r>
            </a:p>
          </p:txBody>
        </p:sp>
        <p:sp>
          <p:nvSpPr>
            <p:cNvPr id="188" name="Text 188"/>
            <p:cNvSpPr txBox="1"/>
            <p:nvPr/>
          </p:nvSpPr>
          <p:spPr>
            <a:xfrm>
              <a:off x="3319272" y="454914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89" name="Text 189"/>
            <p:cNvSpPr txBox="1"/>
            <p:nvPr/>
          </p:nvSpPr>
          <p:spPr>
            <a:xfrm>
              <a:off x="3886200" y="454914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R$ 1,2 mi</a:t>
              </a:r>
            </a:p>
          </p:txBody>
        </p:sp>
        <p:sp>
          <p:nvSpPr>
            <p:cNvPr id="190" name="Text 190"/>
            <p:cNvSpPr txBox="1"/>
            <p:nvPr/>
          </p:nvSpPr>
          <p:spPr>
            <a:xfrm>
              <a:off x="4645152" y="454914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539 m2</a:t>
              </a:r>
            </a:p>
          </p:txBody>
        </p:sp>
        <p:sp>
          <p:nvSpPr>
            <p:cNvPr id="191" name="Text 191"/>
            <p:cNvSpPr txBox="1"/>
            <p:nvPr/>
          </p:nvSpPr>
          <p:spPr>
            <a:xfrm>
              <a:off x="5193792" y="454914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R$ 2.236</a:t>
              </a:r>
            </a:p>
          </p:txBody>
        </p:sp>
        <p:sp>
          <p:nvSpPr>
            <p:cNvPr id="192" name="Text 192"/>
            <p:cNvSpPr txBox="1"/>
            <p:nvPr/>
          </p:nvSpPr>
          <p:spPr>
            <a:xfrm>
              <a:off x="438912" y="474573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0000.Ampliação 03 consultórios UA...</a:t>
              </a:r>
            </a:p>
          </p:txBody>
        </p:sp>
        <p:sp>
          <p:nvSpPr>
            <p:cNvPr id="193" name="Text 193"/>
            <p:cNvSpPr txBox="1"/>
            <p:nvPr/>
          </p:nvSpPr>
          <p:spPr>
            <a:xfrm>
              <a:off x="2651760" y="474573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RJ</a:t>
              </a:r>
            </a:p>
          </p:txBody>
        </p:sp>
        <p:sp>
          <p:nvSpPr>
            <p:cNvPr id="194" name="Text 194"/>
            <p:cNvSpPr txBox="1"/>
            <p:nvPr/>
          </p:nvSpPr>
          <p:spPr>
            <a:xfrm>
              <a:off x="2907792" y="474573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Nov/25</a:t>
              </a:r>
            </a:p>
          </p:txBody>
        </p:sp>
        <p:sp>
          <p:nvSpPr>
            <p:cNvPr id="195" name="Text 195"/>
            <p:cNvSpPr txBox="1"/>
            <p:nvPr/>
          </p:nvSpPr>
          <p:spPr>
            <a:xfrm>
              <a:off x="3319272" y="474573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96" name="Text 196"/>
            <p:cNvSpPr txBox="1"/>
            <p:nvPr/>
          </p:nvSpPr>
          <p:spPr>
            <a:xfrm>
              <a:off x="3886200" y="474573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R$ 265,1 mil</a:t>
              </a:r>
            </a:p>
          </p:txBody>
        </p:sp>
        <p:sp>
          <p:nvSpPr>
            <p:cNvPr id="197" name="Text 197"/>
            <p:cNvSpPr txBox="1"/>
            <p:nvPr/>
          </p:nvSpPr>
          <p:spPr>
            <a:xfrm>
              <a:off x="4645152" y="474573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69 m2</a:t>
              </a:r>
            </a:p>
          </p:txBody>
        </p:sp>
        <p:sp>
          <p:nvSpPr>
            <p:cNvPr id="198" name="Text 198"/>
            <p:cNvSpPr txBox="1"/>
            <p:nvPr/>
          </p:nvSpPr>
          <p:spPr>
            <a:xfrm>
              <a:off x="5193792" y="474573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R$ 3.915</a:t>
              </a:r>
            </a:p>
          </p:txBody>
        </p:sp>
        <p:sp>
          <p:nvSpPr>
            <p:cNvPr id="199" name="Text 199"/>
            <p:cNvSpPr txBox="1"/>
            <p:nvPr/>
          </p:nvSpPr>
          <p:spPr>
            <a:xfrm>
              <a:off x="438912" y="494233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4020.Nova Clínica São Luís (Cohab)</a:t>
              </a:r>
            </a:p>
          </p:txBody>
        </p:sp>
        <p:sp>
          <p:nvSpPr>
            <p:cNvPr id="200" name="Text 200"/>
            <p:cNvSpPr txBox="1"/>
            <p:nvPr/>
          </p:nvSpPr>
          <p:spPr>
            <a:xfrm>
              <a:off x="2651760" y="494233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</a:t>
              </a:r>
            </a:p>
          </p:txBody>
        </p:sp>
        <p:sp>
          <p:nvSpPr>
            <p:cNvPr id="201" name="Text 201"/>
            <p:cNvSpPr txBox="1"/>
            <p:nvPr/>
          </p:nvSpPr>
          <p:spPr>
            <a:xfrm>
              <a:off x="2907792" y="494233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Mar/25</a:t>
              </a:r>
            </a:p>
          </p:txBody>
        </p:sp>
        <p:sp>
          <p:nvSpPr>
            <p:cNvPr id="202" name="Text 202"/>
            <p:cNvSpPr txBox="1"/>
            <p:nvPr/>
          </p:nvSpPr>
          <p:spPr>
            <a:xfrm>
              <a:off x="3319272" y="494233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03" name="Text 203"/>
            <p:cNvSpPr txBox="1"/>
            <p:nvPr/>
          </p:nvSpPr>
          <p:spPr>
            <a:xfrm>
              <a:off x="3886200" y="494233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R$ 1,8 mi</a:t>
              </a:r>
            </a:p>
          </p:txBody>
        </p:sp>
        <p:sp>
          <p:nvSpPr>
            <p:cNvPr id="204" name="Text 204"/>
            <p:cNvSpPr txBox="1"/>
            <p:nvPr/>
          </p:nvSpPr>
          <p:spPr>
            <a:xfrm>
              <a:off x="4645152" y="494233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849 m2</a:t>
              </a:r>
            </a:p>
          </p:txBody>
        </p:sp>
        <p:sp>
          <p:nvSpPr>
            <p:cNvPr id="205" name="Text 205"/>
            <p:cNvSpPr txBox="1"/>
            <p:nvPr/>
          </p:nvSpPr>
          <p:spPr>
            <a:xfrm>
              <a:off x="5193792" y="494233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R$ 2.156</a:t>
              </a:r>
            </a:p>
          </p:txBody>
        </p:sp>
        <p:sp>
          <p:nvSpPr>
            <p:cNvPr id="206" name="Text 206"/>
            <p:cNvSpPr txBox="1"/>
            <p:nvPr/>
          </p:nvSpPr>
          <p:spPr>
            <a:xfrm>
              <a:off x="438912" y="513892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4019.Nova Clínica Brasília (Brasi...</a:t>
              </a:r>
            </a:p>
          </p:txBody>
        </p:sp>
        <p:sp>
          <p:nvSpPr>
            <p:cNvPr id="207" name="Text 207"/>
            <p:cNvSpPr txBox="1"/>
            <p:nvPr/>
          </p:nvSpPr>
          <p:spPr>
            <a:xfrm>
              <a:off x="2651760" y="513892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DF</a:t>
              </a:r>
            </a:p>
          </p:txBody>
        </p:sp>
        <p:sp>
          <p:nvSpPr>
            <p:cNvPr id="208" name="Text 208"/>
            <p:cNvSpPr txBox="1"/>
            <p:nvPr/>
          </p:nvSpPr>
          <p:spPr>
            <a:xfrm>
              <a:off x="2907792" y="513892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Mar/25</a:t>
              </a:r>
            </a:p>
          </p:txBody>
        </p:sp>
        <p:sp>
          <p:nvSpPr>
            <p:cNvPr id="209" name="Text 209"/>
            <p:cNvSpPr txBox="1"/>
            <p:nvPr/>
          </p:nvSpPr>
          <p:spPr>
            <a:xfrm>
              <a:off x="3319272" y="513892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10" name="Text 210"/>
            <p:cNvSpPr txBox="1"/>
            <p:nvPr/>
          </p:nvSpPr>
          <p:spPr>
            <a:xfrm>
              <a:off x="3886200" y="513892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R$ 1,8 mi</a:t>
              </a:r>
            </a:p>
          </p:txBody>
        </p:sp>
        <p:sp>
          <p:nvSpPr>
            <p:cNvPr id="211" name="Text 211"/>
            <p:cNvSpPr txBox="1"/>
            <p:nvPr/>
          </p:nvSpPr>
          <p:spPr>
            <a:xfrm>
              <a:off x="4645152" y="513892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903 m2</a:t>
              </a:r>
            </a:p>
          </p:txBody>
        </p:sp>
        <p:sp>
          <p:nvSpPr>
            <p:cNvPr id="212" name="Text 212"/>
            <p:cNvSpPr txBox="1"/>
            <p:nvPr/>
          </p:nvSpPr>
          <p:spPr>
            <a:xfrm>
              <a:off x="5193792" y="513892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R$ 2.024</a:t>
              </a:r>
            </a:p>
          </p:txBody>
        </p:sp>
        <p:sp>
          <p:nvSpPr>
            <p:cNvPr id="213" name="Text 213"/>
            <p:cNvSpPr txBox="1"/>
            <p:nvPr/>
          </p:nvSpPr>
          <p:spPr>
            <a:xfrm>
              <a:off x="438912" y="533552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4015.Nova Clínica Sorocaba</a:t>
              </a:r>
            </a:p>
          </p:txBody>
        </p:sp>
        <p:sp>
          <p:nvSpPr>
            <p:cNvPr id="214" name="Text 214"/>
            <p:cNvSpPr txBox="1"/>
            <p:nvPr/>
          </p:nvSpPr>
          <p:spPr>
            <a:xfrm>
              <a:off x="2651760" y="533552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15" name="Text 215"/>
            <p:cNvSpPr txBox="1"/>
            <p:nvPr/>
          </p:nvSpPr>
          <p:spPr>
            <a:xfrm>
              <a:off x="2907792" y="533552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Mar/25</a:t>
              </a:r>
            </a:p>
          </p:txBody>
        </p:sp>
        <p:sp>
          <p:nvSpPr>
            <p:cNvPr id="216" name="Text 216"/>
            <p:cNvSpPr txBox="1"/>
            <p:nvPr/>
          </p:nvSpPr>
          <p:spPr>
            <a:xfrm>
              <a:off x="3319272" y="533552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17" name="Text 217"/>
            <p:cNvSpPr txBox="1"/>
            <p:nvPr/>
          </p:nvSpPr>
          <p:spPr>
            <a:xfrm>
              <a:off x="3886200" y="533552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R$ 1,5 mi</a:t>
              </a:r>
            </a:p>
          </p:txBody>
        </p:sp>
        <p:sp>
          <p:nvSpPr>
            <p:cNvPr id="218" name="Text 218"/>
            <p:cNvSpPr txBox="1"/>
            <p:nvPr/>
          </p:nvSpPr>
          <p:spPr>
            <a:xfrm>
              <a:off x="4645152" y="533552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680 m2</a:t>
              </a:r>
            </a:p>
          </p:txBody>
        </p:sp>
        <p:sp>
          <p:nvSpPr>
            <p:cNvPr id="219" name="Text 219"/>
            <p:cNvSpPr txBox="1"/>
            <p:nvPr/>
          </p:nvSpPr>
          <p:spPr>
            <a:xfrm>
              <a:off x="5193792" y="533552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R$ 2.240</a:t>
              </a:r>
            </a:p>
          </p:txBody>
        </p:sp>
        <p:sp>
          <p:nvSpPr>
            <p:cNvPr id="220" name="Text 220"/>
            <p:cNvSpPr txBox="1"/>
            <p:nvPr/>
          </p:nvSpPr>
          <p:spPr>
            <a:xfrm>
              <a:off x="438912" y="5532120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4089.Nova Coleta Zona Sul (Vila M...</a:t>
              </a:r>
            </a:p>
          </p:txBody>
        </p:sp>
        <p:sp>
          <p:nvSpPr>
            <p:cNvPr id="221" name="Text 221"/>
            <p:cNvSpPr txBox="1"/>
            <p:nvPr/>
          </p:nvSpPr>
          <p:spPr>
            <a:xfrm>
              <a:off x="2651760" y="5532120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22" name="Text 222"/>
            <p:cNvSpPr txBox="1"/>
            <p:nvPr/>
          </p:nvSpPr>
          <p:spPr>
            <a:xfrm>
              <a:off x="2907792" y="5532120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Jun/25</a:t>
              </a:r>
            </a:p>
          </p:txBody>
        </p:sp>
        <p:sp>
          <p:nvSpPr>
            <p:cNvPr id="223" name="Text 223"/>
            <p:cNvSpPr txBox="1"/>
            <p:nvPr/>
          </p:nvSpPr>
          <p:spPr>
            <a:xfrm>
              <a:off x="3319272" y="5532120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24" name="Text 224"/>
            <p:cNvSpPr txBox="1"/>
            <p:nvPr/>
          </p:nvSpPr>
          <p:spPr>
            <a:xfrm>
              <a:off x="3886200" y="5532120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R$ 856,4 mil</a:t>
              </a:r>
            </a:p>
          </p:txBody>
        </p:sp>
        <p:sp>
          <p:nvSpPr>
            <p:cNvPr id="225" name="Text 225"/>
            <p:cNvSpPr txBox="1"/>
            <p:nvPr/>
          </p:nvSpPr>
          <p:spPr>
            <a:xfrm>
              <a:off x="4645152" y="5532120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413 m2</a:t>
              </a:r>
            </a:p>
          </p:txBody>
        </p:sp>
        <p:sp>
          <p:nvSpPr>
            <p:cNvPr id="226" name="Text 226"/>
            <p:cNvSpPr txBox="1"/>
            <p:nvPr/>
          </p:nvSpPr>
          <p:spPr>
            <a:xfrm>
              <a:off x="5193792" y="5532120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R$ 2.072</a:t>
              </a:r>
            </a:p>
          </p:txBody>
        </p:sp>
        <p:sp>
          <p:nvSpPr>
            <p:cNvPr id="227" name="Text 227"/>
            <p:cNvSpPr txBox="1"/>
            <p:nvPr/>
          </p:nvSpPr>
          <p:spPr>
            <a:xfrm>
              <a:off x="438912" y="5728716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4079.Nova Coleta Zona Leste (Penh...</a:t>
              </a:r>
            </a:p>
          </p:txBody>
        </p:sp>
        <p:sp>
          <p:nvSpPr>
            <p:cNvPr id="228" name="Text 228"/>
            <p:cNvSpPr txBox="1"/>
            <p:nvPr/>
          </p:nvSpPr>
          <p:spPr>
            <a:xfrm>
              <a:off x="2651760" y="5728716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29" name="Text 229"/>
            <p:cNvSpPr txBox="1"/>
            <p:nvPr/>
          </p:nvSpPr>
          <p:spPr>
            <a:xfrm>
              <a:off x="2907792" y="5728716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Jun/25</a:t>
              </a:r>
            </a:p>
          </p:txBody>
        </p:sp>
        <p:sp>
          <p:nvSpPr>
            <p:cNvPr id="230" name="Text 230"/>
            <p:cNvSpPr txBox="1"/>
            <p:nvPr/>
          </p:nvSpPr>
          <p:spPr>
            <a:xfrm>
              <a:off x="3319272" y="5728716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31" name="Text 231"/>
            <p:cNvSpPr txBox="1"/>
            <p:nvPr/>
          </p:nvSpPr>
          <p:spPr>
            <a:xfrm>
              <a:off x="3886200" y="5728716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R$ 609,1 mil</a:t>
              </a:r>
            </a:p>
          </p:txBody>
        </p:sp>
        <p:sp>
          <p:nvSpPr>
            <p:cNvPr id="232" name="Text 232"/>
            <p:cNvSpPr txBox="1"/>
            <p:nvPr/>
          </p:nvSpPr>
          <p:spPr>
            <a:xfrm>
              <a:off x="4645152" y="5728716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412 m2</a:t>
              </a:r>
            </a:p>
          </p:txBody>
        </p:sp>
        <p:sp>
          <p:nvSpPr>
            <p:cNvPr id="233" name="Text 233"/>
            <p:cNvSpPr txBox="1"/>
            <p:nvPr/>
          </p:nvSpPr>
          <p:spPr>
            <a:xfrm>
              <a:off x="5193792" y="5728716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R$ 1.478</a:t>
              </a:r>
            </a:p>
          </p:txBody>
        </p:sp>
        <p:sp>
          <p:nvSpPr>
            <p:cNvPr id="234" name="Text 234"/>
            <p:cNvSpPr txBox="1"/>
            <p:nvPr/>
          </p:nvSpPr>
          <p:spPr>
            <a:xfrm>
              <a:off x="438912" y="5925312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4084.Nova Coleta Zona Norte (Sant...</a:t>
              </a:r>
            </a:p>
          </p:txBody>
        </p:sp>
        <p:sp>
          <p:nvSpPr>
            <p:cNvPr id="235" name="Text 235"/>
            <p:cNvSpPr txBox="1"/>
            <p:nvPr/>
          </p:nvSpPr>
          <p:spPr>
            <a:xfrm>
              <a:off x="2651760" y="5925312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36" name="Text 236"/>
            <p:cNvSpPr txBox="1"/>
            <p:nvPr/>
          </p:nvSpPr>
          <p:spPr>
            <a:xfrm>
              <a:off x="2907792" y="5925312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Jun/25</a:t>
              </a:r>
            </a:p>
          </p:txBody>
        </p:sp>
        <p:sp>
          <p:nvSpPr>
            <p:cNvPr id="237" name="Text 237"/>
            <p:cNvSpPr txBox="1"/>
            <p:nvPr/>
          </p:nvSpPr>
          <p:spPr>
            <a:xfrm>
              <a:off x="3319272" y="5925312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38" name="Text 238"/>
            <p:cNvSpPr txBox="1"/>
            <p:nvPr/>
          </p:nvSpPr>
          <p:spPr>
            <a:xfrm>
              <a:off x="3886200" y="5925312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R$ 578,7 mil</a:t>
              </a:r>
            </a:p>
          </p:txBody>
        </p:sp>
        <p:sp>
          <p:nvSpPr>
            <p:cNvPr id="239" name="Text 239"/>
            <p:cNvSpPr txBox="1"/>
            <p:nvPr/>
          </p:nvSpPr>
          <p:spPr>
            <a:xfrm>
              <a:off x="4645152" y="5925312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338 m2</a:t>
              </a:r>
            </a:p>
          </p:txBody>
        </p:sp>
        <p:sp>
          <p:nvSpPr>
            <p:cNvPr id="240" name="Text 240"/>
            <p:cNvSpPr txBox="1"/>
            <p:nvPr/>
          </p:nvSpPr>
          <p:spPr>
            <a:xfrm>
              <a:off x="5193792" y="5925312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R$ 1.711</a:t>
              </a:r>
            </a:p>
          </p:txBody>
        </p:sp>
        <p:sp>
          <p:nvSpPr>
            <p:cNvPr id="241" name="Text 241"/>
            <p:cNvSpPr txBox="1"/>
            <p:nvPr/>
          </p:nvSpPr>
          <p:spPr>
            <a:xfrm>
              <a:off x="438912" y="6121908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4090.Nova Coleta Zona Sul (João D...</a:t>
              </a:r>
            </a:p>
          </p:txBody>
        </p:sp>
        <p:sp>
          <p:nvSpPr>
            <p:cNvPr id="242" name="Text 242"/>
            <p:cNvSpPr txBox="1"/>
            <p:nvPr/>
          </p:nvSpPr>
          <p:spPr>
            <a:xfrm>
              <a:off x="2651760" y="6121908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43" name="Text 243"/>
            <p:cNvSpPr txBox="1"/>
            <p:nvPr/>
          </p:nvSpPr>
          <p:spPr>
            <a:xfrm>
              <a:off x="2907792" y="6121908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Jun/25</a:t>
              </a:r>
            </a:p>
          </p:txBody>
        </p:sp>
        <p:sp>
          <p:nvSpPr>
            <p:cNvPr id="244" name="Text 244"/>
            <p:cNvSpPr txBox="1"/>
            <p:nvPr/>
          </p:nvSpPr>
          <p:spPr>
            <a:xfrm>
              <a:off x="3319272" y="6121908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45" name="Text 245"/>
            <p:cNvSpPr txBox="1"/>
            <p:nvPr/>
          </p:nvSpPr>
          <p:spPr>
            <a:xfrm>
              <a:off x="3886200" y="6121908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R$ 490,3 mil</a:t>
              </a:r>
            </a:p>
          </p:txBody>
        </p:sp>
        <p:sp>
          <p:nvSpPr>
            <p:cNvPr id="246" name="Text 246"/>
            <p:cNvSpPr txBox="1"/>
            <p:nvPr/>
          </p:nvSpPr>
          <p:spPr>
            <a:xfrm>
              <a:off x="4645152" y="6121908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406 m2</a:t>
              </a:r>
            </a:p>
          </p:txBody>
        </p:sp>
        <p:sp>
          <p:nvSpPr>
            <p:cNvPr id="247" name="Text 247"/>
            <p:cNvSpPr txBox="1"/>
            <p:nvPr/>
          </p:nvSpPr>
          <p:spPr>
            <a:xfrm>
              <a:off x="5193792" y="6121908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R$ 1.209</a:t>
              </a:r>
            </a:p>
          </p:txBody>
        </p:sp>
        <p:sp>
          <p:nvSpPr>
            <p:cNvPr id="248" name="Text 248"/>
            <p:cNvSpPr txBox="1"/>
            <p:nvPr/>
          </p:nvSpPr>
          <p:spPr>
            <a:xfrm>
              <a:off x="6016752" y="1993392"/>
              <a:ext cx="221284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</a:t>
              </a:r>
            </a:p>
          </p:txBody>
        </p:sp>
        <p:sp>
          <p:nvSpPr>
            <p:cNvPr id="249" name="Text 249"/>
            <p:cNvSpPr txBox="1"/>
            <p:nvPr/>
          </p:nvSpPr>
          <p:spPr>
            <a:xfrm>
              <a:off x="8229600" y="1993392"/>
              <a:ext cx="25603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UF</a:t>
              </a:r>
            </a:p>
          </p:txBody>
        </p:sp>
        <p:sp>
          <p:nvSpPr>
            <p:cNvPr id="250" name="Text 250"/>
            <p:cNvSpPr txBox="1"/>
            <p:nvPr/>
          </p:nvSpPr>
          <p:spPr>
            <a:xfrm>
              <a:off x="8485632" y="1993392"/>
              <a:ext cx="41148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Fim</a:t>
              </a:r>
            </a:p>
          </p:txBody>
        </p:sp>
        <p:sp>
          <p:nvSpPr>
            <p:cNvPr id="251" name="Text 251"/>
            <p:cNvSpPr txBox="1"/>
            <p:nvPr/>
          </p:nvSpPr>
          <p:spPr>
            <a:xfrm>
              <a:off x="8897112" y="1993392"/>
              <a:ext cx="56692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Status</a:t>
              </a:r>
            </a:p>
          </p:txBody>
        </p:sp>
        <p:sp>
          <p:nvSpPr>
            <p:cNvPr id="252" name="Text 252"/>
            <p:cNvSpPr txBox="1"/>
            <p:nvPr/>
          </p:nvSpPr>
          <p:spPr>
            <a:xfrm>
              <a:off x="9464040" y="1993392"/>
              <a:ext cx="75895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253" name="Text 253"/>
            <p:cNvSpPr txBox="1"/>
            <p:nvPr/>
          </p:nvSpPr>
          <p:spPr>
            <a:xfrm>
              <a:off x="10222992" y="1993392"/>
              <a:ext cx="54864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m2</a:t>
              </a:r>
            </a:p>
          </p:txBody>
        </p:sp>
        <p:sp>
          <p:nvSpPr>
            <p:cNvPr id="254" name="Text 254"/>
            <p:cNvSpPr txBox="1"/>
            <p:nvPr/>
          </p:nvSpPr>
          <p:spPr>
            <a:xfrm>
              <a:off x="10771632" y="1993392"/>
              <a:ext cx="62179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R$/m2</a:t>
              </a:r>
            </a:p>
          </p:txBody>
        </p:sp>
        <p:sp>
          <p:nvSpPr>
            <p:cNvPr id="255" name="Text 255"/>
            <p:cNvSpPr txBox="1"/>
            <p:nvPr/>
          </p:nvSpPr>
          <p:spPr>
            <a:xfrm>
              <a:off x="6016752" y="2189988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2025 cont. | 40 obras | 41,4 mil m2 | R$ 87,4 mi | R$ 2.157/m2</a:t>
              </a:r>
            </a:p>
          </p:txBody>
        </p:sp>
        <p:sp>
          <p:nvSpPr>
            <p:cNvPr id="256" name="Text 256"/>
            <p:cNvSpPr txBox="1"/>
            <p:nvPr/>
          </p:nvSpPr>
          <p:spPr>
            <a:xfrm>
              <a:off x="6016752" y="238658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4088.Nova Coleta Zona Oeste (Lapa)</a:t>
              </a:r>
            </a:p>
          </p:txBody>
        </p:sp>
        <p:sp>
          <p:nvSpPr>
            <p:cNvPr id="257" name="Text 257"/>
            <p:cNvSpPr txBox="1"/>
            <p:nvPr/>
          </p:nvSpPr>
          <p:spPr>
            <a:xfrm>
              <a:off x="8229600" y="238658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58" name="Text 258"/>
            <p:cNvSpPr txBox="1"/>
            <p:nvPr/>
          </p:nvSpPr>
          <p:spPr>
            <a:xfrm>
              <a:off x="8485632" y="238658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Jun/25</a:t>
              </a:r>
            </a:p>
          </p:txBody>
        </p:sp>
        <p:sp>
          <p:nvSpPr>
            <p:cNvPr id="259" name="Text 259"/>
            <p:cNvSpPr txBox="1"/>
            <p:nvPr/>
          </p:nvSpPr>
          <p:spPr>
            <a:xfrm>
              <a:off x="8897112" y="238658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60" name="Text 260"/>
            <p:cNvSpPr txBox="1"/>
            <p:nvPr/>
          </p:nvSpPr>
          <p:spPr>
            <a:xfrm>
              <a:off x="9464040" y="238658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R$ 290,9 mil</a:t>
              </a:r>
            </a:p>
          </p:txBody>
        </p:sp>
        <p:sp>
          <p:nvSpPr>
            <p:cNvPr id="261" name="Text 261"/>
            <p:cNvSpPr txBox="1"/>
            <p:nvPr/>
          </p:nvSpPr>
          <p:spPr>
            <a:xfrm>
              <a:off x="10222992" y="238658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170 m2</a:t>
              </a:r>
            </a:p>
          </p:txBody>
        </p:sp>
        <p:sp>
          <p:nvSpPr>
            <p:cNvPr id="262" name="Text 262"/>
            <p:cNvSpPr txBox="1"/>
            <p:nvPr/>
          </p:nvSpPr>
          <p:spPr>
            <a:xfrm>
              <a:off x="10771632" y="238658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R$ 1.707</a:t>
              </a:r>
            </a:p>
          </p:txBody>
        </p:sp>
        <p:sp>
          <p:nvSpPr>
            <p:cNvPr id="263" name="Text 263"/>
            <p:cNvSpPr txBox="1"/>
            <p:nvPr/>
          </p:nvSpPr>
          <p:spPr>
            <a:xfrm>
              <a:off x="6016752" y="258318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4103.Nova Unidade Diagnóstico Fla...</a:t>
              </a:r>
            </a:p>
          </p:txBody>
        </p:sp>
        <p:sp>
          <p:nvSpPr>
            <p:cNvPr id="264" name="Text 264"/>
            <p:cNvSpPr txBox="1"/>
            <p:nvPr/>
          </p:nvSpPr>
          <p:spPr>
            <a:xfrm>
              <a:off x="8229600" y="258318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65" name="Text 265"/>
            <p:cNvSpPr txBox="1"/>
            <p:nvPr/>
          </p:nvSpPr>
          <p:spPr>
            <a:xfrm>
              <a:off x="8485632" y="258318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Jul/25</a:t>
              </a:r>
            </a:p>
          </p:txBody>
        </p:sp>
        <p:sp>
          <p:nvSpPr>
            <p:cNvPr id="266" name="Text 266"/>
            <p:cNvSpPr txBox="1"/>
            <p:nvPr/>
          </p:nvSpPr>
          <p:spPr>
            <a:xfrm>
              <a:off x="8897112" y="258318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67" name="Text 267"/>
            <p:cNvSpPr txBox="1"/>
            <p:nvPr/>
          </p:nvSpPr>
          <p:spPr>
            <a:xfrm>
              <a:off x="9464040" y="258318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R$ 13,7 mi</a:t>
              </a:r>
            </a:p>
          </p:txBody>
        </p:sp>
        <p:sp>
          <p:nvSpPr>
            <p:cNvPr id="268" name="Text 268"/>
            <p:cNvSpPr txBox="1"/>
            <p:nvPr/>
          </p:nvSpPr>
          <p:spPr>
            <a:xfrm>
              <a:off x="10222992" y="258318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4,9 mil m2</a:t>
              </a:r>
            </a:p>
          </p:txBody>
        </p:sp>
        <p:sp>
          <p:nvSpPr>
            <p:cNvPr id="269" name="Text 269"/>
            <p:cNvSpPr txBox="1"/>
            <p:nvPr/>
          </p:nvSpPr>
          <p:spPr>
            <a:xfrm>
              <a:off x="10771632" y="258318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R$ 2.824</a:t>
              </a:r>
            </a:p>
          </p:txBody>
        </p:sp>
        <p:sp>
          <p:nvSpPr>
            <p:cNvPr id="270" name="Text 270"/>
            <p:cNvSpPr txBox="1"/>
            <p:nvPr/>
          </p:nvSpPr>
          <p:spPr>
            <a:xfrm>
              <a:off x="6016752" y="277977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4128.Clínica/Lab Zona Oeste Butan...</a:t>
              </a:r>
            </a:p>
          </p:txBody>
        </p:sp>
        <p:sp>
          <p:nvSpPr>
            <p:cNvPr id="271" name="Text 271"/>
            <p:cNvSpPr txBox="1"/>
            <p:nvPr/>
          </p:nvSpPr>
          <p:spPr>
            <a:xfrm>
              <a:off x="8229600" y="277977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72" name="Text 272"/>
            <p:cNvSpPr txBox="1"/>
            <p:nvPr/>
          </p:nvSpPr>
          <p:spPr>
            <a:xfrm>
              <a:off x="8485632" y="277977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Jul/25</a:t>
              </a:r>
            </a:p>
          </p:txBody>
        </p:sp>
        <p:sp>
          <p:nvSpPr>
            <p:cNvPr id="273" name="Text 273"/>
            <p:cNvSpPr txBox="1"/>
            <p:nvPr/>
          </p:nvSpPr>
          <p:spPr>
            <a:xfrm>
              <a:off x="8897112" y="277977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74" name="Text 274"/>
            <p:cNvSpPr txBox="1"/>
            <p:nvPr/>
          </p:nvSpPr>
          <p:spPr>
            <a:xfrm>
              <a:off x="9464040" y="277977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R$ 1,6 mi</a:t>
              </a:r>
            </a:p>
          </p:txBody>
        </p:sp>
        <p:sp>
          <p:nvSpPr>
            <p:cNvPr id="275" name="Text 275"/>
            <p:cNvSpPr txBox="1"/>
            <p:nvPr/>
          </p:nvSpPr>
          <p:spPr>
            <a:xfrm>
              <a:off x="10222992" y="277977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1,1 mil m2</a:t>
              </a:r>
            </a:p>
          </p:txBody>
        </p:sp>
        <p:sp>
          <p:nvSpPr>
            <p:cNvPr id="276" name="Text 276"/>
            <p:cNvSpPr txBox="1"/>
            <p:nvPr/>
          </p:nvSpPr>
          <p:spPr>
            <a:xfrm>
              <a:off x="10771632" y="277977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R$ 1.499</a:t>
              </a:r>
            </a:p>
          </p:txBody>
        </p:sp>
        <p:sp>
          <p:nvSpPr>
            <p:cNvPr id="277" name="Text 277"/>
            <p:cNvSpPr txBox="1"/>
            <p:nvPr/>
          </p:nvSpPr>
          <p:spPr>
            <a:xfrm>
              <a:off x="6016752" y="297637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0000.Capela Oncologia ABC São Ber...</a:t>
              </a:r>
            </a:p>
          </p:txBody>
        </p:sp>
        <p:sp>
          <p:nvSpPr>
            <p:cNvPr id="278" name="Text 278"/>
            <p:cNvSpPr txBox="1"/>
            <p:nvPr/>
          </p:nvSpPr>
          <p:spPr>
            <a:xfrm>
              <a:off x="8229600" y="297637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79" name="Text 279"/>
            <p:cNvSpPr txBox="1"/>
            <p:nvPr/>
          </p:nvSpPr>
          <p:spPr>
            <a:xfrm>
              <a:off x="8485632" y="297637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Jul/25</a:t>
              </a:r>
            </a:p>
          </p:txBody>
        </p:sp>
        <p:sp>
          <p:nvSpPr>
            <p:cNvPr id="280" name="Text 280"/>
            <p:cNvSpPr txBox="1"/>
            <p:nvPr/>
          </p:nvSpPr>
          <p:spPr>
            <a:xfrm>
              <a:off x="8897112" y="297637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81" name="Text 281"/>
            <p:cNvSpPr txBox="1"/>
            <p:nvPr/>
          </p:nvSpPr>
          <p:spPr>
            <a:xfrm>
              <a:off x="9464040" y="297637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R$ 599,3 mil</a:t>
              </a:r>
            </a:p>
          </p:txBody>
        </p:sp>
        <p:sp>
          <p:nvSpPr>
            <p:cNvPr id="282" name="Text 282"/>
            <p:cNvSpPr txBox="1"/>
            <p:nvPr/>
          </p:nvSpPr>
          <p:spPr>
            <a:xfrm>
              <a:off x="10222992" y="297637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193 m2</a:t>
              </a:r>
            </a:p>
          </p:txBody>
        </p:sp>
        <p:sp>
          <p:nvSpPr>
            <p:cNvPr id="283" name="Text 283"/>
            <p:cNvSpPr txBox="1"/>
            <p:nvPr/>
          </p:nvSpPr>
          <p:spPr>
            <a:xfrm>
              <a:off x="10771632" y="297637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R$ 3.479</a:t>
              </a:r>
            </a:p>
          </p:txBody>
        </p:sp>
        <p:sp>
          <p:nvSpPr>
            <p:cNvPr id="284" name="Text 284"/>
            <p:cNvSpPr txBox="1"/>
            <p:nvPr/>
          </p:nvSpPr>
          <p:spPr>
            <a:xfrm>
              <a:off x="6016752" y="317296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4018.Ampliação Clínica Vieiralves</a:t>
              </a:r>
            </a:p>
          </p:txBody>
        </p:sp>
        <p:sp>
          <p:nvSpPr>
            <p:cNvPr id="285" name="Text 285"/>
            <p:cNvSpPr txBox="1"/>
            <p:nvPr/>
          </p:nvSpPr>
          <p:spPr>
            <a:xfrm>
              <a:off x="8229600" y="317296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AM</a:t>
              </a:r>
            </a:p>
          </p:txBody>
        </p:sp>
        <p:sp>
          <p:nvSpPr>
            <p:cNvPr id="286" name="Text 286"/>
            <p:cNvSpPr txBox="1"/>
            <p:nvPr/>
          </p:nvSpPr>
          <p:spPr>
            <a:xfrm>
              <a:off x="8485632" y="317296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Jan/25</a:t>
              </a:r>
            </a:p>
          </p:txBody>
        </p:sp>
        <p:sp>
          <p:nvSpPr>
            <p:cNvPr id="287" name="Text 287"/>
            <p:cNvSpPr txBox="1"/>
            <p:nvPr/>
          </p:nvSpPr>
          <p:spPr>
            <a:xfrm>
              <a:off x="8897112" y="317296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88" name="Text 288"/>
            <p:cNvSpPr txBox="1"/>
            <p:nvPr/>
          </p:nvSpPr>
          <p:spPr>
            <a:xfrm>
              <a:off x="9464040" y="317296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R$ 1,5 mi</a:t>
              </a:r>
            </a:p>
          </p:txBody>
        </p:sp>
        <p:sp>
          <p:nvSpPr>
            <p:cNvPr id="289" name="Text 289"/>
            <p:cNvSpPr txBox="1"/>
            <p:nvPr/>
          </p:nvSpPr>
          <p:spPr>
            <a:xfrm>
              <a:off x="10222992" y="317296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954 m2</a:t>
              </a:r>
            </a:p>
          </p:txBody>
        </p:sp>
        <p:sp>
          <p:nvSpPr>
            <p:cNvPr id="290" name="Text 290"/>
            <p:cNvSpPr txBox="1"/>
            <p:nvPr/>
          </p:nvSpPr>
          <p:spPr>
            <a:xfrm>
              <a:off x="10771632" y="317296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R$ 1.563</a:t>
              </a:r>
            </a:p>
          </p:txBody>
        </p:sp>
        <p:sp>
          <p:nvSpPr>
            <p:cNvPr id="291" name="Text 291"/>
            <p:cNvSpPr txBox="1"/>
            <p:nvPr/>
          </p:nvSpPr>
          <p:spPr>
            <a:xfrm>
              <a:off x="6016752" y="336956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4037.Nova Clínica Santo André (UA...</a:t>
              </a:r>
            </a:p>
          </p:txBody>
        </p:sp>
        <p:sp>
          <p:nvSpPr>
            <p:cNvPr id="292" name="Text 292"/>
            <p:cNvSpPr txBox="1"/>
            <p:nvPr/>
          </p:nvSpPr>
          <p:spPr>
            <a:xfrm>
              <a:off x="8229600" y="336956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93" name="Text 293"/>
            <p:cNvSpPr txBox="1"/>
            <p:nvPr/>
          </p:nvSpPr>
          <p:spPr>
            <a:xfrm>
              <a:off x="8485632" y="336956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Jan/25</a:t>
              </a:r>
            </a:p>
          </p:txBody>
        </p:sp>
        <p:sp>
          <p:nvSpPr>
            <p:cNvPr id="294" name="Text 294"/>
            <p:cNvSpPr txBox="1"/>
            <p:nvPr/>
          </p:nvSpPr>
          <p:spPr>
            <a:xfrm>
              <a:off x="8897112" y="336956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95" name="Text 295"/>
            <p:cNvSpPr txBox="1"/>
            <p:nvPr/>
          </p:nvSpPr>
          <p:spPr>
            <a:xfrm>
              <a:off x="9464040" y="336956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R$ 986,8 mil</a:t>
              </a:r>
            </a:p>
          </p:txBody>
        </p:sp>
        <p:sp>
          <p:nvSpPr>
            <p:cNvPr id="296" name="Text 296"/>
            <p:cNvSpPr txBox="1"/>
            <p:nvPr/>
          </p:nvSpPr>
          <p:spPr>
            <a:xfrm>
              <a:off x="10222992" y="336956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324 m2</a:t>
              </a:r>
            </a:p>
          </p:txBody>
        </p:sp>
        <p:sp>
          <p:nvSpPr>
            <p:cNvPr id="297" name="Text 297"/>
            <p:cNvSpPr txBox="1"/>
            <p:nvPr/>
          </p:nvSpPr>
          <p:spPr>
            <a:xfrm>
              <a:off x="10771632" y="336956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R$ 3.044</a:t>
              </a:r>
            </a:p>
          </p:txBody>
        </p:sp>
        <p:sp>
          <p:nvSpPr>
            <p:cNvPr id="298" name="Text 298"/>
            <p:cNvSpPr txBox="1"/>
            <p:nvPr/>
          </p:nvSpPr>
          <p:spPr>
            <a:xfrm>
              <a:off x="6016752" y="3566160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4016.Nova Clínica Mogi</a:t>
              </a:r>
            </a:p>
          </p:txBody>
        </p:sp>
        <p:sp>
          <p:nvSpPr>
            <p:cNvPr id="299" name="Text 299"/>
            <p:cNvSpPr txBox="1"/>
            <p:nvPr/>
          </p:nvSpPr>
          <p:spPr>
            <a:xfrm>
              <a:off x="8229600" y="3566160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300" name="Text 300"/>
            <p:cNvSpPr txBox="1"/>
            <p:nvPr/>
          </p:nvSpPr>
          <p:spPr>
            <a:xfrm>
              <a:off x="8485632" y="3566160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Fev/25</a:t>
              </a:r>
            </a:p>
          </p:txBody>
        </p:sp>
        <p:sp>
          <p:nvSpPr>
            <p:cNvPr id="301" name="Text 301"/>
            <p:cNvSpPr txBox="1"/>
            <p:nvPr/>
          </p:nvSpPr>
          <p:spPr>
            <a:xfrm>
              <a:off x="8897112" y="3566160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02" name="Text 302"/>
            <p:cNvSpPr txBox="1"/>
            <p:nvPr/>
          </p:nvSpPr>
          <p:spPr>
            <a:xfrm>
              <a:off x="9464040" y="3566160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R$ 1,1 mi</a:t>
              </a:r>
            </a:p>
          </p:txBody>
        </p:sp>
        <p:sp>
          <p:nvSpPr>
            <p:cNvPr id="303" name="Text 303"/>
            <p:cNvSpPr txBox="1"/>
            <p:nvPr/>
          </p:nvSpPr>
          <p:spPr>
            <a:xfrm>
              <a:off x="10222992" y="3566160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736 m2</a:t>
              </a:r>
            </a:p>
          </p:txBody>
        </p:sp>
        <p:sp>
          <p:nvSpPr>
            <p:cNvPr id="304" name="Text 304"/>
            <p:cNvSpPr txBox="1"/>
            <p:nvPr/>
          </p:nvSpPr>
          <p:spPr>
            <a:xfrm>
              <a:off x="10771632" y="3566160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R$ 1.542</a:t>
              </a:r>
            </a:p>
          </p:txBody>
        </p:sp>
        <p:sp>
          <p:nvSpPr>
            <p:cNvPr id="305" name="Text 305"/>
            <p:cNvSpPr txBox="1"/>
            <p:nvPr/>
          </p:nvSpPr>
          <p:spPr>
            <a:xfrm>
              <a:off x="6016752" y="3762756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3922.Novo TEA Ribeirão Pires (202...</a:t>
              </a:r>
            </a:p>
          </p:txBody>
        </p:sp>
        <p:sp>
          <p:nvSpPr>
            <p:cNvPr id="306" name="Text 306"/>
            <p:cNvSpPr txBox="1"/>
            <p:nvPr/>
          </p:nvSpPr>
          <p:spPr>
            <a:xfrm>
              <a:off x="8229600" y="3762756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307" name="Text 307"/>
            <p:cNvSpPr txBox="1"/>
            <p:nvPr/>
          </p:nvSpPr>
          <p:spPr>
            <a:xfrm>
              <a:off x="8485632" y="3762756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Fev/25</a:t>
              </a:r>
            </a:p>
          </p:txBody>
        </p:sp>
        <p:sp>
          <p:nvSpPr>
            <p:cNvPr id="308" name="Text 308"/>
            <p:cNvSpPr txBox="1"/>
            <p:nvPr/>
          </p:nvSpPr>
          <p:spPr>
            <a:xfrm>
              <a:off x="8897112" y="3762756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09" name="Text 309"/>
            <p:cNvSpPr txBox="1"/>
            <p:nvPr/>
          </p:nvSpPr>
          <p:spPr>
            <a:xfrm>
              <a:off x="9464040" y="3762756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R$ 583,7 mil</a:t>
              </a:r>
            </a:p>
          </p:txBody>
        </p:sp>
        <p:sp>
          <p:nvSpPr>
            <p:cNvPr id="310" name="Text 310"/>
            <p:cNvSpPr txBox="1"/>
            <p:nvPr/>
          </p:nvSpPr>
          <p:spPr>
            <a:xfrm>
              <a:off x="10222992" y="3762756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371 m2</a:t>
              </a:r>
            </a:p>
          </p:txBody>
        </p:sp>
        <p:sp>
          <p:nvSpPr>
            <p:cNvPr id="311" name="Text 311"/>
            <p:cNvSpPr txBox="1"/>
            <p:nvPr/>
          </p:nvSpPr>
          <p:spPr>
            <a:xfrm>
              <a:off x="10771632" y="3762756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R$ 1.677</a:t>
              </a:r>
            </a:p>
          </p:txBody>
        </p:sp>
        <p:sp>
          <p:nvSpPr>
            <p:cNvPr id="312" name="Text 312"/>
            <p:cNvSpPr txBox="1"/>
            <p:nvPr/>
          </p:nvSpPr>
          <p:spPr>
            <a:xfrm>
              <a:off x="6016752" y="3959352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9929.Transferência Notrelife/Clín...</a:t>
              </a:r>
            </a:p>
          </p:txBody>
        </p:sp>
        <p:sp>
          <p:nvSpPr>
            <p:cNvPr id="313" name="Text 313"/>
            <p:cNvSpPr txBox="1"/>
            <p:nvPr/>
          </p:nvSpPr>
          <p:spPr>
            <a:xfrm>
              <a:off x="8229600" y="3959352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314" name="Text 314"/>
            <p:cNvSpPr txBox="1"/>
            <p:nvPr/>
          </p:nvSpPr>
          <p:spPr>
            <a:xfrm>
              <a:off x="8485632" y="3959352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15" name="Text 315"/>
            <p:cNvSpPr txBox="1"/>
            <p:nvPr/>
          </p:nvSpPr>
          <p:spPr>
            <a:xfrm>
              <a:off x="8897112" y="3959352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16" name="Text 316"/>
            <p:cNvSpPr txBox="1"/>
            <p:nvPr/>
          </p:nvSpPr>
          <p:spPr>
            <a:xfrm>
              <a:off x="9464040" y="3959352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R$ 4,9 mi</a:t>
              </a:r>
            </a:p>
          </p:txBody>
        </p:sp>
        <p:sp>
          <p:nvSpPr>
            <p:cNvPr id="317" name="Text 317"/>
            <p:cNvSpPr txBox="1"/>
            <p:nvPr/>
          </p:nvSpPr>
          <p:spPr>
            <a:xfrm>
              <a:off x="10222992" y="3959352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3,6 mil m2</a:t>
              </a:r>
            </a:p>
          </p:txBody>
        </p:sp>
        <p:sp>
          <p:nvSpPr>
            <p:cNvPr id="318" name="Text 318"/>
            <p:cNvSpPr txBox="1"/>
            <p:nvPr/>
          </p:nvSpPr>
          <p:spPr>
            <a:xfrm>
              <a:off x="10771632" y="3959352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R$ 1.379</a:t>
              </a:r>
            </a:p>
          </p:txBody>
        </p:sp>
        <p:sp>
          <p:nvSpPr>
            <p:cNvPr id="319" name="Text 319"/>
            <p:cNvSpPr txBox="1"/>
            <p:nvPr/>
          </p:nvSpPr>
          <p:spPr>
            <a:xfrm>
              <a:off x="6016752" y="4155948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0000.Nova Clínica da Criança e Mu...</a:t>
              </a:r>
            </a:p>
          </p:txBody>
        </p:sp>
        <p:sp>
          <p:nvSpPr>
            <p:cNvPr id="320" name="Text 320"/>
            <p:cNvSpPr txBox="1"/>
            <p:nvPr/>
          </p:nvSpPr>
          <p:spPr>
            <a:xfrm>
              <a:off x="8229600" y="4155948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321" name="Text 321"/>
            <p:cNvSpPr txBox="1"/>
            <p:nvPr/>
          </p:nvSpPr>
          <p:spPr>
            <a:xfrm>
              <a:off x="8485632" y="4155948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22" name="Text 322"/>
            <p:cNvSpPr txBox="1"/>
            <p:nvPr/>
          </p:nvSpPr>
          <p:spPr>
            <a:xfrm>
              <a:off x="8897112" y="4155948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23" name="Text 323"/>
            <p:cNvSpPr txBox="1"/>
            <p:nvPr/>
          </p:nvSpPr>
          <p:spPr>
            <a:xfrm>
              <a:off x="9464040" y="4155948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R$ 3,6 mi</a:t>
              </a:r>
            </a:p>
          </p:txBody>
        </p:sp>
        <p:sp>
          <p:nvSpPr>
            <p:cNvPr id="324" name="Text 324"/>
            <p:cNvSpPr txBox="1"/>
            <p:nvPr/>
          </p:nvSpPr>
          <p:spPr>
            <a:xfrm>
              <a:off x="10222992" y="4155948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1,7 mil m2</a:t>
              </a:r>
            </a:p>
          </p:txBody>
        </p:sp>
        <p:sp>
          <p:nvSpPr>
            <p:cNvPr id="325" name="Text 325"/>
            <p:cNvSpPr txBox="1"/>
            <p:nvPr/>
          </p:nvSpPr>
          <p:spPr>
            <a:xfrm>
              <a:off x="10771632" y="4155948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R$ 2.158</a:t>
              </a:r>
            </a:p>
          </p:txBody>
        </p:sp>
        <p:sp>
          <p:nvSpPr>
            <p:cNvPr id="326" name="Text 326"/>
            <p:cNvSpPr txBox="1"/>
            <p:nvPr/>
          </p:nvSpPr>
          <p:spPr>
            <a:xfrm>
              <a:off x="6016752" y="435254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4091.Novo TEA e Coleta Zona Sul A...</a:t>
              </a:r>
            </a:p>
          </p:txBody>
        </p:sp>
        <p:sp>
          <p:nvSpPr>
            <p:cNvPr id="327" name="Text 327"/>
            <p:cNvSpPr txBox="1"/>
            <p:nvPr/>
          </p:nvSpPr>
          <p:spPr>
            <a:xfrm>
              <a:off x="8229600" y="435254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328" name="Text 328"/>
            <p:cNvSpPr txBox="1"/>
            <p:nvPr/>
          </p:nvSpPr>
          <p:spPr>
            <a:xfrm>
              <a:off x="8485632" y="435254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29" name="Text 329"/>
            <p:cNvSpPr txBox="1"/>
            <p:nvPr/>
          </p:nvSpPr>
          <p:spPr>
            <a:xfrm>
              <a:off x="8897112" y="435254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30" name="Text 330"/>
            <p:cNvSpPr txBox="1"/>
            <p:nvPr/>
          </p:nvSpPr>
          <p:spPr>
            <a:xfrm>
              <a:off x="9464040" y="435254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R$ 2,9 mi</a:t>
              </a:r>
            </a:p>
          </p:txBody>
        </p:sp>
        <p:sp>
          <p:nvSpPr>
            <p:cNvPr id="331" name="Text 331"/>
            <p:cNvSpPr txBox="1"/>
            <p:nvPr/>
          </p:nvSpPr>
          <p:spPr>
            <a:xfrm>
              <a:off x="10222992" y="435254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982 m2</a:t>
              </a:r>
            </a:p>
          </p:txBody>
        </p:sp>
        <p:sp>
          <p:nvSpPr>
            <p:cNvPr id="332" name="Text 332"/>
            <p:cNvSpPr txBox="1"/>
            <p:nvPr/>
          </p:nvSpPr>
          <p:spPr>
            <a:xfrm>
              <a:off x="10771632" y="435254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R$ 2.990</a:t>
              </a:r>
            </a:p>
          </p:txBody>
        </p:sp>
        <p:sp>
          <p:nvSpPr>
            <p:cNvPr id="333" name="Text 333"/>
            <p:cNvSpPr txBox="1"/>
            <p:nvPr/>
          </p:nvSpPr>
          <p:spPr>
            <a:xfrm>
              <a:off x="6016752" y="454914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4190.Novo TEA Zona Sul Jabaquara...</a:t>
              </a:r>
            </a:p>
          </p:txBody>
        </p:sp>
        <p:sp>
          <p:nvSpPr>
            <p:cNvPr id="334" name="Text 334"/>
            <p:cNvSpPr txBox="1"/>
            <p:nvPr/>
          </p:nvSpPr>
          <p:spPr>
            <a:xfrm>
              <a:off x="8229600" y="454914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335" name="Text 335"/>
            <p:cNvSpPr txBox="1"/>
            <p:nvPr/>
          </p:nvSpPr>
          <p:spPr>
            <a:xfrm>
              <a:off x="8485632" y="454914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36" name="Text 336"/>
            <p:cNvSpPr txBox="1"/>
            <p:nvPr/>
          </p:nvSpPr>
          <p:spPr>
            <a:xfrm>
              <a:off x="8897112" y="454914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37" name="Text 337"/>
            <p:cNvSpPr txBox="1"/>
            <p:nvPr/>
          </p:nvSpPr>
          <p:spPr>
            <a:xfrm>
              <a:off x="9464040" y="454914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R$ 2,7 mi</a:t>
              </a:r>
            </a:p>
          </p:txBody>
        </p:sp>
        <p:sp>
          <p:nvSpPr>
            <p:cNvPr id="338" name="Text 338"/>
            <p:cNvSpPr txBox="1"/>
            <p:nvPr/>
          </p:nvSpPr>
          <p:spPr>
            <a:xfrm>
              <a:off x="10222992" y="454914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1,3 mil m2</a:t>
              </a:r>
            </a:p>
          </p:txBody>
        </p:sp>
        <p:sp>
          <p:nvSpPr>
            <p:cNvPr id="339" name="Text 339"/>
            <p:cNvSpPr txBox="1"/>
            <p:nvPr/>
          </p:nvSpPr>
          <p:spPr>
            <a:xfrm>
              <a:off x="10771632" y="454914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R$ 2.120</a:t>
              </a:r>
            </a:p>
          </p:txBody>
        </p:sp>
        <p:sp>
          <p:nvSpPr>
            <p:cNvPr id="340" name="Text 340"/>
            <p:cNvSpPr txBox="1"/>
            <p:nvPr/>
          </p:nvSpPr>
          <p:spPr>
            <a:xfrm>
              <a:off x="6016752" y="474573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4181.Novo TEA Recife Madalena (20...</a:t>
              </a:r>
            </a:p>
          </p:txBody>
        </p:sp>
        <p:sp>
          <p:nvSpPr>
            <p:cNvPr id="341" name="Text 341"/>
            <p:cNvSpPr txBox="1"/>
            <p:nvPr/>
          </p:nvSpPr>
          <p:spPr>
            <a:xfrm>
              <a:off x="8229600" y="474573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PE</a:t>
              </a:r>
            </a:p>
          </p:txBody>
        </p:sp>
        <p:sp>
          <p:nvSpPr>
            <p:cNvPr id="342" name="Text 342"/>
            <p:cNvSpPr txBox="1"/>
            <p:nvPr/>
          </p:nvSpPr>
          <p:spPr>
            <a:xfrm>
              <a:off x="8485632" y="474573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43" name="Text 343"/>
            <p:cNvSpPr txBox="1"/>
            <p:nvPr/>
          </p:nvSpPr>
          <p:spPr>
            <a:xfrm>
              <a:off x="8897112" y="474573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44" name="Text 344"/>
            <p:cNvSpPr txBox="1"/>
            <p:nvPr/>
          </p:nvSpPr>
          <p:spPr>
            <a:xfrm>
              <a:off x="9464040" y="474573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R$ 2,2 mi</a:t>
              </a:r>
            </a:p>
          </p:txBody>
        </p:sp>
        <p:sp>
          <p:nvSpPr>
            <p:cNvPr id="345" name="Text 345"/>
            <p:cNvSpPr txBox="1"/>
            <p:nvPr/>
          </p:nvSpPr>
          <p:spPr>
            <a:xfrm>
              <a:off x="10222992" y="474573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1,2 mil m2</a:t>
              </a:r>
            </a:p>
          </p:txBody>
        </p:sp>
        <p:sp>
          <p:nvSpPr>
            <p:cNvPr id="346" name="Text 346"/>
            <p:cNvSpPr txBox="1"/>
            <p:nvPr/>
          </p:nvSpPr>
          <p:spPr>
            <a:xfrm>
              <a:off x="10771632" y="474573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R$ 1.837</a:t>
              </a:r>
            </a:p>
          </p:txBody>
        </p:sp>
        <p:sp>
          <p:nvSpPr>
            <p:cNvPr id="347" name="Text 347"/>
            <p:cNvSpPr txBox="1"/>
            <p:nvPr/>
          </p:nvSpPr>
          <p:spPr>
            <a:xfrm>
              <a:off x="6016752" y="494233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4183.Novo TEA Curitiba 1 Rep. Arg...</a:t>
              </a:r>
            </a:p>
          </p:txBody>
        </p:sp>
        <p:sp>
          <p:nvSpPr>
            <p:cNvPr id="348" name="Text 348"/>
            <p:cNvSpPr txBox="1"/>
            <p:nvPr/>
          </p:nvSpPr>
          <p:spPr>
            <a:xfrm>
              <a:off x="8229600" y="494233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PR</a:t>
              </a:r>
            </a:p>
          </p:txBody>
        </p:sp>
        <p:sp>
          <p:nvSpPr>
            <p:cNvPr id="349" name="Text 349"/>
            <p:cNvSpPr txBox="1"/>
            <p:nvPr/>
          </p:nvSpPr>
          <p:spPr>
            <a:xfrm>
              <a:off x="8485632" y="494233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50" name="Text 350"/>
            <p:cNvSpPr txBox="1"/>
            <p:nvPr/>
          </p:nvSpPr>
          <p:spPr>
            <a:xfrm>
              <a:off x="8897112" y="494233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51" name="Text 351"/>
            <p:cNvSpPr txBox="1"/>
            <p:nvPr/>
          </p:nvSpPr>
          <p:spPr>
            <a:xfrm>
              <a:off x="9464040" y="494233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R$ 1,4 mi</a:t>
              </a:r>
            </a:p>
          </p:txBody>
        </p:sp>
        <p:sp>
          <p:nvSpPr>
            <p:cNvPr id="352" name="Text 352"/>
            <p:cNvSpPr txBox="1"/>
            <p:nvPr/>
          </p:nvSpPr>
          <p:spPr>
            <a:xfrm>
              <a:off x="10222992" y="494233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863 m2</a:t>
              </a:r>
            </a:p>
          </p:txBody>
        </p:sp>
        <p:sp>
          <p:nvSpPr>
            <p:cNvPr id="353" name="Text 353"/>
            <p:cNvSpPr txBox="1"/>
            <p:nvPr/>
          </p:nvSpPr>
          <p:spPr>
            <a:xfrm>
              <a:off x="10771632" y="494233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R$ 1.674</a:t>
              </a:r>
            </a:p>
          </p:txBody>
        </p:sp>
        <p:sp>
          <p:nvSpPr>
            <p:cNvPr id="354" name="Text 354"/>
            <p:cNvSpPr txBox="1"/>
            <p:nvPr/>
          </p:nvSpPr>
          <p:spPr>
            <a:xfrm>
              <a:off x="6016752" y="513892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0000.Nova Coleta São Bernardo</a:t>
              </a:r>
            </a:p>
          </p:txBody>
        </p:sp>
        <p:sp>
          <p:nvSpPr>
            <p:cNvPr id="355" name="Text 355"/>
            <p:cNvSpPr txBox="1"/>
            <p:nvPr/>
          </p:nvSpPr>
          <p:spPr>
            <a:xfrm>
              <a:off x="8229600" y="513892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356" name="Text 356"/>
            <p:cNvSpPr txBox="1"/>
            <p:nvPr/>
          </p:nvSpPr>
          <p:spPr>
            <a:xfrm>
              <a:off x="8485632" y="513892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57" name="Text 357"/>
            <p:cNvSpPr txBox="1"/>
            <p:nvPr/>
          </p:nvSpPr>
          <p:spPr>
            <a:xfrm>
              <a:off x="8897112" y="513892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58" name="Text 358"/>
            <p:cNvSpPr txBox="1"/>
            <p:nvPr/>
          </p:nvSpPr>
          <p:spPr>
            <a:xfrm>
              <a:off x="9464040" y="513892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R$ 1,3 mi</a:t>
              </a:r>
            </a:p>
          </p:txBody>
        </p:sp>
        <p:sp>
          <p:nvSpPr>
            <p:cNvPr id="359" name="Text 359"/>
            <p:cNvSpPr txBox="1"/>
            <p:nvPr/>
          </p:nvSpPr>
          <p:spPr>
            <a:xfrm>
              <a:off x="10222992" y="513892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1,2 mil m2</a:t>
              </a:r>
            </a:p>
          </p:txBody>
        </p:sp>
        <p:sp>
          <p:nvSpPr>
            <p:cNvPr id="360" name="Text 360"/>
            <p:cNvSpPr txBox="1"/>
            <p:nvPr/>
          </p:nvSpPr>
          <p:spPr>
            <a:xfrm>
              <a:off x="10771632" y="513892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R$ 1.055</a:t>
              </a:r>
            </a:p>
          </p:txBody>
        </p:sp>
        <p:sp>
          <p:nvSpPr>
            <p:cNvPr id="361" name="Text 361"/>
            <p:cNvSpPr txBox="1"/>
            <p:nvPr/>
          </p:nvSpPr>
          <p:spPr>
            <a:xfrm>
              <a:off x="6016752" y="533552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4166.Novo TEA Manaus Nilton Lins...</a:t>
              </a:r>
            </a:p>
          </p:txBody>
        </p:sp>
        <p:sp>
          <p:nvSpPr>
            <p:cNvPr id="362" name="Text 362"/>
            <p:cNvSpPr txBox="1"/>
            <p:nvPr/>
          </p:nvSpPr>
          <p:spPr>
            <a:xfrm>
              <a:off x="8229600" y="533552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AM</a:t>
              </a:r>
            </a:p>
          </p:txBody>
        </p:sp>
        <p:sp>
          <p:nvSpPr>
            <p:cNvPr id="363" name="Text 363"/>
            <p:cNvSpPr txBox="1"/>
            <p:nvPr/>
          </p:nvSpPr>
          <p:spPr>
            <a:xfrm>
              <a:off x="8485632" y="533552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64" name="Text 364"/>
            <p:cNvSpPr txBox="1"/>
            <p:nvPr/>
          </p:nvSpPr>
          <p:spPr>
            <a:xfrm>
              <a:off x="8897112" y="533552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65" name="Text 365"/>
            <p:cNvSpPr txBox="1"/>
            <p:nvPr/>
          </p:nvSpPr>
          <p:spPr>
            <a:xfrm>
              <a:off x="9464040" y="533552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R$ 1,2 mi</a:t>
              </a:r>
            </a:p>
          </p:txBody>
        </p:sp>
        <p:sp>
          <p:nvSpPr>
            <p:cNvPr id="366" name="Text 366"/>
            <p:cNvSpPr txBox="1"/>
            <p:nvPr/>
          </p:nvSpPr>
          <p:spPr>
            <a:xfrm>
              <a:off x="10222992" y="533552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569 m2</a:t>
              </a:r>
            </a:p>
          </p:txBody>
        </p:sp>
        <p:sp>
          <p:nvSpPr>
            <p:cNvPr id="367" name="Text 367"/>
            <p:cNvSpPr txBox="1"/>
            <p:nvPr/>
          </p:nvSpPr>
          <p:spPr>
            <a:xfrm>
              <a:off x="10771632" y="533552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R$ 2.146</a:t>
              </a:r>
            </a:p>
          </p:txBody>
        </p:sp>
        <p:sp>
          <p:nvSpPr>
            <p:cNvPr id="368" name="Text 368"/>
            <p:cNvSpPr txBox="1"/>
            <p:nvPr/>
          </p:nvSpPr>
          <p:spPr>
            <a:xfrm>
              <a:off x="6016752" y="5532120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0000.Novo Medprev Nilton Lins</a:t>
              </a:r>
            </a:p>
          </p:txBody>
        </p:sp>
        <p:sp>
          <p:nvSpPr>
            <p:cNvPr id="369" name="Text 369"/>
            <p:cNvSpPr txBox="1"/>
            <p:nvPr/>
          </p:nvSpPr>
          <p:spPr>
            <a:xfrm>
              <a:off x="8229600" y="5532120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AM</a:t>
              </a:r>
            </a:p>
          </p:txBody>
        </p:sp>
        <p:sp>
          <p:nvSpPr>
            <p:cNvPr id="370" name="Text 370"/>
            <p:cNvSpPr txBox="1"/>
            <p:nvPr/>
          </p:nvSpPr>
          <p:spPr>
            <a:xfrm>
              <a:off x="8485632" y="5532120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71" name="Text 371"/>
            <p:cNvSpPr txBox="1"/>
            <p:nvPr/>
          </p:nvSpPr>
          <p:spPr>
            <a:xfrm>
              <a:off x="8897112" y="5532120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72" name="Text 372"/>
            <p:cNvSpPr txBox="1"/>
            <p:nvPr/>
          </p:nvSpPr>
          <p:spPr>
            <a:xfrm>
              <a:off x="9464040" y="5532120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R$ 897,1 mil</a:t>
              </a:r>
            </a:p>
          </p:txBody>
        </p:sp>
        <p:sp>
          <p:nvSpPr>
            <p:cNvPr id="373" name="Text 373"/>
            <p:cNvSpPr txBox="1"/>
            <p:nvPr/>
          </p:nvSpPr>
          <p:spPr>
            <a:xfrm>
              <a:off x="10222992" y="5532120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482 m2</a:t>
              </a:r>
            </a:p>
          </p:txBody>
        </p:sp>
        <p:sp>
          <p:nvSpPr>
            <p:cNvPr id="374" name="Text 374"/>
            <p:cNvSpPr txBox="1"/>
            <p:nvPr/>
          </p:nvSpPr>
          <p:spPr>
            <a:xfrm>
              <a:off x="10771632" y="5532120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R$ 1.862</a:t>
              </a:r>
            </a:p>
          </p:txBody>
        </p:sp>
        <p:sp>
          <p:nvSpPr>
            <p:cNvPr id="375" name="Text 375"/>
            <p:cNvSpPr txBox="1"/>
            <p:nvPr/>
          </p:nvSpPr>
          <p:spPr>
            <a:xfrm>
              <a:off x="6016752" y="5728716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4173.Novo TEA São Luís Jerônimo A...</a:t>
              </a:r>
            </a:p>
          </p:txBody>
        </p:sp>
        <p:sp>
          <p:nvSpPr>
            <p:cNvPr id="376" name="Text 376"/>
            <p:cNvSpPr txBox="1"/>
            <p:nvPr/>
          </p:nvSpPr>
          <p:spPr>
            <a:xfrm>
              <a:off x="8229600" y="5728716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</a:t>
              </a:r>
            </a:p>
          </p:txBody>
        </p:sp>
        <p:sp>
          <p:nvSpPr>
            <p:cNvPr id="377" name="Text 377"/>
            <p:cNvSpPr txBox="1"/>
            <p:nvPr/>
          </p:nvSpPr>
          <p:spPr>
            <a:xfrm>
              <a:off x="8485632" y="5728716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78" name="Text 378"/>
            <p:cNvSpPr txBox="1"/>
            <p:nvPr/>
          </p:nvSpPr>
          <p:spPr>
            <a:xfrm>
              <a:off x="8897112" y="5728716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79" name="Text 379"/>
            <p:cNvSpPr txBox="1"/>
            <p:nvPr/>
          </p:nvSpPr>
          <p:spPr>
            <a:xfrm>
              <a:off x="9464040" y="5728716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R$ 676,1 mil</a:t>
              </a:r>
            </a:p>
          </p:txBody>
        </p:sp>
        <p:sp>
          <p:nvSpPr>
            <p:cNvPr id="380" name="Text 380"/>
            <p:cNvSpPr txBox="1"/>
            <p:nvPr/>
          </p:nvSpPr>
          <p:spPr>
            <a:xfrm>
              <a:off x="10222992" y="5728716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374 m2</a:t>
              </a:r>
            </a:p>
          </p:txBody>
        </p:sp>
        <p:sp>
          <p:nvSpPr>
            <p:cNvPr id="381" name="Text 381"/>
            <p:cNvSpPr txBox="1"/>
            <p:nvPr/>
          </p:nvSpPr>
          <p:spPr>
            <a:xfrm>
              <a:off x="10771632" y="5728716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R$ 2.016</a:t>
              </a:r>
            </a:p>
          </p:txBody>
        </p:sp>
        <p:sp>
          <p:nvSpPr>
            <p:cNvPr id="382" name="Text 382"/>
            <p:cNvSpPr txBox="1"/>
            <p:nvPr/>
          </p:nvSpPr>
          <p:spPr>
            <a:xfrm>
              <a:off x="6016752" y="5925312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0000.Oncologia Clínica Jaraguá do...</a:t>
              </a:r>
            </a:p>
          </p:txBody>
        </p:sp>
        <p:sp>
          <p:nvSpPr>
            <p:cNvPr id="383" name="Text 383"/>
            <p:cNvSpPr txBox="1"/>
            <p:nvPr/>
          </p:nvSpPr>
          <p:spPr>
            <a:xfrm>
              <a:off x="8229600" y="5925312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SC</a:t>
              </a:r>
            </a:p>
          </p:txBody>
        </p:sp>
        <p:sp>
          <p:nvSpPr>
            <p:cNvPr id="384" name="Text 384"/>
            <p:cNvSpPr txBox="1"/>
            <p:nvPr/>
          </p:nvSpPr>
          <p:spPr>
            <a:xfrm>
              <a:off x="8485632" y="5925312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Dez/25</a:t>
              </a:r>
            </a:p>
          </p:txBody>
        </p:sp>
        <p:sp>
          <p:nvSpPr>
            <p:cNvPr id="385" name="Text 385"/>
            <p:cNvSpPr txBox="1"/>
            <p:nvPr/>
          </p:nvSpPr>
          <p:spPr>
            <a:xfrm>
              <a:off x="8897112" y="5925312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86" name="Text 386"/>
            <p:cNvSpPr txBox="1"/>
            <p:nvPr/>
          </p:nvSpPr>
          <p:spPr>
            <a:xfrm>
              <a:off x="9464040" y="5925312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R$ 349,0 mil</a:t>
              </a:r>
            </a:p>
          </p:txBody>
        </p:sp>
        <p:sp>
          <p:nvSpPr>
            <p:cNvPr id="387" name="Text 387"/>
            <p:cNvSpPr txBox="1"/>
            <p:nvPr/>
          </p:nvSpPr>
          <p:spPr>
            <a:xfrm>
              <a:off x="10222992" y="5925312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213 m2</a:t>
              </a:r>
            </a:p>
          </p:txBody>
        </p:sp>
        <p:sp>
          <p:nvSpPr>
            <p:cNvPr id="388" name="Text 388"/>
            <p:cNvSpPr txBox="1"/>
            <p:nvPr/>
          </p:nvSpPr>
          <p:spPr>
            <a:xfrm>
              <a:off x="10771632" y="5925312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R$ 1.638</a:t>
              </a:r>
            </a:p>
          </p:txBody>
        </p:sp>
        <p:sp>
          <p:nvSpPr>
            <p:cNvPr id="389" name="Text 389"/>
            <p:cNvSpPr txBox="1"/>
            <p:nvPr/>
          </p:nvSpPr>
          <p:spPr>
            <a:xfrm>
              <a:off x="6016752" y="6121908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4080.Nova Coleta Zona Leste (Tatu...</a:t>
              </a:r>
            </a:p>
          </p:txBody>
        </p:sp>
        <p:sp>
          <p:nvSpPr>
            <p:cNvPr id="390" name="Text 390"/>
            <p:cNvSpPr txBox="1"/>
            <p:nvPr/>
          </p:nvSpPr>
          <p:spPr>
            <a:xfrm>
              <a:off x="8229600" y="6121908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391" name="Text 391"/>
            <p:cNvSpPr txBox="1"/>
            <p:nvPr/>
          </p:nvSpPr>
          <p:spPr>
            <a:xfrm>
              <a:off x="8485632" y="6121908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Ago/25</a:t>
              </a:r>
            </a:p>
          </p:txBody>
        </p:sp>
        <p:sp>
          <p:nvSpPr>
            <p:cNvPr id="392" name="Text 392"/>
            <p:cNvSpPr txBox="1"/>
            <p:nvPr/>
          </p:nvSpPr>
          <p:spPr>
            <a:xfrm>
              <a:off x="8897112" y="6121908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393" name="Text 393"/>
            <p:cNvSpPr txBox="1"/>
            <p:nvPr/>
          </p:nvSpPr>
          <p:spPr>
            <a:xfrm>
              <a:off x="9464040" y="6121908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R$ 860,8 mil</a:t>
              </a:r>
            </a:p>
          </p:txBody>
        </p:sp>
        <p:sp>
          <p:nvSpPr>
            <p:cNvPr id="394" name="Text 394"/>
            <p:cNvSpPr txBox="1"/>
            <p:nvPr/>
          </p:nvSpPr>
          <p:spPr>
            <a:xfrm>
              <a:off x="10222992" y="6121908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422 m2</a:t>
              </a:r>
            </a:p>
          </p:txBody>
        </p:sp>
        <p:sp>
          <p:nvSpPr>
            <p:cNvPr id="395" name="Text 395"/>
            <p:cNvSpPr txBox="1"/>
            <p:nvPr/>
          </p:nvSpPr>
          <p:spPr>
            <a:xfrm>
              <a:off x="10771632" y="6121908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R$ 2.042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pic>
        <p:nvPicPr>
          <p:cNvPr id="901" name="Hapvid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FFFFFF"/>
                </a:solidFill>
              </a:rPr>
              <a:t>Clínicas, Diagnósticos, TEA e Laboratórios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r"/>
            <a:r>
              <a:rPr lang="pt-BR" sz="800">
                <a:solidFill>
                  <a:srgbClr val="50617F"/>
                </a:solidFill>
              </a:rPr>
              <a:t>6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566928" y="694944"/>
            <a:ext cx="7635240" cy="36576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800" b="1">
                <a:solidFill>
                  <a:srgbClr val="15253F"/>
                </a:solidFill>
              </a:rPr>
              <a:t>Clínicas, Diagnósticos, TEA e Laboratórios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22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2715768" y="1143000"/>
            <a:ext cx="1920240" cy="530352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Area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22,5 mil m2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864608" y="1143000"/>
            <a:ext cx="1920240" cy="530352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>
                <a:solidFill>
                  <a:srgbClr val="FFFFFF"/>
                </a:solidFill>
              </a:rPr>
              <a:t>Valor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R$ 46,6 mi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7013448" y="1143000"/>
            <a:ext cx="1920240" cy="530352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 dirty="0" err="1">
                <a:solidFill>
                  <a:srgbClr val="FFFFFF"/>
                </a:solidFill>
              </a:rPr>
              <a:t>Preco</a:t>
            </a:r>
            <a:r>
              <a:rPr lang="pt-BR" sz="1000" b="1" dirty="0">
                <a:solidFill>
                  <a:srgbClr val="FFFFFF"/>
                </a:solidFill>
              </a:rPr>
              <a:t> m2</a:t>
            </a:r>
          </a:p>
          <a:p>
            <a:pPr algn="l"/>
            <a:r>
              <a:rPr lang="pt-BR" b="1" dirty="0">
                <a:solidFill>
                  <a:srgbClr val="FFFFFF"/>
                </a:solidFill>
              </a:rPr>
              <a:t>R$ 2.122/m2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566928" y="175564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/>
          <a:lstStyle/>
          <a:p>
            <a:pPr algn="l"/>
            <a:r>
              <a:rPr lang="pt-BR" sz="1000" b="1">
                <a:solidFill>
                  <a:srgbClr val="253F8E"/>
                </a:solidFill>
              </a:rPr>
              <a:t>Obras listadas por ano, sem consolidacao</a:t>
            </a: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C3FF6229-29C1-BC6E-C65B-EFBFD8B942AB}"/>
              </a:ext>
            </a:extLst>
          </p:cNvPr>
          <p:cNvGrpSpPr/>
          <p:nvPr/>
        </p:nvGrpSpPr>
        <p:grpSpPr>
          <a:xfrm>
            <a:off x="572996" y="2039112"/>
            <a:ext cx="6440452" cy="4325112"/>
            <a:chOff x="438912" y="1993392"/>
            <a:chExt cx="5376672" cy="4325112"/>
          </a:xfrm>
        </p:grpSpPr>
        <p:sp>
          <p:nvSpPr>
            <p:cNvPr id="100" name="Text 100"/>
            <p:cNvSpPr txBox="1"/>
            <p:nvPr/>
          </p:nvSpPr>
          <p:spPr>
            <a:xfrm>
              <a:off x="438912" y="1993392"/>
              <a:ext cx="221284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Obra</a:t>
              </a:r>
            </a:p>
          </p:txBody>
        </p:sp>
        <p:sp>
          <p:nvSpPr>
            <p:cNvPr id="101" name="Text 101"/>
            <p:cNvSpPr txBox="1"/>
            <p:nvPr/>
          </p:nvSpPr>
          <p:spPr>
            <a:xfrm>
              <a:off x="2651760" y="1993392"/>
              <a:ext cx="25603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UF</a:t>
              </a:r>
            </a:p>
          </p:txBody>
        </p:sp>
        <p:sp>
          <p:nvSpPr>
            <p:cNvPr id="102" name="Text 102"/>
            <p:cNvSpPr txBox="1"/>
            <p:nvPr/>
          </p:nvSpPr>
          <p:spPr>
            <a:xfrm>
              <a:off x="2907792" y="1993392"/>
              <a:ext cx="41148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Fim</a:t>
              </a:r>
            </a:p>
          </p:txBody>
        </p:sp>
        <p:sp>
          <p:nvSpPr>
            <p:cNvPr id="103" name="Text 103"/>
            <p:cNvSpPr txBox="1"/>
            <p:nvPr/>
          </p:nvSpPr>
          <p:spPr>
            <a:xfrm>
              <a:off x="3319272" y="1993392"/>
              <a:ext cx="566928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Status</a:t>
              </a:r>
            </a:p>
          </p:txBody>
        </p:sp>
        <p:sp>
          <p:nvSpPr>
            <p:cNvPr id="104" name="Text 104"/>
            <p:cNvSpPr txBox="1"/>
            <p:nvPr/>
          </p:nvSpPr>
          <p:spPr>
            <a:xfrm>
              <a:off x="3886200" y="1993392"/>
              <a:ext cx="75895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Valor</a:t>
              </a:r>
            </a:p>
          </p:txBody>
        </p:sp>
        <p:sp>
          <p:nvSpPr>
            <p:cNvPr id="105" name="Text 105"/>
            <p:cNvSpPr txBox="1"/>
            <p:nvPr/>
          </p:nvSpPr>
          <p:spPr>
            <a:xfrm>
              <a:off x="4645152" y="1993392"/>
              <a:ext cx="548640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m2</a:t>
              </a:r>
            </a:p>
          </p:txBody>
        </p:sp>
        <p:sp>
          <p:nvSpPr>
            <p:cNvPr id="106" name="Text 106"/>
            <p:cNvSpPr txBox="1"/>
            <p:nvPr/>
          </p:nvSpPr>
          <p:spPr>
            <a:xfrm>
              <a:off x="5193792" y="1993392"/>
              <a:ext cx="621792" cy="196596"/>
            </a:xfrm>
            <a:prstGeom prst="rect">
              <a:avLst/>
            </a:prstGeom>
            <a:solidFill>
              <a:srgbClr val="253F8E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R$/m2</a:t>
              </a:r>
            </a:p>
          </p:txBody>
        </p:sp>
        <p:sp>
          <p:nvSpPr>
            <p:cNvPr id="107" name="Text 107"/>
            <p:cNvSpPr txBox="1"/>
            <p:nvPr/>
          </p:nvSpPr>
          <p:spPr>
            <a:xfrm>
              <a:off x="438912" y="2189988"/>
              <a:ext cx="5376672" cy="196596"/>
            </a:xfrm>
            <a:prstGeom prst="rect">
              <a:avLst/>
            </a:prstGeom>
            <a:solidFill>
              <a:srgbClr val="2F65B7"/>
            </a:solidFill>
            <a:ln>
              <a:noFill/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 b="1">
                  <a:solidFill>
                    <a:srgbClr val="FFFFFF"/>
                  </a:solidFill>
                </a:rPr>
                <a:t>2026 | 20 obras | 18,8 mil m2 | R$ 40,2 mi | R$ 2.188/m2</a:t>
              </a:r>
            </a:p>
          </p:txBody>
        </p:sp>
        <p:sp>
          <p:nvSpPr>
            <p:cNvPr id="108" name="Text 108"/>
            <p:cNvSpPr txBox="1"/>
            <p:nvPr/>
          </p:nvSpPr>
          <p:spPr>
            <a:xfrm>
              <a:off x="438912" y="238658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4179.Novo TEA Paulista Janga PE (...</a:t>
              </a:r>
            </a:p>
          </p:txBody>
        </p:sp>
        <p:sp>
          <p:nvSpPr>
            <p:cNvPr id="109" name="Text 109"/>
            <p:cNvSpPr txBox="1"/>
            <p:nvPr/>
          </p:nvSpPr>
          <p:spPr>
            <a:xfrm>
              <a:off x="2651760" y="238658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PE</a:t>
              </a:r>
            </a:p>
          </p:txBody>
        </p:sp>
        <p:sp>
          <p:nvSpPr>
            <p:cNvPr id="110" name="Text 110"/>
            <p:cNvSpPr txBox="1"/>
            <p:nvPr/>
          </p:nvSpPr>
          <p:spPr>
            <a:xfrm>
              <a:off x="2907792" y="238658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Mar/26</a:t>
              </a:r>
            </a:p>
          </p:txBody>
        </p:sp>
        <p:sp>
          <p:nvSpPr>
            <p:cNvPr id="111" name="Text 111"/>
            <p:cNvSpPr txBox="1"/>
            <p:nvPr/>
          </p:nvSpPr>
          <p:spPr>
            <a:xfrm>
              <a:off x="3319272" y="238658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2" name="Text 112"/>
            <p:cNvSpPr txBox="1"/>
            <p:nvPr/>
          </p:nvSpPr>
          <p:spPr>
            <a:xfrm>
              <a:off x="3886200" y="238658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R$ 1,9 mi</a:t>
              </a:r>
            </a:p>
          </p:txBody>
        </p:sp>
        <p:sp>
          <p:nvSpPr>
            <p:cNvPr id="113" name="Text 113"/>
            <p:cNvSpPr txBox="1"/>
            <p:nvPr/>
          </p:nvSpPr>
          <p:spPr>
            <a:xfrm>
              <a:off x="4645152" y="238658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864 m2</a:t>
              </a:r>
            </a:p>
          </p:txBody>
        </p:sp>
        <p:sp>
          <p:nvSpPr>
            <p:cNvPr id="114" name="Text 114"/>
            <p:cNvSpPr txBox="1"/>
            <p:nvPr/>
          </p:nvSpPr>
          <p:spPr>
            <a:xfrm>
              <a:off x="5193792" y="238658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R$ 2.369</a:t>
              </a:r>
            </a:p>
          </p:txBody>
        </p:sp>
        <p:sp>
          <p:nvSpPr>
            <p:cNvPr id="115" name="Text 115"/>
            <p:cNvSpPr txBox="1"/>
            <p:nvPr/>
          </p:nvSpPr>
          <p:spPr>
            <a:xfrm>
              <a:off x="438912" y="258318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4178.Novo TEA João Pessoa Rui Bar...</a:t>
              </a:r>
            </a:p>
          </p:txBody>
        </p:sp>
        <p:sp>
          <p:nvSpPr>
            <p:cNvPr id="116" name="Text 116"/>
            <p:cNvSpPr txBox="1"/>
            <p:nvPr/>
          </p:nvSpPr>
          <p:spPr>
            <a:xfrm>
              <a:off x="2651760" y="258318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PB</a:t>
              </a:r>
            </a:p>
          </p:txBody>
        </p:sp>
        <p:sp>
          <p:nvSpPr>
            <p:cNvPr id="117" name="Text 117"/>
            <p:cNvSpPr txBox="1"/>
            <p:nvPr/>
          </p:nvSpPr>
          <p:spPr>
            <a:xfrm>
              <a:off x="2907792" y="258318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Mai/26</a:t>
              </a:r>
            </a:p>
          </p:txBody>
        </p:sp>
        <p:sp>
          <p:nvSpPr>
            <p:cNvPr id="118" name="Text 118"/>
            <p:cNvSpPr txBox="1"/>
            <p:nvPr/>
          </p:nvSpPr>
          <p:spPr>
            <a:xfrm>
              <a:off x="3319272" y="258318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19" name="Text 119"/>
            <p:cNvSpPr txBox="1"/>
            <p:nvPr/>
          </p:nvSpPr>
          <p:spPr>
            <a:xfrm>
              <a:off x="3886200" y="258318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R$ 2,0 mi</a:t>
              </a:r>
            </a:p>
          </p:txBody>
        </p:sp>
        <p:sp>
          <p:nvSpPr>
            <p:cNvPr id="120" name="Text 120"/>
            <p:cNvSpPr txBox="1"/>
            <p:nvPr/>
          </p:nvSpPr>
          <p:spPr>
            <a:xfrm>
              <a:off x="4645152" y="258318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743 m2</a:t>
              </a:r>
            </a:p>
          </p:txBody>
        </p:sp>
        <p:sp>
          <p:nvSpPr>
            <p:cNvPr id="121" name="Text 121"/>
            <p:cNvSpPr txBox="1"/>
            <p:nvPr/>
          </p:nvSpPr>
          <p:spPr>
            <a:xfrm>
              <a:off x="5193792" y="258318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R$ 2.668</a:t>
              </a:r>
            </a:p>
          </p:txBody>
        </p:sp>
        <p:sp>
          <p:nvSpPr>
            <p:cNvPr id="122" name="Text 122"/>
            <p:cNvSpPr txBox="1"/>
            <p:nvPr/>
          </p:nvSpPr>
          <p:spPr>
            <a:xfrm>
              <a:off x="438912" y="277977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4198.Nova Clínica Santos Amador B...</a:t>
              </a:r>
            </a:p>
          </p:txBody>
        </p:sp>
        <p:sp>
          <p:nvSpPr>
            <p:cNvPr id="123" name="Text 123"/>
            <p:cNvSpPr txBox="1"/>
            <p:nvPr/>
          </p:nvSpPr>
          <p:spPr>
            <a:xfrm>
              <a:off x="2651760" y="277977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24" name="Text 124"/>
            <p:cNvSpPr txBox="1"/>
            <p:nvPr/>
          </p:nvSpPr>
          <p:spPr>
            <a:xfrm>
              <a:off x="2907792" y="277977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Mai/26</a:t>
              </a:r>
            </a:p>
          </p:txBody>
        </p:sp>
        <p:sp>
          <p:nvSpPr>
            <p:cNvPr id="125" name="Text 125"/>
            <p:cNvSpPr txBox="1"/>
            <p:nvPr/>
          </p:nvSpPr>
          <p:spPr>
            <a:xfrm>
              <a:off x="3319272" y="277977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26" name="Text 126"/>
            <p:cNvSpPr txBox="1"/>
            <p:nvPr/>
          </p:nvSpPr>
          <p:spPr>
            <a:xfrm>
              <a:off x="3886200" y="277977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R$ 1,6 mi</a:t>
              </a:r>
            </a:p>
          </p:txBody>
        </p:sp>
        <p:sp>
          <p:nvSpPr>
            <p:cNvPr id="127" name="Text 127"/>
            <p:cNvSpPr txBox="1"/>
            <p:nvPr/>
          </p:nvSpPr>
          <p:spPr>
            <a:xfrm>
              <a:off x="4645152" y="277977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792 m2</a:t>
              </a:r>
            </a:p>
          </p:txBody>
        </p:sp>
        <p:sp>
          <p:nvSpPr>
            <p:cNvPr id="128" name="Text 128"/>
            <p:cNvSpPr txBox="1"/>
            <p:nvPr/>
          </p:nvSpPr>
          <p:spPr>
            <a:xfrm>
              <a:off x="5193792" y="277977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R$ 2.007</a:t>
              </a:r>
            </a:p>
          </p:txBody>
        </p:sp>
        <p:sp>
          <p:nvSpPr>
            <p:cNvPr id="129" name="Text 129"/>
            <p:cNvSpPr txBox="1"/>
            <p:nvPr/>
          </p:nvSpPr>
          <p:spPr>
            <a:xfrm>
              <a:off x="438912" y="297637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0000.Nova Clínica Brasília Asa No...</a:t>
              </a:r>
            </a:p>
          </p:txBody>
        </p:sp>
        <p:sp>
          <p:nvSpPr>
            <p:cNvPr id="130" name="Text 130"/>
            <p:cNvSpPr txBox="1"/>
            <p:nvPr/>
          </p:nvSpPr>
          <p:spPr>
            <a:xfrm>
              <a:off x="2651760" y="297637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DF</a:t>
              </a:r>
            </a:p>
          </p:txBody>
        </p:sp>
        <p:sp>
          <p:nvSpPr>
            <p:cNvPr id="131" name="Text 131"/>
            <p:cNvSpPr txBox="1"/>
            <p:nvPr/>
          </p:nvSpPr>
          <p:spPr>
            <a:xfrm>
              <a:off x="2907792" y="297637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Mai/26</a:t>
              </a:r>
            </a:p>
          </p:txBody>
        </p:sp>
        <p:sp>
          <p:nvSpPr>
            <p:cNvPr id="132" name="Text 132"/>
            <p:cNvSpPr txBox="1"/>
            <p:nvPr/>
          </p:nvSpPr>
          <p:spPr>
            <a:xfrm>
              <a:off x="3319272" y="297637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33" name="Text 133"/>
            <p:cNvSpPr txBox="1"/>
            <p:nvPr/>
          </p:nvSpPr>
          <p:spPr>
            <a:xfrm>
              <a:off x="3886200" y="297637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R$ 1,5 mi</a:t>
              </a:r>
            </a:p>
          </p:txBody>
        </p:sp>
        <p:sp>
          <p:nvSpPr>
            <p:cNvPr id="134" name="Text 134"/>
            <p:cNvSpPr txBox="1"/>
            <p:nvPr/>
          </p:nvSpPr>
          <p:spPr>
            <a:xfrm>
              <a:off x="4645152" y="297637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823 m2</a:t>
              </a:r>
            </a:p>
          </p:txBody>
        </p:sp>
        <p:sp>
          <p:nvSpPr>
            <p:cNvPr id="135" name="Text 135"/>
            <p:cNvSpPr txBox="1"/>
            <p:nvPr/>
          </p:nvSpPr>
          <p:spPr>
            <a:xfrm>
              <a:off x="5193792" y="297637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R$ 1.943</a:t>
              </a:r>
            </a:p>
          </p:txBody>
        </p:sp>
        <p:sp>
          <p:nvSpPr>
            <p:cNvPr id="136" name="Text 136"/>
            <p:cNvSpPr txBox="1"/>
            <p:nvPr/>
          </p:nvSpPr>
          <p:spPr>
            <a:xfrm>
              <a:off x="438912" y="317296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4187.Novo TEA São Vicente Vila Ca...</a:t>
              </a:r>
            </a:p>
          </p:txBody>
        </p:sp>
        <p:sp>
          <p:nvSpPr>
            <p:cNvPr id="137" name="Text 137"/>
            <p:cNvSpPr txBox="1"/>
            <p:nvPr/>
          </p:nvSpPr>
          <p:spPr>
            <a:xfrm>
              <a:off x="2651760" y="317296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38" name="Text 138"/>
            <p:cNvSpPr txBox="1"/>
            <p:nvPr/>
          </p:nvSpPr>
          <p:spPr>
            <a:xfrm>
              <a:off x="2907792" y="317296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Mai/26</a:t>
              </a:r>
            </a:p>
          </p:txBody>
        </p:sp>
        <p:sp>
          <p:nvSpPr>
            <p:cNvPr id="139" name="Text 139"/>
            <p:cNvSpPr txBox="1"/>
            <p:nvPr/>
          </p:nvSpPr>
          <p:spPr>
            <a:xfrm>
              <a:off x="3319272" y="317296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40" name="Text 140"/>
            <p:cNvSpPr txBox="1"/>
            <p:nvPr/>
          </p:nvSpPr>
          <p:spPr>
            <a:xfrm>
              <a:off x="3886200" y="317296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R$ 1,3 mi</a:t>
              </a:r>
            </a:p>
          </p:txBody>
        </p:sp>
        <p:sp>
          <p:nvSpPr>
            <p:cNvPr id="141" name="Text 141"/>
            <p:cNvSpPr txBox="1"/>
            <p:nvPr/>
          </p:nvSpPr>
          <p:spPr>
            <a:xfrm>
              <a:off x="4645152" y="317296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1,2 mil m2</a:t>
              </a:r>
            </a:p>
          </p:txBody>
        </p:sp>
        <p:sp>
          <p:nvSpPr>
            <p:cNvPr id="142" name="Text 142"/>
            <p:cNvSpPr txBox="1"/>
            <p:nvPr/>
          </p:nvSpPr>
          <p:spPr>
            <a:xfrm>
              <a:off x="5193792" y="317296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R$ 1.131</a:t>
              </a:r>
            </a:p>
          </p:txBody>
        </p:sp>
        <p:sp>
          <p:nvSpPr>
            <p:cNvPr id="143" name="Text 143"/>
            <p:cNvSpPr txBox="1"/>
            <p:nvPr/>
          </p:nvSpPr>
          <p:spPr>
            <a:xfrm>
              <a:off x="438912" y="336956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4085.Nova Coleta Zona Central Bel...</a:t>
              </a:r>
            </a:p>
          </p:txBody>
        </p:sp>
        <p:sp>
          <p:nvSpPr>
            <p:cNvPr id="144" name="Text 144"/>
            <p:cNvSpPr txBox="1"/>
            <p:nvPr/>
          </p:nvSpPr>
          <p:spPr>
            <a:xfrm>
              <a:off x="2651760" y="336956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45" name="Text 145"/>
            <p:cNvSpPr txBox="1"/>
            <p:nvPr/>
          </p:nvSpPr>
          <p:spPr>
            <a:xfrm>
              <a:off x="2907792" y="336956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Mai/26</a:t>
              </a:r>
            </a:p>
          </p:txBody>
        </p:sp>
        <p:sp>
          <p:nvSpPr>
            <p:cNvPr id="146" name="Text 146"/>
            <p:cNvSpPr txBox="1"/>
            <p:nvPr/>
          </p:nvSpPr>
          <p:spPr>
            <a:xfrm>
              <a:off x="3319272" y="336956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47" name="Text 147"/>
            <p:cNvSpPr txBox="1"/>
            <p:nvPr/>
          </p:nvSpPr>
          <p:spPr>
            <a:xfrm>
              <a:off x="3886200" y="336956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R$ 732,5 mil</a:t>
              </a:r>
            </a:p>
          </p:txBody>
        </p:sp>
        <p:sp>
          <p:nvSpPr>
            <p:cNvPr id="148" name="Text 148"/>
            <p:cNvSpPr txBox="1"/>
            <p:nvPr/>
          </p:nvSpPr>
          <p:spPr>
            <a:xfrm>
              <a:off x="4645152" y="336956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409 m2</a:t>
              </a:r>
            </a:p>
          </p:txBody>
        </p:sp>
        <p:sp>
          <p:nvSpPr>
            <p:cNvPr id="149" name="Text 149"/>
            <p:cNvSpPr txBox="1"/>
            <p:nvPr/>
          </p:nvSpPr>
          <p:spPr>
            <a:xfrm>
              <a:off x="5193792" y="336956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R$ 1.790</a:t>
              </a:r>
            </a:p>
          </p:txBody>
        </p:sp>
        <p:sp>
          <p:nvSpPr>
            <p:cNvPr id="150" name="Text 150"/>
            <p:cNvSpPr txBox="1"/>
            <p:nvPr/>
          </p:nvSpPr>
          <p:spPr>
            <a:xfrm>
              <a:off x="438912" y="3566160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9067.Coleta Anápolis</a:t>
              </a:r>
            </a:p>
          </p:txBody>
        </p:sp>
        <p:sp>
          <p:nvSpPr>
            <p:cNvPr id="151" name="Text 151"/>
            <p:cNvSpPr txBox="1"/>
            <p:nvPr/>
          </p:nvSpPr>
          <p:spPr>
            <a:xfrm>
              <a:off x="2651760" y="3566160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GO</a:t>
              </a:r>
            </a:p>
          </p:txBody>
        </p:sp>
        <p:sp>
          <p:nvSpPr>
            <p:cNvPr id="152" name="Text 152"/>
            <p:cNvSpPr txBox="1"/>
            <p:nvPr/>
          </p:nvSpPr>
          <p:spPr>
            <a:xfrm>
              <a:off x="2907792" y="3566160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Jul/26</a:t>
              </a:r>
            </a:p>
          </p:txBody>
        </p:sp>
        <p:sp>
          <p:nvSpPr>
            <p:cNvPr id="153" name="Text 153"/>
            <p:cNvSpPr txBox="1"/>
            <p:nvPr/>
          </p:nvSpPr>
          <p:spPr>
            <a:xfrm>
              <a:off x="3319272" y="3566160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54" name="Text 154"/>
            <p:cNvSpPr txBox="1"/>
            <p:nvPr/>
          </p:nvSpPr>
          <p:spPr>
            <a:xfrm>
              <a:off x="3886200" y="3566160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R$ 370,2 mil</a:t>
              </a:r>
            </a:p>
          </p:txBody>
        </p:sp>
        <p:sp>
          <p:nvSpPr>
            <p:cNvPr id="155" name="Text 155"/>
            <p:cNvSpPr txBox="1"/>
            <p:nvPr/>
          </p:nvSpPr>
          <p:spPr>
            <a:xfrm>
              <a:off x="4645152" y="3566160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288 m2</a:t>
              </a:r>
            </a:p>
          </p:txBody>
        </p:sp>
        <p:sp>
          <p:nvSpPr>
            <p:cNvPr id="156" name="Text 156"/>
            <p:cNvSpPr txBox="1"/>
            <p:nvPr/>
          </p:nvSpPr>
          <p:spPr>
            <a:xfrm>
              <a:off x="5193792" y="3566160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R$ 1.355</a:t>
              </a:r>
            </a:p>
          </p:txBody>
        </p:sp>
        <p:sp>
          <p:nvSpPr>
            <p:cNvPr id="157" name="Text 157"/>
            <p:cNvSpPr txBox="1"/>
            <p:nvPr/>
          </p:nvSpPr>
          <p:spPr>
            <a:xfrm>
              <a:off x="438912" y="3762756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9064.Ampliação Medprev Fortaleza</a:t>
              </a:r>
            </a:p>
          </p:txBody>
        </p:sp>
        <p:sp>
          <p:nvSpPr>
            <p:cNvPr id="158" name="Text 158"/>
            <p:cNvSpPr txBox="1"/>
            <p:nvPr/>
          </p:nvSpPr>
          <p:spPr>
            <a:xfrm>
              <a:off x="2651760" y="3762756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159" name="Text 159"/>
            <p:cNvSpPr txBox="1"/>
            <p:nvPr/>
          </p:nvSpPr>
          <p:spPr>
            <a:xfrm>
              <a:off x="2907792" y="3762756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Jul/26</a:t>
              </a:r>
            </a:p>
          </p:txBody>
        </p:sp>
        <p:sp>
          <p:nvSpPr>
            <p:cNvPr id="160" name="Text 160"/>
            <p:cNvSpPr txBox="1"/>
            <p:nvPr/>
          </p:nvSpPr>
          <p:spPr>
            <a:xfrm>
              <a:off x="3319272" y="3762756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61" name="Text 161"/>
            <p:cNvSpPr txBox="1"/>
            <p:nvPr/>
          </p:nvSpPr>
          <p:spPr>
            <a:xfrm>
              <a:off x="3886200" y="3762756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R$ 244,0 mil</a:t>
              </a:r>
            </a:p>
          </p:txBody>
        </p:sp>
        <p:sp>
          <p:nvSpPr>
            <p:cNvPr id="162" name="Text 162"/>
            <p:cNvSpPr txBox="1"/>
            <p:nvPr/>
          </p:nvSpPr>
          <p:spPr>
            <a:xfrm>
              <a:off x="4645152" y="3762756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159 m2</a:t>
              </a:r>
            </a:p>
          </p:txBody>
        </p:sp>
        <p:sp>
          <p:nvSpPr>
            <p:cNvPr id="163" name="Text 163"/>
            <p:cNvSpPr txBox="1"/>
            <p:nvPr/>
          </p:nvSpPr>
          <p:spPr>
            <a:xfrm>
              <a:off x="5193792" y="3762756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R$ 1.546</a:t>
              </a:r>
            </a:p>
          </p:txBody>
        </p:sp>
        <p:sp>
          <p:nvSpPr>
            <p:cNvPr id="164" name="Text 164"/>
            <p:cNvSpPr txBox="1"/>
            <p:nvPr/>
          </p:nvSpPr>
          <p:spPr>
            <a:xfrm>
              <a:off x="438912" y="3959352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4025.Hemodiálise HS Recife (Ponte...</a:t>
              </a:r>
            </a:p>
          </p:txBody>
        </p:sp>
        <p:sp>
          <p:nvSpPr>
            <p:cNvPr id="165" name="Text 165"/>
            <p:cNvSpPr txBox="1"/>
            <p:nvPr/>
          </p:nvSpPr>
          <p:spPr>
            <a:xfrm>
              <a:off x="2651760" y="3959352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PE</a:t>
              </a:r>
            </a:p>
          </p:txBody>
        </p:sp>
        <p:sp>
          <p:nvSpPr>
            <p:cNvPr id="166" name="Text 166"/>
            <p:cNvSpPr txBox="1"/>
            <p:nvPr/>
          </p:nvSpPr>
          <p:spPr>
            <a:xfrm>
              <a:off x="2907792" y="3959352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Jan/26</a:t>
              </a:r>
            </a:p>
          </p:txBody>
        </p:sp>
        <p:sp>
          <p:nvSpPr>
            <p:cNvPr id="167" name="Text 167"/>
            <p:cNvSpPr txBox="1"/>
            <p:nvPr/>
          </p:nvSpPr>
          <p:spPr>
            <a:xfrm>
              <a:off x="3319272" y="3959352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68" name="Text 168"/>
            <p:cNvSpPr txBox="1"/>
            <p:nvPr/>
          </p:nvSpPr>
          <p:spPr>
            <a:xfrm>
              <a:off x="3886200" y="3959352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R$ 6,1 mi</a:t>
              </a:r>
            </a:p>
          </p:txBody>
        </p:sp>
        <p:sp>
          <p:nvSpPr>
            <p:cNvPr id="169" name="Text 169"/>
            <p:cNvSpPr txBox="1"/>
            <p:nvPr/>
          </p:nvSpPr>
          <p:spPr>
            <a:xfrm>
              <a:off x="4645152" y="3959352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2,3 mil m2</a:t>
              </a:r>
            </a:p>
          </p:txBody>
        </p:sp>
        <p:sp>
          <p:nvSpPr>
            <p:cNvPr id="170" name="Text 170"/>
            <p:cNvSpPr txBox="1"/>
            <p:nvPr/>
          </p:nvSpPr>
          <p:spPr>
            <a:xfrm>
              <a:off x="5193792" y="3959352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R$ 2.733</a:t>
              </a:r>
            </a:p>
          </p:txBody>
        </p:sp>
        <p:sp>
          <p:nvSpPr>
            <p:cNvPr id="171" name="Text 171"/>
            <p:cNvSpPr txBox="1"/>
            <p:nvPr/>
          </p:nvSpPr>
          <p:spPr>
            <a:xfrm>
              <a:off x="438912" y="4155948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4170.Novo Medprev Maracanaú</a:t>
              </a:r>
            </a:p>
          </p:txBody>
        </p:sp>
        <p:sp>
          <p:nvSpPr>
            <p:cNvPr id="172" name="Text 172"/>
            <p:cNvSpPr txBox="1"/>
            <p:nvPr/>
          </p:nvSpPr>
          <p:spPr>
            <a:xfrm>
              <a:off x="2651760" y="4155948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CE</a:t>
              </a:r>
            </a:p>
          </p:txBody>
        </p:sp>
        <p:sp>
          <p:nvSpPr>
            <p:cNvPr id="173" name="Text 173"/>
            <p:cNvSpPr txBox="1"/>
            <p:nvPr/>
          </p:nvSpPr>
          <p:spPr>
            <a:xfrm>
              <a:off x="2907792" y="4155948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Jan/26</a:t>
              </a:r>
            </a:p>
          </p:txBody>
        </p:sp>
        <p:sp>
          <p:nvSpPr>
            <p:cNvPr id="174" name="Text 174"/>
            <p:cNvSpPr txBox="1"/>
            <p:nvPr/>
          </p:nvSpPr>
          <p:spPr>
            <a:xfrm>
              <a:off x="3319272" y="4155948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75" name="Text 175"/>
            <p:cNvSpPr txBox="1"/>
            <p:nvPr/>
          </p:nvSpPr>
          <p:spPr>
            <a:xfrm>
              <a:off x="3886200" y="4155948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R$ 2,1 mi</a:t>
              </a:r>
            </a:p>
          </p:txBody>
        </p:sp>
        <p:sp>
          <p:nvSpPr>
            <p:cNvPr id="176" name="Text 176"/>
            <p:cNvSpPr txBox="1"/>
            <p:nvPr/>
          </p:nvSpPr>
          <p:spPr>
            <a:xfrm>
              <a:off x="4645152" y="4155948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890 m2</a:t>
              </a:r>
            </a:p>
          </p:txBody>
        </p:sp>
        <p:sp>
          <p:nvSpPr>
            <p:cNvPr id="177" name="Text 177"/>
            <p:cNvSpPr txBox="1"/>
            <p:nvPr/>
          </p:nvSpPr>
          <p:spPr>
            <a:xfrm>
              <a:off x="5193792" y="4155948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R$ 2.415</a:t>
              </a:r>
            </a:p>
          </p:txBody>
        </p:sp>
        <p:sp>
          <p:nvSpPr>
            <p:cNvPr id="178" name="Text 178"/>
            <p:cNvSpPr txBox="1"/>
            <p:nvPr/>
          </p:nvSpPr>
          <p:spPr>
            <a:xfrm>
              <a:off x="438912" y="4352544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4189.Novo TEA Zona Leste Ermelino...</a:t>
              </a:r>
            </a:p>
          </p:txBody>
        </p:sp>
        <p:sp>
          <p:nvSpPr>
            <p:cNvPr id="179" name="Text 179"/>
            <p:cNvSpPr txBox="1"/>
            <p:nvPr/>
          </p:nvSpPr>
          <p:spPr>
            <a:xfrm>
              <a:off x="2651760" y="4352544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80" name="Text 180"/>
            <p:cNvSpPr txBox="1"/>
            <p:nvPr/>
          </p:nvSpPr>
          <p:spPr>
            <a:xfrm>
              <a:off x="2907792" y="4352544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Jan/26</a:t>
              </a:r>
            </a:p>
          </p:txBody>
        </p:sp>
        <p:sp>
          <p:nvSpPr>
            <p:cNvPr id="181" name="Text 181"/>
            <p:cNvSpPr txBox="1"/>
            <p:nvPr/>
          </p:nvSpPr>
          <p:spPr>
            <a:xfrm>
              <a:off x="3319272" y="4352544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82" name="Text 182"/>
            <p:cNvSpPr txBox="1"/>
            <p:nvPr/>
          </p:nvSpPr>
          <p:spPr>
            <a:xfrm>
              <a:off x="3886200" y="4352544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R$ 1,3 mi</a:t>
              </a:r>
            </a:p>
          </p:txBody>
        </p:sp>
        <p:sp>
          <p:nvSpPr>
            <p:cNvPr id="183" name="Text 183"/>
            <p:cNvSpPr txBox="1"/>
            <p:nvPr/>
          </p:nvSpPr>
          <p:spPr>
            <a:xfrm>
              <a:off x="4645152" y="4352544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638 m2</a:t>
              </a:r>
            </a:p>
          </p:txBody>
        </p:sp>
        <p:sp>
          <p:nvSpPr>
            <p:cNvPr id="184" name="Text 184"/>
            <p:cNvSpPr txBox="1"/>
            <p:nvPr/>
          </p:nvSpPr>
          <p:spPr>
            <a:xfrm>
              <a:off x="5193792" y="4352544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R$ 2.002</a:t>
              </a:r>
            </a:p>
          </p:txBody>
        </p:sp>
        <p:sp>
          <p:nvSpPr>
            <p:cNvPr id="185" name="Text 185"/>
            <p:cNvSpPr txBox="1"/>
            <p:nvPr/>
          </p:nvSpPr>
          <p:spPr>
            <a:xfrm>
              <a:off x="438912" y="4549140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4126.Clínica/Lab/Ima Zona Leste 1...</a:t>
              </a:r>
            </a:p>
          </p:txBody>
        </p:sp>
        <p:sp>
          <p:nvSpPr>
            <p:cNvPr id="186" name="Text 186"/>
            <p:cNvSpPr txBox="1"/>
            <p:nvPr/>
          </p:nvSpPr>
          <p:spPr>
            <a:xfrm>
              <a:off x="2651760" y="4549140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87" name="Text 187"/>
            <p:cNvSpPr txBox="1"/>
            <p:nvPr/>
          </p:nvSpPr>
          <p:spPr>
            <a:xfrm>
              <a:off x="2907792" y="4549140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Fev/26</a:t>
              </a:r>
            </a:p>
          </p:txBody>
        </p:sp>
        <p:sp>
          <p:nvSpPr>
            <p:cNvPr id="188" name="Text 188"/>
            <p:cNvSpPr txBox="1"/>
            <p:nvPr/>
          </p:nvSpPr>
          <p:spPr>
            <a:xfrm>
              <a:off x="3319272" y="4549140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89" name="Text 189"/>
            <p:cNvSpPr txBox="1"/>
            <p:nvPr/>
          </p:nvSpPr>
          <p:spPr>
            <a:xfrm>
              <a:off x="3886200" y="4549140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R$ 5,8 mi</a:t>
              </a:r>
            </a:p>
          </p:txBody>
        </p:sp>
        <p:sp>
          <p:nvSpPr>
            <p:cNvPr id="190" name="Text 190"/>
            <p:cNvSpPr txBox="1"/>
            <p:nvPr/>
          </p:nvSpPr>
          <p:spPr>
            <a:xfrm>
              <a:off x="4645152" y="4549140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3,1 mil m2</a:t>
              </a:r>
            </a:p>
          </p:txBody>
        </p:sp>
        <p:sp>
          <p:nvSpPr>
            <p:cNvPr id="191" name="Text 191"/>
            <p:cNvSpPr txBox="1"/>
            <p:nvPr/>
          </p:nvSpPr>
          <p:spPr>
            <a:xfrm>
              <a:off x="5193792" y="4549140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R$ 1.968</a:t>
              </a:r>
            </a:p>
          </p:txBody>
        </p:sp>
        <p:sp>
          <p:nvSpPr>
            <p:cNvPr id="192" name="Text 192"/>
            <p:cNvSpPr txBox="1"/>
            <p:nvPr/>
          </p:nvSpPr>
          <p:spPr>
            <a:xfrm>
              <a:off x="438912" y="4745736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0000.Transferência da Clínica Bau...</a:t>
              </a:r>
            </a:p>
          </p:txBody>
        </p:sp>
        <p:sp>
          <p:nvSpPr>
            <p:cNvPr id="193" name="Text 193"/>
            <p:cNvSpPr txBox="1"/>
            <p:nvPr/>
          </p:nvSpPr>
          <p:spPr>
            <a:xfrm>
              <a:off x="2651760" y="4745736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194" name="Text 194"/>
            <p:cNvSpPr txBox="1"/>
            <p:nvPr/>
          </p:nvSpPr>
          <p:spPr>
            <a:xfrm>
              <a:off x="2907792" y="4745736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Fev/26</a:t>
              </a:r>
            </a:p>
          </p:txBody>
        </p:sp>
        <p:sp>
          <p:nvSpPr>
            <p:cNvPr id="195" name="Text 195"/>
            <p:cNvSpPr txBox="1"/>
            <p:nvPr/>
          </p:nvSpPr>
          <p:spPr>
            <a:xfrm>
              <a:off x="3319272" y="4745736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196" name="Text 196"/>
            <p:cNvSpPr txBox="1"/>
            <p:nvPr/>
          </p:nvSpPr>
          <p:spPr>
            <a:xfrm>
              <a:off x="3886200" y="4745736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R$ 3,2 mi</a:t>
              </a:r>
            </a:p>
          </p:txBody>
        </p:sp>
        <p:sp>
          <p:nvSpPr>
            <p:cNvPr id="197" name="Text 197"/>
            <p:cNvSpPr txBox="1"/>
            <p:nvPr/>
          </p:nvSpPr>
          <p:spPr>
            <a:xfrm>
              <a:off x="4645152" y="4745736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1,3 mil m2</a:t>
              </a:r>
            </a:p>
          </p:txBody>
        </p:sp>
        <p:sp>
          <p:nvSpPr>
            <p:cNvPr id="198" name="Text 198"/>
            <p:cNvSpPr txBox="1"/>
            <p:nvPr/>
          </p:nvSpPr>
          <p:spPr>
            <a:xfrm>
              <a:off x="5193792" y="4745736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R$ 2.514</a:t>
              </a:r>
            </a:p>
          </p:txBody>
        </p:sp>
        <p:sp>
          <p:nvSpPr>
            <p:cNvPr id="199" name="Text 199"/>
            <p:cNvSpPr txBox="1"/>
            <p:nvPr/>
          </p:nvSpPr>
          <p:spPr>
            <a:xfrm>
              <a:off x="438912" y="4942332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0000.Lab/Ima Zona Leste 2 Ermelin...</a:t>
              </a:r>
            </a:p>
          </p:txBody>
        </p:sp>
        <p:sp>
          <p:nvSpPr>
            <p:cNvPr id="200" name="Text 200"/>
            <p:cNvSpPr txBox="1"/>
            <p:nvPr/>
          </p:nvSpPr>
          <p:spPr>
            <a:xfrm>
              <a:off x="2651760" y="4942332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01" name="Text 201"/>
            <p:cNvSpPr txBox="1"/>
            <p:nvPr/>
          </p:nvSpPr>
          <p:spPr>
            <a:xfrm>
              <a:off x="2907792" y="4942332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Fev/26</a:t>
              </a:r>
            </a:p>
          </p:txBody>
        </p:sp>
        <p:sp>
          <p:nvSpPr>
            <p:cNvPr id="202" name="Text 202"/>
            <p:cNvSpPr txBox="1"/>
            <p:nvPr/>
          </p:nvSpPr>
          <p:spPr>
            <a:xfrm>
              <a:off x="3319272" y="4942332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03" name="Text 203"/>
            <p:cNvSpPr txBox="1"/>
            <p:nvPr/>
          </p:nvSpPr>
          <p:spPr>
            <a:xfrm>
              <a:off x="3886200" y="4942332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R$ 3,2 mi</a:t>
              </a:r>
            </a:p>
          </p:txBody>
        </p:sp>
        <p:sp>
          <p:nvSpPr>
            <p:cNvPr id="204" name="Text 204"/>
            <p:cNvSpPr txBox="1"/>
            <p:nvPr/>
          </p:nvSpPr>
          <p:spPr>
            <a:xfrm>
              <a:off x="4645152" y="4942332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936 m2</a:t>
              </a:r>
            </a:p>
          </p:txBody>
        </p:sp>
        <p:sp>
          <p:nvSpPr>
            <p:cNvPr id="205" name="Text 205"/>
            <p:cNvSpPr txBox="1"/>
            <p:nvPr/>
          </p:nvSpPr>
          <p:spPr>
            <a:xfrm>
              <a:off x="5193792" y="4942332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R$ 3.404</a:t>
              </a:r>
            </a:p>
          </p:txBody>
        </p:sp>
        <p:sp>
          <p:nvSpPr>
            <p:cNvPr id="206" name="Text 206"/>
            <p:cNvSpPr txBox="1"/>
            <p:nvPr/>
          </p:nvSpPr>
          <p:spPr>
            <a:xfrm>
              <a:off x="438912" y="5138928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0000.Nova Clínica Itupeva</a:t>
              </a:r>
            </a:p>
          </p:txBody>
        </p:sp>
        <p:sp>
          <p:nvSpPr>
            <p:cNvPr id="207" name="Text 207"/>
            <p:cNvSpPr txBox="1"/>
            <p:nvPr/>
          </p:nvSpPr>
          <p:spPr>
            <a:xfrm>
              <a:off x="2651760" y="5138928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08" name="Text 208"/>
            <p:cNvSpPr txBox="1"/>
            <p:nvPr/>
          </p:nvSpPr>
          <p:spPr>
            <a:xfrm>
              <a:off x="2907792" y="5138928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Fev/26</a:t>
              </a:r>
            </a:p>
          </p:txBody>
        </p:sp>
        <p:sp>
          <p:nvSpPr>
            <p:cNvPr id="209" name="Text 209"/>
            <p:cNvSpPr txBox="1"/>
            <p:nvPr/>
          </p:nvSpPr>
          <p:spPr>
            <a:xfrm>
              <a:off x="3319272" y="5138928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10" name="Text 210"/>
            <p:cNvSpPr txBox="1"/>
            <p:nvPr/>
          </p:nvSpPr>
          <p:spPr>
            <a:xfrm>
              <a:off x="3886200" y="5138928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R$ 1,9 mi</a:t>
              </a:r>
            </a:p>
          </p:txBody>
        </p:sp>
        <p:sp>
          <p:nvSpPr>
            <p:cNvPr id="211" name="Text 211"/>
            <p:cNvSpPr txBox="1"/>
            <p:nvPr/>
          </p:nvSpPr>
          <p:spPr>
            <a:xfrm>
              <a:off x="4645152" y="5138928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838 m2</a:t>
              </a:r>
            </a:p>
          </p:txBody>
        </p:sp>
        <p:sp>
          <p:nvSpPr>
            <p:cNvPr id="212" name="Text 212"/>
            <p:cNvSpPr txBox="1"/>
            <p:nvPr/>
          </p:nvSpPr>
          <p:spPr>
            <a:xfrm>
              <a:off x="5193792" y="5138928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R$ 2.265</a:t>
              </a:r>
            </a:p>
          </p:txBody>
        </p:sp>
        <p:sp>
          <p:nvSpPr>
            <p:cNvPr id="213" name="Text 213"/>
            <p:cNvSpPr txBox="1"/>
            <p:nvPr/>
          </p:nvSpPr>
          <p:spPr>
            <a:xfrm>
              <a:off x="438912" y="5335524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0000.Novo Posto de Coleta Sorocaba</a:t>
              </a:r>
            </a:p>
          </p:txBody>
        </p:sp>
        <p:sp>
          <p:nvSpPr>
            <p:cNvPr id="214" name="Text 214"/>
            <p:cNvSpPr txBox="1"/>
            <p:nvPr/>
          </p:nvSpPr>
          <p:spPr>
            <a:xfrm>
              <a:off x="2651760" y="5335524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15" name="Text 215"/>
            <p:cNvSpPr txBox="1"/>
            <p:nvPr/>
          </p:nvSpPr>
          <p:spPr>
            <a:xfrm>
              <a:off x="2907792" y="5335524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Fev/26</a:t>
              </a:r>
            </a:p>
          </p:txBody>
        </p:sp>
        <p:sp>
          <p:nvSpPr>
            <p:cNvPr id="216" name="Text 216"/>
            <p:cNvSpPr txBox="1"/>
            <p:nvPr/>
          </p:nvSpPr>
          <p:spPr>
            <a:xfrm>
              <a:off x="3319272" y="5335524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17" name="Text 217"/>
            <p:cNvSpPr txBox="1"/>
            <p:nvPr/>
          </p:nvSpPr>
          <p:spPr>
            <a:xfrm>
              <a:off x="3886200" y="5335524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R$ 1,6 mi</a:t>
              </a:r>
            </a:p>
          </p:txBody>
        </p:sp>
        <p:sp>
          <p:nvSpPr>
            <p:cNvPr id="218" name="Text 218"/>
            <p:cNvSpPr txBox="1"/>
            <p:nvPr/>
          </p:nvSpPr>
          <p:spPr>
            <a:xfrm>
              <a:off x="4645152" y="5335524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650 m2</a:t>
              </a:r>
            </a:p>
          </p:txBody>
        </p:sp>
        <p:sp>
          <p:nvSpPr>
            <p:cNvPr id="219" name="Text 219"/>
            <p:cNvSpPr txBox="1"/>
            <p:nvPr/>
          </p:nvSpPr>
          <p:spPr>
            <a:xfrm>
              <a:off x="5193792" y="5335524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R$ 2.599</a:t>
              </a:r>
            </a:p>
          </p:txBody>
        </p:sp>
        <p:sp>
          <p:nvSpPr>
            <p:cNvPr id="220" name="Text 220"/>
            <p:cNvSpPr txBox="1"/>
            <p:nvPr/>
          </p:nvSpPr>
          <p:spPr>
            <a:xfrm>
              <a:off x="438912" y="5532120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4183.Novo TEA Curitiba 2 Fanny (2...</a:t>
              </a:r>
            </a:p>
          </p:txBody>
        </p:sp>
        <p:sp>
          <p:nvSpPr>
            <p:cNvPr id="221" name="Text 221"/>
            <p:cNvSpPr txBox="1"/>
            <p:nvPr/>
          </p:nvSpPr>
          <p:spPr>
            <a:xfrm>
              <a:off x="2651760" y="5532120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PR</a:t>
              </a:r>
            </a:p>
          </p:txBody>
        </p:sp>
        <p:sp>
          <p:nvSpPr>
            <p:cNvPr id="222" name="Text 222"/>
            <p:cNvSpPr txBox="1"/>
            <p:nvPr/>
          </p:nvSpPr>
          <p:spPr>
            <a:xfrm>
              <a:off x="2907792" y="5532120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Fev/26</a:t>
              </a:r>
            </a:p>
          </p:txBody>
        </p:sp>
        <p:sp>
          <p:nvSpPr>
            <p:cNvPr id="223" name="Text 223"/>
            <p:cNvSpPr txBox="1"/>
            <p:nvPr/>
          </p:nvSpPr>
          <p:spPr>
            <a:xfrm>
              <a:off x="3319272" y="5532120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24" name="Text 224"/>
            <p:cNvSpPr txBox="1"/>
            <p:nvPr/>
          </p:nvSpPr>
          <p:spPr>
            <a:xfrm>
              <a:off x="3886200" y="5532120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R$ 1,4 mi</a:t>
              </a:r>
            </a:p>
          </p:txBody>
        </p:sp>
        <p:sp>
          <p:nvSpPr>
            <p:cNvPr id="225" name="Text 225"/>
            <p:cNvSpPr txBox="1"/>
            <p:nvPr/>
          </p:nvSpPr>
          <p:spPr>
            <a:xfrm>
              <a:off x="4645152" y="5532120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863 m2</a:t>
              </a:r>
            </a:p>
          </p:txBody>
        </p:sp>
        <p:sp>
          <p:nvSpPr>
            <p:cNvPr id="226" name="Text 226"/>
            <p:cNvSpPr txBox="1"/>
            <p:nvPr/>
          </p:nvSpPr>
          <p:spPr>
            <a:xfrm>
              <a:off x="5193792" y="5532120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R$ 1.821</a:t>
              </a:r>
            </a:p>
          </p:txBody>
        </p:sp>
        <p:sp>
          <p:nvSpPr>
            <p:cNvPr id="227" name="Text 227"/>
            <p:cNvSpPr txBox="1"/>
            <p:nvPr/>
          </p:nvSpPr>
          <p:spPr>
            <a:xfrm>
              <a:off x="438912" y="5728716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4189.Novo TEA Zona Leste Belém (2...</a:t>
              </a:r>
            </a:p>
          </p:txBody>
        </p:sp>
        <p:sp>
          <p:nvSpPr>
            <p:cNvPr id="228" name="Text 228"/>
            <p:cNvSpPr txBox="1"/>
            <p:nvPr/>
          </p:nvSpPr>
          <p:spPr>
            <a:xfrm>
              <a:off x="2651760" y="5728716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29" name="Text 229"/>
            <p:cNvSpPr txBox="1"/>
            <p:nvPr/>
          </p:nvSpPr>
          <p:spPr>
            <a:xfrm>
              <a:off x="2907792" y="5728716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Fev/26</a:t>
              </a:r>
            </a:p>
          </p:txBody>
        </p:sp>
        <p:sp>
          <p:nvSpPr>
            <p:cNvPr id="230" name="Text 230"/>
            <p:cNvSpPr txBox="1"/>
            <p:nvPr/>
          </p:nvSpPr>
          <p:spPr>
            <a:xfrm>
              <a:off x="3319272" y="5728716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31" name="Text 231"/>
            <p:cNvSpPr txBox="1"/>
            <p:nvPr/>
          </p:nvSpPr>
          <p:spPr>
            <a:xfrm>
              <a:off x="3886200" y="5728716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R$ 1,3 mi</a:t>
              </a:r>
            </a:p>
          </p:txBody>
        </p:sp>
        <p:sp>
          <p:nvSpPr>
            <p:cNvPr id="232" name="Text 232"/>
            <p:cNvSpPr txBox="1"/>
            <p:nvPr/>
          </p:nvSpPr>
          <p:spPr>
            <a:xfrm>
              <a:off x="4645152" y="5728716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638 m2</a:t>
              </a:r>
            </a:p>
          </p:txBody>
        </p:sp>
        <p:sp>
          <p:nvSpPr>
            <p:cNvPr id="233" name="Text 233"/>
            <p:cNvSpPr txBox="1"/>
            <p:nvPr/>
          </p:nvSpPr>
          <p:spPr>
            <a:xfrm>
              <a:off x="5193792" y="5728716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R$ 2.002</a:t>
              </a:r>
            </a:p>
          </p:txBody>
        </p:sp>
        <p:sp>
          <p:nvSpPr>
            <p:cNvPr id="234" name="Text 234"/>
            <p:cNvSpPr txBox="1"/>
            <p:nvPr/>
          </p:nvSpPr>
          <p:spPr>
            <a:xfrm>
              <a:off x="438912" y="5925312"/>
              <a:ext cx="221284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0000.Transferência TEA São José d...</a:t>
              </a:r>
            </a:p>
          </p:txBody>
        </p:sp>
        <p:sp>
          <p:nvSpPr>
            <p:cNvPr id="235" name="Text 235"/>
            <p:cNvSpPr txBox="1"/>
            <p:nvPr/>
          </p:nvSpPr>
          <p:spPr>
            <a:xfrm>
              <a:off x="2651760" y="5925312"/>
              <a:ext cx="25603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SP</a:t>
              </a:r>
            </a:p>
          </p:txBody>
        </p:sp>
        <p:sp>
          <p:nvSpPr>
            <p:cNvPr id="236" name="Text 236"/>
            <p:cNvSpPr txBox="1"/>
            <p:nvPr/>
          </p:nvSpPr>
          <p:spPr>
            <a:xfrm>
              <a:off x="2907792" y="5925312"/>
              <a:ext cx="41148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Fev/26</a:t>
              </a:r>
            </a:p>
          </p:txBody>
        </p:sp>
        <p:sp>
          <p:nvSpPr>
            <p:cNvPr id="237" name="Text 237"/>
            <p:cNvSpPr txBox="1"/>
            <p:nvPr/>
          </p:nvSpPr>
          <p:spPr>
            <a:xfrm>
              <a:off x="3319272" y="5925312"/>
              <a:ext cx="566928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38" name="Text 238"/>
            <p:cNvSpPr txBox="1"/>
            <p:nvPr/>
          </p:nvSpPr>
          <p:spPr>
            <a:xfrm>
              <a:off x="3886200" y="5925312"/>
              <a:ext cx="75895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R$ 1,1 mi</a:t>
              </a:r>
            </a:p>
          </p:txBody>
        </p:sp>
        <p:sp>
          <p:nvSpPr>
            <p:cNvPr id="239" name="Text 239"/>
            <p:cNvSpPr txBox="1"/>
            <p:nvPr/>
          </p:nvSpPr>
          <p:spPr>
            <a:xfrm>
              <a:off x="4645152" y="5925312"/>
              <a:ext cx="548640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886 m2</a:t>
              </a:r>
            </a:p>
          </p:txBody>
        </p:sp>
        <p:sp>
          <p:nvSpPr>
            <p:cNvPr id="240" name="Text 240"/>
            <p:cNvSpPr txBox="1"/>
            <p:nvPr/>
          </p:nvSpPr>
          <p:spPr>
            <a:xfrm>
              <a:off x="5193792" y="5925312"/>
              <a:ext cx="621792" cy="19659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R$ 1.272</a:t>
              </a:r>
            </a:p>
          </p:txBody>
        </p:sp>
        <p:sp>
          <p:nvSpPr>
            <p:cNvPr id="241" name="Text 241"/>
            <p:cNvSpPr txBox="1"/>
            <p:nvPr/>
          </p:nvSpPr>
          <p:spPr>
            <a:xfrm>
              <a:off x="438912" y="6121908"/>
              <a:ext cx="221284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l"/>
              <a:r>
                <a:rPr lang="pt-BR" sz="800">
                  <a:solidFill>
                    <a:srgbClr val="15253F"/>
                  </a:solidFill>
                </a:rPr>
                <a:t>4325.Novo TEA Campina Grande (202...</a:t>
              </a:r>
            </a:p>
          </p:txBody>
        </p:sp>
        <p:sp>
          <p:nvSpPr>
            <p:cNvPr id="242" name="Text 242"/>
            <p:cNvSpPr txBox="1"/>
            <p:nvPr/>
          </p:nvSpPr>
          <p:spPr>
            <a:xfrm>
              <a:off x="2651760" y="6121908"/>
              <a:ext cx="25603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PB</a:t>
              </a:r>
            </a:p>
          </p:txBody>
        </p:sp>
        <p:sp>
          <p:nvSpPr>
            <p:cNvPr id="243" name="Text 243"/>
            <p:cNvSpPr txBox="1"/>
            <p:nvPr/>
          </p:nvSpPr>
          <p:spPr>
            <a:xfrm>
              <a:off x="2907792" y="6121908"/>
              <a:ext cx="41148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Abr/26</a:t>
              </a:r>
            </a:p>
          </p:txBody>
        </p:sp>
        <p:sp>
          <p:nvSpPr>
            <p:cNvPr id="244" name="Text 244"/>
            <p:cNvSpPr txBox="1"/>
            <p:nvPr/>
          </p:nvSpPr>
          <p:spPr>
            <a:xfrm>
              <a:off x="3319272" y="6121908"/>
              <a:ext cx="566928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Concluída</a:t>
              </a:r>
            </a:p>
          </p:txBody>
        </p:sp>
        <p:sp>
          <p:nvSpPr>
            <p:cNvPr id="245" name="Text 245"/>
            <p:cNvSpPr txBox="1"/>
            <p:nvPr/>
          </p:nvSpPr>
          <p:spPr>
            <a:xfrm>
              <a:off x="3886200" y="6121908"/>
              <a:ext cx="75895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R$ 1,4 mi</a:t>
              </a:r>
            </a:p>
          </p:txBody>
        </p:sp>
        <p:sp>
          <p:nvSpPr>
            <p:cNvPr id="246" name="Text 246"/>
            <p:cNvSpPr txBox="1"/>
            <p:nvPr/>
          </p:nvSpPr>
          <p:spPr>
            <a:xfrm>
              <a:off x="4645152" y="6121908"/>
              <a:ext cx="548640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502 m2</a:t>
              </a:r>
            </a:p>
          </p:txBody>
        </p:sp>
        <p:sp>
          <p:nvSpPr>
            <p:cNvPr id="247" name="Text 247"/>
            <p:cNvSpPr txBox="1"/>
            <p:nvPr/>
          </p:nvSpPr>
          <p:spPr>
            <a:xfrm>
              <a:off x="5193792" y="6121908"/>
              <a:ext cx="621792" cy="196596"/>
            </a:xfrm>
            <a:prstGeom prst="rect">
              <a:avLst/>
            </a:prstGeom>
            <a:solidFill>
              <a:srgbClr val="F5F8FB"/>
            </a:solidFill>
            <a:ln w="6350">
              <a:solidFill>
                <a:srgbClr val="D6E0EC"/>
              </a:solidFill>
            </a:ln>
          </p:spPr>
          <p:txBody>
            <a:bodyPr wrap="square" lIns="68580" tIns="34290" rIns="68580" bIns="34290"/>
            <a:lstStyle/>
            <a:p>
              <a:pPr algn="r"/>
              <a:r>
                <a:rPr lang="pt-BR" sz="800">
                  <a:solidFill>
                    <a:srgbClr val="15253F"/>
                  </a:solidFill>
                </a:rPr>
                <a:t>R$ 2.787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0405F8-7C50-46DE-AAB4-738335D97D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47632e-f6f4-466b-b0d0-588b29b5bf13"/>
    <ds:schemaRef ds:uri="3def94a3-6d42-4c9e-8cca-d25e171edf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2984</Words>
  <Application>Microsoft Office PowerPoint</Application>
  <PresentationFormat>Widescreen</PresentationFormat>
  <Paragraphs>944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THALLES DAVIDY GONDIN DA SILVEIRA</cp:lastModifiedBy>
  <cp:revision>10</cp:revision>
  <dcterms:created xsi:type="dcterms:W3CDTF">2025-01-29T18:17:09Z</dcterms:created>
  <dcterms:modified xsi:type="dcterms:W3CDTF">2026-08-17T16:58:41Z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  <property fmtid="{D5CDD505-2E9C-101B-9397-08002B2CF9AE}" pid="4" name="MSIP_Label_f6648805-0676-427f-8b3f-8deff0dc1a0a_Enabled">
    <vt:lpwstr>true</vt:lpwstr>
  </property>
  <property fmtid="{D5CDD505-2E9C-101B-9397-08002B2CF9AE}" pid="5" name="MSIP_Label_f6648805-0676-427f-8b3f-8deff0dc1a0a_SetDate">
    <vt:lpwstr>2026-08-17T16:47:51Z</vt:lpwstr>
  </property>
  <property fmtid="{D5CDD505-2E9C-101B-9397-08002B2CF9AE}" pid="6" name="MSIP_Label_f6648805-0676-427f-8b3f-8deff0dc1a0a_Method">
    <vt:lpwstr>Privileged</vt:lpwstr>
  </property>
  <property fmtid="{D5CDD505-2E9C-101B-9397-08002B2CF9AE}" pid="7" name="MSIP_Label_f6648805-0676-427f-8b3f-8deff0dc1a0a_Name">
    <vt:lpwstr>Público</vt:lpwstr>
  </property>
  <property fmtid="{D5CDD505-2E9C-101B-9397-08002B2CF9AE}" pid="8" name="MSIP_Label_f6648805-0676-427f-8b3f-8deff0dc1a0a_SiteId">
    <vt:lpwstr>77d68323-6f4b-460f-8aae-d32c654ec490</vt:lpwstr>
  </property>
  <property fmtid="{D5CDD505-2E9C-101B-9397-08002B2CF9AE}" pid="9" name="MSIP_Label_f6648805-0676-427f-8b3f-8deff0dc1a0a_ActionId">
    <vt:lpwstr>595824d5-086d-42c3-b76b-80288cd2a0f5</vt:lpwstr>
  </property>
  <property fmtid="{D5CDD505-2E9C-101B-9397-08002B2CF9AE}" pid="10" name="MSIP_Label_f6648805-0676-427f-8b3f-8deff0dc1a0a_ContentBits">
    <vt:lpwstr>3</vt:lpwstr>
  </property>
  <property fmtid="{D5CDD505-2E9C-101B-9397-08002B2CF9AE}" pid="11" name="MSIP_Label_f6648805-0676-427f-8b3f-8deff0dc1a0a_Tag">
    <vt:lpwstr>10, 0, 1, 1</vt:lpwstr>
  </property>
  <property fmtid="{D5CDD505-2E9C-101B-9397-08002B2CF9AE}" pid="12" name="ClassificationContentMarkingFooterLocations">
    <vt:lpwstr>Tema do Office:10</vt:lpwstr>
  </property>
  <property fmtid="{D5CDD505-2E9C-101B-9397-08002B2CF9AE}" pid="13" name="ClassificationContentMarkingFooterText">
    <vt:lpwstr>PÚBLICO</vt:lpwstr>
  </property>
  <property fmtid="{D5CDD505-2E9C-101B-9397-08002B2CF9AE}" pid="14" name="ClassificationContentMarkingHeaderLocations">
    <vt:lpwstr>Tema do Office:9</vt:lpwstr>
  </property>
  <property fmtid="{D5CDD505-2E9C-101B-9397-08002B2CF9AE}" pid="15" name="ClassificationContentMarkingHeaderText">
    <vt:lpwstr>PÚBLICO</vt:lpwstr>
  </property>
</Properties>
</file>