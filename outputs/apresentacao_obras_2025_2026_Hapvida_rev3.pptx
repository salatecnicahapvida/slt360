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43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9FB7EB-ACDE-4744-B93C-070DE6C4D572}" v="1" dt="2026-08-14T14:57:14.2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LLES DAVIDY GONDIN DA SILVEIRA" userId="a3416262-0fac-4856-884e-2c0d7e6e898d" providerId="ADAL" clId="{1418AD27-A7E6-4FFD-8E07-7066023A75C3}"/>
    <pc:docChg chg="undo custSel mod modSld modMainMaster">
      <pc:chgData name="THALLES DAVIDY GONDIN DA SILVEIRA" userId="a3416262-0fac-4856-884e-2c0d7e6e898d" providerId="ADAL" clId="{1418AD27-A7E6-4FFD-8E07-7066023A75C3}" dt="2026-08-14T14:58:34.483" v="11" actId="1076"/>
      <pc:docMkLst>
        <pc:docMk/>
      </pc:docMkLst>
      <pc:sldChg chg="modSp mod">
        <pc:chgData name="THALLES DAVIDY GONDIN DA SILVEIRA" userId="a3416262-0fac-4856-884e-2c0d7e6e898d" providerId="ADAL" clId="{1418AD27-A7E6-4FFD-8E07-7066023A75C3}" dt="2026-08-14T14:55:32.401" v="5" actId="207"/>
        <pc:sldMkLst>
          <pc:docMk/>
          <pc:sldMk cId="0" sldId="258"/>
        </pc:sldMkLst>
        <pc:spChg chg="mod">
          <ac:chgData name="THALLES DAVIDY GONDIN DA SILVEIRA" userId="a3416262-0fac-4856-884e-2c0d7e6e898d" providerId="ADAL" clId="{1418AD27-A7E6-4FFD-8E07-7066023A75C3}" dt="2026-08-14T14:55:32.401" v="5" actId="207"/>
          <ac:spMkLst>
            <pc:docMk/>
            <pc:sldMk cId="0" sldId="258"/>
            <ac:spMk id="110" creationId="{00000000-0000-0000-0000-000000000000}"/>
          </ac:spMkLst>
        </pc:spChg>
      </pc:sldChg>
      <pc:sldChg chg="addSp modSp mod">
        <pc:chgData name="THALLES DAVIDY GONDIN DA SILVEIRA" userId="a3416262-0fac-4856-884e-2c0d7e6e898d" providerId="ADAL" clId="{1418AD27-A7E6-4FFD-8E07-7066023A75C3}" dt="2026-08-14T14:57:18.446" v="10" actId="14100"/>
        <pc:sldMkLst>
          <pc:docMk/>
          <pc:sldMk cId="0" sldId="259"/>
        </pc:sldMkLst>
        <pc:spChg chg="mod">
          <ac:chgData name="THALLES DAVIDY GONDIN DA SILVEIRA" userId="a3416262-0fac-4856-884e-2c0d7e6e898d" providerId="ADAL" clId="{1418AD27-A7E6-4FFD-8E07-7066023A75C3}" dt="2026-08-14T14:56:19.301" v="7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57:14.275" v="8" actId="164"/>
          <ac:spMkLst>
            <pc:docMk/>
            <pc:sldMk cId="0" sldId="259"/>
            <ac:spMk id="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57:14.275" v="8" actId="164"/>
          <ac:spMkLst>
            <pc:docMk/>
            <pc:sldMk cId="0" sldId="259"/>
            <ac:spMk id="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57:14.275" v="8" actId="164"/>
          <ac:spMkLst>
            <pc:docMk/>
            <pc:sldMk cId="0" sldId="259"/>
            <ac:spMk id="15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57:14.275" v="8" actId="164"/>
          <ac:spMkLst>
            <pc:docMk/>
            <pc:sldMk cId="0" sldId="259"/>
            <ac:spMk id="15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57:14.275" v="8" actId="164"/>
          <ac:spMkLst>
            <pc:docMk/>
            <pc:sldMk cId="0" sldId="259"/>
            <ac:spMk id="16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57:14.275" v="8" actId="164"/>
          <ac:spMkLst>
            <pc:docMk/>
            <pc:sldMk cId="0" sldId="259"/>
            <ac:spMk id="166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57:14.275" v="8" actId="164"/>
          <ac:spMkLst>
            <pc:docMk/>
            <pc:sldMk cId="0" sldId="259"/>
            <ac:spMk id="17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57:14.275" v="8" actId="164"/>
          <ac:spMkLst>
            <pc:docMk/>
            <pc:sldMk cId="0" sldId="259"/>
            <ac:spMk id="17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57:14.275" v="8" actId="164"/>
          <ac:spMkLst>
            <pc:docMk/>
            <pc:sldMk cId="0" sldId="259"/>
            <ac:spMk id="18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57:14.275" v="8" actId="164"/>
          <ac:spMkLst>
            <pc:docMk/>
            <pc:sldMk cId="0" sldId="259"/>
            <ac:spMk id="181" creationId="{00000000-0000-0000-0000-000000000000}"/>
          </ac:spMkLst>
        </pc:spChg>
        <pc:grpChg chg="mod">
          <ac:chgData name="THALLES DAVIDY GONDIN DA SILVEIRA" userId="a3416262-0fac-4856-884e-2c0d7e6e898d" providerId="ADAL" clId="{1418AD27-A7E6-4FFD-8E07-7066023A75C3}" dt="2026-08-14T14:57:18.446" v="10" actId="14100"/>
          <ac:grpSpMkLst>
            <pc:docMk/>
            <pc:sldMk cId="0" sldId="259"/>
            <ac:grpSpMk id="6" creationId="{31C412B5-4B29-AC84-2B4C-1CFAECC71A92}"/>
          </ac:grpSpMkLst>
        </pc:grpChg>
      </pc:sldChg>
      <pc:sldChg chg="modSp mod">
        <pc:chgData name="THALLES DAVIDY GONDIN DA SILVEIRA" userId="a3416262-0fac-4856-884e-2c0d7e6e898d" providerId="ADAL" clId="{1418AD27-A7E6-4FFD-8E07-7066023A75C3}" dt="2026-08-14T14:58:34.483" v="11" actId="1076"/>
        <pc:sldMkLst>
          <pc:docMk/>
          <pc:sldMk cId="0" sldId="260"/>
        </pc:sldMkLst>
        <pc:spChg chg="mod">
          <ac:chgData name="THALLES DAVIDY GONDIN DA SILVEIRA" userId="a3416262-0fac-4856-884e-2c0d7e6e898d" providerId="ADAL" clId="{1418AD27-A7E6-4FFD-8E07-7066023A75C3}" dt="2026-08-14T14:58:34.483" v="11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58:34.483" v="11" actId="1076"/>
          <ac:spMkLst>
            <pc:docMk/>
            <pc:sldMk cId="0" sldId="260"/>
            <ac:spMk id="159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58:34.483" v="11" actId="1076"/>
          <ac:spMkLst>
            <pc:docMk/>
            <pc:sldMk cId="0" sldId="260"/>
            <ac:spMk id="16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58:34.483" v="11" actId="1076"/>
          <ac:spMkLst>
            <pc:docMk/>
            <pc:sldMk cId="0" sldId="260"/>
            <ac:spMk id="16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58:34.483" v="11" actId="1076"/>
          <ac:spMkLst>
            <pc:docMk/>
            <pc:sldMk cId="0" sldId="260"/>
            <ac:spMk id="17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58:34.483" v="11" actId="1076"/>
          <ac:spMkLst>
            <pc:docMk/>
            <pc:sldMk cId="0" sldId="260"/>
            <ac:spMk id="17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58:34.483" v="11" actId="1076"/>
          <ac:spMkLst>
            <pc:docMk/>
            <pc:sldMk cId="0" sldId="260"/>
            <ac:spMk id="17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58:34.483" v="11" actId="1076"/>
          <ac:spMkLst>
            <pc:docMk/>
            <pc:sldMk cId="0" sldId="260"/>
            <ac:spMk id="17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58:34.483" v="11" actId="1076"/>
          <ac:spMkLst>
            <pc:docMk/>
            <pc:sldMk cId="0" sldId="260"/>
            <ac:spMk id="17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58:34.483" v="11" actId="1076"/>
          <ac:spMkLst>
            <pc:docMk/>
            <pc:sldMk cId="0" sldId="260"/>
            <ac:spMk id="179" creationId="{00000000-0000-0000-0000-000000000000}"/>
          </ac:spMkLst>
        </pc:spChg>
      </pc:sldChg>
      <pc:sldMasterChg chg="addSp mod">
        <pc:chgData name="THALLES DAVIDY GONDIN DA SILVEIRA" userId="a3416262-0fac-4856-884e-2c0d7e6e898d" providerId="ADAL" clId="{1418AD27-A7E6-4FFD-8E07-7066023A75C3}" dt="2026-08-14T14:55:28.387" v="0" actId="33475"/>
        <pc:sldMasterMkLst>
          <pc:docMk/>
          <pc:sldMasterMk cId="2640674209" sldId="2147483648"/>
        </pc:sldMasterMkLst>
        <pc:spChg chg="add">
          <ac:chgData name="THALLES DAVIDY GONDIN DA SILVEIRA" userId="a3416262-0fac-4856-884e-2c0d7e6e898d" providerId="ADAL" clId="{1418AD27-A7E6-4FFD-8E07-7066023A75C3}" dt="2026-08-14T14:55:28.387" v="0" actId="33475"/>
          <ac:spMkLst>
            <pc:docMk/>
            <pc:sldMasterMk cId="2640674209" sldId="2147483648"/>
            <ac:spMk id="9" creationId="{7576C8F8-1BA6-C337-6847-79E57F2DAB43}"/>
          </ac:spMkLst>
        </pc:spChg>
        <pc:spChg chg="add">
          <ac:chgData name="THALLES DAVIDY GONDIN DA SILVEIRA" userId="a3416262-0fac-4856-884e-2c0d7e6e898d" providerId="ADAL" clId="{1418AD27-A7E6-4FFD-8E07-7066023A75C3}" dt="2026-08-14T14:55:28.387" v="0" actId="33475"/>
          <ac:spMkLst>
            <pc:docMk/>
            <pc:sldMasterMk cId="2640674209" sldId="2147483648"/>
            <ac:spMk id="10" creationId="{794F6AF2-8C11-A829-1DF9-A4400A40657A}"/>
          </ac:spMkLst>
        </pc:sp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F4DD3B-A89E-4F11-BC03-A6EC2D3C3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8CF5F7-8240-46B3-9B58-189CADB890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93F4E7-616C-42E7-AA53-7D53A481B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159AAD-5FFF-4C55-AE91-74879D35E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A83A00-C2AA-40AA-9898-26BFCFA98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6492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0A9920-B79B-4806-AFC3-6B18FB41E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9ECF1E-EFE2-407B-94FD-7B20AE919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098B5D-16BC-4861-8D94-245E392B6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A2E305-2544-4735-B639-40C968382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B1A35A-8DF2-47E9-A4EF-4D673FC40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0570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DDD76B-5BBC-4080-944A-B684B1F43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6FA57D6-9D8A-49BD-891D-3FB4A4871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F831F4-C470-46E6-A682-B814BDC5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4C8576-D5A3-49FF-AF46-45B12387E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AD2232-F8D3-426A-AB8B-1A412A619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70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A4686D-7C47-4E04-BCEB-3821F5701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724C2B-BFF9-4A25-BD5E-B69CCF793B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AE242AF-4D20-47AB-9363-BB63DB6AB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E1E022C-49BB-4F66-B77E-43D227B3C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D816F0F-7FA9-4D3B-9718-4996582E0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EDB9501-C461-4A0B-8450-14546430F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9727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8B6E27-5D78-4A69-BDE1-0697A2DBE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E160F9-47B9-45A6-817E-2F638FF61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4DA7551-F322-486F-B2CF-8AE5E12C9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6549817-B01A-4F77-B716-B7585BF09D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BEC9372-1182-4A24-9C9E-1212F25FCB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AA98BF5-B259-4849-B7DA-1588B00F3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779DBB3-C0AD-4FF5-B33D-8C34B09CE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D2CB255-A8B7-40B3-AA33-06D0212FF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7280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D93C1-CF34-49A8-9B7A-A49937BA4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154AD72-C7B6-443E-82B6-262FC8D07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3CFE4FF-6A89-4A43-9613-A54FC4323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3BB27D8-2D61-47FA-97F8-A50737227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9252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01B2DCF-DD2B-4CAF-83EA-549C9AD47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85AB182-8F1E-4950-809D-15B1CC259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913C851-F495-4E93-BFD1-B862432E1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8125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D9FB66-A81D-433B-8C22-6D859CB03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39CC1A-872A-4C6F-823C-8E29BC36C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82A2822-AFE9-4C82-9881-A26FEFCF3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F882C72-065F-48D0-8768-1F43AB81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038A36A-44B6-47E9-93AA-CC5E6A223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942288D-CC5B-4A49-99AC-7713E6D2F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5698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46140D-32EC-46F8-A9A5-1C6E75E40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75FC306-4FCB-4B18-B502-AE65826597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F0AC739-A323-4448-B8C4-2762F4FBB6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416EFC2-DAD8-4248-8DC5-9A7834778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9E31B2-93F5-4D57-985F-B24ADB4E2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0120D-5868-489F-9D49-B0EE41946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1672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6EEBDD-1DA1-4F36-8FC5-71723EF92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160F00C-D951-481E-AFE8-184ED25393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B54D75-17DA-4BEE-B769-B5A63D0EC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97AF13-AB2C-453D-BAC5-8E62BBCD2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65E0CB-E3AE-4604-B4CA-4FBFA1E20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933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DBE872F-3A91-4840-97AA-4DC75728E7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5410A31-7ADE-4773-A5B3-20BC696D5D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40E3D7-B2B7-4538-9B3A-694017475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1CD025-AAA9-4410-9427-D5B8ADFE7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4D7061-3F4E-403C-A1DF-F6263546C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8376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2D13E89-B7E6-4FB1-A198-5BF1FDC08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22D2752-5C57-4465-BE4B-9741DF30E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D3C341-462D-4794-A7BD-062C008AB6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4B88C-D34A-4CD5-B9C4-59339CA8098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123974-86EE-4C0F-9F68-A603C447E2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C6F05E-01A6-4646-9137-21207EF986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576C8F8-1BA6-C337-6847-79E57F2DAB4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39587" y="63500"/>
            <a:ext cx="5381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PÚBLICO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94F6AF2-8C11-A829-1DF9-A4400A40657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39587" y="6642100"/>
            <a:ext cx="5381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PÚBLICO</a:t>
            </a:r>
          </a:p>
        </p:txBody>
      </p:sp>
    </p:spTree>
    <p:extLst>
      <p:ext uri="{BB962C8B-B14F-4D97-AF65-F5344CB8AC3E}">
        <p14:creationId xmlns:p14="http://schemas.microsoft.com/office/powerpoint/2010/main" val="2640674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ap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1" name="Rect 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49">
              <a:alpha val="46000"/>
            </a:srgb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12" name="Hapvid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12064"/>
            <a:ext cx="1737360" cy="320040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658368" y="2084832"/>
            <a:ext cx="7772400" cy="11887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3200" b="1">
                <a:solidFill>
                  <a:srgbClr val="FFFFFF"/>
                </a:solidFill>
              </a:rPr>
              <a:t>Obras 2025-2026</a:t>
            </a:r>
          </a:p>
          <a:p>
            <a:pPr algn="l"/>
            <a:r>
              <a:rPr lang="pt-BR" sz="3200" b="1">
                <a:solidFill>
                  <a:srgbClr val="FFFFFF"/>
                </a:solidFill>
              </a:rPr>
              <a:t>Tipologia e construção por m²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685800" y="3401568"/>
            <a:ext cx="74980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700">
                <a:solidFill>
                  <a:srgbClr val="FFFFFF"/>
                </a:solidFill>
              </a:rPr>
              <a:t>2025 e 2026 até 14/08/2026 | Base Geral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685800" y="4873752"/>
            <a:ext cx="2331720" cy="69494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213.5 mil m²</a:t>
            </a:r>
          </a:p>
          <a:p>
            <a:pPr algn="l"/>
            <a:r>
              <a:rPr lang="pt-BR" sz="1600" b="1">
                <a:solidFill>
                  <a:srgbClr val="FFFFFF"/>
                </a:solidFill>
              </a:rPr>
              <a:t>construídos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3182112" y="4873752"/>
            <a:ext cx="2331720" cy="69494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R$ 284.3 mi</a:t>
            </a:r>
          </a:p>
          <a:p>
            <a:pPr algn="l"/>
            <a:r>
              <a:rPr lang="pt-BR" sz="1600" b="1">
                <a:solidFill>
                  <a:srgbClr val="FFFFFF"/>
                </a:solidFill>
              </a:rPr>
              <a:t>negociados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5678424" y="4873752"/>
            <a:ext cx="2697480" cy="694944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Obra regulatória com baixa intervenção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tipologia líder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Resumo executivo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2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74980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400" b="1">
                <a:solidFill>
                  <a:srgbClr val="15253F"/>
                </a:solidFill>
              </a:rPr>
              <a:t>Resumo do período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566928" y="1417320"/>
            <a:ext cx="2542032" cy="1024128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256</a:t>
            </a: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no período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3383280" y="1417320"/>
            <a:ext cx="2542032" cy="1024128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Área construída</a:t>
            </a: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213.5 mil m²</a:t>
            </a: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Área (m²)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6199632" y="1417320"/>
            <a:ext cx="2542032" cy="1024128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Valor negociado</a:t>
            </a: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R$ 284.3 mi</a:t>
            </a: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Valor Negociado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9015984" y="1417320"/>
            <a:ext cx="2542032" cy="1024128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Tipologia líder</a:t>
            </a: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Obra regulatória com baixa intervenção</a:t>
            </a: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maior área construída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658368" y="2761488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600" b="1">
                <a:solidFill>
                  <a:srgbClr val="15253F"/>
                </a:solidFill>
              </a:rPr>
              <a:t>Comparativo anual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658368" y="3163824"/>
            <a:ext cx="9601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Ano</a:t>
            </a:r>
          </a:p>
        </p:txBody>
      </p:sp>
      <p:sp>
        <p:nvSpPr>
          <p:cNvPr id="51" name="Text 51"/>
          <p:cNvSpPr txBox="1"/>
          <p:nvPr/>
        </p:nvSpPr>
        <p:spPr>
          <a:xfrm>
            <a:off x="1618488" y="3163824"/>
            <a:ext cx="10515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52" name="Text 52"/>
          <p:cNvSpPr txBox="1"/>
          <p:nvPr/>
        </p:nvSpPr>
        <p:spPr>
          <a:xfrm>
            <a:off x="2670048" y="3163824"/>
            <a:ext cx="15544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53" name="Text 53"/>
          <p:cNvSpPr txBox="1"/>
          <p:nvPr/>
        </p:nvSpPr>
        <p:spPr>
          <a:xfrm>
            <a:off x="4224528" y="3163824"/>
            <a:ext cx="17830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54" name="Text 54"/>
          <p:cNvSpPr txBox="1"/>
          <p:nvPr/>
        </p:nvSpPr>
        <p:spPr>
          <a:xfrm>
            <a:off x="658368" y="3474720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2025</a:t>
            </a:r>
          </a:p>
        </p:txBody>
      </p:sp>
      <p:sp>
        <p:nvSpPr>
          <p:cNvPr id="55" name="Text 55"/>
          <p:cNvSpPr txBox="1"/>
          <p:nvPr/>
        </p:nvSpPr>
        <p:spPr>
          <a:xfrm>
            <a:off x="1618488" y="3474720"/>
            <a:ext cx="10515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170</a:t>
            </a:r>
          </a:p>
        </p:txBody>
      </p:sp>
      <p:sp>
        <p:nvSpPr>
          <p:cNvPr id="56" name="Text 56"/>
          <p:cNvSpPr txBox="1"/>
          <p:nvPr/>
        </p:nvSpPr>
        <p:spPr>
          <a:xfrm>
            <a:off x="2670048" y="3474720"/>
            <a:ext cx="1554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122.0 mil m²</a:t>
            </a:r>
          </a:p>
        </p:txBody>
      </p:sp>
      <p:sp>
        <p:nvSpPr>
          <p:cNvPr id="57" name="Text 57"/>
          <p:cNvSpPr txBox="1"/>
          <p:nvPr/>
        </p:nvSpPr>
        <p:spPr>
          <a:xfrm>
            <a:off x="4224528" y="3474720"/>
            <a:ext cx="1783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R$ 168.2 mi</a:t>
            </a:r>
          </a:p>
        </p:txBody>
      </p:sp>
      <p:sp>
        <p:nvSpPr>
          <p:cNvPr id="58" name="Text 58"/>
          <p:cNvSpPr txBox="1"/>
          <p:nvPr/>
        </p:nvSpPr>
        <p:spPr>
          <a:xfrm>
            <a:off x="658368" y="3785616"/>
            <a:ext cx="9601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2026</a:t>
            </a:r>
          </a:p>
        </p:txBody>
      </p:sp>
      <p:sp>
        <p:nvSpPr>
          <p:cNvPr id="59" name="Text 59"/>
          <p:cNvSpPr txBox="1"/>
          <p:nvPr/>
        </p:nvSpPr>
        <p:spPr>
          <a:xfrm>
            <a:off x="1618488" y="3785616"/>
            <a:ext cx="10515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86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2670048" y="3785616"/>
            <a:ext cx="15544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91.5 mil m²</a:t>
            </a:r>
          </a:p>
        </p:txBody>
      </p:sp>
      <p:sp>
        <p:nvSpPr>
          <p:cNvPr id="61" name="Text 61"/>
          <p:cNvSpPr txBox="1"/>
          <p:nvPr/>
        </p:nvSpPr>
        <p:spPr>
          <a:xfrm>
            <a:off x="4224528" y="3785616"/>
            <a:ext cx="1783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R$ 116.0 mi</a:t>
            </a:r>
          </a:p>
        </p:txBody>
      </p:sp>
      <p:sp>
        <p:nvSpPr>
          <p:cNvPr id="80" name="Text 80"/>
          <p:cNvSpPr txBox="1"/>
          <p:nvPr/>
        </p:nvSpPr>
        <p:spPr>
          <a:xfrm>
            <a:off x="6400800" y="2761488"/>
            <a:ext cx="50749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600" b="1">
                <a:solidFill>
                  <a:srgbClr val="15253F"/>
                </a:solidFill>
              </a:rPr>
              <a:t>Principais leituras</a:t>
            </a:r>
          </a:p>
        </p:txBody>
      </p:sp>
      <p:sp>
        <p:nvSpPr>
          <p:cNvPr id="81" name="Text 81"/>
          <p:cNvSpPr txBox="1"/>
          <p:nvPr/>
        </p:nvSpPr>
        <p:spPr>
          <a:xfrm>
            <a:off x="6400800" y="3145536"/>
            <a:ext cx="5166360" cy="2057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• Maior entrega mensal em área: fev/26, com 29.8 mil m².</a:t>
            </a:r>
          </a:p>
          <a:p>
            <a:pPr algn="l"/>
            <a:r>
              <a:rPr lang="pt-BR" sz="1200">
                <a:solidFill>
                  <a:srgbClr val="15253F"/>
                </a:solidFill>
              </a:rPr>
              <a:t>• Classificação com maior área construída: Adequação Regulatória (99.1 mil m²).</a:t>
            </a:r>
          </a:p>
          <a:p>
            <a:pPr algn="l"/>
            <a:r>
              <a:rPr lang="pt-BR" sz="1200">
                <a:solidFill>
                  <a:srgbClr val="15253F"/>
                </a:solidFill>
              </a:rPr>
              <a:t>• Maior R$/m² por classificação: Eficiência Operacional, com R$ 2.576/m².</a:t>
            </a:r>
          </a:p>
          <a:p>
            <a:pPr algn="l"/>
            <a:r>
              <a:rPr lang="pt-BR" sz="1200">
                <a:solidFill>
                  <a:srgbClr val="15253F"/>
                </a:solidFill>
              </a:rPr>
              <a:t>• Nível de Obra mais representativo em área: Retrofit.</a:t>
            </a:r>
          </a:p>
          <a:p>
            <a:pPr algn="l"/>
            <a:r>
              <a:rPr lang="pt-BR" sz="1200">
                <a:solidFill>
                  <a:srgbClr val="15253F"/>
                </a:solidFill>
              </a:rPr>
              <a:t>• Tipologia de Obras mais representativa em área: Obra regulatória com baixa intervenção.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Curva mensal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3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749808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300" b="1">
                <a:solidFill>
                  <a:srgbClr val="15253F"/>
                </a:solidFill>
              </a:rPr>
              <a:t>Curva mensal de área construída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658368" y="1207008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>
                <a:solidFill>
                  <a:srgbClr val="253F8E"/>
                </a:solidFill>
              </a:rPr>
              <a:t>Meses com maior área construída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658368" y="1627632"/>
            <a:ext cx="17876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endParaRPr>
              <a:solidFill>
                <a:srgbClr val="FF0000"/>
              </a:solidFill>
            </a:endParaRPr>
          </a:p>
        </p:txBody>
      </p:sp>
      <p:sp>
        <p:nvSpPr>
          <p:cNvPr id="111" name="Rect 111"/>
          <p:cNvSpPr/>
          <p:nvPr/>
        </p:nvSpPr>
        <p:spPr>
          <a:xfrm>
            <a:off x="2537460" y="1700784"/>
            <a:ext cx="1997964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2" name="Text 112"/>
          <p:cNvSpPr txBox="1"/>
          <p:nvPr/>
        </p:nvSpPr>
        <p:spPr>
          <a:xfrm>
            <a:off x="4663440" y="1627632"/>
            <a:ext cx="12527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29.8 mil m² | 24 obras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658368" y="1938528"/>
            <a:ext cx="17876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endParaRPr/>
          </a:p>
        </p:txBody>
      </p:sp>
      <p:sp>
        <p:nvSpPr>
          <p:cNvPr id="114" name="Rect 114"/>
          <p:cNvSpPr/>
          <p:nvPr/>
        </p:nvSpPr>
        <p:spPr>
          <a:xfrm>
            <a:off x="2537460" y="2011680"/>
            <a:ext cx="1590471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5" name="Text 115"/>
          <p:cNvSpPr txBox="1"/>
          <p:nvPr/>
        </p:nvSpPr>
        <p:spPr>
          <a:xfrm>
            <a:off x="4663440" y="1938528"/>
            <a:ext cx="12527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23.8 mil m² | 20 obras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658368" y="2249424"/>
            <a:ext cx="17876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endParaRPr/>
          </a:p>
        </p:txBody>
      </p:sp>
      <p:sp>
        <p:nvSpPr>
          <p:cNvPr id="117" name="Rect 117"/>
          <p:cNvSpPr/>
          <p:nvPr/>
        </p:nvSpPr>
        <p:spPr>
          <a:xfrm>
            <a:off x="2537460" y="2322576"/>
            <a:ext cx="1421573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8" name="Text 118"/>
          <p:cNvSpPr txBox="1"/>
          <p:nvPr/>
        </p:nvSpPr>
        <p:spPr>
          <a:xfrm>
            <a:off x="4663440" y="2249424"/>
            <a:ext cx="12527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21.2 mil m² | 22 obras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658368" y="2560320"/>
            <a:ext cx="17876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endParaRPr/>
          </a:p>
        </p:txBody>
      </p:sp>
      <p:sp>
        <p:nvSpPr>
          <p:cNvPr id="120" name="Rect 120"/>
          <p:cNvSpPr/>
          <p:nvPr/>
        </p:nvSpPr>
        <p:spPr>
          <a:xfrm>
            <a:off x="2537460" y="2633472"/>
            <a:ext cx="1287652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1" name="Text 121"/>
          <p:cNvSpPr txBox="1"/>
          <p:nvPr/>
        </p:nvSpPr>
        <p:spPr>
          <a:xfrm>
            <a:off x="4663440" y="2560320"/>
            <a:ext cx="12527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19.2 mil m² | 35 obras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658368" y="2871216"/>
            <a:ext cx="17876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endParaRPr/>
          </a:p>
        </p:txBody>
      </p:sp>
      <p:sp>
        <p:nvSpPr>
          <p:cNvPr id="123" name="Rect 123"/>
          <p:cNvSpPr/>
          <p:nvPr/>
        </p:nvSpPr>
        <p:spPr>
          <a:xfrm>
            <a:off x="2537460" y="2944368"/>
            <a:ext cx="1116898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4" name="Text 124"/>
          <p:cNvSpPr txBox="1"/>
          <p:nvPr/>
        </p:nvSpPr>
        <p:spPr>
          <a:xfrm>
            <a:off x="4663440" y="2871216"/>
            <a:ext cx="12527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16.7 mil m² | 19 obras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658368" y="3182112"/>
            <a:ext cx="17876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endParaRPr/>
          </a:p>
        </p:txBody>
      </p:sp>
      <p:sp>
        <p:nvSpPr>
          <p:cNvPr id="126" name="Rect 126"/>
          <p:cNvSpPr/>
          <p:nvPr/>
        </p:nvSpPr>
        <p:spPr>
          <a:xfrm>
            <a:off x="2537460" y="3255264"/>
            <a:ext cx="949080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7" name="Text 127"/>
          <p:cNvSpPr txBox="1"/>
          <p:nvPr/>
        </p:nvSpPr>
        <p:spPr>
          <a:xfrm>
            <a:off x="4663440" y="3182112"/>
            <a:ext cx="12527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14.2 mil m² | 11 obras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658368" y="3493008"/>
            <a:ext cx="17876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endParaRPr/>
          </a:p>
        </p:txBody>
      </p:sp>
      <p:sp>
        <p:nvSpPr>
          <p:cNvPr id="129" name="Rect 129"/>
          <p:cNvSpPr/>
          <p:nvPr/>
        </p:nvSpPr>
        <p:spPr>
          <a:xfrm>
            <a:off x="2537460" y="3566160"/>
            <a:ext cx="751888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0" name="Text 130"/>
          <p:cNvSpPr txBox="1"/>
          <p:nvPr/>
        </p:nvSpPr>
        <p:spPr>
          <a:xfrm>
            <a:off x="4663440" y="3493008"/>
            <a:ext cx="12527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11.2 mil m² | 6 obras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658368" y="3803904"/>
            <a:ext cx="17876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endParaRPr/>
          </a:p>
        </p:txBody>
      </p:sp>
      <p:sp>
        <p:nvSpPr>
          <p:cNvPr id="132" name="Rect 132"/>
          <p:cNvSpPr/>
          <p:nvPr/>
        </p:nvSpPr>
        <p:spPr>
          <a:xfrm>
            <a:off x="2537460" y="3877056"/>
            <a:ext cx="679775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3" name="Text 133"/>
          <p:cNvSpPr txBox="1"/>
          <p:nvPr/>
        </p:nvSpPr>
        <p:spPr>
          <a:xfrm>
            <a:off x="4663440" y="3803904"/>
            <a:ext cx="12527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10.2 mil m² | 20 obras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658368" y="4114800"/>
            <a:ext cx="17876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endParaRPr/>
          </a:p>
        </p:txBody>
      </p:sp>
      <p:sp>
        <p:nvSpPr>
          <p:cNvPr id="135" name="Rect 135"/>
          <p:cNvSpPr/>
          <p:nvPr/>
        </p:nvSpPr>
        <p:spPr>
          <a:xfrm>
            <a:off x="2537460" y="4187952"/>
            <a:ext cx="671707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6" name="Text 136"/>
          <p:cNvSpPr txBox="1"/>
          <p:nvPr/>
        </p:nvSpPr>
        <p:spPr>
          <a:xfrm>
            <a:off x="4663440" y="4114800"/>
            <a:ext cx="12527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10.0 mil m² | 12 obras</a:t>
            </a:r>
          </a:p>
        </p:txBody>
      </p:sp>
      <p:sp>
        <p:nvSpPr>
          <p:cNvPr id="137" name="Text 137"/>
          <p:cNvSpPr txBox="1"/>
          <p:nvPr/>
        </p:nvSpPr>
        <p:spPr>
          <a:xfrm>
            <a:off x="658368" y="4425696"/>
            <a:ext cx="17876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endParaRPr/>
          </a:p>
        </p:txBody>
      </p:sp>
      <p:sp>
        <p:nvSpPr>
          <p:cNvPr id="138" name="Rect 138"/>
          <p:cNvSpPr/>
          <p:nvPr/>
        </p:nvSpPr>
        <p:spPr>
          <a:xfrm>
            <a:off x="2537460" y="4498848"/>
            <a:ext cx="659464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9" name="Text 139"/>
          <p:cNvSpPr txBox="1"/>
          <p:nvPr/>
        </p:nvSpPr>
        <p:spPr>
          <a:xfrm>
            <a:off x="4663440" y="4425696"/>
            <a:ext cx="12527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9.8 mil m² | 8 obras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658368" y="4736592"/>
            <a:ext cx="17876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endParaRPr/>
          </a:p>
        </p:txBody>
      </p:sp>
      <p:sp>
        <p:nvSpPr>
          <p:cNvPr id="141" name="Rect 141"/>
          <p:cNvSpPr/>
          <p:nvPr/>
        </p:nvSpPr>
        <p:spPr>
          <a:xfrm>
            <a:off x="2537460" y="4809744"/>
            <a:ext cx="527338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2" name="Text 142"/>
          <p:cNvSpPr txBox="1"/>
          <p:nvPr/>
        </p:nvSpPr>
        <p:spPr>
          <a:xfrm>
            <a:off x="4663440" y="4736592"/>
            <a:ext cx="12527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7.9 mil m² | 15 obras</a:t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658368" y="5047488"/>
            <a:ext cx="17876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endParaRPr/>
          </a:p>
        </p:txBody>
      </p:sp>
      <p:sp>
        <p:nvSpPr>
          <p:cNvPr id="144" name="Rect 144"/>
          <p:cNvSpPr/>
          <p:nvPr/>
        </p:nvSpPr>
        <p:spPr>
          <a:xfrm>
            <a:off x="2537460" y="5120640"/>
            <a:ext cx="508086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5" name="Text 145"/>
          <p:cNvSpPr txBox="1"/>
          <p:nvPr/>
        </p:nvSpPr>
        <p:spPr>
          <a:xfrm>
            <a:off x="4663440" y="5047488"/>
            <a:ext cx="12527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7.6 mil m² | 7 obras</a:t>
            </a:r>
          </a:p>
        </p:txBody>
      </p:sp>
      <p:sp>
        <p:nvSpPr>
          <p:cNvPr id="170" name="Text 170"/>
          <p:cNvSpPr txBox="1"/>
          <p:nvPr/>
        </p:nvSpPr>
        <p:spPr>
          <a:xfrm>
            <a:off x="6400800" y="1207008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>
                <a:solidFill>
                  <a:srgbClr val="F37021"/>
                </a:solidFill>
              </a:rPr>
              <a:t>Resumo mensal</a:t>
            </a:r>
          </a:p>
        </p:txBody>
      </p:sp>
      <p:sp>
        <p:nvSpPr>
          <p:cNvPr id="210" name="Text 210"/>
          <p:cNvSpPr txBox="1"/>
          <p:nvPr/>
        </p:nvSpPr>
        <p:spPr>
          <a:xfrm>
            <a:off x="6400800" y="1627632"/>
            <a:ext cx="914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Mês</a:t>
            </a:r>
          </a:p>
        </p:txBody>
      </p:sp>
      <p:sp>
        <p:nvSpPr>
          <p:cNvPr id="211" name="Text 211"/>
          <p:cNvSpPr txBox="1"/>
          <p:nvPr/>
        </p:nvSpPr>
        <p:spPr>
          <a:xfrm>
            <a:off x="7315200" y="1627632"/>
            <a:ext cx="7315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212" name="Text 212"/>
          <p:cNvSpPr txBox="1"/>
          <p:nvPr/>
        </p:nvSpPr>
        <p:spPr>
          <a:xfrm>
            <a:off x="8046720" y="1627632"/>
            <a:ext cx="11430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213" name="Text 213"/>
          <p:cNvSpPr txBox="1"/>
          <p:nvPr/>
        </p:nvSpPr>
        <p:spPr>
          <a:xfrm>
            <a:off x="9189720" y="1627632"/>
            <a:ext cx="13258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214" name="Text 214"/>
          <p:cNvSpPr txBox="1"/>
          <p:nvPr/>
        </p:nvSpPr>
        <p:spPr>
          <a:xfrm>
            <a:off x="10515600" y="1627632"/>
            <a:ext cx="914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215" name="Text 215"/>
          <p:cNvSpPr txBox="1"/>
          <p:nvPr/>
        </p:nvSpPr>
        <p:spPr>
          <a:xfrm>
            <a:off x="6400800" y="1938528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jan/25</a:t>
            </a:r>
          </a:p>
        </p:txBody>
      </p:sp>
      <p:sp>
        <p:nvSpPr>
          <p:cNvPr id="216" name="Text 216"/>
          <p:cNvSpPr txBox="1"/>
          <p:nvPr/>
        </p:nvSpPr>
        <p:spPr>
          <a:xfrm>
            <a:off x="7315200" y="1938528"/>
            <a:ext cx="7315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20</a:t>
            </a:r>
          </a:p>
        </p:txBody>
      </p:sp>
      <p:sp>
        <p:nvSpPr>
          <p:cNvPr id="217" name="Text 217"/>
          <p:cNvSpPr txBox="1"/>
          <p:nvPr/>
        </p:nvSpPr>
        <p:spPr>
          <a:xfrm>
            <a:off x="8046720" y="1938528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10.2 mil m²</a:t>
            </a:r>
          </a:p>
        </p:txBody>
      </p:sp>
      <p:sp>
        <p:nvSpPr>
          <p:cNvPr id="218" name="Text 218"/>
          <p:cNvSpPr txBox="1"/>
          <p:nvPr/>
        </p:nvSpPr>
        <p:spPr>
          <a:xfrm>
            <a:off x="9189720" y="1938528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R$ 14.4 mi</a:t>
            </a:r>
          </a:p>
        </p:txBody>
      </p:sp>
      <p:sp>
        <p:nvSpPr>
          <p:cNvPr id="219" name="Text 219"/>
          <p:cNvSpPr txBox="1"/>
          <p:nvPr/>
        </p:nvSpPr>
        <p:spPr>
          <a:xfrm>
            <a:off x="10515600" y="1938528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R$ 1.417</a:t>
            </a:r>
          </a:p>
        </p:txBody>
      </p:sp>
      <p:sp>
        <p:nvSpPr>
          <p:cNvPr id="220" name="Text 220"/>
          <p:cNvSpPr txBox="1"/>
          <p:nvPr/>
        </p:nvSpPr>
        <p:spPr>
          <a:xfrm>
            <a:off x="6400800" y="2249424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fev/25</a:t>
            </a:r>
          </a:p>
        </p:txBody>
      </p:sp>
      <p:sp>
        <p:nvSpPr>
          <p:cNvPr id="221" name="Text 221"/>
          <p:cNvSpPr txBox="1"/>
          <p:nvPr/>
        </p:nvSpPr>
        <p:spPr>
          <a:xfrm>
            <a:off x="7315200" y="2249424"/>
            <a:ext cx="7315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11</a:t>
            </a:r>
          </a:p>
        </p:txBody>
      </p:sp>
      <p:sp>
        <p:nvSpPr>
          <p:cNvPr id="222" name="Text 222"/>
          <p:cNvSpPr txBox="1"/>
          <p:nvPr/>
        </p:nvSpPr>
        <p:spPr>
          <a:xfrm>
            <a:off x="8046720" y="2249424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6.2 mil m²</a:t>
            </a:r>
          </a:p>
        </p:txBody>
      </p:sp>
      <p:sp>
        <p:nvSpPr>
          <p:cNvPr id="223" name="Text 223"/>
          <p:cNvSpPr txBox="1"/>
          <p:nvPr/>
        </p:nvSpPr>
        <p:spPr>
          <a:xfrm>
            <a:off x="9189720" y="2249424"/>
            <a:ext cx="13258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R$ 4.4 mi</a:t>
            </a:r>
          </a:p>
        </p:txBody>
      </p:sp>
      <p:sp>
        <p:nvSpPr>
          <p:cNvPr id="224" name="Text 224"/>
          <p:cNvSpPr txBox="1"/>
          <p:nvPr/>
        </p:nvSpPr>
        <p:spPr>
          <a:xfrm>
            <a:off x="10515600" y="2249424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R$ 704</a:t>
            </a:r>
          </a:p>
        </p:txBody>
      </p:sp>
      <p:sp>
        <p:nvSpPr>
          <p:cNvPr id="225" name="Text 225"/>
          <p:cNvSpPr txBox="1"/>
          <p:nvPr/>
        </p:nvSpPr>
        <p:spPr>
          <a:xfrm>
            <a:off x="6400800" y="2560320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mar/25</a:t>
            </a:r>
          </a:p>
        </p:txBody>
      </p:sp>
      <p:sp>
        <p:nvSpPr>
          <p:cNvPr id="226" name="Text 226"/>
          <p:cNvSpPr txBox="1"/>
          <p:nvPr/>
        </p:nvSpPr>
        <p:spPr>
          <a:xfrm>
            <a:off x="7315200" y="2560320"/>
            <a:ext cx="7315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9</a:t>
            </a:r>
          </a:p>
        </p:txBody>
      </p:sp>
      <p:sp>
        <p:nvSpPr>
          <p:cNvPr id="227" name="Text 227"/>
          <p:cNvSpPr txBox="1"/>
          <p:nvPr/>
        </p:nvSpPr>
        <p:spPr>
          <a:xfrm>
            <a:off x="8046720" y="2560320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5.5 mil m²</a:t>
            </a:r>
          </a:p>
        </p:txBody>
      </p:sp>
      <p:sp>
        <p:nvSpPr>
          <p:cNvPr id="228" name="Text 228"/>
          <p:cNvSpPr txBox="1"/>
          <p:nvPr/>
        </p:nvSpPr>
        <p:spPr>
          <a:xfrm>
            <a:off x="9189720" y="2560320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R$ 9.7 mi</a:t>
            </a:r>
          </a:p>
        </p:txBody>
      </p:sp>
      <p:sp>
        <p:nvSpPr>
          <p:cNvPr id="229" name="Text 229"/>
          <p:cNvSpPr txBox="1"/>
          <p:nvPr/>
        </p:nvSpPr>
        <p:spPr>
          <a:xfrm>
            <a:off x="10515600" y="2560320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R$ 1.776</a:t>
            </a:r>
          </a:p>
        </p:txBody>
      </p:sp>
      <p:sp>
        <p:nvSpPr>
          <p:cNvPr id="230" name="Text 230"/>
          <p:cNvSpPr txBox="1"/>
          <p:nvPr/>
        </p:nvSpPr>
        <p:spPr>
          <a:xfrm>
            <a:off x="6400800" y="2871216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abr/25</a:t>
            </a:r>
          </a:p>
        </p:txBody>
      </p:sp>
      <p:sp>
        <p:nvSpPr>
          <p:cNvPr id="231" name="Text 231"/>
          <p:cNvSpPr txBox="1"/>
          <p:nvPr/>
        </p:nvSpPr>
        <p:spPr>
          <a:xfrm>
            <a:off x="7315200" y="2871216"/>
            <a:ext cx="7315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</a:t>
            </a:r>
          </a:p>
        </p:txBody>
      </p:sp>
      <p:sp>
        <p:nvSpPr>
          <p:cNvPr id="232" name="Text 232"/>
          <p:cNvSpPr txBox="1"/>
          <p:nvPr/>
        </p:nvSpPr>
        <p:spPr>
          <a:xfrm>
            <a:off x="8046720" y="2871216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11.2 mil m²</a:t>
            </a:r>
          </a:p>
        </p:txBody>
      </p:sp>
      <p:sp>
        <p:nvSpPr>
          <p:cNvPr id="233" name="Text 233"/>
          <p:cNvSpPr txBox="1"/>
          <p:nvPr/>
        </p:nvSpPr>
        <p:spPr>
          <a:xfrm>
            <a:off x="9189720" y="2871216"/>
            <a:ext cx="13258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R$ 16.7 mi</a:t>
            </a:r>
          </a:p>
        </p:txBody>
      </p:sp>
      <p:sp>
        <p:nvSpPr>
          <p:cNvPr id="234" name="Text 234"/>
          <p:cNvSpPr txBox="1"/>
          <p:nvPr/>
        </p:nvSpPr>
        <p:spPr>
          <a:xfrm>
            <a:off x="10515600" y="2871216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R$ 1.487</a:t>
            </a:r>
          </a:p>
        </p:txBody>
      </p:sp>
      <p:sp>
        <p:nvSpPr>
          <p:cNvPr id="235" name="Text 235"/>
          <p:cNvSpPr txBox="1"/>
          <p:nvPr/>
        </p:nvSpPr>
        <p:spPr>
          <a:xfrm>
            <a:off x="6400800" y="3182112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mai/25</a:t>
            </a:r>
          </a:p>
        </p:txBody>
      </p:sp>
      <p:sp>
        <p:nvSpPr>
          <p:cNvPr id="236" name="Text 236"/>
          <p:cNvSpPr txBox="1"/>
          <p:nvPr/>
        </p:nvSpPr>
        <p:spPr>
          <a:xfrm>
            <a:off x="7315200" y="3182112"/>
            <a:ext cx="7315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</a:t>
            </a:r>
          </a:p>
        </p:txBody>
      </p:sp>
      <p:sp>
        <p:nvSpPr>
          <p:cNvPr id="237" name="Text 237"/>
          <p:cNvSpPr txBox="1"/>
          <p:nvPr/>
        </p:nvSpPr>
        <p:spPr>
          <a:xfrm>
            <a:off x="8046720" y="3182112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429 m²</a:t>
            </a:r>
          </a:p>
        </p:txBody>
      </p:sp>
      <p:sp>
        <p:nvSpPr>
          <p:cNvPr id="238" name="Text 238"/>
          <p:cNvSpPr txBox="1"/>
          <p:nvPr/>
        </p:nvSpPr>
        <p:spPr>
          <a:xfrm>
            <a:off x="9189720" y="3182112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R$ 256.0 mil</a:t>
            </a:r>
          </a:p>
        </p:txBody>
      </p:sp>
      <p:sp>
        <p:nvSpPr>
          <p:cNvPr id="239" name="Text 239"/>
          <p:cNvSpPr txBox="1"/>
          <p:nvPr/>
        </p:nvSpPr>
        <p:spPr>
          <a:xfrm>
            <a:off x="10515600" y="3182112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R$ 597</a:t>
            </a:r>
          </a:p>
        </p:txBody>
      </p:sp>
      <p:sp>
        <p:nvSpPr>
          <p:cNvPr id="240" name="Text 240"/>
          <p:cNvSpPr txBox="1"/>
          <p:nvPr/>
        </p:nvSpPr>
        <p:spPr>
          <a:xfrm>
            <a:off x="6400800" y="3493008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jun/25</a:t>
            </a:r>
          </a:p>
        </p:txBody>
      </p:sp>
      <p:sp>
        <p:nvSpPr>
          <p:cNvPr id="241" name="Text 241"/>
          <p:cNvSpPr txBox="1"/>
          <p:nvPr/>
        </p:nvSpPr>
        <p:spPr>
          <a:xfrm>
            <a:off x="7315200" y="3493008"/>
            <a:ext cx="7315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15</a:t>
            </a:r>
          </a:p>
        </p:txBody>
      </p:sp>
      <p:sp>
        <p:nvSpPr>
          <p:cNvPr id="242" name="Text 242"/>
          <p:cNvSpPr txBox="1"/>
          <p:nvPr/>
        </p:nvSpPr>
        <p:spPr>
          <a:xfrm>
            <a:off x="8046720" y="3493008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7.9 mil m²</a:t>
            </a:r>
          </a:p>
        </p:txBody>
      </p:sp>
      <p:sp>
        <p:nvSpPr>
          <p:cNvPr id="243" name="Text 243"/>
          <p:cNvSpPr txBox="1"/>
          <p:nvPr/>
        </p:nvSpPr>
        <p:spPr>
          <a:xfrm>
            <a:off x="9189720" y="3493008"/>
            <a:ext cx="13258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R$ 7.5 mi</a:t>
            </a:r>
          </a:p>
        </p:txBody>
      </p:sp>
      <p:sp>
        <p:nvSpPr>
          <p:cNvPr id="244" name="Text 244"/>
          <p:cNvSpPr txBox="1"/>
          <p:nvPr/>
        </p:nvSpPr>
        <p:spPr>
          <a:xfrm>
            <a:off x="10515600" y="3493008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R$ 955</a:t>
            </a:r>
          </a:p>
        </p:txBody>
      </p:sp>
      <p:sp>
        <p:nvSpPr>
          <p:cNvPr id="245" name="Text 245"/>
          <p:cNvSpPr txBox="1"/>
          <p:nvPr/>
        </p:nvSpPr>
        <p:spPr>
          <a:xfrm>
            <a:off x="6400800" y="3803904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jul/25</a:t>
            </a:r>
          </a:p>
        </p:txBody>
      </p:sp>
      <p:sp>
        <p:nvSpPr>
          <p:cNvPr id="246" name="Text 246"/>
          <p:cNvSpPr txBox="1"/>
          <p:nvPr/>
        </p:nvSpPr>
        <p:spPr>
          <a:xfrm>
            <a:off x="7315200" y="3803904"/>
            <a:ext cx="7315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19</a:t>
            </a:r>
          </a:p>
        </p:txBody>
      </p:sp>
      <p:sp>
        <p:nvSpPr>
          <p:cNvPr id="247" name="Text 247"/>
          <p:cNvSpPr txBox="1"/>
          <p:nvPr/>
        </p:nvSpPr>
        <p:spPr>
          <a:xfrm>
            <a:off x="8046720" y="3803904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16.7 mil m²</a:t>
            </a:r>
          </a:p>
        </p:txBody>
      </p:sp>
      <p:sp>
        <p:nvSpPr>
          <p:cNvPr id="248" name="Text 248"/>
          <p:cNvSpPr txBox="1"/>
          <p:nvPr/>
        </p:nvSpPr>
        <p:spPr>
          <a:xfrm>
            <a:off x="9189720" y="3803904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R$ 21.7 mi</a:t>
            </a:r>
          </a:p>
        </p:txBody>
      </p:sp>
      <p:sp>
        <p:nvSpPr>
          <p:cNvPr id="249" name="Text 249"/>
          <p:cNvSpPr txBox="1"/>
          <p:nvPr/>
        </p:nvSpPr>
        <p:spPr>
          <a:xfrm>
            <a:off x="10515600" y="3803904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R$ 1.303</a:t>
            </a:r>
          </a:p>
        </p:txBody>
      </p:sp>
      <p:sp>
        <p:nvSpPr>
          <p:cNvPr id="250" name="Text 250"/>
          <p:cNvSpPr txBox="1"/>
          <p:nvPr/>
        </p:nvSpPr>
        <p:spPr>
          <a:xfrm>
            <a:off x="6400800" y="4114800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ago/25</a:t>
            </a:r>
          </a:p>
        </p:txBody>
      </p:sp>
      <p:sp>
        <p:nvSpPr>
          <p:cNvPr id="251" name="Text 251"/>
          <p:cNvSpPr txBox="1"/>
          <p:nvPr/>
        </p:nvSpPr>
        <p:spPr>
          <a:xfrm>
            <a:off x="7315200" y="4114800"/>
            <a:ext cx="7315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7</a:t>
            </a:r>
          </a:p>
        </p:txBody>
      </p:sp>
      <p:sp>
        <p:nvSpPr>
          <p:cNvPr id="252" name="Text 252"/>
          <p:cNvSpPr txBox="1"/>
          <p:nvPr/>
        </p:nvSpPr>
        <p:spPr>
          <a:xfrm>
            <a:off x="8046720" y="4114800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7.6 mil m²</a:t>
            </a:r>
          </a:p>
        </p:txBody>
      </p:sp>
      <p:sp>
        <p:nvSpPr>
          <p:cNvPr id="253" name="Text 253"/>
          <p:cNvSpPr txBox="1"/>
          <p:nvPr/>
        </p:nvSpPr>
        <p:spPr>
          <a:xfrm>
            <a:off x="9189720" y="4114800"/>
            <a:ext cx="13258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R$ 4.9 mi</a:t>
            </a:r>
          </a:p>
        </p:txBody>
      </p:sp>
      <p:sp>
        <p:nvSpPr>
          <p:cNvPr id="254" name="Text 254"/>
          <p:cNvSpPr txBox="1"/>
          <p:nvPr/>
        </p:nvSpPr>
        <p:spPr>
          <a:xfrm>
            <a:off x="10515600" y="4114800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R$ 641</a:t>
            </a:r>
          </a:p>
        </p:txBody>
      </p:sp>
      <p:sp>
        <p:nvSpPr>
          <p:cNvPr id="255" name="Text 255"/>
          <p:cNvSpPr txBox="1"/>
          <p:nvPr/>
        </p:nvSpPr>
        <p:spPr>
          <a:xfrm>
            <a:off x="6400800" y="4425696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set/25</a:t>
            </a:r>
          </a:p>
        </p:txBody>
      </p:sp>
      <p:sp>
        <p:nvSpPr>
          <p:cNvPr id="256" name="Text 256"/>
          <p:cNvSpPr txBox="1"/>
          <p:nvPr/>
        </p:nvSpPr>
        <p:spPr>
          <a:xfrm>
            <a:off x="7315200" y="4425696"/>
            <a:ext cx="7315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12</a:t>
            </a:r>
          </a:p>
        </p:txBody>
      </p:sp>
      <p:sp>
        <p:nvSpPr>
          <p:cNvPr id="257" name="Text 257"/>
          <p:cNvSpPr txBox="1"/>
          <p:nvPr/>
        </p:nvSpPr>
        <p:spPr>
          <a:xfrm>
            <a:off x="8046720" y="4425696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10.0 mil m²</a:t>
            </a:r>
          </a:p>
        </p:txBody>
      </p:sp>
      <p:sp>
        <p:nvSpPr>
          <p:cNvPr id="258" name="Text 258"/>
          <p:cNvSpPr txBox="1"/>
          <p:nvPr/>
        </p:nvSpPr>
        <p:spPr>
          <a:xfrm>
            <a:off x="9189720" y="4425696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R$ 10.8 mi</a:t>
            </a:r>
          </a:p>
        </p:txBody>
      </p:sp>
      <p:sp>
        <p:nvSpPr>
          <p:cNvPr id="259" name="Text 259"/>
          <p:cNvSpPr txBox="1"/>
          <p:nvPr/>
        </p:nvSpPr>
        <p:spPr>
          <a:xfrm>
            <a:off x="10515600" y="4425696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R$ 1.078</a:t>
            </a:r>
          </a:p>
        </p:txBody>
      </p:sp>
      <p:sp>
        <p:nvSpPr>
          <p:cNvPr id="260" name="Text 260"/>
          <p:cNvSpPr txBox="1"/>
          <p:nvPr/>
        </p:nvSpPr>
        <p:spPr>
          <a:xfrm>
            <a:off x="6400800" y="4736592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out/25</a:t>
            </a:r>
          </a:p>
        </p:txBody>
      </p:sp>
      <p:sp>
        <p:nvSpPr>
          <p:cNvPr id="261" name="Text 261"/>
          <p:cNvSpPr txBox="1"/>
          <p:nvPr/>
        </p:nvSpPr>
        <p:spPr>
          <a:xfrm>
            <a:off x="7315200" y="4736592"/>
            <a:ext cx="7315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10</a:t>
            </a:r>
          </a:p>
        </p:txBody>
      </p:sp>
      <p:sp>
        <p:nvSpPr>
          <p:cNvPr id="262" name="Text 262"/>
          <p:cNvSpPr txBox="1"/>
          <p:nvPr/>
        </p:nvSpPr>
        <p:spPr>
          <a:xfrm>
            <a:off x="8046720" y="4736592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5.9 mil m²</a:t>
            </a:r>
          </a:p>
        </p:txBody>
      </p:sp>
      <p:sp>
        <p:nvSpPr>
          <p:cNvPr id="263" name="Text 263"/>
          <p:cNvSpPr txBox="1"/>
          <p:nvPr/>
        </p:nvSpPr>
        <p:spPr>
          <a:xfrm>
            <a:off x="9189720" y="4736592"/>
            <a:ext cx="13258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R$ 12.9 mi</a:t>
            </a:r>
          </a:p>
        </p:txBody>
      </p:sp>
      <p:sp>
        <p:nvSpPr>
          <p:cNvPr id="264" name="Text 264"/>
          <p:cNvSpPr txBox="1"/>
          <p:nvPr/>
        </p:nvSpPr>
        <p:spPr>
          <a:xfrm>
            <a:off x="10515600" y="4736592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R$ 2.203</a:t>
            </a:r>
          </a:p>
        </p:txBody>
      </p:sp>
      <p:sp>
        <p:nvSpPr>
          <p:cNvPr id="265" name="Text 265"/>
          <p:cNvSpPr txBox="1"/>
          <p:nvPr/>
        </p:nvSpPr>
        <p:spPr>
          <a:xfrm>
            <a:off x="6400800" y="5047488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nov/25</a:t>
            </a:r>
          </a:p>
        </p:txBody>
      </p:sp>
      <p:sp>
        <p:nvSpPr>
          <p:cNvPr id="266" name="Text 266"/>
          <p:cNvSpPr txBox="1"/>
          <p:nvPr/>
        </p:nvSpPr>
        <p:spPr>
          <a:xfrm>
            <a:off x="7315200" y="5047488"/>
            <a:ext cx="7315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22</a:t>
            </a:r>
          </a:p>
        </p:txBody>
      </p:sp>
      <p:sp>
        <p:nvSpPr>
          <p:cNvPr id="267" name="Text 267"/>
          <p:cNvSpPr txBox="1"/>
          <p:nvPr/>
        </p:nvSpPr>
        <p:spPr>
          <a:xfrm>
            <a:off x="8046720" y="5047488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21.2 mil m²</a:t>
            </a:r>
          </a:p>
        </p:txBody>
      </p:sp>
      <p:sp>
        <p:nvSpPr>
          <p:cNvPr id="268" name="Text 268"/>
          <p:cNvSpPr txBox="1"/>
          <p:nvPr/>
        </p:nvSpPr>
        <p:spPr>
          <a:xfrm>
            <a:off x="9189720" y="5047488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R$ 36.4 mi</a:t>
            </a:r>
          </a:p>
        </p:txBody>
      </p:sp>
      <p:sp>
        <p:nvSpPr>
          <p:cNvPr id="269" name="Text 269"/>
          <p:cNvSpPr txBox="1"/>
          <p:nvPr/>
        </p:nvSpPr>
        <p:spPr>
          <a:xfrm>
            <a:off x="10515600" y="5047488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R$ 1.716</a:t>
            </a:r>
          </a:p>
        </p:txBody>
      </p:sp>
      <p:sp>
        <p:nvSpPr>
          <p:cNvPr id="270" name="Text 270"/>
          <p:cNvSpPr txBox="1"/>
          <p:nvPr/>
        </p:nvSpPr>
        <p:spPr>
          <a:xfrm>
            <a:off x="6400800" y="5358384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dez/25</a:t>
            </a:r>
          </a:p>
        </p:txBody>
      </p:sp>
      <p:sp>
        <p:nvSpPr>
          <p:cNvPr id="271" name="Text 271"/>
          <p:cNvSpPr txBox="1"/>
          <p:nvPr/>
        </p:nvSpPr>
        <p:spPr>
          <a:xfrm>
            <a:off x="7315200" y="5358384"/>
            <a:ext cx="7315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35</a:t>
            </a:r>
          </a:p>
        </p:txBody>
      </p:sp>
      <p:sp>
        <p:nvSpPr>
          <p:cNvPr id="272" name="Text 272"/>
          <p:cNvSpPr txBox="1"/>
          <p:nvPr/>
        </p:nvSpPr>
        <p:spPr>
          <a:xfrm>
            <a:off x="8046720" y="5358384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19.2 mil m²</a:t>
            </a:r>
          </a:p>
        </p:txBody>
      </p:sp>
      <p:sp>
        <p:nvSpPr>
          <p:cNvPr id="273" name="Text 273"/>
          <p:cNvSpPr txBox="1"/>
          <p:nvPr/>
        </p:nvSpPr>
        <p:spPr>
          <a:xfrm>
            <a:off x="9189720" y="5358384"/>
            <a:ext cx="13258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R$ 28.5 mi</a:t>
            </a:r>
          </a:p>
        </p:txBody>
      </p:sp>
      <p:sp>
        <p:nvSpPr>
          <p:cNvPr id="274" name="Text 274"/>
          <p:cNvSpPr txBox="1"/>
          <p:nvPr/>
        </p:nvSpPr>
        <p:spPr>
          <a:xfrm>
            <a:off x="10515600" y="5358384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R$ 1.483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Tipologia de Obras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4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566928" y="749808"/>
            <a:ext cx="704088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200" b="1">
                <a:solidFill>
                  <a:srgbClr val="15253F"/>
                </a:solidFill>
              </a:rPr>
              <a:t>Tipologia de Obras | valor, área e R$/m²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7818120" y="804672"/>
            <a:ext cx="361188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1100">
                <a:solidFill>
                  <a:srgbClr val="64748B"/>
                </a:solidFill>
              </a:rPr>
              <a:t>Coluna U | eixo principal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658368" y="1234440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>
                <a:solidFill>
                  <a:srgbClr val="253F8E"/>
                </a:solidFill>
              </a:rPr>
              <a:t>Valor negociado por grupo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658368" y="1627632"/>
            <a:ext cx="183428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Clínicas Ambulatoriais, Laboratórios e Coletas</a:t>
            </a:r>
          </a:p>
        </p:txBody>
      </p:sp>
      <p:sp>
        <p:nvSpPr>
          <p:cNvPr id="134" name="Rect 134"/>
          <p:cNvSpPr/>
          <p:nvPr/>
        </p:nvSpPr>
        <p:spPr>
          <a:xfrm>
            <a:off x="2584094" y="1700784"/>
            <a:ext cx="2050085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5" name="Text 135"/>
          <p:cNvSpPr txBox="1"/>
          <p:nvPr/>
        </p:nvSpPr>
        <p:spPr>
          <a:xfrm>
            <a:off x="4762195" y="1627632"/>
            <a:ext cx="1291133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R$ 99.7 mi | 90 obras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658368" y="2011680"/>
            <a:ext cx="183428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Pronto Atendimentos e Clínicas Complexas</a:t>
            </a:r>
          </a:p>
        </p:txBody>
      </p:sp>
      <p:sp>
        <p:nvSpPr>
          <p:cNvPr id="137" name="Rect 137"/>
          <p:cNvSpPr/>
          <p:nvPr/>
        </p:nvSpPr>
        <p:spPr>
          <a:xfrm>
            <a:off x="2584094" y="2084832"/>
            <a:ext cx="1196261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8" name="Text 138"/>
          <p:cNvSpPr txBox="1"/>
          <p:nvPr/>
        </p:nvSpPr>
        <p:spPr>
          <a:xfrm>
            <a:off x="4762195" y="2011680"/>
            <a:ext cx="1291133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R$ 58.2 mi | 11 obras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658368" y="2395728"/>
            <a:ext cx="183428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Hospitais</a:t>
            </a:r>
          </a:p>
        </p:txBody>
      </p:sp>
      <p:sp>
        <p:nvSpPr>
          <p:cNvPr id="140" name="Rect 140"/>
          <p:cNvSpPr/>
          <p:nvPr/>
        </p:nvSpPr>
        <p:spPr>
          <a:xfrm>
            <a:off x="2584094" y="2468880"/>
            <a:ext cx="1169912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1" name="Text 141"/>
          <p:cNvSpPr txBox="1"/>
          <p:nvPr/>
        </p:nvSpPr>
        <p:spPr>
          <a:xfrm>
            <a:off x="4762195" y="2395728"/>
            <a:ext cx="1291133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R$ 56.9 mi | 25 obras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658368" y="2779776"/>
            <a:ext cx="183428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Obra regulatória com baixa intervenção</a:t>
            </a:r>
          </a:p>
        </p:txBody>
      </p:sp>
      <p:sp>
        <p:nvSpPr>
          <p:cNvPr id="143" name="Rect 143"/>
          <p:cNvSpPr/>
          <p:nvPr/>
        </p:nvSpPr>
        <p:spPr>
          <a:xfrm>
            <a:off x="2584094" y="2852928"/>
            <a:ext cx="536138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4" name="Text 144"/>
          <p:cNvSpPr txBox="1"/>
          <p:nvPr/>
        </p:nvSpPr>
        <p:spPr>
          <a:xfrm>
            <a:off x="4762195" y="2779776"/>
            <a:ext cx="1291133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R$ 26.1 mi | 87 obras</a:t>
            </a:r>
          </a:p>
        </p:txBody>
      </p:sp>
      <p:sp>
        <p:nvSpPr>
          <p:cNvPr id="145" name="Text 145"/>
          <p:cNvSpPr txBox="1"/>
          <p:nvPr/>
        </p:nvSpPr>
        <p:spPr>
          <a:xfrm>
            <a:off x="658368" y="3163824"/>
            <a:ext cx="183428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Obra regulatória com alta intervenção</a:t>
            </a:r>
          </a:p>
        </p:txBody>
      </p:sp>
      <p:sp>
        <p:nvSpPr>
          <p:cNvPr id="146" name="Rect 146"/>
          <p:cNvSpPr/>
          <p:nvPr/>
        </p:nvSpPr>
        <p:spPr>
          <a:xfrm>
            <a:off x="2584094" y="3236976"/>
            <a:ext cx="472145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7" name="Text 147"/>
          <p:cNvSpPr txBox="1"/>
          <p:nvPr/>
        </p:nvSpPr>
        <p:spPr>
          <a:xfrm>
            <a:off x="4762195" y="3163824"/>
            <a:ext cx="1291133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R$ 23.0 mi | 17 obras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658368" y="3547872"/>
            <a:ext cx="183428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Obra regulatória com média intervenção</a:t>
            </a:r>
          </a:p>
        </p:txBody>
      </p:sp>
      <p:sp>
        <p:nvSpPr>
          <p:cNvPr id="149" name="Rect 149"/>
          <p:cNvSpPr/>
          <p:nvPr/>
        </p:nvSpPr>
        <p:spPr>
          <a:xfrm>
            <a:off x="2584094" y="3621024"/>
            <a:ext cx="373250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50" name="Text 150"/>
          <p:cNvSpPr txBox="1"/>
          <p:nvPr/>
        </p:nvSpPr>
        <p:spPr>
          <a:xfrm>
            <a:off x="4762195" y="3547872"/>
            <a:ext cx="1291133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R$ 18.2 mi | 22 obras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658368" y="3931920"/>
            <a:ext cx="183428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Adm e Outros</a:t>
            </a:r>
          </a:p>
        </p:txBody>
      </p:sp>
      <p:sp>
        <p:nvSpPr>
          <p:cNvPr id="152" name="Rect 152"/>
          <p:cNvSpPr/>
          <p:nvPr/>
        </p:nvSpPr>
        <p:spPr>
          <a:xfrm>
            <a:off x="2584094" y="4005072"/>
            <a:ext cx="73152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53" name="Text 153"/>
          <p:cNvSpPr txBox="1"/>
          <p:nvPr/>
        </p:nvSpPr>
        <p:spPr>
          <a:xfrm>
            <a:off x="4762195" y="3931920"/>
            <a:ext cx="1291133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R$ 2.2 mi | 4 obras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31C412B5-4B29-AC84-2B4C-1CFAECC71A92}"/>
              </a:ext>
            </a:extLst>
          </p:cNvPr>
          <p:cNvGrpSpPr/>
          <p:nvPr/>
        </p:nvGrpSpPr>
        <p:grpSpPr>
          <a:xfrm>
            <a:off x="6519672" y="1536191"/>
            <a:ext cx="5264978" cy="3223815"/>
            <a:chOff x="7973568" y="1353312"/>
            <a:chExt cx="4416552" cy="2487168"/>
          </a:xfrm>
        </p:grpSpPr>
        <p:sp>
          <p:nvSpPr>
            <p:cNvPr id="2" name="Text 150"/>
            <p:cNvSpPr txBox="1"/>
            <p:nvPr/>
          </p:nvSpPr>
          <p:spPr>
            <a:xfrm>
              <a:off x="7973568" y="1353312"/>
              <a:ext cx="1783080" cy="3108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Grupo</a:t>
              </a:r>
            </a:p>
          </p:txBody>
        </p:sp>
        <p:sp>
          <p:nvSpPr>
            <p:cNvPr id="3" name="Text 151"/>
            <p:cNvSpPr txBox="1"/>
            <p:nvPr/>
          </p:nvSpPr>
          <p:spPr>
            <a:xfrm>
              <a:off x="9756648" y="1353312"/>
              <a:ext cx="640080" cy="3108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Obras</a:t>
              </a:r>
            </a:p>
          </p:txBody>
        </p:sp>
        <p:sp>
          <p:nvSpPr>
            <p:cNvPr id="4" name="Text 152"/>
            <p:cNvSpPr txBox="1"/>
            <p:nvPr/>
          </p:nvSpPr>
          <p:spPr>
            <a:xfrm>
              <a:off x="10396728" y="1353312"/>
              <a:ext cx="914400" cy="3108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m²</a:t>
              </a:r>
            </a:p>
          </p:txBody>
        </p:sp>
        <p:sp>
          <p:nvSpPr>
            <p:cNvPr id="5" name="Text 153"/>
            <p:cNvSpPr txBox="1"/>
            <p:nvPr/>
          </p:nvSpPr>
          <p:spPr>
            <a:xfrm>
              <a:off x="11311128" y="1353312"/>
              <a:ext cx="1078992" cy="3108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R$/m²</a:t>
              </a:r>
            </a:p>
          </p:txBody>
        </p:sp>
        <p:sp>
          <p:nvSpPr>
            <p:cNvPr id="154" name="Text 154"/>
            <p:cNvSpPr txBox="1"/>
            <p:nvPr/>
          </p:nvSpPr>
          <p:spPr>
            <a:xfrm>
              <a:off x="7973568" y="1664208"/>
              <a:ext cx="178308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Obra regulatória com baixa intervenção</a:t>
              </a:r>
            </a:p>
          </p:txBody>
        </p:sp>
        <p:sp>
          <p:nvSpPr>
            <p:cNvPr id="155" name="Text 155"/>
            <p:cNvSpPr txBox="1"/>
            <p:nvPr/>
          </p:nvSpPr>
          <p:spPr>
            <a:xfrm>
              <a:off x="9756648" y="1664208"/>
              <a:ext cx="64008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87</a:t>
              </a:r>
            </a:p>
          </p:txBody>
        </p:sp>
        <p:sp>
          <p:nvSpPr>
            <p:cNvPr id="156" name="Text 156"/>
            <p:cNvSpPr txBox="1"/>
            <p:nvPr/>
          </p:nvSpPr>
          <p:spPr>
            <a:xfrm>
              <a:off x="10396728" y="1664208"/>
              <a:ext cx="91440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69.9 mil m²</a:t>
              </a:r>
            </a:p>
          </p:txBody>
        </p:sp>
        <p:sp>
          <p:nvSpPr>
            <p:cNvPr id="157" name="Text 157"/>
            <p:cNvSpPr txBox="1"/>
            <p:nvPr/>
          </p:nvSpPr>
          <p:spPr>
            <a:xfrm>
              <a:off x="11311128" y="1664208"/>
              <a:ext cx="1078992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R$ 373</a:t>
              </a:r>
            </a:p>
          </p:txBody>
        </p:sp>
        <p:sp>
          <p:nvSpPr>
            <p:cNvPr id="158" name="Text 158"/>
            <p:cNvSpPr txBox="1"/>
            <p:nvPr/>
          </p:nvSpPr>
          <p:spPr>
            <a:xfrm>
              <a:off x="7973568" y="1975104"/>
              <a:ext cx="178308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Clínicas Ambulatoriais, Laboratórios e Coletas</a:t>
              </a:r>
            </a:p>
          </p:txBody>
        </p:sp>
        <p:sp>
          <p:nvSpPr>
            <p:cNvPr id="159" name="Text 159"/>
            <p:cNvSpPr txBox="1"/>
            <p:nvPr/>
          </p:nvSpPr>
          <p:spPr>
            <a:xfrm>
              <a:off x="9756648" y="1975104"/>
              <a:ext cx="64008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90</a:t>
              </a:r>
            </a:p>
          </p:txBody>
        </p:sp>
        <p:sp>
          <p:nvSpPr>
            <p:cNvPr id="160" name="Text 160"/>
            <p:cNvSpPr txBox="1"/>
            <p:nvPr/>
          </p:nvSpPr>
          <p:spPr>
            <a:xfrm>
              <a:off x="10396728" y="1975104"/>
              <a:ext cx="91440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53.5 mil m²</a:t>
              </a:r>
            </a:p>
          </p:txBody>
        </p:sp>
        <p:sp>
          <p:nvSpPr>
            <p:cNvPr id="161" name="Text 161"/>
            <p:cNvSpPr txBox="1"/>
            <p:nvPr/>
          </p:nvSpPr>
          <p:spPr>
            <a:xfrm>
              <a:off x="11311128" y="1975104"/>
              <a:ext cx="1078992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R$ 1.865</a:t>
              </a:r>
            </a:p>
          </p:txBody>
        </p:sp>
        <p:sp>
          <p:nvSpPr>
            <p:cNvPr id="162" name="Text 162"/>
            <p:cNvSpPr txBox="1"/>
            <p:nvPr/>
          </p:nvSpPr>
          <p:spPr>
            <a:xfrm>
              <a:off x="7973568" y="2286000"/>
              <a:ext cx="178308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Hospitais</a:t>
              </a:r>
            </a:p>
          </p:txBody>
        </p:sp>
        <p:sp>
          <p:nvSpPr>
            <p:cNvPr id="163" name="Text 163"/>
            <p:cNvSpPr txBox="1"/>
            <p:nvPr/>
          </p:nvSpPr>
          <p:spPr>
            <a:xfrm>
              <a:off x="9756648" y="2286000"/>
              <a:ext cx="64008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25</a:t>
              </a:r>
            </a:p>
          </p:txBody>
        </p:sp>
        <p:sp>
          <p:nvSpPr>
            <p:cNvPr id="164" name="Text 164"/>
            <p:cNvSpPr txBox="1"/>
            <p:nvPr/>
          </p:nvSpPr>
          <p:spPr>
            <a:xfrm>
              <a:off x="10396728" y="2286000"/>
              <a:ext cx="91440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34.6 mil m²</a:t>
              </a:r>
            </a:p>
          </p:txBody>
        </p:sp>
        <p:sp>
          <p:nvSpPr>
            <p:cNvPr id="165" name="Text 165"/>
            <p:cNvSpPr txBox="1"/>
            <p:nvPr/>
          </p:nvSpPr>
          <p:spPr>
            <a:xfrm>
              <a:off x="11311128" y="2286000"/>
              <a:ext cx="1078992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R$ 1.645</a:t>
              </a:r>
            </a:p>
          </p:txBody>
        </p:sp>
        <p:sp>
          <p:nvSpPr>
            <p:cNvPr id="166" name="Text 166"/>
            <p:cNvSpPr txBox="1"/>
            <p:nvPr/>
          </p:nvSpPr>
          <p:spPr>
            <a:xfrm>
              <a:off x="7973568" y="2596896"/>
              <a:ext cx="178308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Pronto Atendimentos e Clínicas Complexas</a:t>
              </a:r>
            </a:p>
          </p:txBody>
        </p:sp>
        <p:sp>
          <p:nvSpPr>
            <p:cNvPr id="167" name="Text 167"/>
            <p:cNvSpPr txBox="1"/>
            <p:nvPr/>
          </p:nvSpPr>
          <p:spPr>
            <a:xfrm>
              <a:off x="9756648" y="2596896"/>
              <a:ext cx="64008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11</a:t>
              </a:r>
            </a:p>
          </p:txBody>
        </p:sp>
        <p:sp>
          <p:nvSpPr>
            <p:cNvPr id="168" name="Text 168"/>
            <p:cNvSpPr txBox="1"/>
            <p:nvPr/>
          </p:nvSpPr>
          <p:spPr>
            <a:xfrm>
              <a:off x="10396728" y="2596896"/>
              <a:ext cx="91440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25.7 mil m²</a:t>
              </a:r>
            </a:p>
          </p:txBody>
        </p:sp>
        <p:sp>
          <p:nvSpPr>
            <p:cNvPr id="169" name="Text 169"/>
            <p:cNvSpPr txBox="1"/>
            <p:nvPr/>
          </p:nvSpPr>
          <p:spPr>
            <a:xfrm>
              <a:off x="11311128" y="2596896"/>
              <a:ext cx="1078992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R$ 2.262</a:t>
              </a:r>
            </a:p>
          </p:txBody>
        </p:sp>
        <p:sp>
          <p:nvSpPr>
            <p:cNvPr id="170" name="Text 170"/>
            <p:cNvSpPr txBox="1"/>
            <p:nvPr/>
          </p:nvSpPr>
          <p:spPr>
            <a:xfrm>
              <a:off x="7973568" y="2907792"/>
              <a:ext cx="178308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Obra regulatória com alta intervenção</a:t>
              </a:r>
            </a:p>
          </p:txBody>
        </p:sp>
        <p:sp>
          <p:nvSpPr>
            <p:cNvPr id="171" name="Text 171"/>
            <p:cNvSpPr txBox="1"/>
            <p:nvPr/>
          </p:nvSpPr>
          <p:spPr>
            <a:xfrm>
              <a:off x="9756648" y="2907792"/>
              <a:ext cx="64008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17</a:t>
              </a:r>
            </a:p>
          </p:txBody>
        </p:sp>
        <p:sp>
          <p:nvSpPr>
            <p:cNvPr id="172" name="Text 172"/>
            <p:cNvSpPr txBox="1"/>
            <p:nvPr/>
          </p:nvSpPr>
          <p:spPr>
            <a:xfrm>
              <a:off x="10396728" y="2907792"/>
              <a:ext cx="91440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18.3 mil m²</a:t>
              </a:r>
            </a:p>
          </p:txBody>
        </p:sp>
        <p:sp>
          <p:nvSpPr>
            <p:cNvPr id="173" name="Text 173"/>
            <p:cNvSpPr txBox="1"/>
            <p:nvPr/>
          </p:nvSpPr>
          <p:spPr>
            <a:xfrm>
              <a:off x="11311128" y="2907792"/>
              <a:ext cx="1078992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R$ 1.254</a:t>
              </a:r>
            </a:p>
          </p:txBody>
        </p:sp>
        <p:sp>
          <p:nvSpPr>
            <p:cNvPr id="174" name="Text 174"/>
            <p:cNvSpPr txBox="1"/>
            <p:nvPr/>
          </p:nvSpPr>
          <p:spPr>
            <a:xfrm>
              <a:off x="7973568" y="3218688"/>
              <a:ext cx="178308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Obra regulatória com média intervenção</a:t>
              </a:r>
            </a:p>
          </p:txBody>
        </p:sp>
        <p:sp>
          <p:nvSpPr>
            <p:cNvPr id="175" name="Text 175"/>
            <p:cNvSpPr txBox="1"/>
            <p:nvPr/>
          </p:nvSpPr>
          <p:spPr>
            <a:xfrm>
              <a:off x="9756648" y="3218688"/>
              <a:ext cx="64008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22</a:t>
              </a:r>
            </a:p>
          </p:txBody>
        </p:sp>
        <p:sp>
          <p:nvSpPr>
            <p:cNvPr id="176" name="Text 176"/>
            <p:cNvSpPr txBox="1"/>
            <p:nvPr/>
          </p:nvSpPr>
          <p:spPr>
            <a:xfrm>
              <a:off x="10396728" y="3218688"/>
              <a:ext cx="91440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10.3 mil m²</a:t>
              </a:r>
            </a:p>
          </p:txBody>
        </p:sp>
        <p:sp>
          <p:nvSpPr>
            <p:cNvPr id="177" name="Text 177"/>
            <p:cNvSpPr txBox="1"/>
            <p:nvPr/>
          </p:nvSpPr>
          <p:spPr>
            <a:xfrm>
              <a:off x="11311128" y="3218688"/>
              <a:ext cx="1078992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R$ 1.763</a:t>
              </a:r>
            </a:p>
          </p:txBody>
        </p:sp>
        <p:sp>
          <p:nvSpPr>
            <p:cNvPr id="178" name="Text 178"/>
            <p:cNvSpPr txBox="1"/>
            <p:nvPr/>
          </p:nvSpPr>
          <p:spPr>
            <a:xfrm>
              <a:off x="7973568" y="3529584"/>
              <a:ext cx="178308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Adm e Outros</a:t>
              </a:r>
            </a:p>
          </p:txBody>
        </p:sp>
        <p:sp>
          <p:nvSpPr>
            <p:cNvPr id="179" name="Text 179"/>
            <p:cNvSpPr txBox="1"/>
            <p:nvPr/>
          </p:nvSpPr>
          <p:spPr>
            <a:xfrm>
              <a:off x="9756648" y="3529584"/>
              <a:ext cx="64008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4</a:t>
              </a:r>
            </a:p>
          </p:txBody>
        </p:sp>
        <p:sp>
          <p:nvSpPr>
            <p:cNvPr id="180" name="Text 180"/>
            <p:cNvSpPr txBox="1"/>
            <p:nvPr/>
          </p:nvSpPr>
          <p:spPr>
            <a:xfrm>
              <a:off x="10396728" y="3529584"/>
              <a:ext cx="91440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1.2 mil m²</a:t>
              </a:r>
            </a:p>
          </p:txBody>
        </p:sp>
        <p:sp>
          <p:nvSpPr>
            <p:cNvPr id="181" name="Text 181"/>
            <p:cNvSpPr txBox="1"/>
            <p:nvPr/>
          </p:nvSpPr>
          <p:spPr>
            <a:xfrm>
              <a:off x="11311128" y="3529584"/>
              <a:ext cx="1078992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R$ 1.878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Classificação de Obra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5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566928" y="749808"/>
            <a:ext cx="704088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200" b="1">
                <a:solidFill>
                  <a:srgbClr val="15253F"/>
                </a:solidFill>
              </a:rPr>
              <a:t>Classificação de Obra | valor, área e R$/m²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7818120" y="804672"/>
            <a:ext cx="361188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1100">
                <a:solidFill>
                  <a:srgbClr val="64748B"/>
                </a:solidFill>
              </a:rPr>
              <a:t>Coluna N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658368" y="1234440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>
                <a:solidFill>
                  <a:srgbClr val="253F8E"/>
                </a:solidFill>
              </a:rPr>
              <a:t>Valor negociado por grupo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658368" y="1627632"/>
            <a:ext cx="183428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Suficiência de Rede</a:t>
            </a:r>
          </a:p>
        </p:txBody>
      </p:sp>
      <p:sp>
        <p:nvSpPr>
          <p:cNvPr id="134" name="Rect 134"/>
          <p:cNvSpPr/>
          <p:nvPr/>
        </p:nvSpPr>
        <p:spPr>
          <a:xfrm>
            <a:off x="2584094" y="1700784"/>
            <a:ext cx="2050085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5" name="Text 135"/>
          <p:cNvSpPr txBox="1"/>
          <p:nvPr/>
        </p:nvSpPr>
        <p:spPr>
          <a:xfrm>
            <a:off x="4762195" y="1627632"/>
            <a:ext cx="1291133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R$ 86.1 mi | 31 obras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658368" y="2011680"/>
            <a:ext cx="183428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Adequação Regulatória</a:t>
            </a:r>
          </a:p>
        </p:txBody>
      </p:sp>
      <p:sp>
        <p:nvSpPr>
          <p:cNvPr id="137" name="Rect 137"/>
          <p:cNvSpPr/>
          <p:nvPr/>
        </p:nvSpPr>
        <p:spPr>
          <a:xfrm>
            <a:off x="2584094" y="2084832"/>
            <a:ext cx="1643893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8" name="Text 138"/>
          <p:cNvSpPr txBox="1"/>
          <p:nvPr/>
        </p:nvSpPr>
        <p:spPr>
          <a:xfrm>
            <a:off x="4762195" y="2011680"/>
            <a:ext cx="1291133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R$ 69.0 mi | 125 obras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658368" y="2395728"/>
            <a:ext cx="183428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Verticalização</a:t>
            </a:r>
          </a:p>
        </p:txBody>
      </p:sp>
      <p:sp>
        <p:nvSpPr>
          <p:cNvPr id="140" name="Rect 140"/>
          <p:cNvSpPr/>
          <p:nvPr/>
        </p:nvSpPr>
        <p:spPr>
          <a:xfrm>
            <a:off x="2584094" y="2468880"/>
            <a:ext cx="1540708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1" name="Text 141"/>
          <p:cNvSpPr txBox="1"/>
          <p:nvPr/>
        </p:nvSpPr>
        <p:spPr>
          <a:xfrm>
            <a:off x="4762195" y="2395728"/>
            <a:ext cx="1291133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R$ 64.7 mi | 33 obras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658368" y="2779776"/>
            <a:ext cx="183428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Eficiência Operacional</a:t>
            </a:r>
          </a:p>
        </p:txBody>
      </p:sp>
      <p:sp>
        <p:nvSpPr>
          <p:cNvPr id="143" name="Rect 143"/>
          <p:cNvSpPr/>
          <p:nvPr/>
        </p:nvSpPr>
        <p:spPr>
          <a:xfrm>
            <a:off x="2584094" y="2852928"/>
            <a:ext cx="889478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4" name="Text 144"/>
          <p:cNvSpPr txBox="1"/>
          <p:nvPr/>
        </p:nvSpPr>
        <p:spPr>
          <a:xfrm>
            <a:off x="4762195" y="2779776"/>
            <a:ext cx="1291133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R$ 37.3 mi | 39 obras</a:t>
            </a:r>
          </a:p>
        </p:txBody>
      </p:sp>
      <p:sp>
        <p:nvSpPr>
          <p:cNvPr id="145" name="Text 145"/>
          <p:cNvSpPr txBox="1"/>
          <p:nvPr/>
        </p:nvSpPr>
        <p:spPr>
          <a:xfrm>
            <a:off x="658368" y="3163824"/>
            <a:ext cx="183428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Obra Estratégica</a:t>
            </a:r>
          </a:p>
        </p:txBody>
      </p:sp>
      <p:sp>
        <p:nvSpPr>
          <p:cNvPr id="146" name="Rect 146"/>
          <p:cNvSpPr/>
          <p:nvPr/>
        </p:nvSpPr>
        <p:spPr>
          <a:xfrm>
            <a:off x="2584094" y="3236976"/>
            <a:ext cx="368045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7" name="Text 147"/>
          <p:cNvSpPr txBox="1"/>
          <p:nvPr/>
        </p:nvSpPr>
        <p:spPr>
          <a:xfrm>
            <a:off x="4762195" y="3163824"/>
            <a:ext cx="1291133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R$ 15.4 mi | 9 obras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658368" y="3547872"/>
            <a:ext cx="183428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Obra emergencial</a:t>
            </a:r>
          </a:p>
        </p:txBody>
      </p:sp>
      <p:sp>
        <p:nvSpPr>
          <p:cNvPr id="149" name="Rect 149"/>
          <p:cNvSpPr/>
          <p:nvPr/>
        </p:nvSpPr>
        <p:spPr>
          <a:xfrm>
            <a:off x="2584094" y="3621024"/>
            <a:ext cx="162217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50" name="Text 150"/>
          <p:cNvSpPr txBox="1"/>
          <p:nvPr/>
        </p:nvSpPr>
        <p:spPr>
          <a:xfrm>
            <a:off x="4762195" y="3547872"/>
            <a:ext cx="1291133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R$ 6.8 mi | 8 obras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658368" y="3931920"/>
            <a:ext cx="183428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Padronização de Unidade</a:t>
            </a:r>
          </a:p>
        </p:txBody>
      </p:sp>
      <p:sp>
        <p:nvSpPr>
          <p:cNvPr id="152" name="Rect 152"/>
          <p:cNvSpPr/>
          <p:nvPr/>
        </p:nvSpPr>
        <p:spPr>
          <a:xfrm>
            <a:off x="2584094" y="4005072"/>
            <a:ext cx="73152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53" name="Text 153"/>
          <p:cNvSpPr txBox="1"/>
          <p:nvPr/>
        </p:nvSpPr>
        <p:spPr>
          <a:xfrm>
            <a:off x="4762195" y="3931920"/>
            <a:ext cx="1291133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R$ 1.8 mi | 4 obras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658368" y="4315968"/>
            <a:ext cx="183428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Fachada</a:t>
            </a:r>
          </a:p>
        </p:txBody>
      </p:sp>
      <p:sp>
        <p:nvSpPr>
          <p:cNvPr id="155" name="Rect 155"/>
          <p:cNvSpPr/>
          <p:nvPr/>
        </p:nvSpPr>
        <p:spPr>
          <a:xfrm>
            <a:off x="2584094" y="4389120"/>
            <a:ext cx="73152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56" name="Text 156"/>
          <p:cNvSpPr txBox="1"/>
          <p:nvPr/>
        </p:nvSpPr>
        <p:spPr>
          <a:xfrm>
            <a:off x="4762195" y="4315968"/>
            <a:ext cx="1291133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R$ 1.7 mi | 3 obras</a:t>
            </a:r>
          </a:p>
        </p:txBody>
      </p:sp>
      <p:sp>
        <p:nvSpPr>
          <p:cNvPr id="2" name="Text 150"/>
          <p:cNvSpPr txBox="1"/>
          <p:nvPr/>
        </p:nvSpPr>
        <p:spPr>
          <a:xfrm>
            <a:off x="7013448" y="1719072"/>
            <a:ext cx="17830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Grupo</a:t>
            </a:r>
          </a:p>
        </p:txBody>
      </p:sp>
      <p:sp>
        <p:nvSpPr>
          <p:cNvPr id="3" name="Text 151"/>
          <p:cNvSpPr txBox="1"/>
          <p:nvPr/>
        </p:nvSpPr>
        <p:spPr>
          <a:xfrm>
            <a:off x="8796528" y="1719072"/>
            <a:ext cx="6400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4" name="Text 152"/>
          <p:cNvSpPr txBox="1"/>
          <p:nvPr/>
        </p:nvSpPr>
        <p:spPr>
          <a:xfrm>
            <a:off x="9436608" y="1719072"/>
            <a:ext cx="914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5" name="Text 153"/>
          <p:cNvSpPr txBox="1"/>
          <p:nvPr/>
        </p:nvSpPr>
        <p:spPr>
          <a:xfrm>
            <a:off x="10351008" y="1719072"/>
            <a:ext cx="1078992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6" name="Text 154"/>
          <p:cNvSpPr txBox="1"/>
          <p:nvPr/>
        </p:nvSpPr>
        <p:spPr>
          <a:xfrm>
            <a:off x="7013448" y="2029968"/>
            <a:ext cx="1783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Adequação Regulatória</a:t>
            </a:r>
          </a:p>
        </p:txBody>
      </p:sp>
      <p:sp>
        <p:nvSpPr>
          <p:cNvPr id="7" name="Text 155"/>
          <p:cNvSpPr txBox="1"/>
          <p:nvPr/>
        </p:nvSpPr>
        <p:spPr>
          <a:xfrm>
            <a:off x="8796528" y="2029968"/>
            <a:ext cx="640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125</a:t>
            </a:r>
          </a:p>
        </p:txBody>
      </p:sp>
      <p:sp>
        <p:nvSpPr>
          <p:cNvPr id="8" name="Text 156"/>
          <p:cNvSpPr txBox="1"/>
          <p:nvPr/>
        </p:nvSpPr>
        <p:spPr>
          <a:xfrm>
            <a:off x="9436608" y="2029968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99.1 mil m²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10351008" y="2029968"/>
            <a:ext cx="107899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R$ 696</a:t>
            </a:r>
          </a:p>
        </p:txBody>
      </p:sp>
      <p:sp>
        <p:nvSpPr>
          <p:cNvPr id="158" name="Text 158"/>
          <p:cNvSpPr txBox="1"/>
          <p:nvPr/>
        </p:nvSpPr>
        <p:spPr>
          <a:xfrm>
            <a:off x="7013448" y="2340864"/>
            <a:ext cx="1783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Suficiência de Rede</a:t>
            </a:r>
          </a:p>
        </p:txBody>
      </p:sp>
      <p:sp>
        <p:nvSpPr>
          <p:cNvPr id="159" name="Text 159"/>
          <p:cNvSpPr txBox="1"/>
          <p:nvPr/>
        </p:nvSpPr>
        <p:spPr>
          <a:xfrm>
            <a:off x="8796528" y="2340864"/>
            <a:ext cx="640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31</a:t>
            </a:r>
          </a:p>
        </p:txBody>
      </p:sp>
      <p:sp>
        <p:nvSpPr>
          <p:cNvPr id="160" name="Text 160"/>
          <p:cNvSpPr txBox="1"/>
          <p:nvPr/>
        </p:nvSpPr>
        <p:spPr>
          <a:xfrm>
            <a:off x="9436608" y="2340864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42.6 mil m²</a:t>
            </a:r>
          </a:p>
        </p:txBody>
      </p:sp>
      <p:sp>
        <p:nvSpPr>
          <p:cNvPr id="161" name="Text 161"/>
          <p:cNvSpPr txBox="1"/>
          <p:nvPr/>
        </p:nvSpPr>
        <p:spPr>
          <a:xfrm>
            <a:off x="10351008" y="2340864"/>
            <a:ext cx="1078992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R$ 2.018</a:t>
            </a:r>
          </a:p>
        </p:txBody>
      </p:sp>
      <p:sp>
        <p:nvSpPr>
          <p:cNvPr id="162" name="Text 162"/>
          <p:cNvSpPr txBox="1"/>
          <p:nvPr/>
        </p:nvSpPr>
        <p:spPr>
          <a:xfrm>
            <a:off x="7013448" y="2651760"/>
            <a:ext cx="1783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Verticalização</a:t>
            </a:r>
          </a:p>
        </p:txBody>
      </p:sp>
      <p:sp>
        <p:nvSpPr>
          <p:cNvPr id="163" name="Text 163"/>
          <p:cNvSpPr txBox="1"/>
          <p:nvPr/>
        </p:nvSpPr>
        <p:spPr>
          <a:xfrm>
            <a:off x="8796528" y="2651760"/>
            <a:ext cx="640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33</a:t>
            </a:r>
          </a:p>
        </p:txBody>
      </p:sp>
      <p:sp>
        <p:nvSpPr>
          <p:cNvPr id="164" name="Text 164"/>
          <p:cNvSpPr txBox="1"/>
          <p:nvPr/>
        </p:nvSpPr>
        <p:spPr>
          <a:xfrm>
            <a:off x="9436608" y="2651760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36.3 mil m²</a:t>
            </a:r>
          </a:p>
        </p:txBody>
      </p:sp>
      <p:sp>
        <p:nvSpPr>
          <p:cNvPr id="165" name="Text 165"/>
          <p:cNvSpPr txBox="1"/>
          <p:nvPr/>
        </p:nvSpPr>
        <p:spPr>
          <a:xfrm>
            <a:off x="10351008" y="2651760"/>
            <a:ext cx="107899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R$ 1.781</a:t>
            </a:r>
          </a:p>
        </p:txBody>
      </p:sp>
      <p:sp>
        <p:nvSpPr>
          <p:cNvPr id="166" name="Text 166"/>
          <p:cNvSpPr txBox="1"/>
          <p:nvPr/>
        </p:nvSpPr>
        <p:spPr>
          <a:xfrm>
            <a:off x="7013448" y="2962656"/>
            <a:ext cx="1783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Eficiência Operacional</a:t>
            </a:r>
          </a:p>
        </p:txBody>
      </p:sp>
      <p:sp>
        <p:nvSpPr>
          <p:cNvPr id="167" name="Text 167"/>
          <p:cNvSpPr txBox="1"/>
          <p:nvPr/>
        </p:nvSpPr>
        <p:spPr>
          <a:xfrm>
            <a:off x="8796528" y="2962656"/>
            <a:ext cx="640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39</a:t>
            </a:r>
          </a:p>
        </p:txBody>
      </p:sp>
      <p:sp>
        <p:nvSpPr>
          <p:cNvPr id="168" name="Text 168"/>
          <p:cNvSpPr txBox="1"/>
          <p:nvPr/>
        </p:nvSpPr>
        <p:spPr>
          <a:xfrm>
            <a:off x="9436608" y="2962656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14.5 mil m²</a:t>
            </a:r>
          </a:p>
        </p:txBody>
      </p:sp>
      <p:sp>
        <p:nvSpPr>
          <p:cNvPr id="169" name="Text 169"/>
          <p:cNvSpPr txBox="1"/>
          <p:nvPr/>
        </p:nvSpPr>
        <p:spPr>
          <a:xfrm>
            <a:off x="10351008" y="2962656"/>
            <a:ext cx="1078992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R$ 2.576</a:t>
            </a:r>
          </a:p>
        </p:txBody>
      </p:sp>
      <p:sp>
        <p:nvSpPr>
          <p:cNvPr id="170" name="Text 170"/>
          <p:cNvSpPr txBox="1"/>
          <p:nvPr/>
        </p:nvSpPr>
        <p:spPr>
          <a:xfrm>
            <a:off x="7013448" y="3273552"/>
            <a:ext cx="1783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Obra Estratégica</a:t>
            </a:r>
          </a:p>
        </p:txBody>
      </p:sp>
      <p:sp>
        <p:nvSpPr>
          <p:cNvPr id="171" name="Text 171"/>
          <p:cNvSpPr txBox="1"/>
          <p:nvPr/>
        </p:nvSpPr>
        <p:spPr>
          <a:xfrm>
            <a:off x="8796528" y="3273552"/>
            <a:ext cx="640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9</a:t>
            </a:r>
          </a:p>
        </p:txBody>
      </p:sp>
      <p:sp>
        <p:nvSpPr>
          <p:cNvPr id="172" name="Text 172"/>
          <p:cNvSpPr txBox="1"/>
          <p:nvPr/>
        </p:nvSpPr>
        <p:spPr>
          <a:xfrm>
            <a:off x="9436608" y="3273552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6.4 mil m²</a:t>
            </a:r>
          </a:p>
        </p:txBody>
      </p:sp>
      <p:sp>
        <p:nvSpPr>
          <p:cNvPr id="173" name="Text 173"/>
          <p:cNvSpPr txBox="1"/>
          <p:nvPr/>
        </p:nvSpPr>
        <p:spPr>
          <a:xfrm>
            <a:off x="10351008" y="3273552"/>
            <a:ext cx="107899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R$ 2.427</a:t>
            </a:r>
          </a:p>
        </p:txBody>
      </p:sp>
      <p:sp>
        <p:nvSpPr>
          <p:cNvPr id="174" name="Text 174"/>
          <p:cNvSpPr txBox="1"/>
          <p:nvPr/>
        </p:nvSpPr>
        <p:spPr>
          <a:xfrm>
            <a:off x="7013448" y="3584448"/>
            <a:ext cx="1783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Fachada</a:t>
            </a:r>
          </a:p>
        </p:txBody>
      </p:sp>
      <p:sp>
        <p:nvSpPr>
          <p:cNvPr id="175" name="Text 175"/>
          <p:cNvSpPr txBox="1"/>
          <p:nvPr/>
        </p:nvSpPr>
        <p:spPr>
          <a:xfrm>
            <a:off x="8796528" y="3584448"/>
            <a:ext cx="640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</a:t>
            </a:r>
          </a:p>
        </p:txBody>
      </p:sp>
      <p:sp>
        <p:nvSpPr>
          <p:cNvPr id="176" name="Text 176"/>
          <p:cNvSpPr txBox="1"/>
          <p:nvPr/>
        </p:nvSpPr>
        <p:spPr>
          <a:xfrm>
            <a:off x="9436608" y="3584448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4.9 mil m²</a:t>
            </a:r>
          </a:p>
        </p:txBody>
      </p:sp>
      <p:sp>
        <p:nvSpPr>
          <p:cNvPr id="177" name="Text 177"/>
          <p:cNvSpPr txBox="1"/>
          <p:nvPr/>
        </p:nvSpPr>
        <p:spPr>
          <a:xfrm>
            <a:off x="10351008" y="3584448"/>
            <a:ext cx="1078992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R$ 353</a:t>
            </a:r>
          </a:p>
        </p:txBody>
      </p:sp>
      <p:sp>
        <p:nvSpPr>
          <p:cNvPr id="178" name="Text 178"/>
          <p:cNvSpPr txBox="1"/>
          <p:nvPr/>
        </p:nvSpPr>
        <p:spPr>
          <a:xfrm>
            <a:off x="7013448" y="3895344"/>
            <a:ext cx="1783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Padronização de Unidade</a:t>
            </a:r>
          </a:p>
        </p:txBody>
      </p:sp>
      <p:sp>
        <p:nvSpPr>
          <p:cNvPr id="179" name="Text 179"/>
          <p:cNvSpPr txBox="1"/>
          <p:nvPr/>
        </p:nvSpPr>
        <p:spPr>
          <a:xfrm>
            <a:off x="8796528" y="3895344"/>
            <a:ext cx="640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</a:t>
            </a:r>
          </a:p>
        </p:txBody>
      </p:sp>
      <p:sp>
        <p:nvSpPr>
          <p:cNvPr id="180" name="Text 180"/>
          <p:cNvSpPr txBox="1"/>
          <p:nvPr/>
        </p:nvSpPr>
        <p:spPr>
          <a:xfrm>
            <a:off x="9436608" y="3895344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3.9 mil m²</a:t>
            </a:r>
          </a:p>
        </p:txBody>
      </p:sp>
      <p:sp>
        <p:nvSpPr>
          <p:cNvPr id="181" name="Text 181"/>
          <p:cNvSpPr txBox="1"/>
          <p:nvPr/>
        </p:nvSpPr>
        <p:spPr>
          <a:xfrm>
            <a:off x="10351008" y="3895344"/>
            <a:ext cx="107899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R$ 452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Nível de Obra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6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566928" y="749808"/>
            <a:ext cx="704088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200" b="1">
                <a:solidFill>
                  <a:srgbClr val="15253F"/>
                </a:solidFill>
              </a:rPr>
              <a:t>Nível de Obra | valor, área e R$/m²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7818120" y="804672"/>
            <a:ext cx="361188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1100">
                <a:solidFill>
                  <a:srgbClr val="64748B"/>
                </a:solidFill>
              </a:rPr>
              <a:t>Coluna O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658368" y="1234440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>
                <a:solidFill>
                  <a:srgbClr val="253F8E"/>
                </a:solidFill>
              </a:rPr>
              <a:t>Valor negociado por grupo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658368" y="1627632"/>
            <a:ext cx="183428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Retrofit</a:t>
            </a:r>
          </a:p>
        </p:txBody>
      </p:sp>
      <p:sp>
        <p:nvSpPr>
          <p:cNvPr id="134" name="Rect 134"/>
          <p:cNvSpPr/>
          <p:nvPr/>
        </p:nvSpPr>
        <p:spPr>
          <a:xfrm>
            <a:off x="2584094" y="1700784"/>
            <a:ext cx="2050085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5" name="Text 135"/>
          <p:cNvSpPr txBox="1"/>
          <p:nvPr/>
        </p:nvSpPr>
        <p:spPr>
          <a:xfrm>
            <a:off x="4762195" y="1627632"/>
            <a:ext cx="1291133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R$ 148.5 mi | 192 obras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658368" y="2011680"/>
            <a:ext cx="183428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Nova Unidade</a:t>
            </a:r>
          </a:p>
        </p:txBody>
      </p:sp>
      <p:sp>
        <p:nvSpPr>
          <p:cNvPr id="137" name="Rect 137"/>
          <p:cNvSpPr/>
          <p:nvPr/>
        </p:nvSpPr>
        <p:spPr>
          <a:xfrm>
            <a:off x="2584094" y="2084832"/>
            <a:ext cx="1754344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8" name="Text 138"/>
          <p:cNvSpPr txBox="1"/>
          <p:nvPr/>
        </p:nvSpPr>
        <p:spPr>
          <a:xfrm>
            <a:off x="4762195" y="2011680"/>
            <a:ext cx="1291133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R$ 127.1 mi | 56 obras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658368" y="2395728"/>
            <a:ext cx="183428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Nova/R</a:t>
            </a:r>
          </a:p>
        </p:txBody>
      </p:sp>
      <p:sp>
        <p:nvSpPr>
          <p:cNvPr id="140" name="Rect 140"/>
          <p:cNvSpPr/>
          <p:nvPr/>
        </p:nvSpPr>
        <p:spPr>
          <a:xfrm>
            <a:off x="2584094" y="2468880"/>
            <a:ext cx="116329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1" name="Text 141"/>
          <p:cNvSpPr txBox="1"/>
          <p:nvPr/>
        </p:nvSpPr>
        <p:spPr>
          <a:xfrm>
            <a:off x="4762195" y="2395728"/>
            <a:ext cx="1291133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R$ 8.4 mi | 7 obras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658368" y="2779776"/>
            <a:ext cx="183428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Ampliação</a:t>
            </a:r>
          </a:p>
        </p:txBody>
      </p:sp>
      <p:sp>
        <p:nvSpPr>
          <p:cNvPr id="143" name="Rect 143"/>
          <p:cNvSpPr/>
          <p:nvPr/>
        </p:nvSpPr>
        <p:spPr>
          <a:xfrm>
            <a:off x="2584094" y="2852928"/>
            <a:ext cx="73152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4" name="Text 144"/>
          <p:cNvSpPr txBox="1"/>
          <p:nvPr/>
        </p:nvSpPr>
        <p:spPr>
          <a:xfrm>
            <a:off x="4762195" y="2779776"/>
            <a:ext cx="1291133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R$ 244.0 mil | 1 obras</a:t>
            </a:r>
          </a:p>
        </p:txBody>
      </p:sp>
      <p:sp>
        <p:nvSpPr>
          <p:cNvPr id="150" name="Text 150"/>
          <p:cNvSpPr txBox="1"/>
          <p:nvPr/>
        </p:nvSpPr>
        <p:spPr>
          <a:xfrm>
            <a:off x="7973568" y="1353312"/>
            <a:ext cx="17830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Grupo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9756648" y="1353312"/>
            <a:ext cx="6400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10396728" y="1353312"/>
            <a:ext cx="914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153" name="Text 153"/>
          <p:cNvSpPr txBox="1"/>
          <p:nvPr/>
        </p:nvSpPr>
        <p:spPr>
          <a:xfrm>
            <a:off x="11311128" y="1353312"/>
            <a:ext cx="1078992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7973568" y="1664208"/>
            <a:ext cx="1783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Retrofit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9756648" y="1664208"/>
            <a:ext cx="640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192</a:t>
            </a:r>
          </a:p>
        </p:txBody>
      </p:sp>
      <p:sp>
        <p:nvSpPr>
          <p:cNvPr id="156" name="Text 156"/>
          <p:cNvSpPr txBox="1"/>
          <p:nvPr/>
        </p:nvSpPr>
        <p:spPr>
          <a:xfrm>
            <a:off x="10396728" y="1664208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147.2 mil m²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11311128" y="1664208"/>
            <a:ext cx="107899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R$ 1.009</a:t>
            </a:r>
          </a:p>
        </p:txBody>
      </p:sp>
      <p:sp>
        <p:nvSpPr>
          <p:cNvPr id="158" name="Text 158"/>
          <p:cNvSpPr txBox="1"/>
          <p:nvPr/>
        </p:nvSpPr>
        <p:spPr>
          <a:xfrm>
            <a:off x="7973568" y="1975104"/>
            <a:ext cx="1783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Nova Unidade</a:t>
            </a:r>
          </a:p>
        </p:txBody>
      </p:sp>
      <p:sp>
        <p:nvSpPr>
          <p:cNvPr id="159" name="Text 159"/>
          <p:cNvSpPr txBox="1"/>
          <p:nvPr/>
        </p:nvSpPr>
        <p:spPr>
          <a:xfrm>
            <a:off x="9756648" y="1975104"/>
            <a:ext cx="640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56</a:t>
            </a:r>
          </a:p>
        </p:txBody>
      </p:sp>
      <p:sp>
        <p:nvSpPr>
          <p:cNvPr id="160" name="Text 160"/>
          <p:cNvSpPr txBox="1"/>
          <p:nvPr/>
        </p:nvSpPr>
        <p:spPr>
          <a:xfrm>
            <a:off x="10396728" y="1975104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60.8 mil m²</a:t>
            </a:r>
          </a:p>
        </p:txBody>
      </p:sp>
      <p:sp>
        <p:nvSpPr>
          <p:cNvPr id="161" name="Text 161"/>
          <p:cNvSpPr txBox="1"/>
          <p:nvPr/>
        </p:nvSpPr>
        <p:spPr>
          <a:xfrm>
            <a:off x="11311128" y="1975104"/>
            <a:ext cx="1078992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R$ 2.090</a:t>
            </a:r>
          </a:p>
        </p:txBody>
      </p:sp>
      <p:sp>
        <p:nvSpPr>
          <p:cNvPr id="162" name="Text 162"/>
          <p:cNvSpPr txBox="1"/>
          <p:nvPr/>
        </p:nvSpPr>
        <p:spPr>
          <a:xfrm>
            <a:off x="7973568" y="2286000"/>
            <a:ext cx="1783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Nova/R</a:t>
            </a:r>
          </a:p>
        </p:txBody>
      </p:sp>
      <p:sp>
        <p:nvSpPr>
          <p:cNvPr id="163" name="Text 163"/>
          <p:cNvSpPr txBox="1"/>
          <p:nvPr/>
        </p:nvSpPr>
        <p:spPr>
          <a:xfrm>
            <a:off x="9756648" y="2286000"/>
            <a:ext cx="640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7</a:t>
            </a:r>
          </a:p>
        </p:txBody>
      </p:sp>
      <p:sp>
        <p:nvSpPr>
          <p:cNvPr id="164" name="Text 164"/>
          <p:cNvSpPr txBox="1"/>
          <p:nvPr/>
        </p:nvSpPr>
        <p:spPr>
          <a:xfrm>
            <a:off x="10396728" y="2286000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5.4 mil m²</a:t>
            </a:r>
          </a:p>
        </p:txBody>
      </p:sp>
      <p:sp>
        <p:nvSpPr>
          <p:cNvPr id="165" name="Text 165"/>
          <p:cNvSpPr txBox="1"/>
          <p:nvPr/>
        </p:nvSpPr>
        <p:spPr>
          <a:xfrm>
            <a:off x="11311128" y="2286000"/>
            <a:ext cx="107899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R$ 1.574</a:t>
            </a:r>
          </a:p>
        </p:txBody>
      </p:sp>
      <p:sp>
        <p:nvSpPr>
          <p:cNvPr id="166" name="Text 166"/>
          <p:cNvSpPr txBox="1"/>
          <p:nvPr/>
        </p:nvSpPr>
        <p:spPr>
          <a:xfrm>
            <a:off x="7973568" y="2596896"/>
            <a:ext cx="1783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Ampliação</a:t>
            </a:r>
          </a:p>
        </p:txBody>
      </p:sp>
      <p:sp>
        <p:nvSpPr>
          <p:cNvPr id="167" name="Text 167"/>
          <p:cNvSpPr txBox="1"/>
          <p:nvPr/>
        </p:nvSpPr>
        <p:spPr>
          <a:xfrm>
            <a:off x="9756648" y="2596896"/>
            <a:ext cx="640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168" name="Text 168"/>
          <p:cNvSpPr txBox="1"/>
          <p:nvPr/>
        </p:nvSpPr>
        <p:spPr>
          <a:xfrm>
            <a:off x="10396728" y="2596896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159 m²</a:t>
            </a:r>
          </a:p>
        </p:txBody>
      </p:sp>
      <p:sp>
        <p:nvSpPr>
          <p:cNvPr id="169" name="Text 169"/>
          <p:cNvSpPr txBox="1"/>
          <p:nvPr/>
        </p:nvSpPr>
        <p:spPr>
          <a:xfrm>
            <a:off x="11311128" y="2596896"/>
            <a:ext cx="1078992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R$ 1.535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Indicadores geográficos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7</a:t>
            </a:r>
          </a:p>
        </p:txBody>
      </p:sp>
      <p:sp>
        <p:nvSpPr>
          <p:cNvPr id="600" name="Text 600"/>
          <p:cNvSpPr txBox="1"/>
          <p:nvPr/>
        </p:nvSpPr>
        <p:spPr>
          <a:xfrm>
            <a:off x="566928" y="749808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200" b="1">
                <a:solidFill>
                  <a:srgbClr val="15253F"/>
                </a:solidFill>
              </a:rPr>
              <a:t>Indicadores por Região e Estado</a:t>
            </a:r>
          </a:p>
        </p:txBody>
      </p:sp>
      <p:sp>
        <p:nvSpPr>
          <p:cNvPr id="601" name="Text 601"/>
          <p:cNvSpPr txBox="1"/>
          <p:nvPr/>
        </p:nvSpPr>
        <p:spPr>
          <a:xfrm>
            <a:off x="658368" y="123444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>
                <a:solidFill>
                  <a:srgbClr val="2F65B7"/>
                </a:solidFill>
              </a:rPr>
              <a:t>Região</a:t>
            </a:r>
          </a:p>
        </p:txBody>
      </p:sp>
      <p:sp>
        <p:nvSpPr>
          <p:cNvPr id="610" name="Text 610"/>
          <p:cNvSpPr txBox="1"/>
          <p:nvPr/>
        </p:nvSpPr>
        <p:spPr>
          <a:xfrm>
            <a:off x="658368" y="1600200"/>
            <a:ext cx="13258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Região</a:t>
            </a:r>
          </a:p>
        </p:txBody>
      </p:sp>
      <p:sp>
        <p:nvSpPr>
          <p:cNvPr id="611" name="Text 611"/>
          <p:cNvSpPr txBox="1"/>
          <p:nvPr/>
        </p:nvSpPr>
        <p:spPr>
          <a:xfrm>
            <a:off x="1984248" y="1600200"/>
            <a:ext cx="7772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612" name="Text 612"/>
          <p:cNvSpPr txBox="1"/>
          <p:nvPr/>
        </p:nvSpPr>
        <p:spPr>
          <a:xfrm>
            <a:off x="2761488" y="1600200"/>
            <a:ext cx="11430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613" name="Text 613"/>
          <p:cNvSpPr txBox="1"/>
          <p:nvPr/>
        </p:nvSpPr>
        <p:spPr>
          <a:xfrm>
            <a:off x="3904488" y="1600200"/>
            <a:ext cx="13258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614" name="Text 614"/>
          <p:cNvSpPr txBox="1"/>
          <p:nvPr/>
        </p:nvSpPr>
        <p:spPr>
          <a:xfrm>
            <a:off x="5230368" y="1600200"/>
            <a:ext cx="9601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615" name="Text 615"/>
          <p:cNvSpPr txBox="1"/>
          <p:nvPr/>
        </p:nvSpPr>
        <p:spPr>
          <a:xfrm>
            <a:off x="658368" y="1911096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SE</a:t>
            </a:r>
          </a:p>
        </p:txBody>
      </p:sp>
      <p:sp>
        <p:nvSpPr>
          <p:cNvPr id="616" name="Text 616"/>
          <p:cNvSpPr txBox="1"/>
          <p:nvPr/>
        </p:nvSpPr>
        <p:spPr>
          <a:xfrm>
            <a:off x="1984248" y="1911096"/>
            <a:ext cx="777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114</a:t>
            </a:r>
          </a:p>
        </p:txBody>
      </p:sp>
      <p:sp>
        <p:nvSpPr>
          <p:cNvPr id="617" name="Text 617"/>
          <p:cNvSpPr txBox="1"/>
          <p:nvPr/>
        </p:nvSpPr>
        <p:spPr>
          <a:xfrm>
            <a:off x="2761488" y="1911096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121.2 mil m²</a:t>
            </a:r>
          </a:p>
        </p:txBody>
      </p:sp>
      <p:sp>
        <p:nvSpPr>
          <p:cNvPr id="618" name="Text 618"/>
          <p:cNvSpPr txBox="1"/>
          <p:nvPr/>
        </p:nvSpPr>
        <p:spPr>
          <a:xfrm>
            <a:off x="3904488" y="1911096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R$ 178.6 mi</a:t>
            </a:r>
          </a:p>
        </p:txBody>
      </p:sp>
      <p:sp>
        <p:nvSpPr>
          <p:cNvPr id="619" name="Text 619"/>
          <p:cNvSpPr txBox="1"/>
          <p:nvPr/>
        </p:nvSpPr>
        <p:spPr>
          <a:xfrm>
            <a:off x="5230368" y="1911096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R$ 1.473</a:t>
            </a:r>
          </a:p>
        </p:txBody>
      </p:sp>
      <p:sp>
        <p:nvSpPr>
          <p:cNvPr id="620" name="Text 620"/>
          <p:cNvSpPr txBox="1"/>
          <p:nvPr/>
        </p:nvSpPr>
        <p:spPr>
          <a:xfrm>
            <a:off x="658368" y="2221992"/>
            <a:ext cx="13258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NE</a:t>
            </a:r>
          </a:p>
        </p:txBody>
      </p:sp>
      <p:sp>
        <p:nvSpPr>
          <p:cNvPr id="621" name="Text 621"/>
          <p:cNvSpPr txBox="1"/>
          <p:nvPr/>
        </p:nvSpPr>
        <p:spPr>
          <a:xfrm>
            <a:off x="1984248" y="2221992"/>
            <a:ext cx="7772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94</a:t>
            </a:r>
          </a:p>
        </p:txBody>
      </p:sp>
      <p:sp>
        <p:nvSpPr>
          <p:cNvPr id="622" name="Text 622"/>
          <p:cNvSpPr txBox="1"/>
          <p:nvPr/>
        </p:nvSpPr>
        <p:spPr>
          <a:xfrm>
            <a:off x="2761488" y="2221992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59.0 mil m²</a:t>
            </a:r>
          </a:p>
        </p:txBody>
      </p:sp>
      <p:sp>
        <p:nvSpPr>
          <p:cNvPr id="623" name="Text 623"/>
          <p:cNvSpPr txBox="1"/>
          <p:nvPr/>
        </p:nvSpPr>
        <p:spPr>
          <a:xfrm>
            <a:off x="3904488" y="2221992"/>
            <a:ext cx="13258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R$ 59.5 mi</a:t>
            </a:r>
          </a:p>
        </p:txBody>
      </p:sp>
      <p:sp>
        <p:nvSpPr>
          <p:cNvPr id="624" name="Text 624"/>
          <p:cNvSpPr txBox="1"/>
          <p:nvPr/>
        </p:nvSpPr>
        <p:spPr>
          <a:xfrm>
            <a:off x="5230368" y="2221992"/>
            <a:ext cx="9601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R$ 1.008</a:t>
            </a:r>
          </a:p>
        </p:txBody>
      </p:sp>
      <p:sp>
        <p:nvSpPr>
          <p:cNvPr id="625" name="Text 625"/>
          <p:cNvSpPr txBox="1"/>
          <p:nvPr/>
        </p:nvSpPr>
        <p:spPr>
          <a:xfrm>
            <a:off x="658368" y="2532888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NO</a:t>
            </a:r>
          </a:p>
        </p:txBody>
      </p:sp>
      <p:sp>
        <p:nvSpPr>
          <p:cNvPr id="626" name="Text 626"/>
          <p:cNvSpPr txBox="1"/>
          <p:nvPr/>
        </p:nvSpPr>
        <p:spPr>
          <a:xfrm>
            <a:off x="1984248" y="2532888"/>
            <a:ext cx="777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28</a:t>
            </a:r>
          </a:p>
        </p:txBody>
      </p:sp>
      <p:sp>
        <p:nvSpPr>
          <p:cNvPr id="627" name="Text 627"/>
          <p:cNvSpPr txBox="1"/>
          <p:nvPr/>
        </p:nvSpPr>
        <p:spPr>
          <a:xfrm>
            <a:off x="2761488" y="2532888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21.4 mil m²</a:t>
            </a:r>
          </a:p>
        </p:txBody>
      </p:sp>
      <p:sp>
        <p:nvSpPr>
          <p:cNvPr id="628" name="Text 628"/>
          <p:cNvSpPr txBox="1"/>
          <p:nvPr/>
        </p:nvSpPr>
        <p:spPr>
          <a:xfrm>
            <a:off x="3904488" y="2532888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R$ 25.9 mi</a:t>
            </a:r>
          </a:p>
        </p:txBody>
      </p:sp>
      <p:sp>
        <p:nvSpPr>
          <p:cNvPr id="629" name="Text 629"/>
          <p:cNvSpPr txBox="1"/>
          <p:nvPr/>
        </p:nvSpPr>
        <p:spPr>
          <a:xfrm>
            <a:off x="5230368" y="2532888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R$ 1.211</a:t>
            </a:r>
          </a:p>
        </p:txBody>
      </p:sp>
      <p:sp>
        <p:nvSpPr>
          <p:cNvPr id="630" name="Text 630"/>
          <p:cNvSpPr txBox="1"/>
          <p:nvPr/>
        </p:nvSpPr>
        <p:spPr>
          <a:xfrm>
            <a:off x="658368" y="2843784"/>
            <a:ext cx="13258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CO</a:t>
            </a:r>
          </a:p>
        </p:txBody>
      </p:sp>
      <p:sp>
        <p:nvSpPr>
          <p:cNvPr id="631" name="Text 631"/>
          <p:cNvSpPr txBox="1"/>
          <p:nvPr/>
        </p:nvSpPr>
        <p:spPr>
          <a:xfrm>
            <a:off x="1984248" y="2843784"/>
            <a:ext cx="7772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11</a:t>
            </a:r>
          </a:p>
        </p:txBody>
      </p:sp>
      <p:sp>
        <p:nvSpPr>
          <p:cNvPr id="632" name="Text 632"/>
          <p:cNvSpPr txBox="1"/>
          <p:nvPr/>
        </p:nvSpPr>
        <p:spPr>
          <a:xfrm>
            <a:off x="2761488" y="2843784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6.6 mil m²</a:t>
            </a:r>
          </a:p>
        </p:txBody>
      </p:sp>
      <p:sp>
        <p:nvSpPr>
          <p:cNvPr id="633" name="Text 633"/>
          <p:cNvSpPr txBox="1"/>
          <p:nvPr/>
        </p:nvSpPr>
        <p:spPr>
          <a:xfrm>
            <a:off x="3904488" y="2843784"/>
            <a:ext cx="13258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R$ 12.1 mi</a:t>
            </a:r>
          </a:p>
        </p:txBody>
      </p:sp>
      <p:sp>
        <p:nvSpPr>
          <p:cNvPr id="634" name="Text 634"/>
          <p:cNvSpPr txBox="1"/>
          <p:nvPr/>
        </p:nvSpPr>
        <p:spPr>
          <a:xfrm>
            <a:off x="5230368" y="2843784"/>
            <a:ext cx="9601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R$ 1.826</a:t>
            </a:r>
          </a:p>
        </p:txBody>
      </p:sp>
      <p:sp>
        <p:nvSpPr>
          <p:cNvPr id="635" name="Text 635"/>
          <p:cNvSpPr txBox="1"/>
          <p:nvPr/>
        </p:nvSpPr>
        <p:spPr>
          <a:xfrm>
            <a:off x="658368" y="3154680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SU</a:t>
            </a:r>
          </a:p>
        </p:txBody>
      </p:sp>
      <p:sp>
        <p:nvSpPr>
          <p:cNvPr id="636" name="Text 636"/>
          <p:cNvSpPr txBox="1"/>
          <p:nvPr/>
        </p:nvSpPr>
        <p:spPr>
          <a:xfrm>
            <a:off x="1984248" y="3154680"/>
            <a:ext cx="777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9</a:t>
            </a:r>
          </a:p>
        </p:txBody>
      </p:sp>
      <p:sp>
        <p:nvSpPr>
          <p:cNvPr id="637" name="Text 637"/>
          <p:cNvSpPr txBox="1"/>
          <p:nvPr/>
        </p:nvSpPr>
        <p:spPr>
          <a:xfrm>
            <a:off x="2761488" y="3154680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5.3 mil m²</a:t>
            </a:r>
          </a:p>
        </p:txBody>
      </p:sp>
      <p:sp>
        <p:nvSpPr>
          <p:cNvPr id="638" name="Text 638"/>
          <p:cNvSpPr txBox="1"/>
          <p:nvPr/>
        </p:nvSpPr>
        <p:spPr>
          <a:xfrm>
            <a:off x="3904488" y="3154680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R$ 8.2 mi</a:t>
            </a:r>
          </a:p>
        </p:txBody>
      </p:sp>
      <p:sp>
        <p:nvSpPr>
          <p:cNvPr id="639" name="Text 639"/>
          <p:cNvSpPr txBox="1"/>
          <p:nvPr/>
        </p:nvSpPr>
        <p:spPr>
          <a:xfrm>
            <a:off x="5230368" y="3154680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R$ 1.560</a:t>
            </a:r>
          </a:p>
        </p:txBody>
      </p:sp>
      <p:sp>
        <p:nvSpPr>
          <p:cNvPr id="670" name="Text 670"/>
          <p:cNvSpPr txBox="1"/>
          <p:nvPr/>
        </p:nvSpPr>
        <p:spPr>
          <a:xfrm>
            <a:off x="6446520" y="123444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>
                <a:solidFill>
                  <a:srgbClr val="2F65B7"/>
                </a:solidFill>
              </a:rPr>
              <a:t>Top Estados por valor negociado</a:t>
            </a:r>
          </a:p>
        </p:txBody>
      </p:sp>
      <p:sp>
        <p:nvSpPr>
          <p:cNvPr id="680" name="Text 680"/>
          <p:cNvSpPr txBox="1"/>
          <p:nvPr/>
        </p:nvSpPr>
        <p:spPr>
          <a:xfrm>
            <a:off x="6446520" y="1600200"/>
            <a:ext cx="11430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681" name="Text 681"/>
          <p:cNvSpPr txBox="1"/>
          <p:nvPr/>
        </p:nvSpPr>
        <p:spPr>
          <a:xfrm>
            <a:off x="7589520" y="1600200"/>
            <a:ext cx="6858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682" name="Text 682"/>
          <p:cNvSpPr txBox="1"/>
          <p:nvPr/>
        </p:nvSpPr>
        <p:spPr>
          <a:xfrm>
            <a:off x="8275320" y="1600200"/>
            <a:ext cx="11430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683" name="Text 683"/>
          <p:cNvSpPr txBox="1"/>
          <p:nvPr/>
        </p:nvSpPr>
        <p:spPr>
          <a:xfrm>
            <a:off x="9418320" y="1600200"/>
            <a:ext cx="13258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684" name="Text 684"/>
          <p:cNvSpPr txBox="1"/>
          <p:nvPr/>
        </p:nvSpPr>
        <p:spPr>
          <a:xfrm>
            <a:off x="10744200" y="1600200"/>
            <a:ext cx="9601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685" name="Text 685"/>
          <p:cNvSpPr txBox="1"/>
          <p:nvPr/>
        </p:nvSpPr>
        <p:spPr>
          <a:xfrm>
            <a:off x="6446520" y="1911096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686" name="Text 686"/>
          <p:cNvSpPr txBox="1"/>
          <p:nvPr/>
        </p:nvSpPr>
        <p:spPr>
          <a:xfrm>
            <a:off x="7589520" y="1911096"/>
            <a:ext cx="685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90</a:t>
            </a:r>
          </a:p>
        </p:txBody>
      </p:sp>
      <p:sp>
        <p:nvSpPr>
          <p:cNvPr id="687" name="Text 687"/>
          <p:cNvSpPr txBox="1"/>
          <p:nvPr/>
        </p:nvSpPr>
        <p:spPr>
          <a:xfrm>
            <a:off x="8275320" y="1911096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106.5 mil m²</a:t>
            </a:r>
          </a:p>
        </p:txBody>
      </p:sp>
      <p:sp>
        <p:nvSpPr>
          <p:cNvPr id="688" name="Text 688"/>
          <p:cNvSpPr txBox="1"/>
          <p:nvPr/>
        </p:nvSpPr>
        <p:spPr>
          <a:xfrm>
            <a:off x="9418320" y="1911096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R$ 159.4 mi</a:t>
            </a:r>
          </a:p>
        </p:txBody>
      </p:sp>
      <p:sp>
        <p:nvSpPr>
          <p:cNvPr id="689" name="Text 689"/>
          <p:cNvSpPr txBox="1"/>
          <p:nvPr/>
        </p:nvSpPr>
        <p:spPr>
          <a:xfrm>
            <a:off x="10744200" y="1911096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R$ 1.496</a:t>
            </a:r>
          </a:p>
        </p:txBody>
      </p:sp>
      <p:sp>
        <p:nvSpPr>
          <p:cNvPr id="690" name="Text 690"/>
          <p:cNvSpPr txBox="1"/>
          <p:nvPr/>
        </p:nvSpPr>
        <p:spPr>
          <a:xfrm>
            <a:off x="6446520" y="2221992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CE</a:t>
            </a:r>
          </a:p>
        </p:txBody>
      </p:sp>
      <p:sp>
        <p:nvSpPr>
          <p:cNvPr id="691" name="Text 691"/>
          <p:cNvSpPr txBox="1"/>
          <p:nvPr/>
        </p:nvSpPr>
        <p:spPr>
          <a:xfrm>
            <a:off x="7589520" y="2221992"/>
            <a:ext cx="6858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32</a:t>
            </a:r>
          </a:p>
        </p:txBody>
      </p:sp>
      <p:sp>
        <p:nvSpPr>
          <p:cNvPr id="692" name="Text 692"/>
          <p:cNvSpPr txBox="1"/>
          <p:nvPr/>
        </p:nvSpPr>
        <p:spPr>
          <a:xfrm>
            <a:off x="8275320" y="2221992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9.8 mil m²</a:t>
            </a:r>
          </a:p>
        </p:txBody>
      </p:sp>
      <p:sp>
        <p:nvSpPr>
          <p:cNvPr id="693" name="Text 693"/>
          <p:cNvSpPr txBox="1"/>
          <p:nvPr/>
        </p:nvSpPr>
        <p:spPr>
          <a:xfrm>
            <a:off x="9418320" y="2221992"/>
            <a:ext cx="13258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R$ 19.8 mi</a:t>
            </a:r>
          </a:p>
        </p:txBody>
      </p:sp>
      <p:sp>
        <p:nvSpPr>
          <p:cNvPr id="694" name="Text 694"/>
          <p:cNvSpPr txBox="1"/>
          <p:nvPr/>
        </p:nvSpPr>
        <p:spPr>
          <a:xfrm>
            <a:off x="10744200" y="2221992"/>
            <a:ext cx="9601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R$ 2.013</a:t>
            </a:r>
          </a:p>
        </p:txBody>
      </p:sp>
      <p:sp>
        <p:nvSpPr>
          <p:cNvPr id="695" name="Text 695"/>
          <p:cNvSpPr txBox="1"/>
          <p:nvPr/>
        </p:nvSpPr>
        <p:spPr>
          <a:xfrm>
            <a:off x="6446520" y="2532888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PE</a:t>
            </a:r>
          </a:p>
        </p:txBody>
      </p:sp>
      <p:sp>
        <p:nvSpPr>
          <p:cNvPr id="696" name="Text 696"/>
          <p:cNvSpPr txBox="1"/>
          <p:nvPr/>
        </p:nvSpPr>
        <p:spPr>
          <a:xfrm>
            <a:off x="7589520" y="2532888"/>
            <a:ext cx="685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28</a:t>
            </a:r>
          </a:p>
        </p:txBody>
      </p:sp>
      <p:sp>
        <p:nvSpPr>
          <p:cNvPr id="697" name="Text 697"/>
          <p:cNvSpPr txBox="1"/>
          <p:nvPr/>
        </p:nvSpPr>
        <p:spPr>
          <a:xfrm>
            <a:off x="8275320" y="2532888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26.1 mil m²</a:t>
            </a:r>
          </a:p>
        </p:txBody>
      </p:sp>
      <p:sp>
        <p:nvSpPr>
          <p:cNvPr id="698" name="Text 698"/>
          <p:cNvSpPr txBox="1"/>
          <p:nvPr/>
        </p:nvSpPr>
        <p:spPr>
          <a:xfrm>
            <a:off x="9418320" y="2532888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R$ 19.4 mi</a:t>
            </a:r>
          </a:p>
        </p:txBody>
      </p:sp>
      <p:sp>
        <p:nvSpPr>
          <p:cNvPr id="699" name="Text 699"/>
          <p:cNvSpPr txBox="1"/>
          <p:nvPr/>
        </p:nvSpPr>
        <p:spPr>
          <a:xfrm>
            <a:off x="10744200" y="2532888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R$ 742</a:t>
            </a:r>
          </a:p>
        </p:txBody>
      </p:sp>
      <p:sp>
        <p:nvSpPr>
          <p:cNvPr id="700" name="Text 700"/>
          <p:cNvSpPr txBox="1"/>
          <p:nvPr/>
        </p:nvSpPr>
        <p:spPr>
          <a:xfrm>
            <a:off x="6446520" y="2843784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PA</a:t>
            </a:r>
          </a:p>
        </p:txBody>
      </p:sp>
      <p:sp>
        <p:nvSpPr>
          <p:cNvPr id="701" name="Text 701"/>
          <p:cNvSpPr txBox="1"/>
          <p:nvPr/>
        </p:nvSpPr>
        <p:spPr>
          <a:xfrm>
            <a:off x="7589520" y="2843784"/>
            <a:ext cx="6858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</a:t>
            </a:r>
          </a:p>
        </p:txBody>
      </p:sp>
      <p:sp>
        <p:nvSpPr>
          <p:cNvPr id="702" name="Text 702"/>
          <p:cNvSpPr txBox="1"/>
          <p:nvPr/>
        </p:nvSpPr>
        <p:spPr>
          <a:xfrm>
            <a:off x="8275320" y="2843784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5.5 mil m²</a:t>
            </a:r>
          </a:p>
        </p:txBody>
      </p:sp>
      <p:sp>
        <p:nvSpPr>
          <p:cNvPr id="703" name="Text 703"/>
          <p:cNvSpPr txBox="1"/>
          <p:nvPr/>
        </p:nvSpPr>
        <p:spPr>
          <a:xfrm>
            <a:off x="9418320" y="2843784"/>
            <a:ext cx="13258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R$ 16.1 mi</a:t>
            </a:r>
          </a:p>
        </p:txBody>
      </p:sp>
      <p:sp>
        <p:nvSpPr>
          <p:cNvPr id="704" name="Text 704"/>
          <p:cNvSpPr txBox="1"/>
          <p:nvPr/>
        </p:nvSpPr>
        <p:spPr>
          <a:xfrm>
            <a:off x="10744200" y="2843784"/>
            <a:ext cx="9601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R$ 2.932</a:t>
            </a:r>
          </a:p>
        </p:txBody>
      </p:sp>
      <p:sp>
        <p:nvSpPr>
          <p:cNvPr id="705" name="Text 705"/>
          <p:cNvSpPr txBox="1"/>
          <p:nvPr/>
        </p:nvSpPr>
        <p:spPr>
          <a:xfrm>
            <a:off x="6446520" y="3154680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RJ</a:t>
            </a:r>
          </a:p>
        </p:txBody>
      </p:sp>
      <p:sp>
        <p:nvSpPr>
          <p:cNvPr id="706" name="Text 706"/>
          <p:cNvSpPr txBox="1"/>
          <p:nvPr/>
        </p:nvSpPr>
        <p:spPr>
          <a:xfrm>
            <a:off x="7589520" y="3154680"/>
            <a:ext cx="685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</a:t>
            </a:r>
          </a:p>
        </p:txBody>
      </p:sp>
      <p:sp>
        <p:nvSpPr>
          <p:cNvPr id="707" name="Text 707"/>
          <p:cNvSpPr txBox="1"/>
          <p:nvPr/>
        </p:nvSpPr>
        <p:spPr>
          <a:xfrm>
            <a:off x="8275320" y="3154680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3.7 mil m²</a:t>
            </a:r>
          </a:p>
        </p:txBody>
      </p:sp>
      <p:sp>
        <p:nvSpPr>
          <p:cNvPr id="708" name="Text 708"/>
          <p:cNvSpPr txBox="1"/>
          <p:nvPr/>
        </p:nvSpPr>
        <p:spPr>
          <a:xfrm>
            <a:off x="9418320" y="3154680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R$ 10.0 mi</a:t>
            </a:r>
          </a:p>
        </p:txBody>
      </p:sp>
      <p:sp>
        <p:nvSpPr>
          <p:cNvPr id="709" name="Text 709"/>
          <p:cNvSpPr txBox="1"/>
          <p:nvPr/>
        </p:nvSpPr>
        <p:spPr>
          <a:xfrm>
            <a:off x="10744200" y="3154680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R$ 2.726</a:t>
            </a:r>
          </a:p>
        </p:txBody>
      </p:sp>
      <p:sp>
        <p:nvSpPr>
          <p:cNvPr id="710" name="Text 710"/>
          <p:cNvSpPr txBox="1"/>
          <p:nvPr/>
        </p:nvSpPr>
        <p:spPr>
          <a:xfrm>
            <a:off x="6446520" y="3465576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AM</a:t>
            </a:r>
          </a:p>
        </p:txBody>
      </p:sp>
      <p:sp>
        <p:nvSpPr>
          <p:cNvPr id="711" name="Text 711"/>
          <p:cNvSpPr txBox="1"/>
          <p:nvPr/>
        </p:nvSpPr>
        <p:spPr>
          <a:xfrm>
            <a:off x="7589520" y="3465576"/>
            <a:ext cx="6858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22</a:t>
            </a:r>
          </a:p>
        </p:txBody>
      </p:sp>
      <p:sp>
        <p:nvSpPr>
          <p:cNvPr id="712" name="Text 712"/>
          <p:cNvSpPr txBox="1"/>
          <p:nvPr/>
        </p:nvSpPr>
        <p:spPr>
          <a:xfrm>
            <a:off x="8275320" y="3465576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15.9 mil m²</a:t>
            </a:r>
          </a:p>
        </p:txBody>
      </p:sp>
      <p:sp>
        <p:nvSpPr>
          <p:cNvPr id="713" name="Text 713"/>
          <p:cNvSpPr txBox="1"/>
          <p:nvPr/>
        </p:nvSpPr>
        <p:spPr>
          <a:xfrm>
            <a:off x="9418320" y="3465576"/>
            <a:ext cx="13258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R$ 9.8 mi</a:t>
            </a:r>
          </a:p>
        </p:txBody>
      </p:sp>
      <p:sp>
        <p:nvSpPr>
          <p:cNvPr id="714" name="Text 714"/>
          <p:cNvSpPr txBox="1"/>
          <p:nvPr/>
        </p:nvSpPr>
        <p:spPr>
          <a:xfrm>
            <a:off x="10744200" y="3465576"/>
            <a:ext cx="9601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R$ 618</a:t>
            </a:r>
          </a:p>
        </p:txBody>
      </p:sp>
      <p:sp>
        <p:nvSpPr>
          <p:cNvPr id="715" name="Text 715"/>
          <p:cNvSpPr txBox="1"/>
          <p:nvPr/>
        </p:nvSpPr>
        <p:spPr>
          <a:xfrm>
            <a:off x="6446520" y="3776472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MG</a:t>
            </a:r>
          </a:p>
        </p:txBody>
      </p:sp>
      <p:sp>
        <p:nvSpPr>
          <p:cNvPr id="716" name="Text 716"/>
          <p:cNvSpPr txBox="1"/>
          <p:nvPr/>
        </p:nvSpPr>
        <p:spPr>
          <a:xfrm>
            <a:off x="7589520" y="3776472"/>
            <a:ext cx="685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17</a:t>
            </a:r>
          </a:p>
        </p:txBody>
      </p:sp>
      <p:sp>
        <p:nvSpPr>
          <p:cNvPr id="717" name="Text 717"/>
          <p:cNvSpPr txBox="1"/>
          <p:nvPr/>
        </p:nvSpPr>
        <p:spPr>
          <a:xfrm>
            <a:off x="8275320" y="3776472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10.8 mil m²</a:t>
            </a:r>
          </a:p>
        </p:txBody>
      </p:sp>
      <p:sp>
        <p:nvSpPr>
          <p:cNvPr id="718" name="Text 718"/>
          <p:cNvSpPr txBox="1"/>
          <p:nvPr/>
        </p:nvSpPr>
        <p:spPr>
          <a:xfrm>
            <a:off x="9418320" y="3776472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R$ 9.1 mi</a:t>
            </a:r>
          </a:p>
        </p:txBody>
      </p:sp>
      <p:sp>
        <p:nvSpPr>
          <p:cNvPr id="719" name="Text 719"/>
          <p:cNvSpPr txBox="1"/>
          <p:nvPr/>
        </p:nvSpPr>
        <p:spPr>
          <a:xfrm>
            <a:off x="10744200" y="3776472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R$ 847</a:t>
            </a:r>
          </a:p>
        </p:txBody>
      </p:sp>
      <p:sp>
        <p:nvSpPr>
          <p:cNvPr id="720" name="Text 720"/>
          <p:cNvSpPr txBox="1"/>
          <p:nvPr/>
        </p:nvSpPr>
        <p:spPr>
          <a:xfrm>
            <a:off x="6446520" y="4087368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GO</a:t>
            </a:r>
          </a:p>
        </p:txBody>
      </p:sp>
      <p:sp>
        <p:nvSpPr>
          <p:cNvPr id="721" name="Text 721"/>
          <p:cNvSpPr txBox="1"/>
          <p:nvPr/>
        </p:nvSpPr>
        <p:spPr>
          <a:xfrm>
            <a:off x="7589520" y="4087368"/>
            <a:ext cx="6858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9</a:t>
            </a:r>
          </a:p>
        </p:txBody>
      </p:sp>
      <p:sp>
        <p:nvSpPr>
          <p:cNvPr id="722" name="Text 722"/>
          <p:cNvSpPr txBox="1"/>
          <p:nvPr/>
        </p:nvSpPr>
        <p:spPr>
          <a:xfrm>
            <a:off x="8275320" y="4087368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4.9 mil m²</a:t>
            </a:r>
          </a:p>
        </p:txBody>
      </p:sp>
      <p:sp>
        <p:nvSpPr>
          <p:cNvPr id="723" name="Text 723"/>
          <p:cNvSpPr txBox="1"/>
          <p:nvPr/>
        </p:nvSpPr>
        <p:spPr>
          <a:xfrm>
            <a:off x="9418320" y="4087368"/>
            <a:ext cx="13258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R$ 8.9 mi</a:t>
            </a:r>
          </a:p>
        </p:txBody>
      </p:sp>
      <p:sp>
        <p:nvSpPr>
          <p:cNvPr id="724" name="Text 724"/>
          <p:cNvSpPr txBox="1"/>
          <p:nvPr/>
        </p:nvSpPr>
        <p:spPr>
          <a:xfrm>
            <a:off x="10744200" y="4087368"/>
            <a:ext cx="9601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R$ 1.822</a:t>
            </a:r>
          </a:p>
        </p:txBody>
      </p:sp>
      <p:sp>
        <p:nvSpPr>
          <p:cNvPr id="725" name="Text 725"/>
          <p:cNvSpPr txBox="1"/>
          <p:nvPr/>
        </p:nvSpPr>
        <p:spPr>
          <a:xfrm>
            <a:off x="6446520" y="4398264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PB</a:t>
            </a:r>
          </a:p>
        </p:txBody>
      </p:sp>
      <p:sp>
        <p:nvSpPr>
          <p:cNvPr id="726" name="Text 726"/>
          <p:cNvSpPr txBox="1"/>
          <p:nvPr/>
        </p:nvSpPr>
        <p:spPr>
          <a:xfrm>
            <a:off x="7589520" y="4398264"/>
            <a:ext cx="685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</a:t>
            </a:r>
          </a:p>
        </p:txBody>
      </p:sp>
      <p:sp>
        <p:nvSpPr>
          <p:cNvPr id="727" name="Text 727"/>
          <p:cNvSpPr txBox="1"/>
          <p:nvPr/>
        </p:nvSpPr>
        <p:spPr>
          <a:xfrm>
            <a:off x="8275320" y="4398264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3.5 mil m²</a:t>
            </a:r>
          </a:p>
        </p:txBody>
      </p:sp>
      <p:sp>
        <p:nvSpPr>
          <p:cNvPr id="728" name="Text 728"/>
          <p:cNvSpPr txBox="1"/>
          <p:nvPr/>
        </p:nvSpPr>
        <p:spPr>
          <a:xfrm>
            <a:off x="9418320" y="4398264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R$ 6.2 mi</a:t>
            </a:r>
          </a:p>
        </p:txBody>
      </p:sp>
      <p:sp>
        <p:nvSpPr>
          <p:cNvPr id="729" name="Text 729"/>
          <p:cNvSpPr txBox="1"/>
          <p:nvPr/>
        </p:nvSpPr>
        <p:spPr>
          <a:xfrm>
            <a:off x="10744200" y="4398264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R$ 1.765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Tipologia de Obras: Obra regulatória com baixa intervenção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8</a:t>
            </a:r>
          </a:p>
        </p:txBody>
      </p:sp>
      <p:sp>
        <p:nvSpPr>
          <p:cNvPr id="720" name="Text 720"/>
          <p:cNvSpPr txBox="1"/>
          <p:nvPr/>
        </p:nvSpPr>
        <p:spPr>
          <a:xfrm>
            <a:off x="566928" y="749808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100" b="1">
                <a:solidFill>
                  <a:srgbClr val="15253F"/>
                </a:solidFill>
              </a:rPr>
              <a:t>Tipologia de Obras | Obra regulatória com baixa intervenção</a:t>
            </a:r>
          </a:p>
        </p:txBody>
      </p:sp>
      <p:sp>
        <p:nvSpPr>
          <p:cNvPr id="730" name="Text 730"/>
          <p:cNvSpPr txBox="1"/>
          <p:nvPr/>
        </p:nvSpPr>
        <p:spPr>
          <a:xfrm>
            <a:off x="566928" y="1261872"/>
            <a:ext cx="2542032" cy="78638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87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no período</a:t>
            </a:r>
          </a:p>
        </p:txBody>
      </p:sp>
      <p:sp>
        <p:nvSpPr>
          <p:cNvPr id="731" name="Text 731"/>
          <p:cNvSpPr txBox="1"/>
          <p:nvPr/>
        </p:nvSpPr>
        <p:spPr>
          <a:xfrm>
            <a:off x="3383280" y="1261872"/>
            <a:ext cx="2542032" cy="78638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Área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69.9 mil 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construída</a:t>
            </a:r>
          </a:p>
        </p:txBody>
      </p:sp>
      <p:sp>
        <p:nvSpPr>
          <p:cNvPr id="732" name="Text 732"/>
          <p:cNvSpPr txBox="1"/>
          <p:nvPr/>
        </p:nvSpPr>
        <p:spPr>
          <a:xfrm>
            <a:off x="6199632" y="1261872"/>
            <a:ext cx="2542032" cy="786384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R$ 26.1 mi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negociado</a:t>
            </a:r>
          </a:p>
        </p:txBody>
      </p:sp>
      <p:sp>
        <p:nvSpPr>
          <p:cNvPr id="733" name="Text 733"/>
          <p:cNvSpPr txBox="1"/>
          <p:nvPr/>
        </p:nvSpPr>
        <p:spPr>
          <a:xfrm>
            <a:off x="9015984" y="1261872"/>
            <a:ext cx="2542032" cy="786384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R$/m²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R$ 373/m²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nesta tipologia</a:t>
            </a:r>
          </a:p>
        </p:txBody>
      </p:sp>
      <p:sp>
        <p:nvSpPr>
          <p:cNvPr id="750" name="Text 750"/>
          <p:cNvSpPr txBox="1"/>
          <p:nvPr/>
        </p:nvSpPr>
        <p:spPr>
          <a:xfrm>
            <a:off x="658368" y="2359152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253F8E"/>
                </a:solidFill>
              </a:rPr>
              <a:t>Classificação de Obra</a:t>
            </a:r>
          </a:p>
        </p:txBody>
      </p:sp>
      <p:sp>
        <p:nvSpPr>
          <p:cNvPr id="760" name="Text 760"/>
          <p:cNvSpPr txBox="1"/>
          <p:nvPr/>
        </p:nvSpPr>
        <p:spPr>
          <a:xfrm>
            <a:off x="658368" y="2688336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Classificação</a:t>
            </a:r>
          </a:p>
        </p:txBody>
      </p:sp>
      <p:sp>
        <p:nvSpPr>
          <p:cNvPr id="761" name="Text 761"/>
          <p:cNvSpPr txBox="1"/>
          <p:nvPr/>
        </p:nvSpPr>
        <p:spPr>
          <a:xfrm>
            <a:off x="2715768" y="2688336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762" name="Text 762"/>
          <p:cNvSpPr txBox="1"/>
          <p:nvPr/>
        </p:nvSpPr>
        <p:spPr>
          <a:xfrm>
            <a:off x="3310128" y="2688336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763" name="Text 763"/>
          <p:cNvSpPr txBox="1"/>
          <p:nvPr/>
        </p:nvSpPr>
        <p:spPr>
          <a:xfrm>
            <a:off x="4315968" y="2688336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764" name="Text 764"/>
          <p:cNvSpPr txBox="1"/>
          <p:nvPr/>
        </p:nvSpPr>
        <p:spPr>
          <a:xfrm>
            <a:off x="5504688" y="2688336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765" name="Text 765"/>
          <p:cNvSpPr txBox="1"/>
          <p:nvPr/>
        </p:nvSpPr>
        <p:spPr>
          <a:xfrm>
            <a:off x="658368" y="2999232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Adequação Regulatória</a:t>
            </a:r>
          </a:p>
        </p:txBody>
      </p:sp>
      <p:sp>
        <p:nvSpPr>
          <p:cNvPr id="766" name="Text 766"/>
          <p:cNvSpPr txBox="1"/>
          <p:nvPr/>
        </p:nvSpPr>
        <p:spPr>
          <a:xfrm>
            <a:off x="2715768" y="2999232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86</a:t>
            </a:r>
          </a:p>
        </p:txBody>
      </p:sp>
      <p:sp>
        <p:nvSpPr>
          <p:cNvPr id="767" name="Text 767"/>
          <p:cNvSpPr txBox="1"/>
          <p:nvPr/>
        </p:nvSpPr>
        <p:spPr>
          <a:xfrm>
            <a:off x="3310128" y="2999232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69.3 mil m²</a:t>
            </a:r>
          </a:p>
        </p:txBody>
      </p:sp>
      <p:sp>
        <p:nvSpPr>
          <p:cNvPr id="768" name="Text 768"/>
          <p:cNvSpPr txBox="1"/>
          <p:nvPr/>
        </p:nvSpPr>
        <p:spPr>
          <a:xfrm>
            <a:off x="4315968" y="2999232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R$ 25.2 mi</a:t>
            </a:r>
          </a:p>
        </p:txBody>
      </p:sp>
      <p:sp>
        <p:nvSpPr>
          <p:cNvPr id="769" name="Text 769"/>
          <p:cNvSpPr txBox="1"/>
          <p:nvPr/>
        </p:nvSpPr>
        <p:spPr>
          <a:xfrm>
            <a:off x="5504688" y="299923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R$ 364</a:t>
            </a:r>
          </a:p>
        </p:txBody>
      </p:sp>
      <p:sp>
        <p:nvSpPr>
          <p:cNvPr id="770" name="Text 770"/>
          <p:cNvSpPr txBox="1"/>
          <p:nvPr/>
        </p:nvSpPr>
        <p:spPr>
          <a:xfrm>
            <a:off x="658368" y="3310128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Padronização de Unidade</a:t>
            </a:r>
          </a:p>
        </p:txBody>
      </p:sp>
      <p:sp>
        <p:nvSpPr>
          <p:cNvPr id="771" name="Text 771"/>
          <p:cNvSpPr txBox="1"/>
          <p:nvPr/>
        </p:nvSpPr>
        <p:spPr>
          <a:xfrm>
            <a:off x="2715768" y="3310128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772" name="Text 772"/>
          <p:cNvSpPr txBox="1"/>
          <p:nvPr/>
        </p:nvSpPr>
        <p:spPr>
          <a:xfrm>
            <a:off x="3310128" y="3310128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574 m²</a:t>
            </a:r>
          </a:p>
        </p:txBody>
      </p:sp>
      <p:sp>
        <p:nvSpPr>
          <p:cNvPr id="773" name="Text 773"/>
          <p:cNvSpPr txBox="1"/>
          <p:nvPr/>
        </p:nvSpPr>
        <p:spPr>
          <a:xfrm>
            <a:off x="4315968" y="3310128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R$ 867.2 mil</a:t>
            </a:r>
          </a:p>
        </p:txBody>
      </p:sp>
      <p:sp>
        <p:nvSpPr>
          <p:cNvPr id="774" name="Text 774"/>
          <p:cNvSpPr txBox="1"/>
          <p:nvPr/>
        </p:nvSpPr>
        <p:spPr>
          <a:xfrm>
            <a:off x="5504688" y="3310128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R$ 1.511</a:t>
            </a:r>
          </a:p>
        </p:txBody>
      </p:sp>
      <p:sp>
        <p:nvSpPr>
          <p:cNvPr id="830" name="Text 830"/>
          <p:cNvSpPr txBox="1"/>
          <p:nvPr/>
        </p:nvSpPr>
        <p:spPr>
          <a:xfrm>
            <a:off x="6446520" y="2359152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2F65B7"/>
                </a:solidFill>
              </a:rPr>
              <a:t>Nível de Obra</a:t>
            </a:r>
          </a:p>
        </p:txBody>
      </p:sp>
      <p:sp>
        <p:nvSpPr>
          <p:cNvPr id="840" name="Text 840"/>
          <p:cNvSpPr txBox="1"/>
          <p:nvPr/>
        </p:nvSpPr>
        <p:spPr>
          <a:xfrm>
            <a:off x="6446520" y="2688336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Nível</a:t>
            </a:r>
          </a:p>
        </p:txBody>
      </p:sp>
      <p:sp>
        <p:nvSpPr>
          <p:cNvPr id="841" name="Text 841"/>
          <p:cNvSpPr txBox="1"/>
          <p:nvPr/>
        </p:nvSpPr>
        <p:spPr>
          <a:xfrm>
            <a:off x="8503920" y="2688336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842" name="Text 842"/>
          <p:cNvSpPr txBox="1"/>
          <p:nvPr/>
        </p:nvSpPr>
        <p:spPr>
          <a:xfrm>
            <a:off x="9098280" y="2688336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843" name="Text 843"/>
          <p:cNvSpPr txBox="1"/>
          <p:nvPr/>
        </p:nvSpPr>
        <p:spPr>
          <a:xfrm>
            <a:off x="10104120" y="2688336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844" name="Text 844"/>
          <p:cNvSpPr txBox="1"/>
          <p:nvPr/>
        </p:nvSpPr>
        <p:spPr>
          <a:xfrm>
            <a:off x="11292840" y="2688336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845" name="Text 845"/>
          <p:cNvSpPr txBox="1"/>
          <p:nvPr/>
        </p:nvSpPr>
        <p:spPr>
          <a:xfrm>
            <a:off x="6446520" y="2999232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Retrofit</a:t>
            </a:r>
          </a:p>
        </p:txBody>
      </p:sp>
      <p:sp>
        <p:nvSpPr>
          <p:cNvPr id="846" name="Text 846"/>
          <p:cNvSpPr txBox="1"/>
          <p:nvPr/>
        </p:nvSpPr>
        <p:spPr>
          <a:xfrm>
            <a:off x="8503920" y="2999232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87</a:t>
            </a:r>
          </a:p>
        </p:txBody>
      </p:sp>
      <p:sp>
        <p:nvSpPr>
          <p:cNvPr id="847" name="Text 847"/>
          <p:cNvSpPr txBox="1"/>
          <p:nvPr/>
        </p:nvSpPr>
        <p:spPr>
          <a:xfrm>
            <a:off x="9098280" y="2999232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69.9 mil m²</a:t>
            </a:r>
          </a:p>
        </p:txBody>
      </p:sp>
      <p:sp>
        <p:nvSpPr>
          <p:cNvPr id="848" name="Text 848"/>
          <p:cNvSpPr txBox="1"/>
          <p:nvPr/>
        </p:nvSpPr>
        <p:spPr>
          <a:xfrm>
            <a:off x="10104120" y="2999232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R$ 26.1 mi</a:t>
            </a:r>
          </a:p>
        </p:txBody>
      </p:sp>
      <p:sp>
        <p:nvSpPr>
          <p:cNvPr id="849" name="Text 849"/>
          <p:cNvSpPr txBox="1"/>
          <p:nvPr/>
        </p:nvSpPr>
        <p:spPr>
          <a:xfrm>
            <a:off x="11292840" y="299923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R$ 373</a:t>
            </a:r>
          </a:p>
        </p:txBody>
      </p:sp>
      <p:sp>
        <p:nvSpPr>
          <p:cNvPr id="910" name="Text 910"/>
          <p:cNvSpPr txBox="1"/>
          <p:nvPr/>
        </p:nvSpPr>
        <p:spPr>
          <a:xfrm>
            <a:off x="658368" y="5559552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00">
                <a:solidFill>
                  <a:srgbClr val="64748B"/>
                </a:solidFill>
              </a:rPr>
              <a:t>Estados líderes: SP (R$ 5.2 mi) | RN (R$ 4.4 mi) | PE (R$ 4.1 mi) | AM (R$ 4.1 mi) | MG (R$ 3.3 mi)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Tipologia de Obras: Clínicas Ambulatoriais, Laboratórios e Coletas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9</a:t>
            </a:r>
          </a:p>
        </p:txBody>
      </p:sp>
      <p:sp>
        <p:nvSpPr>
          <p:cNvPr id="720" name="Text 720"/>
          <p:cNvSpPr txBox="1"/>
          <p:nvPr/>
        </p:nvSpPr>
        <p:spPr>
          <a:xfrm>
            <a:off x="566928" y="749808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100" b="1">
                <a:solidFill>
                  <a:srgbClr val="15253F"/>
                </a:solidFill>
              </a:rPr>
              <a:t>Tipologia de Obras | Clínicas Ambulatoriais, Laboratórios e Coletas</a:t>
            </a:r>
          </a:p>
        </p:txBody>
      </p:sp>
      <p:sp>
        <p:nvSpPr>
          <p:cNvPr id="730" name="Text 730"/>
          <p:cNvSpPr txBox="1"/>
          <p:nvPr/>
        </p:nvSpPr>
        <p:spPr>
          <a:xfrm>
            <a:off x="566928" y="1261872"/>
            <a:ext cx="2542032" cy="78638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90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no período</a:t>
            </a:r>
          </a:p>
        </p:txBody>
      </p:sp>
      <p:sp>
        <p:nvSpPr>
          <p:cNvPr id="731" name="Text 731"/>
          <p:cNvSpPr txBox="1"/>
          <p:nvPr/>
        </p:nvSpPr>
        <p:spPr>
          <a:xfrm>
            <a:off x="3383280" y="1261872"/>
            <a:ext cx="2542032" cy="78638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Área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53.5 mil 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construída</a:t>
            </a:r>
          </a:p>
        </p:txBody>
      </p:sp>
      <p:sp>
        <p:nvSpPr>
          <p:cNvPr id="732" name="Text 732"/>
          <p:cNvSpPr txBox="1"/>
          <p:nvPr/>
        </p:nvSpPr>
        <p:spPr>
          <a:xfrm>
            <a:off x="6199632" y="1261872"/>
            <a:ext cx="2542032" cy="786384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R$ 99.7 mi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negociado</a:t>
            </a:r>
          </a:p>
        </p:txBody>
      </p:sp>
      <p:sp>
        <p:nvSpPr>
          <p:cNvPr id="733" name="Text 733"/>
          <p:cNvSpPr txBox="1"/>
          <p:nvPr/>
        </p:nvSpPr>
        <p:spPr>
          <a:xfrm>
            <a:off x="9015984" y="1261872"/>
            <a:ext cx="2542032" cy="786384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R$/m²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R$ 1.865/m²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nesta tipologia</a:t>
            </a:r>
          </a:p>
        </p:txBody>
      </p:sp>
      <p:sp>
        <p:nvSpPr>
          <p:cNvPr id="750" name="Text 750"/>
          <p:cNvSpPr txBox="1"/>
          <p:nvPr/>
        </p:nvSpPr>
        <p:spPr>
          <a:xfrm>
            <a:off x="658368" y="2359152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253F8E"/>
                </a:solidFill>
              </a:rPr>
              <a:t>Classificação de Obra</a:t>
            </a:r>
          </a:p>
        </p:txBody>
      </p:sp>
      <p:sp>
        <p:nvSpPr>
          <p:cNvPr id="760" name="Text 760"/>
          <p:cNvSpPr txBox="1"/>
          <p:nvPr/>
        </p:nvSpPr>
        <p:spPr>
          <a:xfrm>
            <a:off x="658368" y="2688336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Classificação</a:t>
            </a:r>
          </a:p>
        </p:txBody>
      </p:sp>
      <p:sp>
        <p:nvSpPr>
          <p:cNvPr id="761" name="Text 761"/>
          <p:cNvSpPr txBox="1"/>
          <p:nvPr/>
        </p:nvSpPr>
        <p:spPr>
          <a:xfrm>
            <a:off x="2715768" y="2688336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762" name="Text 762"/>
          <p:cNvSpPr txBox="1"/>
          <p:nvPr/>
        </p:nvSpPr>
        <p:spPr>
          <a:xfrm>
            <a:off x="3310128" y="2688336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763" name="Text 763"/>
          <p:cNvSpPr txBox="1"/>
          <p:nvPr/>
        </p:nvSpPr>
        <p:spPr>
          <a:xfrm>
            <a:off x="4315968" y="2688336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764" name="Text 764"/>
          <p:cNvSpPr txBox="1"/>
          <p:nvPr/>
        </p:nvSpPr>
        <p:spPr>
          <a:xfrm>
            <a:off x="5504688" y="2688336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765" name="Text 765"/>
          <p:cNvSpPr txBox="1"/>
          <p:nvPr/>
        </p:nvSpPr>
        <p:spPr>
          <a:xfrm>
            <a:off x="658368" y="2999232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Verticalização</a:t>
            </a:r>
          </a:p>
        </p:txBody>
      </p:sp>
      <p:sp>
        <p:nvSpPr>
          <p:cNvPr id="766" name="Text 766"/>
          <p:cNvSpPr txBox="1"/>
          <p:nvPr/>
        </p:nvSpPr>
        <p:spPr>
          <a:xfrm>
            <a:off x="2715768" y="2999232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26</a:t>
            </a:r>
          </a:p>
        </p:txBody>
      </p:sp>
      <p:sp>
        <p:nvSpPr>
          <p:cNvPr id="767" name="Text 767"/>
          <p:cNvSpPr txBox="1"/>
          <p:nvPr/>
        </p:nvSpPr>
        <p:spPr>
          <a:xfrm>
            <a:off x="3310128" y="2999232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20.5 mil m²</a:t>
            </a:r>
          </a:p>
        </p:txBody>
      </p:sp>
      <p:sp>
        <p:nvSpPr>
          <p:cNvPr id="768" name="Text 768"/>
          <p:cNvSpPr txBox="1"/>
          <p:nvPr/>
        </p:nvSpPr>
        <p:spPr>
          <a:xfrm>
            <a:off x="4315968" y="2999232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R$ 30.7 mi</a:t>
            </a:r>
          </a:p>
        </p:txBody>
      </p:sp>
      <p:sp>
        <p:nvSpPr>
          <p:cNvPr id="769" name="Text 769"/>
          <p:cNvSpPr txBox="1"/>
          <p:nvPr/>
        </p:nvSpPr>
        <p:spPr>
          <a:xfrm>
            <a:off x="5504688" y="299923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R$ 1.498</a:t>
            </a:r>
          </a:p>
        </p:txBody>
      </p:sp>
      <p:sp>
        <p:nvSpPr>
          <p:cNvPr id="770" name="Text 770"/>
          <p:cNvSpPr txBox="1"/>
          <p:nvPr/>
        </p:nvSpPr>
        <p:spPr>
          <a:xfrm>
            <a:off x="658368" y="3310128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Suficiência de Rede</a:t>
            </a:r>
          </a:p>
        </p:txBody>
      </p:sp>
      <p:sp>
        <p:nvSpPr>
          <p:cNvPr id="771" name="Text 771"/>
          <p:cNvSpPr txBox="1"/>
          <p:nvPr/>
        </p:nvSpPr>
        <p:spPr>
          <a:xfrm>
            <a:off x="2715768" y="3310128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26</a:t>
            </a:r>
          </a:p>
        </p:txBody>
      </p:sp>
      <p:sp>
        <p:nvSpPr>
          <p:cNvPr id="772" name="Text 772"/>
          <p:cNvSpPr txBox="1"/>
          <p:nvPr/>
        </p:nvSpPr>
        <p:spPr>
          <a:xfrm>
            <a:off x="3310128" y="3310128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15.9 mil m²</a:t>
            </a:r>
          </a:p>
        </p:txBody>
      </p:sp>
      <p:sp>
        <p:nvSpPr>
          <p:cNvPr id="773" name="Text 773"/>
          <p:cNvSpPr txBox="1"/>
          <p:nvPr/>
        </p:nvSpPr>
        <p:spPr>
          <a:xfrm>
            <a:off x="4315968" y="3310128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R$ 30.7 mi</a:t>
            </a:r>
          </a:p>
        </p:txBody>
      </p:sp>
      <p:sp>
        <p:nvSpPr>
          <p:cNvPr id="774" name="Text 774"/>
          <p:cNvSpPr txBox="1"/>
          <p:nvPr/>
        </p:nvSpPr>
        <p:spPr>
          <a:xfrm>
            <a:off x="5504688" y="3310128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R$ 1.938</a:t>
            </a:r>
          </a:p>
        </p:txBody>
      </p:sp>
      <p:sp>
        <p:nvSpPr>
          <p:cNvPr id="775" name="Text 775"/>
          <p:cNvSpPr txBox="1"/>
          <p:nvPr/>
        </p:nvSpPr>
        <p:spPr>
          <a:xfrm>
            <a:off x="658368" y="3621024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Eficiência Operacional</a:t>
            </a:r>
          </a:p>
        </p:txBody>
      </p:sp>
      <p:sp>
        <p:nvSpPr>
          <p:cNvPr id="776" name="Text 776"/>
          <p:cNvSpPr txBox="1"/>
          <p:nvPr/>
        </p:nvSpPr>
        <p:spPr>
          <a:xfrm>
            <a:off x="2715768" y="3621024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30</a:t>
            </a:r>
          </a:p>
        </p:txBody>
      </p:sp>
      <p:sp>
        <p:nvSpPr>
          <p:cNvPr id="777" name="Text 777"/>
          <p:cNvSpPr txBox="1"/>
          <p:nvPr/>
        </p:nvSpPr>
        <p:spPr>
          <a:xfrm>
            <a:off x="3310128" y="3621024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11.6 mil m²</a:t>
            </a:r>
          </a:p>
        </p:txBody>
      </p:sp>
      <p:sp>
        <p:nvSpPr>
          <p:cNvPr id="778" name="Text 778"/>
          <p:cNvSpPr txBox="1"/>
          <p:nvPr/>
        </p:nvSpPr>
        <p:spPr>
          <a:xfrm>
            <a:off x="4315968" y="3621024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R$ 29.2 mi</a:t>
            </a:r>
          </a:p>
        </p:txBody>
      </p:sp>
      <p:sp>
        <p:nvSpPr>
          <p:cNvPr id="779" name="Text 779"/>
          <p:cNvSpPr txBox="1"/>
          <p:nvPr/>
        </p:nvSpPr>
        <p:spPr>
          <a:xfrm>
            <a:off x="5504688" y="3621024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R$ 2.505</a:t>
            </a:r>
          </a:p>
        </p:txBody>
      </p:sp>
      <p:sp>
        <p:nvSpPr>
          <p:cNvPr id="780" name="Text 780"/>
          <p:cNvSpPr txBox="1"/>
          <p:nvPr/>
        </p:nvSpPr>
        <p:spPr>
          <a:xfrm>
            <a:off x="658368" y="3931920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Obra emergencial</a:t>
            </a:r>
          </a:p>
        </p:txBody>
      </p:sp>
      <p:sp>
        <p:nvSpPr>
          <p:cNvPr id="781" name="Text 781"/>
          <p:cNvSpPr txBox="1"/>
          <p:nvPr/>
        </p:nvSpPr>
        <p:spPr>
          <a:xfrm>
            <a:off x="2715768" y="3931920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</a:t>
            </a:r>
          </a:p>
        </p:txBody>
      </p:sp>
      <p:sp>
        <p:nvSpPr>
          <p:cNvPr id="782" name="Text 782"/>
          <p:cNvSpPr txBox="1"/>
          <p:nvPr/>
        </p:nvSpPr>
        <p:spPr>
          <a:xfrm>
            <a:off x="3310128" y="3931920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2.4 mil m²</a:t>
            </a:r>
          </a:p>
        </p:txBody>
      </p:sp>
      <p:sp>
        <p:nvSpPr>
          <p:cNvPr id="783" name="Text 783"/>
          <p:cNvSpPr txBox="1"/>
          <p:nvPr/>
        </p:nvSpPr>
        <p:spPr>
          <a:xfrm>
            <a:off x="4315968" y="3931920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R$ 4.9 mi</a:t>
            </a:r>
          </a:p>
        </p:txBody>
      </p:sp>
      <p:sp>
        <p:nvSpPr>
          <p:cNvPr id="784" name="Text 784"/>
          <p:cNvSpPr txBox="1"/>
          <p:nvPr/>
        </p:nvSpPr>
        <p:spPr>
          <a:xfrm>
            <a:off x="5504688" y="3931920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R$ 2.048</a:t>
            </a:r>
          </a:p>
        </p:txBody>
      </p:sp>
      <p:sp>
        <p:nvSpPr>
          <p:cNvPr id="785" name="Text 785"/>
          <p:cNvSpPr txBox="1"/>
          <p:nvPr/>
        </p:nvSpPr>
        <p:spPr>
          <a:xfrm>
            <a:off x="658368" y="4242816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Obra Estratégica</a:t>
            </a:r>
          </a:p>
        </p:txBody>
      </p:sp>
      <p:sp>
        <p:nvSpPr>
          <p:cNvPr id="786" name="Text 786"/>
          <p:cNvSpPr txBox="1"/>
          <p:nvPr/>
        </p:nvSpPr>
        <p:spPr>
          <a:xfrm>
            <a:off x="2715768" y="4242816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</a:t>
            </a:r>
          </a:p>
        </p:txBody>
      </p:sp>
      <p:sp>
        <p:nvSpPr>
          <p:cNvPr id="787" name="Text 787"/>
          <p:cNvSpPr txBox="1"/>
          <p:nvPr/>
        </p:nvSpPr>
        <p:spPr>
          <a:xfrm>
            <a:off x="3310128" y="4242816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1.7 mil m²</a:t>
            </a:r>
          </a:p>
        </p:txBody>
      </p:sp>
      <p:sp>
        <p:nvSpPr>
          <p:cNvPr id="788" name="Text 788"/>
          <p:cNvSpPr txBox="1"/>
          <p:nvPr/>
        </p:nvSpPr>
        <p:spPr>
          <a:xfrm>
            <a:off x="4315968" y="4242816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R$ 3.9 mi</a:t>
            </a:r>
          </a:p>
        </p:txBody>
      </p:sp>
      <p:sp>
        <p:nvSpPr>
          <p:cNvPr id="789" name="Text 789"/>
          <p:cNvSpPr txBox="1"/>
          <p:nvPr/>
        </p:nvSpPr>
        <p:spPr>
          <a:xfrm>
            <a:off x="5504688" y="4242816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R$ 2.276</a:t>
            </a:r>
          </a:p>
        </p:txBody>
      </p:sp>
      <p:sp>
        <p:nvSpPr>
          <p:cNvPr id="790" name="Text 790"/>
          <p:cNvSpPr txBox="1"/>
          <p:nvPr/>
        </p:nvSpPr>
        <p:spPr>
          <a:xfrm>
            <a:off x="658368" y="4553712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Padronização de Unidade</a:t>
            </a:r>
          </a:p>
        </p:txBody>
      </p:sp>
      <p:sp>
        <p:nvSpPr>
          <p:cNvPr id="791" name="Text 791"/>
          <p:cNvSpPr txBox="1"/>
          <p:nvPr/>
        </p:nvSpPr>
        <p:spPr>
          <a:xfrm>
            <a:off x="2715768" y="4553712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</a:t>
            </a:r>
          </a:p>
        </p:txBody>
      </p:sp>
      <p:sp>
        <p:nvSpPr>
          <p:cNvPr id="792" name="Text 792"/>
          <p:cNvSpPr txBox="1"/>
          <p:nvPr/>
        </p:nvSpPr>
        <p:spPr>
          <a:xfrm>
            <a:off x="3310128" y="4553712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1.4 mil m²</a:t>
            </a:r>
          </a:p>
        </p:txBody>
      </p:sp>
      <p:sp>
        <p:nvSpPr>
          <p:cNvPr id="793" name="Text 793"/>
          <p:cNvSpPr txBox="1"/>
          <p:nvPr/>
        </p:nvSpPr>
        <p:spPr>
          <a:xfrm>
            <a:off x="4315968" y="4553712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R$ 355.5 mil</a:t>
            </a:r>
          </a:p>
        </p:txBody>
      </p:sp>
      <p:sp>
        <p:nvSpPr>
          <p:cNvPr id="794" name="Text 794"/>
          <p:cNvSpPr txBox="1"/>
          <p:nvPr/>
        </p:nvSpPr>
        <p:spPr>
          <a:xfrm>
            <a:off x="5504688" y="4553712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R$ 254</a:t>
            </a:r>
          </a:p>
        </p:txBody>
      </p:sp>
      <p:sp>
        <p:nvSpPr>
          <p:cNvPr id="830" name="Text 830"/>
          <p:cNvSpPr txBox="1"/>
          <p:nvPr/>
        </p:nvSpPr>
        <p:spPr>
          <a:xfrm>
            <a:off x="6446520" y="2359152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2F65B7"/>
                </a:solidFill>
              </a:rPr>
              <a:t>Nível de Obra</a:t>
            </a:r>
          </a:p>
        </p:txBody>
      </p:sp>
      <p:sp>
        <p:nvSpPr>
          <p:cNvPr id="840" name="Text 840"/>
          <p:cNvSpPr txBox="1"/>
          <p:nvPr/>
        </p:nvSpPr>
        <p:spPr>
          <a:xfrm>
            <a:off x="6446520" y="2688336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Nível</a:t>
            </a:r>
          </a:p>
        </p:txBody>
      </p:sp>
      <p:sp>
        <p:nvSpPr>
          <p:cNvPr id="841" name="Text 841"/>
          <p:cNvSpPr txBox="1"/>
          <p:nvPr/>
        </p:nvSpPr>
        <p:spPr>
          <a:xfrm>
            <a:off x="8503920" y="2688336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842" name="Text 842"/>
          <p:cNvSpPr txBox="1"/>
          <p:nvPr/>
        </p:nvSpPr>
        <p:spPr>
          <a:xfrm>
            <a:off x="9098280" y="2688336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843" name="Text 843"/>
          <p:cNvSpPr txBox="1"/>
          <p:nvPr/>
        </p:nvSpPr>
        <p:spPr>
          <a:xfrm>
            <a:off x="10104120" y="2688336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844" name="Text 844"/>
          <p:cNvSpPr txBox="1"/>
          <p:nvPr/>
        </p:nvSpPr>
        <p:spPr>
          <a:xfrm>
            <a:off x="11292840" y="2688336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845" name="Text 845"/>
          <p:cNvSpPr txBox="1"/>
          <p:nvPr/>
        </p:nvSpPr>
        <p:spPr>
          <a:xfrm>
            <a:off x="6446520" y="2999232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Nova Unidade</a:t>
            </a:r>
          </a:p>
        </p:txBody>
      </p:sp>
      <p:sp>
        <p:nvSpPr>
          <p:cNvPr id="846" name="Text 846"/>
          <p:cNvSpPr txBox="1"/>
          <p:nvPr/>
        </p:nvSpPr>
        <p:spPr>
          <a:xfrm>
            <a:off x="8503920" y="2999232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45</a:t>
            </a:r>
          </a:p>
        </p:txBody>
      </p:sp>
      <p:sp>
        <p:nvSpPr>
          <p:cNvPr id="847" name="Text 847"/>
          <p:cNvSpPr txBox="1"/>
          <p:nvPr/>
        </p:nvSpPr>
        <p:spPr>
          <a:xfrm>
            <a:off x="9098280" y="2999232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36.1 mil m²</a:t>
            </a:r>
          </a:p>
        </p:txBody>
      </p:sp>
      <p:sp>
        <p:nvSpPr>
          <p:cNvPr id="848" name="Text 848"/>
          <p:cNvSpPr txBox="1"/>
          <p:nvPr/>
        </p:nvSpPr>
        <p:spPr>
          <a:xfrm>
            <a:off x="10104120" y="2999232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R$ 70.4 mi</a:t>
            </a:r>
          </a:p>
        </p:txBody>
      </p:sp>
      <p:sp>
        <p:nvSpPr>
          <p:cNvPr id="849" name="Text 849"/>
          <p:cNvSpPr txBox="1"/>
          <p:nvPr/>
        </p:nvSpPr>
        <p:spPr>
          <a:xfrm>
            <a:off x="11292840" y="299923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R$ 1.948</a:t>
            </a:r>
          </a:p>
        </p:txBody>
      </p:sp>
      <p:sp>
        <p:nvSpPr>
          <p:cNvPr id="850" name="Text 850"/>
          <p:cNvSpPr txBox="1"/>
          <p:nvPr/>
        </p:nvSpPr>
        <p:spPr>
          <a:xfrm>
            <a:off x="6446520" y="3310128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Retrofit</a:t>
            </a:r>
          </a:p>
        </p:txBody>
      </p:sp>
      <p:sp>
        <p:nvSpPr>
          <p:cNvPr id="851" name="Text 851"/>
          <p:cNvSpPr txBox="1"/>
          <p:nvPr/>
        </p:nvSpPr>
        <p:spPr>
          <a:xfrm>
            <a:off x="8503920" y="3310128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37</a:t>
            </a:r>
          </a:p>
        </p:txBody>
      </p:sp>
      <p:sp>
        <p:nvSpPr>
          <p:cNvPr id="852" name="Text 852"/>
          <p:cNvSpPr txBox="1"/>
          <p:nvPr/>
        </p:nvSpPr>
        <p:spPr>
          <a:xfrm>
            <a:off x="9098280" y="3310128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11.8 mil m²</a:t>
            </a:r>
          </a:p>
        </p:txBody>
      </p:sp>
      <p:sp>
        <p:nvSpPr>
          <p:cNvPr id="853" name="Text 853"/>
          <p:cNvSpPr txBox="1"/>
          <p:nvPr/>
        </p:nvSpPr>
        <p:spPr>
          <a:xfrm>
            <a:off x="10104120" y="3310128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R$ 20.7 mi</a:t>
            </a:r>
          </a:p>
        </p:txBody>
      </p:sp>
      <p:sp>
        <p:nvSpPr>
          <p:cNvPr id="854" name="Text 854"/>
          <p:cNvSpPr txBox="1"/>
          <p:nvPr/>
        </p:nvSpPr>
        <p:spPr>
          <a:xfrm>
            <a:off x="11292840" y="3310128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R$ 1.745</a:t>
            </a:r>
          </a:p>
        </p:txBody>
      </p:sp>
      <p:sp>
        <p:nvSpPr>
          <p:cNvPr id="855" name="Text 855"/>
          <p:cNvSpPr txBox="1"/>
          <p:nvPr/>
        </p:nvSpPr>
        <p:spPr>
          <a:xfrm>
            <a:off x="6446520" y="3621024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Nova/R</a:t>
            </a:r>
          </a:p>
        </p:txBody>
      </p:sp>
      <p:sp>
        <p:nvSpPr>
          <p:cNvPr id="856" name="Text 856"/>
          <p:cNvSpPr txBox="1"/>
          <p:nvPr/>
        </p:nvSpPr>
        <p:spPr>
          <a:xfrm>
            <a:off x="8503920" y="3621024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7</a:t>
            </a:r>
          </a:p>
        </p:txBody>
      </p:sp>
      <p:sp>
        <p:nvSpPr>
          <p:cNvPr id="857" name="Text 857"/>
          <p:cNvSpPr txBox="1"/>
          <p:nvPr/>
        </p:nvSpPr>
        <p:spPr>
          <a:xfrm>
            <a:off x="9098280" y="3621024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5.4 mil m²</a:t>
            </a:r>
          </a:p>
        </p:txBody>
      </p:sp>
      <p:sp>
        <p:nvSpPr>
          <p:cNvPr id="858" name="Text 858"/>
          <p:cNvSpPr txBox="1"/>
          <p:nvPr/>
        </p:nvSpPr>
        <p:spPr>
          <a:xfrm>
            <a:off x="10104120" y="3621024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R$ 8.4 mi</a:t>
            </a:r>
          </a:p>
        </p:txBody>
      </p:sp>
      <p:sp>
        <p:nvSpPr>
          <p:cNvPr id="859" name="Text 859"/>
          <p:cNvSpPr txBox="1"/>
          <p:nvPr/>
        </p:nvSpPr>
        <p:spPr>
          <a:xfrm>
            <a:off x="11292840" y="3621024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R$ 1.574</a:t>
            </a:r>
          </a:p>
        </p:txBody>
      </p:sp>
      <p:sp>
        <p:nvSpPr>
          <p:cNvPr id="860" name="Text 860"/>
          <p:cNvSpPr txBox="1"/>
          <p:nvPr/>
        </p:nvSpPr>
        <p:spPr>
          <a:xfrm>
            <a:off x="6446520" y="3931920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Ampliação</a:t>
            </a:r>
          </a:p>
        </p:txBody>
      </p:sp>
      <p:sp>
        <p:nvSpPr>
          <p:cNvPr id="861" name="Text 861"/>
          <p:cNvSpPr txBox="1"/>
          <p:nvPr/>
        </p:nvSpPr>
        <p:spPr>
          <a:xfrm>
            <a:off x="8503920" y="3931920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862" name="Text 862"/>
          <p:cNvSpPr txBox="1"/>
          <p:nvPr/>
        </p:nvSpPr>
        <p:spPr>
          <a:xfrm>
            <a:off x="9098280" y="3931920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159 m²</a:t>
            </a:r>
          </a:p>
        </p:txBody>
      </p:sp>
      <p:sp>
        <p:nvSpPr>
          <p:cNvPr id="863" name="Text 863"/>
          <p:cNvSpPr txBox="1"/>
          <p:nvPr/>
        </p:nvSpPr>
        <p:spPr>
          <a:xfrm>
            <a:off x="10104120" y="3931920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R$ 244.0 mil</a:t>
            </a:r>
          </a:p>
        </p:txBody>
      </p:sp>
      <p:sp>
        <p:nvSpPr>
          <p:cNvPr id="864" name="Text 864"/>
          <p:cNvSpPr txBox="1"/>
          <p:nvPr/>
        </p:nvSpPr>
        <p:spPr>
          <a:xfrm>
            <a:off x="11292840" y="3931920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R$ 1.535</a:t>
            </a:r>
          </a:p>
        </p:txBody>
      </p:sp>
      <p:sp>
        <p:nvSpPr>
          <p:cNvPr id="910" name="Text 910"/>
          <p:cNvSpPr txBox="1"/>
          <p:nvPr/>
        </p:nvSpPr>
        <p:spPr>
          <a:xfrm>
            <a:off x="658368" y="5559552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00">
                <a:solidFill>
                  <a:srgbClr val="64748B"/>
                </a:solidFill>
              </a:rPr>
              <a:t>Estados líderes: SP (R$ 53.2 mi) | CE (R$ 11.9 mi) | PE (R$ 10.6 mi) | AM (R$ 4.6 mi) | PR (R$ 4.0 mi)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Tipologia de Obras: Hospitais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10</a:t>
            </a:r>
          </a:p>
        </p:txBody>
      </p:sp>
      <p:sp>
        <p:nvSpPr>
          <p:cNvPr id="720" name="Text 720"/>
          <p:cNvSpPr txBox="1"/>
          <p:nvPr/>
        </p:nvSpPr>
        <p:spPr>
          <a:xfrm>
            <a:off x="566928" y="749808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100" b="1">
                <a:solidFill>
                  <a:srgbClr val="15253F"/>
                </a:solidFill>
              </a:rPr>
              <a:t>Tipologia de Obras | Hospitais</a:t>
            </a:r>
          </a:p>
        </p:txBody>
      </p:sp>
      <p:sp>
        <p:nvSpPr>
          <p:cNvPr id="730" name="Text 730"/>
          <p:cNvSpPr txBox="1"/>
          <p:nvPr/>
        </p:nvSpPr>
        <p:spPr>
          <a:xfrm>
            <a:off x="566928" y="1261872"/>
            <a:ext cx="2542032" cy="78638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25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no período</a:t>
            </a:r>
          </a:p>
        </p:txBody>
      </p:sp>
      <p:sp>
        <p:nvSpPr>
          <p:cNvPr id="731" name="Text 731"/>
          <p:cNvSpPr txBox="1"/>
          <p:nvPr/>
        </p:nvSpPr>
        <p:spPr>
          <a:xfrm>
            <a:off x="3383280" y="1261872"/>
            <a:ext cx="2542032" cy="78638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Área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34.6 mil 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construída</a:t>
            </a:r>
          </a:p>
        </p:txBody>
      </p:sp>
      <p:sp>
        <p:nvSpPr>
          <p:cNvPr id="732" name="Text 732"/>
          <p:cNvSpPr txBox="1"/>
          <p:nvPr/>
        </p:nvSpPr>
        <p:spPr>
          <a:xfrm>
            <a:off x="6199632" y="1261872"/>
            <a:ext cx="2542032" cy="786384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R$ 56.9 mi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negociado</a:t>
            </a:r>
          </a:p>
        </p:txBody>
      </p:sp>
      <p:sp>
        <p:nvSpPr>
          <p:cNvPr id="733" name="Text 733"/>
          <p:cNvSpPr txBox="1"/>
          <p:nvPr/>
        </p:nvSpPr>
        <p:spPr>
          <a:xfrm>
            <a:off x="9015984" y="1261872"/>
            <a:ext cx="2542032" cy="786384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R$/m²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R$ 1.645/m²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nesta tipologia</a:t>
            </a:r>
          </a:p>
        </p:txBody>
      </p:sp>
      <p:sp>
        <p:nvSpPr>
          <p:cNvPr id="750" name="Text 750"/>
          <p:cNvSpPr txBox="1"/>
          <p:nvPr/>
        </p:nvSpPr>
        <p:spPr>
          <a:xfrm>
            <a:off x="658368" y="2359152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253F8E"/>
                </a:solidFill>
              </a:rPr>
              <a:t>Classificação de Obra</a:t>
            </a:r>
          </a:p>
        </p:txBody>
      </p:sp>
      <p:sp>
        <p:nvSpPr>
          <p:cNvPr id="760" name="Text 760"/>
          <p:cNvSpPr txBox="1"/>
          <p:nvPr/>
        </p:nvSpPr>
        <p:spPr>
          <a:xfrm>
            <a:off x="658368" y="2688336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Classificação</a:t>
            </a:r>
          </a:p>
        </p:txBody>
      </p:sp>
      <p:sp>
        <p:nvSpPr>
          <p:cNvPr id="761" name="Text 761"/>
          <p:cNvSpPr txBox="1"/>
          <p:nvPr/>
        </p:nvSpPr>
        <p:spPr>
          <a:xfrm>
            <a:off x="2715768" y="2688336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762" name="Text 762"/>
          <p:cNvSpPr txBox="1"/>
          <p:nvPr/>
        </p:nvSpPr>
        <p:spPr>
          <a:xfrm>
            <a:off x="3310128" y="2688336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763" name="Text 763"/>
          <p:cNvSpPr txBox="1"/>
          <p:nvPr/>
        </p:nvSpPr>
        <p:spPr>
          <a:xfrm>
            <a:off x="4315968" y="2688336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764" name="Text 764"/>
          <p:cNvSpPr txBox="1"/>
          <p:nvPr/>
        </p:nvSpPr>
        <p:spPr>
          <a:xfrm>
            <a:off x="5504688" y="2688336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765" name="Text 765"/>
          <p:cNvSpPr txBox="1"/>
          <p:nvPr/>
        </p:nvSpPr>
        <p:spPr>
          <a:xfrm>
            <a:off x="658368" y="2999232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Suficiência de Rede</a:t>
            </a:r>
          </a:p>
        </p:txBody>
      </p:sp>
      <p:sp>
        <p:nvSpPr>
          <p:cNvPr id="766" name="Text 766"/>
          <p:cNvSpPr txBox="1"/>
          <p:nvPr/>
        </p:nvSpPr>
        <p:spPr>
          <a:xfrm>
            <a:off x="2715768" y="2999232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</a:t>
            </a:r>
          </a:p>
        </p:txBody>
      </p:sp>
      <p:sp>
        <p:nvSpPr>
          <p:cNvPr id="767" name="Text 767"/>
          <p:cNvSpPr txBox="1"/>
          <p:nvPr/>
        </p:nvSpPr>
        <p:spPr>
          <a:xfrm>
            <a:off x="3310128" y="2999232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21.7 mil m²</a:t>
            </a:r>
          </a:p>
        </p:txBody>
      </p:sp>
      <p:sp>
        <p:nvSpPr>
          <p:cNvPr id="768" name="Text 768"/>
          <p:cNvSpPr txBox="1"/>
          <p:nvPr/>
        </p:nvSpPr>
        <p:spPr>
          <a:xfrm>
            <a:off x="4315968" y="2999232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R$ 44.2 mi</a:t>
            </a:r>
          </a:p>
        </p:txBody>
      </p:sp>
      <p:sp>
        <p:nvSpPr>
          <p:cNvPr id="769" name="Text 769"/>
          <p:cNvSpPr txBox="1"/>
          <p:nvPr/>
        </p:nvSpPr>
        <p:spPr>
          <a:xfrm>
            <a:off x="5504688" y="299923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R$ 2.038</a:t>
            </a:r>
          </a:p>
        </p:txBody>
      </p:sp>
      <p:sp>
        <p:nvSpPr>
          <p:cNvPr id="770" name="Text 770"/>
          <p:cNvSpPr txBox="1"/>
          <p:nvPr/>
        </p:nvSpPr>
        <p:spPr>
          <a:xfrm>
            <a:off x="658368" y="3310128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Fachada</a:t>
            </a:r>
          </a:p>
        </p:txBody>
      </p:sp>
      <p:sp>
        <p:nvSpPr>
          <p:cNvPr id="771" name="Text 771"/>
          <p:cNvSpPr txBox="1"/>
          <p:nvPr/>
        </p:nvSpPr>
        <p:spPr>
          <a:xfrm>
            <a:off x="2715768" y="3310128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</a:t>
            </a:r>
          </a:p>
        </p:txBody>
      </p:sp>
      <p:sp>
        <p:nvSpPr>
          <p:cNvPr id="772" name="Text 772"/>
          <p:cNvSpPr txBox="1"/>
          <p:nvPr/>
        </p:nvSpPr>
        <p:spPr>
          <a:xfrm>
            <a:off x="3310128" y="3310128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4.9 mil m²</a:t>
            </a:r>
          </a:p>
        </p:txBody>
      </p:sp>
      <p:sp>
        <p:nvSpPr>
          <p:cNvPr id="773" name="Text 773"/>
          <p:cNvSpPr txBox="1"/>
          <p:nvPr/>
        </p:nvSpPr>
        <p:spPr>
          <a:xfrm>
            <a:off x="4315968" y="3310128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R$ 1.7 mi</a:t>
            </a:r>
          </a:p>
        </p:txBody>
      </p:sp>
      <p:sp>
        <p:nvSpPr>
          <p:cNvPr id="774" name="Text 774"/>
          <p:cNvSpPr txBox="1"/>
          <p:nvPr/>
        </p:nvSpPr>
        <p:spPr>
          <a:xfrm>
            <a:off x="5504688" y="3310128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R$ 353</a:t>
            </a:r>
          </a:p>
        </p:txBody>
      </p:sp>
      <p:sp>
        <p:nvSpPr>
          <p:cNvPr id="775" name="Text 775"/>
          <p:cNvSpPr txBox="1"/>
          <p:nvPr/>
        </p:nvSpPr>
        <p:spPr>
          <a:xfrm>
            <a:off x="658368" y="3621024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Obra Estratégica</a:t>
            </a:r>
          </a:p>
        </p:txBody>
      </p:sp>
      <p:sp>
        <p:nvSpPr>
          <p:cNvPr id="776" name="Text 776"/>
          <p:cNvSpPr txBox="1"/>
          <p:nvPr/>
        </p:nvSpPr>
        <p:spPr>
          <a:xfrm>
            <a:off x="2715768" y="3621024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</a:t>
            </a:r>
          </a:p>
        </p:txBody>
      </p:sp>
      <p:sp>
        <p:nvSpPr>
          <p:cNvPr id="777" name="Text 777"/>
          <p:cNvSpPr txBox="1"/>
          <p:nvPr/>
        </p:nvSpPr>
        <p:spPr>
          <a:xfrm>
            <a:off x="3310128" y="3621024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2.2 mil m²</a:t>
            </a:r>
          </a:p>
        </p:txBody>
      </p:sp>
      <p:sp>
        <p:nvSpPr>
          <p:cNvPr id="778" name="Text 778"/>
          <p:cNvSpPr txBox="1"/>
          <p:nvPr/>
        </p:nvSpPr>
        <p:spPr>
          <a:xfrm>
            <a:off x="4315968" y="3621024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R$ 4.0 mi</a:t>
            </a:r>
          </a:p>
        </p:txBody>
      </p:sp>
      <p:sp>
        <p:nvSpPr>
          <p:cNvPr id="779" name="Text 779"/>
          <p:cNvSpPr txBox="1"/>
          <p:nvPr/>
        </p:nvSpPr>
        <p:spPr>
          <a:xfrm>
            <a:off x="5504688" y="3621024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R$ 1.827</a:t>
            </a:r>
          </a:p>
        </p:txBody>
      </p:sp>
      <p:sp>
        <p:nvSpPr>
          <p:cNvPr id="780" name="Text 780"/>
          <p:cNvSpPr txBox="1"/>
          <p:nvPr/>
        </p:nvSpPr>
        <p:spPr>
          <a:xfrm>
            <a:off x="658368" y="3931920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Venda de Serviço</a:t>
            </a:r>
          </a:p>
        </p:txBody>
      </p:sp>
      <p:sp>
        <p:nvSpPr>
          <p:cNvPr id="781" name="Text 781"/>
          <p:cNvSpPr txBox="1"/>
          <p:nvPr/>
        </p:nvSpPr>
        <p:spPr>
          <a:xfrm>
            <a:off x="2715768" y="3931920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</a:t>
            </a:r>
          </a:p>
        </p:txBody>
      </p:sp>
      <p:sp>
        <p:nvSpPr>
          <p:cNvPr id="782" name="Text 782"/>
          <p:cNvSpPr txBox="1"/>
          <p:nvPr/>
        </p:nvSpPr>
        <p:spPr>
          <a:xfrm>
            <a:off x="3310128" y="3931920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2.1 mil m²</a:t>
            </a:r>
          </a:p>
        </p:txBody>
      </p:sp>
      <p:sp>
        <p:nvSpPr>
          <p:cNvPr id="783" name="Text 783"/>
          <p:cNvSpPr txBox="1"/>
          <p:nvPr/>
        </p:nvSpPr>
        <p:spPr>
          <a:xfrm>
            <a:off x="4315968" y="3931920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R$ 510.7 mil</a:t>
            </a:r>
          </a:p>
        </p:txBody>
      </p:sp>
      <p:sp>
        <p:nvSpPr>
          <p:cNvPr id="784" name="Text 784"/>
          <p:cNvSpPr txBox="1"/>
          <p:nvPr/>
        </p:nvSpPr>
        <p:spPr>
          <a:xfrm>
            <a:off x="5504688" y="3931920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R$ 241</a:t>
            </a:r>
          </a:p>
        </p:txBody>
      </p:sp>
      <p:sp>
        <p:nvSpPr>
          <p:cNvPr id="785" name="Text 785"/>
          <p:cNvSpPr txBox="1"/>
          <p:nvPr/>
        </p:nvSpPr>
        <p:spPr>
          <a:xfrm>
            <a:off x="658368" y="4242816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Padronização de unidade</a:t>
            </a:r>
          </a:p>
        </p:txBody>
      </p:sp>
      <p:sp>
        <p:nvSpPr>
          <p:cNvPr id="786" name="Text 786"/>
          <p:cNvSpPr txBox="1"/>
          <p:nvPr/>
        </p:nvSpPr>
        <p:spPr>
          <a:xfrm>
            <a:off x="2715768" y="4242816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787" name="Text 787"/>
          <p:cNvSpPr txBox="1"/>
          <p:nvPr/>
        </p:nvSpPr>
        <p:spPr>
          <a:xfrm>
            <a:off x="3310128" y="4242816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1.9 mil m²</a:t>
            </a:r>
          </a:p>
        </p:txBody>
      </p:sp>
      <p:sp>
        <p:nvSpPr>
          <p:cNvPr id="788" name="Text 788"/>
          <p:cNvSpPr txBox="1"/>
          <p:nvPr/>
        </p:nvSpPr>
        <p:spPr>
          <a:xfrm>
            <a:off x="4315968" y="4242816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R$ 530.0 mil</a:t>
            </a:r>
          </a:p>
        </p:txBody>
      </p:sp>
      <p:sp>
        <p:nvSpPr>
          <p:cNvPr id="789" name="Text 789"/>
          <p:cNvSpPr txBox="1"/>
          <p:nvPr/>
        </p:nvSpPr>
        <p:spPr>
          <a:xfrm>
            <a:off x="5504688" y="4242816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R$ 279</a:t>
            </a:r>
          </a:p>
        </p:txBody>
      </p:sp>
      <p:sp>
        <p:nvSpPr>
          <p:cNvPr id="790" name="Text 790"/>
          <p:cNvSpPr txBox="1"/>
          <p:nvPr/>
        </p:nvSpPr>
        <p:spPr>
          <a:xfrm>
            <a:off x="658368" y="4553712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Eficiência Operacional</a:t>
            </a:r>
          </a:p>
        </p:txBody>
      </p:sp>
      <p:sp>
        <p:nvSpPr>
          <p:cNvPr id="791" name="Text 791"/>
          <p:cNvSpPr txBox="1"/>
          <p:nvPr/>
        </p:nvSpPr>
        <p:spPr>
          <a:xfrm>
            <a:off x="2715768" y="4553712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</a:t>
            </a:r>
          </a:p>
        </p:txBody>
      </p:sp>
      <p:sp>
        <p:nvSpPr>
          <p:cNvPr id="792" name="Text 792"/>
          <p:cNvSpPr txBox="1"/>
          <p:nvPr/>
        </p:nvSpPr>
        <p:spPr>
          <a:xfrm>
            <a:off x="3310128" y="4553712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1.1 mil m²</a:t>
            </a:r>
          </a:p>
        </p:txBody>
      </p:sp>
      <p:sp>
        <p:nvSpPr>
          <p:cNvPr id="793" name="Text 793"/>
          <p:cNvSpPr txBox="1"/>
          <p:nvPr/>
        </p:nvSpPr>
        <p:spPr>
          <a:xfrm>
            <a:off x="4315968" y="4553712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R$ 4.2 mi</a:t>
            </a:r>
          </a:p>
        </p:txBody>
      </p:sp>
      <p:sp>
        <p:nvSpPr>
          <p:cNvPr id="794" name="Text 794"/>
          <p:cNvSpPr txBox="1"/>
          <p:nvPr/>
        </p:nvSpPr>
        <p:spPr>
          <a:xfrm>
            <a:off x="5504688" y="4553712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R$ 3.773</a:t>
            </a:r>
          </a:p>
        </p:txBody>
      </p:sp>
      <p:sp>
        <p:nvSpPr>
          <p:cNvPr id="795" name="Text 795"/>
          <p:cNvSpPr txBox="1"/>
          <p:nvPr/>
        </p:nvSpPr>
        <p:spPr>
          <a:xfrm>
            <a:off x="658368" y="4864608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Obra emergencial</a:t>
            </a:r>
          </a:p>
        </p:txBody>
      </p:sp>
      <p:sp>
        <p:nvSpPr>
          <p:cNvPr id="796" name="Text 796"/>
          <p:cNvSpPr txBox="1"/>
          <p:nvPr/>
        </p:nvSpPr>
        <p:spPr>
          <a:xfrm>
            <a:off x="2715768" y="4864608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</a:t>
            </a:r>
          </a:p>
        </p:txBody>
      </p:sp>
      <p:sp>
        <p:nvSpPr>
          <p:cNvPr id="797" name="Text 797"/>
          <p:cNvSpPr txBox="1"/>
          <p:nvPr/>
        </p:nvSpPr>
        <p:spPr>
          <a:xfrm>
            <a:off x="3310128" y="4864608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575 m²</a:t>
            </a:r>
          </a:p>
        </p:txBody>
      </p:sp>
      <p:sp>
        <p:nvSpPr>
          <p:cNvPr id="798" name="Text 798"/>
          <p:cNvSpPr txBox="1"/>
          <p:nvPr/>
        </p:nvSpPr>
        <p:spPr>
          <a:xfrm>
            <a:off x="4315968" y="4864608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R$ 966.4 mil</a:t>
            </a:r>
          </a:p>
        </p:txBody>
      </p:sp>
      <p:sp>
        <p:nvSpPr>
          <p:cNvPr id="799" name="Text 799"/>
          <p:cNvSpPr txBox="1"/>
          <p:nvPr/>
        </p:nvSpPr>
        <p:spPr>
          <a:xfrm>
            <a:off x="5504688" y="4864608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R$ 1.681</a:t>
            </a:r>
          </a:p>
        </p:txBody>
      </p:sp>
      <p:sp>
        <p:nvSpPr>
          <p:cNvPr id="830" name="Text 830"/>
          <p:cNvSpPr txBox="1"/>
          <p:nvPr/>
        </p:nvSpPr>
        <p:spPr>
          <a:xfrm>
            <a:off x="6446520" y="2359152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2F65B7"/>
                </a:solidFill>
              </a:rPr>
              <a:t>Nível de Obra</a:t>
            </a:r>
          </a:p>
        </p:txBody>
      </p:sp>
      <p:sp>
        <p:nvSpPr>
          <p:cNvPr id="840" name="Text 840"/>
          <p:cNvSpPr txBox="1"/>
          <p:nvPr/>
        </p:nvSpPr>
        <p:spPr>
          <a:xfrm>
            <a:off x="6446520" y="2688336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Nível</a:t>
            </a:r>
          </a:p>
        </p:txBody>
      </p:sp>
      <p:sp>
        <p:nvSpPr>
          <p:cNvPr id="841" name="Text 841"/>
          <p:cNvSpPr txBox="1"/>
          <p:nvPr/>
        </p:nvSpPr>
        <p:spPr>
          <a:xfrm>
            <a:off x="8503920" y="2688336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842" name="Text 842"/>
          <p:cNvSpPr txBox="1"/>
          <p:nvPr/>
        </p:nvSpPr>
        <p:spPr>
          <a:xfrm>
            <a:off x="9098280" y="2688336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843" name="Text 843"/>
          <p:cNvSpPr txBox="1"/>
          <p:nvPr/>
        </p:nvSpPr>
        <p:spPr>
          <a:xfrm>
            <a:off x="10104120" y="2688336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844" name="Text 844"/>
          <p:cNvSpPr txBox="1"/>
          <p:nvPr/>
        </p:nvSpPr>
        <p:spPr>
          <a:xfrm>
            <a:off x="11292840" y="2688336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845" name="Text 845"/>
          <p:cNvSpPr txBox="1"/>
          <p:nvPr/>
        </p:nvSpPr>
        <p:spPr>
          <a:xfrm>
            <a:off x="6446520" y="2999232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Retrofit</a:t>
            </a:r>
          </a:p>
        </p:txBody>
      </p:sp>
      <p:sp>
        <p:nvSpPr>
          <p:cNvPr id="846" name="Text 846"/>
          <p:cNvSpPr txBox="1"/>
          <p:nvPr/>
        </p:nvSpPr>
        <p:spPr>
          <a:xfrm>
            <a:off x="8503920" y="2999232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24</a:t>
            </a:r>
          </a:p>
        </p:txBody>
      </p:sp>
      <p:sp>
        <p:nvSpPr>
          <p:cNvPr id="847" name="Text 847"/>
          <p:cNvSpPr txBox="1"/>
          <p:nvPr/>
        </p:nvSpPr>
        <p:spPr>
          <a:xfrm>
            <a:off x="9098280" y="2999232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34.5 mil m²</a:t>
            </a:r>
          </a:p>
        </p:txBody>
      </p:sp>
      <p:sp>
        <p:nvSpPr>
          <p:cNvPr id="848" name="Text 848"/>
          <p:cNvSpPr txBox="1"/>
          <p:nvPr/>
        </p:nvSpPr>
        <p:spPr>
          <a:xfrm>
            <a:off x="10104120" y="2999232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R$ 55.7 mi</a:t>
            </a:r>
          </a:p>
        </p:txBody>
      </p:sp>
      <p:sp>
        <p:nvSpPr>
          <p:cNvPr id="849" name="Text 849"/>
          <p:cNvSpPr txBox="1"/>
          <p:nvPr/>
        </p:nvSpPr>
        <p:spPr>
          <a:xfrm>
            <a:off x="11292840" y="299923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R$ 1.615</a:t>
            </a:r>
          </a:p>
        </p:txBody>
      </p:sp>
      <p:sp>
        <p:nvSpPr>
          <p:cNvPr id="850" name="Text 850"/>
          <p:cNvSpPr txBox="1"/>
          <p:nvPr/>
        </p:nvSpPr>
        <p:spPr>
          <a:xfrm>
            <a:off x="6446520" y="3310128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Nova Unidade</a:t>
            </a:r>
          </a:p>
        </p:txBody>
      </p:sp>
      <p:sp>
        <p:nvSpPr>
          <p:cNvPr id="851" name="Text 851"/>
          <p:cNvSpPr txBox="1"/>
          <p:nvPr/>
        </p:nvSpPr>
        <p:spPr>
          <a:xfrm>
            <a:off x="8503920" y="3310128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852" name="Text 852"/>
          <p:cNvSpPr txBox="1"/>
          <p:nvPr/>
        </p:nvSpPr>
        <p:spPr>
          <a:xfrm>
            <a:off x="9098280" y="3310128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134 m²</a:t>
            </a:r>
          </a:p>
        </p:txBody>
      </p:sp>
      <p:sp>
        <p:nvSpPr>
          <p:cNvPr id="853" name="Text 853"/>
          <p:cNvSpPr txBox="1"/>
          <p:nvPr/>
        </p:nvSpPr>
        <p:spPr>
          <a:xfrm>
            <a:off x="10104120" y="3310128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R$ 1.3 mi</a:t>
            </a:r>
          </a:p>
        </p:txBody>
      </p:sp>
      <p:sp>
        <p:nvSpPr>
          <p:cNvPr id="854" name="Text 854"/>
          <p:cNvSpPr txBox="1"/>
          <p:nvPr/>
        </p:nvSpPr>
        <p:spPr>
          <a:xfrm>
            <a:off x="11292840" y="3310128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R$ 9.375</a:t>
            </a:r>
          </a:p>
        </p:txBody>
      </p:sp>
      <p:sp>
        <p:nvSpPr>
          <p:cNvPr id="910" name="Text 910"/>
          <p:cNvSpPr txBox="1"/>
          <p:nvPr/>
        </p:nvSpPr>
        <p:spPr>
          <a:xfrm>
            <a:off x="658368" y="5559552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00">
                <a:solidFill>
                  <a:srgbClr val="64748B"/>
                </a:solidFill>
              </a:rPr>
              <a:t>Estados líderes: SP (R$ 33.8 mi) | PA (R$ 14.5 mi) | PE (R$ 530.0 mil) | CE (R$ 4.4 mi) | MG (R$ 2.3 mi)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Tipologia de Obras: Pronto Atendimentos e Clínicas Complexas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11</a:t>
            </a:r>
          </a:p>
        </p:txBody>
      </p:sp>
      <p:sp>
        <p:nvSpPr>
          <p:cNvPr id="720" name="Text 720"/>
          <p:cNvSpPr txBox="1"/>
          <p:nvPr/>
        </p:nvSpPr>
        <p:spPr>
          <a:xfrm>
            <a:off x="566928" y="749808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100" b="1">
                <a:solidFill>
                  <a:srgbClr val="15253F"/>
                </a:solidFill>
              </a:rPr>
              <a:t>Tipologia de Obras | Pronto Atendimentos e Clínicas Complexas</a:t>
            </a:r>
          </a:p>
        </p:txBody>
      </p:sp>
      <p:sp>
        <p:nvSpPr>
          <p:cNvPr id="730" name="Text 730"/>
          <p:cNvSpPr txBox="1"/>
          <p:nvPr/>
        </p:nvSpPr>
        <p:spPr>
          <a:xfrm>
            <a:off x="566928" y="1261872"/>
            <a:ext cx="2542032" cy="78638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11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no período</a:t>
            </a:r>
          </a:p>
        </p:txBody>
      </p:sp>
      <p:sp>
        <p:nvSpPr>
          <p:cNvPr id="731" name="Text 731"/>
          <p:cNvSpPr txBox="1"/>
          <p:nvPr/>
        </p:nvSpPr>
        <p:spPr>
          <a:xfrm>
            <a:off x="3383280" y="1261872"/>
            <a:ext cx="2542032" cy="78638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Área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25.7 mil 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construída</a:t>
            </a:r>
          </a:p>
        </p:txBody>
      </p:sp>
      <p:sp>
        <p:nvSpPr>
          <p:cNvPr id="732" name="Text 732"/>
          <p:cNvSpPr txBox="1"/>
          <p:nvPr/>
        </p:nvSpPr>
        <p:spPr>
          <a:xfrm>
            <a:off x="6199632" y="1261872"/>
            <a:ext cx="2542032" cy="786384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R$ 58.2 mi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negociado</a:t>
            </a:r>
          </a:p>
        </p:txBody>
      </p:sp>
      <p:sp>
        <p:nvSpPr>
          <p:cNvPr id="733" name="Text 733"/>
          <p:cNvSpPr txBox="1"/>
          <p:nvPr/>
        </p:nvSpPr>
        <p:spPr>
          <a:xfrm>
            <a:off x="9015984" y="1261872"/>
            <a:ext cx="2542032" cy="786384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R$/m²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R$ 2.262/m²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nesta tipologia</a:t>
            </a:r>
          </a:p>
        </p:txBody>
      </p:sp>
      <p:sp>
        <p:nvSpPr>
          <p:cNvPr id="750" name="Text 750"/>
          <p:cNvSpPr txBox="1"/>
          <p:nvPr/>
        </p:nvSpPr>
        <p:spPr>
          <a:xfrm>
            <a:off x="658368" y="2359152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253F8E"/>
                </a:solidFill>
              </a:rPr>
              <a:t>Classificação de Obra</a:t>
            </a:r>
          </a:p>
        </p:txBody>
      </p:sp>
      <p:sp>
        <p:nvSpPr>
          <p:cNvPr id="760" name="Text 760"/>
          <p:cNvSpPr txBox="1"/>
          <p:nvPr/>
        </p:nvSpPr>
        <p:spPr>
          <a:xfrm>
            <a:off x="658368" y="2688336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Classificação</a:t>
            </a:r>
          </a:p>
        </p:txBody>
      </p:sp>
      <p:sp>
        <p:nvSpPr>
          <p:cNvPr id="761" name="Text 761"/>
          <p:cNvSpPr txBox="1"/>
          <p:nvPr/>
        </p:nvSpPr>
        <p:spPr>
          <a:xfrm>
            <a:off x="2715768" y="2688336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762" name="Text 762"/>
          <p:cNvSpPr txBox="1"/>
          <p:nvPr/>
        </p:nvSpPr>
        <p:spPr>
          <a:xfrm>
            <a:off x="3310128" y="2688336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763" name="Text 763"/>
          <p:cNvSpPr txBox="1"/>
          <p:nvPr/>
        </p:nvSpPr>
        <p:spPr>
          <a:xfrm>
            <a:off x="4315968" y="2688336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764" name="Text 764"/>
          <p:cNvSpPr txBox="1"/>
          <p:nvPr/>
        </p:nvSpPr>
        <p:spPr>
          <a:xfrm>
            <a:off x="5504688" y="2688336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765" name="Text 765"/>
          <p:cNvSpPr txBox="1"/>
          <p:nvPr/>
        </p:nvSpPr>
        <p:spPr>
          <a:xfrm>
            <a:off x="658368" y="2999232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Verticalização</a:t>
            </a:r>
          </a:p>
        </p:txBody>
      </p:sp>
      <p:sp>
        <p:nvSpPr>
          <p:cNvPr id="766" name="Text 766"/>
          <p:cNvSpPr txBox="1"/>
          <p:nvPr/>
        </p:nvSpPr>
        <p:spPr>
          <a:xfrm>
            <a:off x="2715768" y="2999232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</a:t>
            </a:r>
          </a:p>
        </p:txBody>
      </p:sp>
      <p:sp>
        <p:nvSpPr>
          <p:cNvPr id="767" name="Text 767"/>
          <p:cNvSpPr txBox="1"/>
          <p:nvPr/>
        </p:nvSpPr>
        <p:spPr>
          <a:xfrm>
            <a:off x="3310128" y="2999232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15.7 mil m²</a:t>
            </a:r>
          </a:p>
        </p:txBody>
      </p:sp>
      <p:sp>
        <p:nvSpPr>
          <p:cNvPr id="768" name="Text 768"/>
          <p:cNvSpPr txBox="1"/>
          <p:nvPr/>
        </p:nvSpPr>
        <p:spPr>
          <a:xfrm>
            <a:off x="4315968" y="2999232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R$ 33.7 mi</a:t>
            </a:r>
          </a:p>
        </p:txBody>
      </p:sp>
      <p:sp>
        <p:nvSpPr>
          <p:cNvPr id="769" name="Text 769"/>
          <p:cNvSpPr txBox="1"/>
          <p:nvPr/>
        </p:nvSpPr>
        <p:spPr>
          <a:xfrm>
            <a:off x="5504688" y="299923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R$ 2.142</a:t>
            </a:r>
          </a:p>
        </p:txBody>
      </p:sp>
      <p:sp>
        <p:nvSpPr>
          <p:cNvPr id="770" name="Text 770"/>
          <p:cNvSpPr txBox="1"/>
          <p:nvPr/>
        </p:nvSpPr>
        <p:spPr>
          <a:xfrm>
            <a:off x="658368" y="3310128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Suficiência de Rede</a:t>
            </a:r>
          </a:p>
        </p:txBody>
      </p:sp>
      <p:sp>
        <p:nvSpPr>
          <p:cNvPr id="771" name="Text 771"/>
          <p:cNvSpPr txBox="1"/>
          <p:nvPr/>
        </p:nvSpPr>
        <p:spPr>
          <a:xfrm>
            <a:off x="2715768" y="3310128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</a:t>
            </a:r>
          </a:p>
        </p:txBody>
      </p:sp>
      <p:sp>
        <p:nvSpPr>
          <p:cNvPr id="772" name="Text 772"/>
          <p:cNvSpPr txBox="1"/>
          <p:nvPr/>
        </p:nvSpPr>
        <p:spPr>
          <a:xfrm>
            <a:off x="3310128" y="3310128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5.1 mil m²</a:t>
            </a:r>
          </a:p>
        </p:txBody>
      </p:sp>
      <p:sp>
        <p:nvSpPr>
          <p:cNvPr id="773" name="Text 773"/>
          <p:cNvSpPr txBox="1"/>
          <p:nvPr/>
        </p:nvSpPr>
        <p:spPr>
          <a:xfrm>
            <a:off x="4315968" y="3310128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R$ 11.2 mi</a:t>
            </a:r>
          </a:p>
        </p:txBody>
      </p:sp>
      <p:sp>
        <p:nvSpPr>
          <p:cNvPr id="774" name="Text 774"/>
          <p:cNvSpPr txBox="1"/>
          <p:nvPr/>
        </p:nvSpPr>
        <p:spPr>
          <a:xfrm>
            <a:off x="5504688" y="3310128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R$ 2.183</a:t>
            </a:r>
          </a:p>
        </p:txBody>
      </p:sp>
      <p:sp>
        <p:nvSpPr>
          <p:cNvPr id="775" name="Text 775"/>
          <p:cNvSpPr txBox="1"/>
          <p:nvPr/>
        </p:nvSpPr>
        <p:spPr>
          <a:xfrm>
            <a:off x="658368" y="3621024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Obra Estratégica</a:t>
            </a:r>
          </a:p>
        </p:txBody>
      </p:sp>
      <p:sp>
        <p:nvSpPr>
          <p:cNvPr id="776" name="Text 776"/>
          <p:cNvSpPr txBox="1"/>
          <p:nvPr/>
        </p:nvSpPr>
        <p:spPr>
          <a:xfrm>
            <a:off x="2715768" y="3621024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777" name="Text 777"/>
          <p:cNvSpPr txBox="1"/>
          <p:nvPr/>
        </p:nvSpPr>
        <p:spPr>
          <a:xfrm>
            <a:off x="3310128" y="3621024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2.5 mil m²</a:t>
            </a:r>
          </a:p>
        </p:txBody>
      </p:sp>
      <p:sp>
        <p:nvSpPr>
          <p:cNvPr id="778" name="Text 778"/>
          <p:cNvSpPr txBox="1"/>
          <p:nvPr/>
        </p:nvSpPr>
        <p:spPr>
          <a:xfrm>
            <a:off x="4315968" y="3621024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R$ 7.6 mi</a:t>
            </a:r>
          </a:p>
        </p:txBody>
      </p:sp>
      <p:sp>
        <p:nvSpPr>
          <p:cNvPr id="779" name="Text 779"/>
          <p:cNvSpPr txBox="1"/>
          <p:nvPr/>
        </p:nvSpPr>
        <p:spPr>
          <a:xfrm>
            <a:off x="5504688" y="3621024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R$ 3.058</a:t>
            </a:r>
          </a:p>
        </p:txBody>
      </p:sp>
      <p:sp>
        <p:nvSpPr>
          <p:cNvPr id="780" name="Text 780"/>
          <p:cNvSpPr txBox="1"/>
          <p:nvPr/>
        </p:nvSpPr>
        <p:spPr>
          <a:xfrm>
            <a:off x="658368" y="3931920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Eficiência Operacional</a:t>
            </a:r>
          </a:p>
        </p:txBody>
      </p:sp>
      <p:sp>
        <p:nvSpPr>
          <p:cNvPr id="781" name="Text 781"/>
          <p:cNvSpPr txBox="1"/>
          <p:nvPr/>
        </p:nvSpPr>
        <p:spPr>
          <a:xfrm>
            <a:off x="2715768" y="3931920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782" name="Text 782"/>
          <p:cNvSpPr txBox="1"/>
          <p:nvPr/>
        </p:nvSpPr>
        <p:spPr>
          <a:xfrm>
            <a:off x="3310128" y="3931920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1.2 mil m²</a:t>
            </a:r>
          </a:p>
        </p:txBody>
      </p:sp>
      <p:sp>
        <p:nvSpPr>
          <p:cNvPr id="783" name="Text 783"/>
          <p:cNvSpPr txBox="1"/>
          <p:nvPr/>
        </p:nvSpPr>
        <p:spPr>
          <a:xfrm>
            <a:off x="4315968" y="3931920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R$ 3.0 mi</a:t>
            </a:r>
          </a:p>
        </p:txBody>
      </p:sp>
      <p:sp>
        <p:nvSpPr>
          <p:cNvPr id="784" name="Text 784"/>
          <p:cNvSpPr txBox="1"/>
          <p:nvPr/>
        </p:nvSpPr>
        <p:spPr>
          <a:xfrm>
            <a:off x="5504688" y="3931920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R$ 2.498</a:t>
            </a:r>
          </a:p>
        </p:txBody>
      </p:sp>
      <p:sp>
        <p:nvSpPr>
          <p:cNvPr id="785" name="Text 785"/>
          <p:cNvSpPr txBox="1"/>
          <p:nvPr/>
        </p:nvSpPr>
        <p:spPr>
          <a:xfrm>
            <a:off x="658368" y="4242816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Adequação Regulatória</a:t>
            </a:r>
          </a:p>
        </p:txBody>
      </p:sp>
      <p:sp>
        <p:nvSpPr>
          <p:cNvPr id="786" name="Text 786"/>
          <p:cNvSpPr txBox="1"/>
          <p:nvPr/>
        </p:nvSpPr>
        <p:spPr>
          <a:xfrm>
            <a:off x="2715768" y="4242816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787" name="Text 787"/>
          <p:cNvSpPr txBox="1"/>
          <p:nvPr/>
        </p:nvSpPr>
        <p:spPr>
          <a:xfrm>
            <a:off x="3310128" y="4242816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1.2 mil m²</a:t>
            </a:r>
          </a:p>
        </p:txBody>
      </p:sp>
      <p:sp>
        <p:nvSpPr>
          <p:cNvPr id="788" name="Text 788"/>
          <p:cNvSpPr txBox="1"/>
          <p:nvPr/>
        </p:nvSpPr>
        <p:spPr>
          <a:xfrm>
            <a:off x="4315968" y="4242816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R$ 2.8 mi</a:t>
            </a:r>
          </a:p>
        </p:txBody>
      </p:sp>
      <p:sp>
        <p:nvSpPr>
          <p:cNvPr id="789" name="Text 789"/>
          <p:cNvSpPr txBox="1"/>
          <p:nvPr/>
        </p:nvSpPr>
        <p:spPr>
          <a:xfrm>
            <a:off x="5504688" y="4242816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R$ 2.300</a:t>
            </a:r>
          </a:p>
        </p:txBody>
      </p:sp>
      <p:sp>
        <p:nvSpPr>
          <p:cNvPr id="830" name="Text 830"/>
          <p:cNvSpPr txBox="1"/>
          <p:nvPr/>
        </p:nvSpPr>
        <p:spPr>
          <a:xfrm>
            <a:off x="6446520" y="2359152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2F65B7"/>
                </a:solidFill>
              </a:rPr>
              <a:t>Nível de Obra</a:t>
            </a:r>
          </a:p>
        </p:txBody>
      </p:sp>
      <p:sp>
        <p:nvSpPr>
          <p:cNvPr id="840" name="Text 840"/>
          <p:cNvSpPr txBox="1"/>
          <p:nvPr/>
        </p:nvSpPr>
        <p:spPr>
          <a:xfrm>
            <a:off x="6446520" y="2688336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Nível</a:t>
            </a:r>
          </a:p>
        </p:txBody>
      </p:sp>
      <p:sp>
        <p:nvSpPr>
          <p:cNvPr id="841" name="Text 841"/>
          <p:cNvSpPr txBox="1"/>
          <p:nvPr/>
        </p:nvSpPr>
        <p:spPr>
          <a:xfrm>
            <a:off x="8503920" y="2688336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842" name="Text 842"/>
          <p:cNvSpPr txBox="1"/>
          <p:nvPr/>
        </p:nvSpPr>
        <p:spPr>
          <a:xfrm>
            <a:off x="9098280" y="2688336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843" name="Text 843"/>
          <p:cNvSpPr txBox="1"/>
          <p:nvPr/>
        </p:nvSpPr>
        <p:spPr>
          <a:xfrm>
            <a:off x="10104120" y="2688336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844" name="Text 844"/>
          <p:cNvSpPr txBox="1"/>
          <p:nvPr/>
        </p:nvSpPr>
        <p:spPr>
          <a:xfrm>
            <a:off x="11292840" y="2688336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845" name="Text 845"/>
          <p:cNvSpPr txBox="1"/>
          <p:nvPr/>
        </p:nvSpPr>
        <p:spPr>
          <a:xfrm>
            <a:off x="6446520" y="2999232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Nova Unidade</a:t>
            </a:r>
          </a:p>
        </p:txBody>
      </p:sp>
      <p:sp>
        <p:nvSpPr>
          <p:cNvPr id="846" name="Text 846"/>
          <p:cNvSpPr txBox="1"/>
          <p:nvPr/>
        </p:nvSpPr>
        <p:spPr>
          <a:xfrm>
            <a:off x="8503920" y="2999232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10</a:t>
            </a:r>
          </a:p>
        </p:txBody>
      </p:sp>
      <p:sp>
        <p:nvSpPr>
          <p:cNvPr id="847" name="Text 847"/>
          <p:cNvSpPr txBox="1"/>
          <p:nvPr/>
        </p:nvSpPr>
        <p:spPr>
          <a:xfrm>
            <a:off x="9098280" y="2999232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24.5 mil m²</a:t>
            </a:r>
          </a:p>
        </p:txBody>
      </p:sp>
      <p:sp>
        <p:nvSpPr>
          <p:cNvPr id="848" name="Text 848"/>
          <p:cNvSpPr txBox="1"/>
          <p:nvPr/>
        </p:nvSpPr>
        <p:spPr>
          <a:xfrm>
            <a:off x="10104120" y="2999232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R$ 55.4 mi</a:t>
            </a:r>
          </a:p>
        </p:txBody>
      </p:sp>
      <p:sp>
        <p:nvSpPr>
          <p:cNvPr id="849" name="Text 849"/>
          <p:cNvSpPr txBox="1"/>
          <p:nvPr/>
        </p:nvSpPr>
        <p:spPr>
          <a:xfrm>
            <a:off x="11292840" y="299923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R$ 2.261</a:t>
            </a:r>
          </a:p>
        </p:txBody>
      </p:sp>
      <p:sp>
        <p:nvSpPr>
          <p:cNvPr id="850" name="Text 850"/>
          <p:cNvSpPr txBox="1"/>
          <p:nvPr/>
        </p:nvSpPr>
        <p:spPr>
          <a:xfrm>
            <a:off x="6446520" y="3310128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Retrofit</a:t>
            </a:r>
          </a:p>
        </p:txBody>
      </p:sp>
      <p:sp>
        <p:nvSpPr>
          <p:cNvPr id="851" name="Text 851"/>
          <p:cNvSpPr txBox="1"/>
          <p:nvPr/>
        </p:nvSpPr>
        <p:spPr>
          <a:xfrm>
            <a:off x="8503920" y="3310128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852" name="Text 852"/>
          <p:cNvSpPr txBox="1"/>
          <p:nvPr/>
        </p:nvSpPr>
        <p:spPr>
          <a:xfrm>
            <a:off x="9098280" y="3310128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1.2 mil m²</a:t>
            </a:r>
          </a:p>
        </p:txBody>
      </p:sp>
      <p:sp>
        <p:nvSpPr>
          <p:cNvPr id="853" name="Text 853"/>
          <p:cNvSpPr txBox="1"/>
          <p:nvPr/>
        </p:nvSpPr>
        <p:spPr>
          <a:xfrm>
            <a:off x="10104120" y="3310128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R$ 2.8 mi</a:t>
            </a:r>
          </a:p>
        </p:txBody>
      </p:sp>
      <p:sp>
        <p:nvSpPr>
          <p:cNvPr id="854" name="Text 854"/>
          <p:cNvSpPr txBox="1"/>
          <p:nvPr/>
        </p:nvSpPr>
        <p:spPr>
          <a:xfrm>
            <a:off x="11292840" y="3310128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R$ 2.300</a:t>
            </a:r>
          </a:p>
        </p:txBody>
      </p:sp>
      <p:sp>
        <p:nvSpPr>
          <p:cNvPr id="910" name="Text 910"/>
          <p:cNvSpPr txBox="1"/>
          <p:nvPr/>
        </p:nvSpPr>
        <p:spPr>
          <a:xfrm>
            <a:off x="658368" y="5559552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00">
                <a:solidFill>
                  <a:srgbClr val="64748B"/>
                </a:solidFill>
              </a:rPr>
              <a:t>Estados líderes: SP (R$ 44.9 mi) | RJ (R$ 7.6 mi) | BA (R$ 3.0 mi) | GO (R$ 2.8 mi)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Tipologia de Obras: Obra regulatória com alta intervenção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12</a:t>
            </a:r>
          </a:p>
        </p:txBody>
      </p:sp>
      <p:sp>
        <p:nvSpPr>
          <p:cNvPr id="720" name="Text 720"/>
          <p:cNvSpPr txBox="1"/>
          <p:nvPr/>
        </p:nvSpPr>
        <p:spPr>
          <a:xfrm>
            <a:off x="566928" y="749808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100" b="1">
                <a:solidFill>
                  <a:srgbClr val="15253F"/>
                </a:solidFill>
              </a:rPr>
              <a:t>Tipologia de Obras | Obra regulatória com alta intervenção</a:t>
            </a:r>
          </a:p>
        </p:txBody>
      </p:sp>
      <p:sp>
        <p:nvSpPr>
          <p:cNvPr id="730" name="Text 730"/>
          <p:cNvSpPr txBox="1"/>
          <p:nvPr/>
        </p:nvSpPr>
        <p:spPr>
          <a:xfrm>
            <a:off x="566928" y="1261872"/>
            <a:ext cx="2542032" cy="78638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17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no período</a:t>
            </a:r>
          </a:p>
        </p:txBody>
      </p:sp>
      <p:sp>
        <p:nvSpPr>
          <p:cNvPr id="731" name="Text 731"/>
          <p:cNvSpPr txBox="1"/>
          <p:nvPr/>
        </p:nvSpPr>
        <p:spPr>
          <a:xfrm>
            <a:off x="3383280" y="1261872"/>
            <a:ext cx="2542032" cy="78638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Área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18.3 mil 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construída</a:t>
            </a:r>
          </a:p>
        </p:txBody>
      </p:sp>
      <p:sp>
        <p:nvSpPr>
          <p:cNvPr id="732" name="Text 732"/>
          <p:cNvSpPr txBox="1"/>
          <p:nvPr/>
        </p:nvSpPr>
        <p:spPr>
          <a:xfrm>
            <a:off x="6199632" y="1261872"/>
            <a:ext cx="2542032" cy="786384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R$ 23.0 mi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negociado</a:t>
            </a:r>
          </a:p>
        </p:txBody>
      </p:sp>
      <p:sp>
        <p:nvSpPr>
          <p:cNvPr id="733" name="Text 733"/>
          <p:cNvSpPr txBox="1"/>
          <p:nvPr/>
        </p:nvSpPr>
        <p:spPr>
          <a:xfrm>
            <a:off x="9015984" y="1261872"/>
            <a:ext cx="2542032" cy="786384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R$/m²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R$ 1.254/m²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nesta tipologia</a:t>
            </a:r>
          </a:p>
        </p:txBody>
      </p:sp>
      <p:sp>
        <p:nvSpPr>
          <p:cNvPr id="750" name="Text 750"/>
          <p:cNvSpPr txBox="1"/>
          <p:nvPr/>
        </p:nvSpPr>
        <p:spPr>
          <a:xfrm>
            <a:off x="658368" y="2359152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253F8E"/>
                </a:solidFill>
              </a:rPr>
              <a:t>Classificação de Obra</a:t>
            </a:r>
          </a:p>
        </p:txBody>
      </p:sp>
      <p:sp>
        <p:nvSpPr>
          <p:cNvPr id="760" name="Text 760"/>
          <p:cNvSpPr txBox="1"/>
          <p:nvPr/>
        </p:nvSpPr>
        <p:spPr>
          <a:xfrm>
            <a:off x="658368" y="2688336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Classificação</a:t>
            </a:r>
          </a:p>
        </p:txBody>
      </p:sp>
      <p:sp>
        <p:nvSpPr>
          <p:cNvPr id="761" name="Text 761"/>
          <p:cNvSpPr txBox="1"/>
          <p:nvPr/>
        </p:nvSpPr>
        <p:spPr>
          <a:xfrm>
            <a:off x="2715768" y="2688336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762" name="Text 762"/>
          <p:cNvSpPr txBox="1"/>
          <p:nvPr/>
        </p:nvSpPr>
        <p:spPr>
          <a:xfrm>
            <a:off x="3310128" y="2688336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763" name="Text 763"/>
          <p:cNvSpPr txBox="1"/>
          <p:nvPr/>
        </p:nvSpPr>
        <p:spPr>
          <a:xfrm>
            <a:off x="4315968" y="2688336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764" name="Text 764"/>
          <p:cNvSpPr txBox="1"/>
          <p:nvPr/>
        </p:nvSpPr>
        <p:spPr>
          <a:xfrm>
            <a:off x="5504688" y="2688336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765" name="Text 765"/>
          <p:cNvSpPr txBox="1"/>
          <p:nvPr/>
        </p:nvSpPr>
        <p:spPr>
          <a:xfrm>
            <a:off x="658368" y="2999232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Adequação Regulatória</a:t>
            </a:r>
          </a:p>
        </p:txBody>
      </p:sp>
      <p:sp>
        <p:nvSpPr>
          <p:cNvPr id="766" name="Text 766"/>
          <p:cNvSpPr txBox="1"/>
          <p:nvPr/>
        </p:nvSpPr>
        <p:spPr>
          <a:xfrm>
            <a:off x="2715768" y="2999232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17</a:t>
            </a:r>
          </a:p>
        </p:txBody>
      </p:sp>
      <p:sp>
        <p:nvSpPr>
          <p:cNvPr id="767" name="Text 767"/>
          <p:cNvSpPr txBox="1"/>
          <p:nvPr/>
        </p:nvSpPr>
        <p:spPr>
          <a:xfrm>
            <a:off x="3310128" y="2999232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18.3 mil m²</a:t>
            </a:r>
          </a:p>
        </p:txBody>
      </p:sp>
      <p:sp>
        <p:nvSpPr>
          <p:cNvPr id="768" name="Text 768"/>
          <p:cNvSpPr txBox="1"/>
          <p:nvPr/>
        </p:nvSpPr>
        <p:spPr>
          <a:xfrm>
            <a:off x="4315968" y="2999232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R$ 23.0 mi</a:t>
            </a:r>
          </a:p>
        </p:txBody>
      </p:sp>
      <p:sp>
        <p:nvSpPr>
          <p:cNvPr id="769" name="Text 769"/>
          <p:cNvSpPr txBox="1"/>
          <p:nvPr/>
        </p:nvSpPr>
        <p:spPr>
          <a:xfrm>
            <a:off x="5504688" y="299923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R$ 1.254</a:t>
            </a:r>
          </a:p>
        </p:txBody>
      </p:sp>
      <p:sp>
        <p:nvSpPr>
          <p:cNvPr id="830" name="Text 830"/>
          <p:cNvSpPr txBox="1"/>
          <p:nvPr/>
        </p:nvSpPr>
        <p:spPr>
          <a:xfrm>
            <a:off x="6446520" y="2359152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2F65B7"/>
                </a:solidFill>
              </a:rPr>
              <a:t>Nível de Obra</a:t>
            </a:r>
          </a:p>
        </p:txBody>
      </p:sp>
      <p:sp>
        <p:nvSpPr>
          <p:cNvPr id="840" name="Text 840"/>
          <p:cNvSpPr txBox="1"/>
          <p:nvPr/>
        </p:nvSpPr>
        <p:spPr>
          <a:xfrm>
            <a:off x="6446520" y="2688336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Nível</a:t>
            </a:r>
          </a:p>
        </p:txBody>
      </p:sp>
      <p:sp>
        <p:nvSpPr>
          <p:cNvPr id="841" name="Text 841"/>
          <p:cNvSpPr txBox="1"/>
          <p:nvPr/>
        </p:nvSpPr>
        <p:spPr>
          <a:xfrm>
            <a:off x="8503920" y="2688336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842" name="Text 842"/>
          <p:cNvSpPr txBox="1"/>
          <p:nvPr/>
        </p:nvSpPr>
        <p:spPr>
          <a:xfrm>
            <a:off x="9098280" y="2688336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843" name="Text 843"/>
          <p:cNvSpPr txBox="1"/>
          <p:nvPr/>
        </p:nvSpPr>
        <p:spPr>
          <a:xfrm>
            <a:off x="10104120" y="2688336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844" name="Text 844"/>
          <p:cNvSpPr txBox="1"/>
          <p:nvPr/>
        </p:nvSpPr>
        <p:spPr>
          <a:xfrm>
            <a:off x="11292840" y="2688336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845" name="Text 845"/>
          <p:cNvSpPr txBox="1"/>
          <p:nvPr/>
        </p:nvSpPr>
        <p:spPr>
          <a:xfrm>
            <a:off x="6446520" y="2999232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Retrofit</a:t>
            </a:r>
          </a:p>
        </p:txBody>
      </p:sp>
      <p:sp>
        <p:nvSpPr>
          <p:cNvPr id="846" name="Text 846"/>
          <p:cNvSpPr txBox="1"/>
          <p:nvPr/>
        </p:nvSpPr>
        <p:spPr>
          <a:xfrm>
            <a:off x="8503920" y="2999232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17</a:t>
            </a:r>
          </a:p>
        </p:txBody>
      </p:sp>
      <p:sp>
        <p:nvSpPr>
          <p:cNvPr id="847" name="Text 847"/>
          <p:cNvSpPr txBox="1"/>
          <p:nvPr/>
        </p:nvSpPr>
        <p:spPr>
          <a:xfrm>
            <a:off x="9098280" y="2999232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18.3 mil m²</a:t>
            </a:r>
          </a:p>
        </p:txBody>
      </p:sp>
      <p:sp>
        <p:nvSpPr>
          <p:cNvPr id="848" name="Text 848"/>
          <p:cNvSpPr txBox="1"/>
          <p:nvPr/>
        </p:nvSpPr>
        <p:spPr>
          <a:xfrm>
            <a:off x="10104120" y="2999232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R$ 23.0 mi</a:t>
            </a:r>
          </a:p>
        </p:txBody>
      </p:sp>
      <p:sp>
        <p:nvSpPr>
          <p:cNvPr id="849" name="Text 849"/>
          <p:cNvSpPr txBox="1"/>
          <p:nvPr/>
        </p:nvSpPr>
        <p:spPr>
          <a:xfrm>
            <a:off x="11292840" y="299923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R$ 1.254</a:t>
            </a:r>
          </a:p>
        </p:txBody>
      </p:sp>
      <p:sp>
        <p:nvSpPr>
          <p:cNvPr id="910" name="Text 910"/>
          <p:cNvSpPr txBox="1"/>
          <p:nvPr/>
        </p:nvSpPr>
        <p:spPr>
          <a:xfrm>
            <a:off x="658368" y="5559552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00">
                <a:solidFill>
                  <a:srgbClr val="64748B"/>
                </a:solidFill>
              </a:rPr>
              <a:t>Estados líderes: SP (R$ 14.7 mi) | PE (R$ 2.7 mi) | PR (R$ 1.4 mi) | MG (R$ 1.1 mi) | GO (R$ 967.4 mil)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Tipologia de Obras: Obra regulatória com média intervenção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13</a:t>
            </a:r>
          </a:p>
        </p:txBody>
      </p:sp>
      <p:sp>
        <p:nvSpPr>
          <p:cNvPr id="720" name="Text 720"/>
          <p:cNvSpPr txBox="1"/>
          <p:nvPr/>
        </p:nvSpPr>
        <p:spPr>
          <a:xfrm>
            <a:off x="566928" y="749808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100" b="1">
                <a:solidFill>
                  <a:srgbClr val="15253F"/>
                </a:solidFill>
              </a:rPr>
              <a:t>Tipologia de Obras | Obra regulatória com média intervenção</a:t>
            </a:r>
          </a:p>
        </p:txBody>
      </p:sp>
      <p:sp>
        <p:nvSpPr>
          <p:cNvPr id="730" name="Text 730"/>
          <p:cNvSpPr txBox="1"/>
          <p:nvPr/>
        </p:nvSpPr>
        <p:spPr>
          <a:xfrm>
            <a:off x="566928" y="1261872"/>
            <a:ext cx="2542032" cy="78638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22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no período</a:t>
            </a:r>
          </a:p>
        </p:txBody>
      </p:sp>
      <p:sp>
        <p:nvSpPr>
          <p:cNvPr id="731" name="Text 731"/>
          <p:cNvSpPr txBox="1"/>
          <p:nvPr/>
        </p:nvSpPr>
        <p:spPr>
          <a:xfrm>
            <a:off x="3383280" y="1261872"/>
            <a:ext cx="2542032" cy="78638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Área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10.3 mil 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construída</a:t>
            </a:r>
          </a:p>
        </p:txBody>
      </p:sp>
      <p:sp>
        <p:nvSpPr>
          <p:cNvPr id="732" name="Text 732"/>
          <p:cNvSpPr txBox="1"/>
          <p:nvPr/>
        </p:nvSpPr>
        <p:spPr>
          <a:xfrm>
            <a:off x="6199632" y="1261872"/>
            <a:ext cx="2542032" cy="786384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R$ 18.2 mi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negociado</a:t>
            </a:r>
          </a:p>
        </p:txBody>
      </p:sp>
      <p:sp>
        <p:nvSpPr>
          <p:cNvPr id="733" name="Text 733"/>
          <p:cNvSpPr txBox="1"/>
          <p:nvPr/>
        </p:nvSpPr>
        <p:spPr>
          <a:xfrm>
            <a:off x="9015984" y="1261872"/>
            <a:ext cx="2542032" cy="786384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R$/m²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R$ 1.763/m²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nesta tipologia</a:t>
            </a:r>
          </a:p>
        </p:txBody>
      </p:sp>
      <p:sp>
        <p:nvSpPr>
          <p:cNvPr id="750" name="Text 750"/>
          <p:cNvSpPr txBox="1"/>
          <p:nvPr/>
        </p:nvSpPr>
        <p:spPr>
          <a:xfrm>
            <a:off x="658368" y="2359152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253F8E"/>
                </a:solidFill>
              </a:rPr>
              <a:t>Classificação de Obra</a:t>
            </a:r>
          </a:p>
        </p:txBody>
      </p:sp>
      <p:sp>
        <p:nvSpPr>
          <p:cNvPr id="760" name="Text 760"/>
          <p:cNvSpPr txBox="1"/>
          <p:nvPr/>
        </p:nvSpPr>
        <p:spPr>
          <a:xfrm>
            <a:off x="658368" y="2688336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Classificação</a:t>
            </a:r>
          </a:p>
        </p:txBody>
      </p:sp>
      <p:sp>
        <p:nvSpPr>
          <p:cNvPr id="761" name="Text 761"/>
          <p:cNvSpPr txBox="1"/>
          <p:nvPr/>
        </p:nvSpPr>
        <p:spPr>
          <a:xfrm>
            <a:off x="2715768" y="2688336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762" name="Text 762"/>
          <p:cNvSpPr txBox="1"/>
          <p:nvPr/>
        </p:nvSpPr>
        <p:spPr>
          <a:xfrm>
            <a:off x="3310128" y="2688336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763" name="Text 763"/>
          <p:cNvSpPr txBox="1"/>
          <p:nvPr/>
        </p:nvSpPr>
        <p:spPr>
          <a:xfrm>
            <a:off x="4315968" y="2688336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764" name="Text 764"/>
          <p:cNvSpPr txBox="1"/>
          <p:nvPr/>
        </p:nvSpPr>
        <p:spPr>
          <a:xfrm>
            <a:off x="5504688" y="2688336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765" name="Text 765"/>
          <p:cNvSpPr txBox="1"/>
          <p:nvPr/>
        </p:nvSpPr>
        <p:spPr>
          <a:xfrm>
            <a:off x="658368" y="2999232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Adequação Regulatória</a:t>
            </a:r>
          </a:p>
        </p:txBody>
      </p:sp>
      <p:sp>
        <p:nvSpPr>
          <p:cNvPr id="766" name="Text 766"/>
          <p:cNvSpPr txBox="1"/>
          <p:nvPr/>
        </p:nvSpPr>
        <p:spPr>
          <a:xfrm>
            <a:off x="2715768" y="2999232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21</a:t>
            </a:r>
          </a:p>
        </p:txBody>
      </p:sp>
      <p:sp>
        <p:nvSpPr>
          <p:cNvPr id="767" name="Text 767"/>
          <p:cNvSpPr txBox="1"/>
          <p:nvPr/>
        </p:nvSpPr>
        <p:spPr>
          <a:xfrm>
            <a:off x="3310128" y="2999232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10.3 mil m²</a:t>
            </a:r>
          </a:p>
        </p:txBody>
      </p:sp>
      <p:sp>
        <p:nvSpPr>
          <p:cNvPr id="768" name="Text 768"/>
          <p:cNvSpPr txBox="1"/>
          <p:nvPr/>
        </p:nvSpPr>
        <p:spPr>
          <a:xfrm>
            <a:off x="4315968" y="2999232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R$ 18.1 mi</a:t>
            </a:r>
          </a:p>
        </p:txBody>
      </p:sp>
      <p:sp>
        <p:nvSpPr>
          <p:cNvPr id="769" name="Text 769"/>
          <p:cNvSpPr txBox="1"/>
          <p:nvPr/>
        </p:nvSpPr>
        <p:spPr>
          <a:xfrm>
            <a:off x="5504688" y="299923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R$ 1.762</a:t>
            </a:r>
          </a:p>
        </p:txBody>
      </p:sp>
      <p:sp>
        <p:nvSpPr>
          <p:cNvPr id="770" name="Text 770"/>
          <p:cNvSpPr txBox="1"/>
          <p:nvPr/>
        </p:nvSpPr>
        <p:spPr>
          <a:xfrm>
            <a:off x="658368" y="3310128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Eficiência Operacional</a:t>
            </a:r>
          </a:p>
        </p:txBody>
      </p:sp>
      <p:sp>
        <p:nvSpPr>
          <p:cNvPr id="771" name="Text 771"/>
          <p:cNvSpPr txBox="1"/>
          <p:nvPr/>
        </p:nvSpPr>
        <p:spPr>
          <a:xfrm>
            <a:off x="2715768" y="3310128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772" name="Text 772"/>
          <p:cNvSpPr txBox="1"/>
          <p:nvPr/>
        </p:nvSpPr>
        <p:spPr>
          <a:xfrm>
            <a:off x="3310128" y="3310128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50 m²</a:t>
            </a:r>
          </a:p>
        </p:txBody>
      </p:sp>
      <p:sp>
        <p:nvSpPr>
          <p:cNvPr id="773" name="Text 773"/>
          <p:cNvSpPr txBox="1"/>
          <p:nvPr/>
        </p:nvSpPr>
        <p:spPr>
          <a:xfrm>
            <a:off x="4315968" y="3310128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R$ 97.7 mil</a:t>
            </a:r>
          </a:p>
        </p:txBody>
      </p:sp>
      <p:sp>
        <p:nvSpPr>
          <p:cNvPr id="774" name="Text 774"/>
          <p:cNvSpPr txBox="1"/>
          <p:nvPr/>
        </p:nvSpPr>
        <p:spPr>
          <a:xfrm>
            <a:off x="5504688" y="3310128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R$ 1.954</a:t>
            </a:r>
          </a:p>
        </p:txBody>
      </p:sp>
      <p:sp>
        <p:nvSpPr>
          <p:cNvPr id="830" name="Text 830"/>
          <p:cNvSpPr txBox="1"/>
          <p:nvPr/>
        </p:nvSpPr>
        <p:spPr>
          <a:xfrm>
            <a:off x="6446520" y="2359152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2F65B7"/>
                </a:solidFill>
              </a:rPr>
              <a:t>Nível de Obra</a:t>
            </a:r>
          </a:p>
        </p:txBody>
      </p:sp>
      <p:sp>
        <p:nvSpPr>
          <p:cNvPr id="840" name="Text 840"/>
          <p:cNvSpPr txBox="1"/>
          <p:nvPr/>
        </p:nvSpPr>
        <p:spPr>
          <a:xfrm>
            <a:off x="6446520" y="2688336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Nível</a:t>
            </a:r>
          </a:p>
        </p:txBody>
      </p:sp>
      <p:sp>
        <p:nvSpPr>
          <p:cNvPr id="841" name="Text 841"/>
          <p:cNvSpPr txBox="1"/>
          <p:nvPr/>
        </p:nvSpPr>
        <p:spPr>
          <a:xfrm>
            <a:off x="8503920" y="2688336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842" name="Text 842"/>
          <p:cNvSpPr txBox="1"/>
          <p:nvPr/>
        </p:nvSpPr>
        <p:spPr>
          <a:xfrm>
            <a:off x="9098280" y="2688336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843" name="Text 843"/>
          <p:cNvSpPr txBox="1"/>
          <p:nvPr/>
        </p:nvSpPr>
        <p:spPr>
          <a:xfrm>
            <a:off x="10104120" y="2688336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844" name="Text 844"/>
          <p:cNvSpPr txBox="1"/>
          <p:nvPr/>
        </p:nvSpPr>
        <p:spPr>
          <a:xfrm>
            <a:off x="11292840" y="2688336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845" name="Text 845"/>
          <p:cNvSpPr txBox="1"/>
          <p:nvPr/>
        </p:nvSpPr>
        <p:spPr>
          <a:xfrm>
            <a:off x="6446520" y="2999232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Retrofit</a:t>
            </a:r>
          </a:p>
        </p:txBody>
      </p:sp>
      <p:sp>
        <p:nvSpPr>
          <p:cNvPr id="846" name="Text 846"/>
          <p:cNvSpPr txBox="1"/>
          <p:nvPr/>
        </p:nvSpPr>
        <p:spPr>
          <a:xfrm>
            <a:off x="8503920" y="2999232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22</a:t>
            </a:r>
          </a:p>
        </p:txBody>
      </p:sp>
      <p:sp>
        <p:nvSpPr>
          <p:cNvPr id="847" name="Text 847"/>
          <p:cNvSpPr txBox="1"/>
          <p:nvPr/>
        </p:nvSpPr>
        <p:spPr>
          <a:xfrm>
            <a:off x="9098280" y="2999232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10.3 mil m²</a:t>
            </a:r>
          </a:p>
        </p:txBody>
      </p:sp>
      <p:sp>
        <p:nvSpPr>
          <p:cNvPr id="848" name="Text 848"/>
          <p:cNvSpPr txBox="1"/>
          <p:nvPr/>
        </p:nvSpPr>
        <p:spPr>
          <a:xfrm>
            <a:off x="10104120" y="2999232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R$ 18.2 mi</a:t>
            </a:r>
          </a:p>
        </p:txBody>
      </p:sp>
      <p:sp>
        <p:nvSpPr>
          <p:cNvPr id="849" name="Text 849"/>
          <p:cNvSpPr txBox="1"/>
          <p:nvPr/>
        </p:nvSpPr>
        <p:spPr>
          <a:xfrm>
            <a:off x="11292840" y="299923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R$ 1.763</a:t>
            </a:r>
          </a:p>
        </p:txBody>
      </p:sp>
      <p:sp>
        <p:nvSpPr>
          <p:cNvPr id="910" name="Text 910"/>
          <p:cNvSpPr txBox="1"/>
          <p:nvPr/>
        </p:nvSpPr>
        <p:spPr>
          <a:xfrm>
            <a:off x="658368" y="5559552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00">
                <a:solidFill>
                  <a:srgbClr val="64748B"/>
                </a:solidFill>
              </a:rPr>
              <a:t>Estados líderes: SP (R$ 7.7 mi) | MG (R$ 2.5 mi) | GO (R$ 2.2 mi) | PB (R$ 1.4 mi) | RS (R$ 1.6 mi)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Tipologia de Obras: Adm e Outros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14</a:t>
            </a:r>
          </a:p>
        </p:txBody>
      </p:sp>
      <p:sp>
        <p:nvSpPr>
          <p:cNvPr id="720" name="Text 720"/>
          <p:cNvSpPr txBox="1"/>
          <p:nvPr/>
        </p:nvSpPr>
        <p:spPr>
          <a:xfrm>
            <a:off x="566928" y="749808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100" b="1">
                <a:solidFill>
                  <a:srgbClr val="15253F"/>
                </a:solidFill>
              </a:rPr>
              <a:t>Tipologia de Obras | Adm e Outros</a:t>
            </a:r>
          </a:p>
        </p:txBody>
      </p:sp>
      <p:sp>
        <p:nvSpPr>
          <p:cNvPr id="730" name="Text 730"/>
          <p:cNvSpPr txBox="1"/>
          <p:nvPr/>
        </p:nvSpPr>
        <p:spPr>
          <a:xfrm>
            <a:off x="566928" y="1261872"/>
            <a:ext cx="2542032" cy="78638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4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no período</a:t>
            </a:r>
          </a:p>
        </p:txBody>
      </p:sp>
      <p:sp>
        <p:nvSpPr>
          <p:cNvPr id="731" name="Text 731"/>
          <p:cNvSpPr txBox="1"/>
          <p:nvPr/>
        </p:nvSpPr>
        <p:spPr>
          <a:xfrm>
            <a:off x="3383280" y="1261872"/>
            <a:ext cx="2542032" cy="78638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Área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1.2 mil 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construída</a:t>
            </a:r>
          </a:p>
        </p:txBody>
      </p:sp>
      <p:sp>
        <p:nvSpPr>
          <p:cNvPr id="732" name="Text 732"/>
          <p:cNvSpPr txBox="1"/>
          <p:nvPr/>
        </p:nvSpPr>
        <p:spPr>
          <a:xfrm>
            <a:off x="6199632" y="1261872"/>
            <a:ext cx="2542032" cy="786384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R$ 2.2 mi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negociado</a:t>
            </a:r>
          </a:p>
        </p:txBody>
      </p:sp>
      <p:sp>
        <p:nvSpPr>
          <p:cNvPr id="733" name="Text 733"/>
          <p:cNvSpPr txBox="1"/>
          <p:nvPr/>
        </p:nvSpPr>
        <p:spPr>
          <a:xfrm>
            <a:off x="9015984" y="1261872"/>
            <a:ext cx="2542032" cy="786384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R$/m²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R$ 1.878/m²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nesta tipologia</a:t>
            </a:r>
          </a:p>
        </p:txBody>
      </p:sp>
      <p:sp>
        <p:nvSpPr>
          <p:cNvPr id="750" name="Text 750"/>
          <p:cNvSpPr txBox="1"/>
          <p:nvPr/>
        </p:nvSpPr>
        <p:spPr>
          <a:xfrm>
            <a:off x="658368" y="2359152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253F8E"/>
                </a:solidFill>
              </a:rPr>
              <a:t>Classificação de Obra</a:t>
            </a:r>
          </a:p>
        </p:txBody>
      </p:sp>
      <p:sp>
        <p:nvSpPr>
          <p:cNvPr id="760" name="Text 760"/>
          <p:cNvSpPr txBox="1"/>
          <p:nvPr/>
        </p:nvSpPr>
        <p:spPr>
          <a:xfrm>
            <a:off x="658368" y="2688336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Classificação</a:t>
            </a:r>
          </a:p>
        </p:txBody>
      </p:sp>
      <p:sp>
        <p:nvSpPr>
          <p:cNvPr id="761" name="Text 761"/>
          <p:cNvSpPr txBox="1"/>
          <p:nvPr/>
        </p:nvSpPr>
        <p:spPr>
          <a:xfrm>
            <a:off x="2715768" y="2688336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762" name="Text 762"/>
          <p:cNvSpPr txBox="1"/>
          <p:nvPr/>
        </p:nvSpPr>
        <p:spPr>
          <a:xfrm>
            <a:off x="3310128" y="2688336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763" name="Text 763"/>
          <p:cNvSpPr txBox="1"/>
          <p:nvPr/>
        </p:nvSpPr>
        <p:spPr>
          <a:xfrm>
            <a:off x="4315968" y="2688336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764" name="Text 764"/>
          <p:cNvSpPr txBox="1"/>
          <p:nvPr/>
        </p:nvSpPr>
        <p:spPr>
          <a:xfrm>
            <a:off x="5504688" y="2688336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765" name="Text 765"/>
          <p:cNvSpPr txBox="1"/>
          <p:nvPr/>
        </p:nvSpPr>
        <p:spPr>
          <a:xfrm>
            <a:off x="658368" y="2999232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Eficiência Operacional</a:t>
            </a:r>
          </a:p>
        </p:txBody>
      </p:sp>
      <p:sp>
        <p:nvSpPr>
          <p:cNvPr id="766" name="Text 766"/>
          <p:cNvSpPr txBox="1"/>
          <p:nvPr/>
        </p:nvSpPr>
        <p:spPr>
          <a:xfrm>
            <a:off x="2715768" y="2999232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</a:t>
            </a:r>
          </a:p>
        </p:txBody>
      </p:sp>
      <p:sp>
        <p:nvSpPr>
          <p:cNvPr id="767" name="Text 767"/>
          <p:cNvSpPr txBox="1"/>
          <p:nvPr/>
        </p:nvSpPr>
        <p:spPr>
          <a:xfrm>
            <a:off x="3310128" y="2999232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468 m²</a:t>
            </a:r>
          </a:p>
        </p:txBody>
      </p:sp>
      <p:sp>
        <p:nvSpPr>
          <p:cNvPr id="768" name="Text 768"/>
          <p:cNvSpPr txBox="1"/>
          <p:nvPr/>
        </p:nvSpPr>
        <p:spPr>
          <a:xfrm>
            <a:off x="4315968" y="2999232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R$ 812.5 mil</a:t>
            </a:r>
          </a:p>
        </p:txBody>
      </p:sp>
      <p:sp>
        <p:nvSpPr>
          <p:cNvPr id="769" name="Text 769"/>
          <p:cNvSpPr txBox="1"/>
          <p:nvPr/>
        </p:nvSpPr>
        <p:spPr>
          <a:xfrm>
            <a:off x="5504688" y="299923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R$ 1.737</a:t>
            </a:r>
          </a:p>
        </p:txBody>
      </p:sp>
      <p:sp>
        <p:nvSpPr>
          <p:cNvPr id="770" name="Text 770"/>
          <p:cNvSpPr txBox="1"/>
          <p:nvPr/>
        </p:nvSpPr>
        <p:spPr>
          <a:xfrm>
            <a:off x="658368" y="3310128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Obra emergencial</a:t>
            </a:r>
          </a:p>
        </p:txBody>
      </p:sp>
      <p:sp>
        <p:nvSpPr>
          <p:cNvPr id="771" name="Text 771"/>
          <p:cNvSpPr txBox="1"/>
          <p:nvPr/>
        </p:nvSpPr>
        <p:spPr>
          <a:xfrm>
            <a:off x="2715768" y="3310128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772" name="Text 772"/>
          <p:cNvSpPr txBox="1"/>
          <p:nvPr/>
        </p:nvSpPr>
        <p:spPr>
          <a:xfrm>
            <a:off x="3310128" y="3310128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376 m²</a:t>
            </a:r>
          </a:p>
        </p:txBody>
      </p:sp>
      <p:sp>
        <p:nvSpPr>
          <p:cNvPr id="773" name="Text 773"/>
          <p:cNvSpPr txBox="1"/>
          <p:nvPr/>
        </p:nvSpPr>
        <p:spPr>
          <a:xfrm>
            <a:off x="4315968" y="3310128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R$ 919.9 mil</a:t>
            </a:r>
          </a:p>
        </p:txBody>
      </p:sp>
      <p:sp>
        <p:nvSpPr>
          <p:cNvPr id="774" name="Text 774"/>
          <p:cNvSpPr txBox="1"/>
          <p:nvPr/>
        </p:nvSpPr>
        <p:spPr>
          <a:xfrm>
            <a:off x="5504688" y="3310128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R$ 2.446</a:t>
            </a:r>
          </a:p>
        </p:txBody>
      </p:sp>
      <p:sp>
        <p:nvSpPr>
          <p:cNvPr id="775" name="Text 775"/>
          <p:cNvSpPr txBox="1"/>
          <p:nvPr/>
        </p:nvSpPr>
        <p:spPr>
          <a:xfrm>
            <a:off x="658368" y="3621024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Risco Assistencial</a:t>
            </a:r>
          </a:p>
        </p:txBody>
      </p:sp>
      <p:sp>
        <p:nvSpPr>
          <p:cNvPr id="776" name="Text 776"/>
          <p:cNvSpPr txBox="1"/>
          <p:nvPr/>
        </p:nvSpPr>
        <p:spPr>
          <a:xfrm>
            <a:off x="2715768" y="3621024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777" name="Text 777"/>
          <p:cNvSpPr txBox="1"/>
          <p:nvPr/>
        </p:nvSpPr>
        <p:spPr>
          <a:xfrm>
            <a:off x="3310128" y="3621024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337 m²</a:t>
            </a:r>
          </a:p>
        </p:txBody>
      </p:sp>
      <p:sp>
        <p:nvSpPr>
          <p:cNvPr id="778" name="Text 778"/>
          <p:cNvSpPr txBox="1"/>
          <p:nvPr/>
        </p:nvSpPr>
        <p:spPr>
          <a:xfrm>
            <a:off x="4315968" y="3621024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R$ 485.7 mil</a:t>
            </a:r>
          </a:p>
        </p:txBody>
      </p:sp>
      <p:sp>
        <p:nvSpPr>
          <p:cNvPr id="779" name="Text 779"/>
          <p:cNvSpPr txBox="1"/>
          <p:nvPr/>
        </p:nvSpPr>
        <p:spPr>
          <a:xfrm>
            <a:off x="5504688" y="3621024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R$ 1.441</a:t>
            </a:r>
          </a:p>
        </p:txBody>
      </p:sp>
      <p:sp>
        <p:nvSpPr>
          <p:cNvPr id="830" name="Text 830"/>
          <p:cNvSpPr txBox="1"/>
          <p:nvPr/>
        </p:nvSpPr>
        <p:spPr>
          <a:xfrm>
            <a:off x="6446520" y="2359152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2F65B7"/>
                </a:solidFill>
              </a:rPr>
              <a:t>Nível de Obra</a:t>
            </a:r>
          </a:p>
        </p:txBody>
      </p:sp>
      <p:sp>
        <p:nvSpPr>
          <p:cNvPr id="840" name="Text 840"/>
          <p:cNvSpPr txBox="1"/>
          <p:nvPr/>
        </p:nvSpPr>
        <p:spPr>
          <a:xfrm>
            <a:off x="6446520" y="2688336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Nível</a:t>
            </a:r>
          </a:p>
        </p:txBody>
      </p:sp>
      <p:sp>
        <p:nvSpPr>
          <p:cNvPr id="841" name="Text 841"/>
          <p:cNvSpPr txBox="1"/>
          <p:nvPr/>
        </p:nvSpPr>
        <p:spPr>
          <a:xfrm>
            <a:off x="8503920" y="2688336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842" name="Text 842"/>
          <p:cNvSpPr txBox="1"/>
          <p:nvPr/>
        </p:nvSpPr>
        <p:spPr>
          <a:xfrm>
            <a:off x="9098280" y="2688336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843" name="Text 843"/>
          <p:cNvSpPr txBox="1"/>
          <p:nvPr/>
        </p:nvSpPr>
        <p:spPr>
          <a:xfrm>
            <a:off x="10104120" y="2688336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844" name="Text 844"/>
          <p:cNvSpPr txBox="1"/>
          <p:nvPr/>
        </p:nvSpPr>
        <p:spPr>
          <a:xfrm>
            <a:off x="11292840" y="2688336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845" name="Text 845"/>
          <p:cNvSpPr txBox="1"/>
          <p:nvPr/>
        </p:nvSpPr>
        <p:spPr>
          <a:xfrm>
            <a:off x="6446520" y="2999232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Retrofit</a:t>
            </a:r>
          </a:p>
        </p:txBody>
      </p:sp>
      <p:sp>
        <p:nvSpPr>
          <p:cNvPr id="846" name="Text 846"/>
          <p:cNvSpPr txBox="1"/>
          <p:nvPr/>
        </p:nvSpPr>
        <p:spPr>
          <a:xfrm>
            <a:off x="8503920" y="2999232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</a:t>
            </a:r>
          </a:p>
        </p:txBody>
      </p:sp>
      <p:sp>
        <p:nvSpPr>
          <p:cNvPr id="847" name="Text 847"/>
          <p:cNvSpPr txBox="1"/>
          <p:nvPr/>
        </p:nvSpPr>
        <p:spPr>
          <a:xfrm>
            <a:off x="9098280" y="2999232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1.2 mil m²</a:t>
            </a:r>
          </a:p>
        </p:txBody>
      </p:sp>
      <p:sp>
        <p:nvSpPr>
          <p:cNvPr id="848" name="Text 848"/>
          <p:cNvSpPr txBox="1"/>
          <p:nvPr/>
        </p:nvSpPr>
        <p:spPr>
          <a:xfrm>
            <a:off x="10104120" y="2999232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R$ 2.2 mi</a:t>
            </a:r>
          </a:p>
        </p:txBody>
      </p:sp>
      <p:sp>
        <p:nvSpPr>
          <p:cNvPr id="849" name="Text 849"/>
          <p:cNvSpPr txBox="1"/>
          <p:nvPr/>
        </p:nvSpPr>
        <p:spPr>
          <a:xfrm>
            <a:off x="11292840" y="299923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R$ 1.878</a:t>
            </a:r>
          </a:p>
        </p:txBody>
      </p:sp>
      <p:sp>
        <p:nvSpPr>
          <p:cNvPr id="910" name="Text 910"/>
          <p:cNvSpPr txBox="1"/>
          <p:nvPr/>
        </p:nvSpPr>
        <p:spPr>
          <a:xfrm>
            <a:off x="658368" y="5559552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00">
                <a:solidFill>
                  <a:srgbClr val="64748B"/>
                </a:solidFill>
              </a:rPr>
              <a:t>Estados líderes: CE (R$ 1.2 mi) | GO (R$ 485.7 mil) | PA (R$ 550.4 mil)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Rankings de obras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15</a:t>
            </a:r>
          </a:p>
        </p:txBody>
      </p:sp>
      <p:sp>
        <p:nvSpPr>
          <p:cNvPr id="220" name="Text 220"/>
          <p:cNvSpPr txBox="1"/>
          <p:nvPr/>
        </p:nvSpPr>
        <p:spPr>
          <a:xfrm>
            <a:off x="566928" y="749808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200" b="1">
                <a:solidFill>
                  <a:srgbClr val="15253F"/>
                </a:solidFill>
              </a:rPr>
              <a:t>Obras com maior R$/m² e maior área</a:t>
            </a:r>
          </a:p>
        </p:txBody>
      </p:sp>
      <p:sp>
        <p:nvSpPr>
          <p:cNvPr id="221" name="Text 221"/>
          <p:cNvSpPr txBox="1"/>
          <p:nvPr/>
        </p:nvSpPr>
        <p:spPr>
          <a:xfrm>
            <a:off x="658368" y="1243584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>
                <a:solidFill>
                  <a:srgbClr val="2F65B7"/>
                </a:solidFill>
              </a:rPr>
              <a:t>Maior R$/m²</a:t>
            </a:r>
          </a:p>
        </p:txBody>
      </p:sp>
      <p:sp>
        <p:nvSpPr>
          <p:cNvPr id="230" name="Text 230"/>
          <p:cNvSpPr txBox="1"/>
          <p:nvPr/>
        </p:nvSpPr>
        <p:spPr>
          <a:xfrm>
            <a:off x="658368" y="1627632"/>
            <a:ext cx="2304288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231" name="Text 231"/>
          <p:cNvSpPr txBox="1"/>
          <p:nvPr/>
        </p:nvSpPr>
        <p:spPr>
          <a:xfrm>
            <a:off x="2962656" y="1627632"/>
            <a:ext cx="914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232" name="Text 232"/>
          <p:cNvSpPr txBox="1"/>
          <p:nvPr/>
        </p:nvSpPr>
        <p:spPr>
          <a:xfrm>
            <a:off x="3877056" y="1627632"/>
            <a:ext cx="10972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233" name="Text 233"/>
          <p:cNvSpPr txBox="1"/>
          <p:nvPr/>
        </p:nvSpPr>
        <p:spPr>
          <a:xfrm>
            <a:off x="4974336" y="1627632"/>
            <a:ext cx="10972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234" name="Text 234"/>
          <p:cNvSpPr txBox="1"/>
          <p:nvPr/>
        </p:nvSpPr>
        <p:spPr>
          <a:xfrm>
            <a:off x="658368" y="1938528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4051.Troca Ressonância Notrelabs Santo Amaro</a:t>
            </a:r>
          </a:p>
        </p:txBody>
      </p:sp>
      <p:sp>
        <p:nvSpPr>
          <p:cNvPr id="235" name="Text 235"/>
          <p:cNvSpPr txBox="1"/>
          <p:nvPr/>
        </p:nvSpPr>
        <p:spPr>
          <a:xfrm>
            <a:off x="2962656" y="1938528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33</a:t>
            </a:r>
          </a:p>
        </p:txBody>
      </p:sp>
      <p:sp>
        <p:nvSpPr>
          <p:cNvPr id="236" name="Text 236"/>
          <p:cNvSpPr txBox="1"/>
          <p:nvPr/>
        </p:nvSpPr>
        <p:spPr>
          <a:xfrm>
            <a:off x="3877056" y="1938528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R$ 963.0 mil</a:t>
            </a:r>
          </a:p>
        </p:txBody>
      </p:sp>
      <p:sp>
        <p:nvSpPr>
          <p:cNvPr id="237" name="Text 237"/>
          <p:cNvSpPr txBox="1"/>
          <p:nvPr/>
        </p:nvSpPr>
        <p:spPr>
          <a:xfrm>
            <a:off x="4974336" y="1938528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R$ 29.069</a:t>
            </a:r>
          </a:p>
        </p:txBody>
      </p:sp>
      <p:sp>
        <p:nvSpPr>
          <p:cNvPr id="238" name="Text 238"/>
          <p:cNvSpPr txBox="1"/>
          <p:nvPr/>
        </p:nvSpPr>
        <p:spPr>
          <a:xfrm>
            <a:off x="658368" y="2249424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4048.Nova Ressonância Notrelabs Banda</a:t>
            </a:r>
          </a:p>
        </p:txBody>
      </p:sp>
      <p:sp>
        <p:nvSpPr>
          <p:cNvPr id="239" name="Text 239"/>
          <p:cNvSpPr txBox="1"/>
          <p:nvPr/>
        </p:nvSpPr>
        <p:spPr>
          <a:xfrm>
            <a:off x="2962656" y="2249424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56</a:t>
            </a:r>
          </a:p>
        </p:txBody>
      </p:sp>
      <p:sp>
        <p:nvSpPr>
          <p:cNvPr id="240" name="Text 240"/>
          <p:cNvSpPr txBox="1"/>
          <p:nvPr/>
        </p:nvSpPr>
        <p:spPr>
          <a:xfrm>
            <a:off x="3877056" y="2249424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R$ 843.4 mil</a:t>
            </a:r>
          </a:p>
        </p:txBody>
      </p:sp>
      <p:sp>
        <p:nvSpPr>
          <p:cNvPr id="241" name="Text 241"/>
          <p:cNvSpPr txBox="1"/>
          <p:nvPr/>
        </p:nvSpPr>
        <p:spPr>
          <a:xfrm>
            <a:off x="4974336" y="2249424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R$ 15.031</a:t>
            </a:r>
          </a:p>
        </p:txBody>
      </p:sp>
      <p:sp>
        <p:nvSpPr>
          <p:cNvPr id="242" name="Text 242"/>
          <p:cNvSpPr txBox="1"/>
          <p:nvPr/>
        </p:nvSpPr>
        <p:spPr>
          <a:xfrm>
            <a:off x="658368" y="2560320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4052.Troca Ressonância Notrelabs Atlântica</a:t>
            </a:r>
          </a:p>
        </p:txBody>
      </p:sp>
      <p:sp>
        <p:nvSpPr>
          <p:cNvPr id="243" name="Text 243"/>
          <p:cNvSpPr txBox="1"/>
          <p:nvPr/>
        </p:nvSpPr>
        <p:spPr>
          <a:xfrm>
            <a:off x="2962656" y="2560320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52</a:t>
            </a:r>
          </a:p>
        </p:txBody>
      </p:sp>
      <p:sp>
        <p:nvSpPr>
          <p:cNvPr id="244" name="Text 244"/>
          <p:cNvSpPr txBox="1"/>
          <p:nvPr/>
        </p:nvSpPr>
        <p:spPr>
          <a:xfrm>
            <a:off x="3877056" y="2560320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R$ 652.4 mil</a:t>
            </a:r>
          </a:p>
        </p:txBody>
      </p:sp>
      <p:sp>
        <p:nvSpPr>
          <p:cNvPr id="245" name="Text 245"/>
          <p:cNvSpPr txBox="1"/>
          <p:nvPr/>
        </p:nvSpPr>
        <p:spPr>
          <a:xfrm>
            <a:off x="4974336" y="2560320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R$ 12.462</a:t>
            </a:r>
          </a:p>
        </p:txBody>
      </p:sp>
      <p:sp>
        <p:nvSpPr>
          <p:cNvPr id="246" name="Text 246"/>
          <p:cNvSpPr txBox="1"/>
          <p:nvPr/>
        </p:nvSpPr>
        <p:spPr>
          <a:xfrm>
            <a:off x="658368" y="2871216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4049.Troca Ressonância Notrelabs Mauá</a:t>
            </a:r>
          </a:p>
        </p:txBody>
      </p:sp>
      <p:sp>
        <p:nvSpPr>
          <p:cNvPr id="247" name="Text 247"/>
          <p:cNvSpPr txBox="1"/>
          <p:nvPr/>
        </p:nvSpPr>
        <p:spPr>
          <a:xfrm>
            <a:off x="2962656" y="2871216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66</a:t>
            </a:r>
          </a:p>
        </p:txBody>
      </p:sp>
      <p:sp>
        <p:nvSpPr>
          <p:cNvPr id="248" name="Text 248"/>
          <p:cNvSpPr txBox="1"/>
          <p:nvPr/>
        </p:nvSpPr>
        <p:spPr>
          <a:xfrm>
            <a:off x="3877056" y="2871216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R$ 807.0 mil</a:t>
            </a:r>
          </a:p>
        </p:txBody>
      </p:sp>
      <p:sp>
        <p:nvSpPr>
          <p:cNvPr id="249" name="Text 249"/>
          <p:cNvSpPr txBox="1"/>
          <p:nvPr/>
        </p:nvSpPr>
        <p:spPr>
          <a:xfrm>
            <a:off x="4974336" y="2871216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R$ 12.176</a:t>
            </a:r>
          </a:p>
        </p:txBody>
      </p:sp>
      <p:sp>
        <p:nvSpPr>
          <p:cNvPr id="250" name="Text 250"/>
          <p:cNvSpPr txBox="1"/>
          <p:nvPr/>
        </p:nvSpPr>
        <p:spPr>
          <a:xfrm>
            <a:off x="658368" y="3182112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3986.Adequação Pref. Notrelife Sorocaba</a:t>
            </a:r>
          </a:p>
        </p:txBody>
      </p:sp>
      <p:sp>
        <p:nvSpPr>
          <p:cNvPr id="251" name="Text 251"/>
          <p:cNvSpPr txBox="1"/>
          <p:nvPr/>
        </p:nvSpPr>
        <p:spPr>
          <a:xfrm>
            <a:off x="2962656" y="3182112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8</a:t>
            </a:r>
          </a:p>
        </p:txBody>
      </p:sp>
      <p:sp>
        <p:nvSpPr>
          <p:cNvPr id="252" name="Text 252"/>
          <p:cNvSpPr txBox="1"/>
          <p:nvPr/>
        </p:nvSpPr>
        <p:spPr>
          <a:xfrm>
            <a:off x="3877056" y="3182112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R$ 86.0 mil</a:t>
            </a:r>
          </a:p>
        </p:txBody>
      </p:sp>
      <p:sp>
        <p:nvSpPr>
          <p:cNvPr id="253" name="Text 253"/>
          <p:cNvSpPr txBox="1"/>
          <p:nvPr/>
        </p:nvSpPr>
        <p:spPr>
          <a:xfrm>
            <a:off x="4974336" y="3182112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R$ 11.467</a:t>
            </a:r>
          </a:p>
        </p:txBody>
      </p:sp>
      <p:sp>
        <p:nvSpPr>
          <p:cNvPr id="254" name="Text 254"/>
          <p:cNvSpPr txBox="1"/>
          <p:nvPr/>
        </p:nvSpPr>
        <p:spPr>
          <a:xfrm>
            <a:off x="658368" y="3493008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5029.Hemodinâmica Camboriú</a:t>
            </a:r>
          </a:p>
        </p:txBody>
      </p:sp>
      <p:sp>
        <p:nvSpPr>
          <p:cNvPr id="255" name="Text 255"/>
          <p:cNvSpPr txBox="1"/>
          <p:nvPr/>
        </p:nvSpPr>
        <p:spPr>
          <a:xfrm>
            <a:off x="2962656" y="3493008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49</a:t>
            </a:r>
          </a:p>
        </p:txBody>
      </p:sp>
      <p:sp>
        <p:nvSpPr>
          <p:cNvPr id="256" name="Text 256"/>
          <p:cNvSpPr txBox="1"/>
          <p:nvPr/>
        </p:nvSpPr>
        <p:spPr>
          <a:xfrm>
            <a:off x="3877056" y="3493008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R$ 494.7 mil</a:t>
            </a:r>
          </a:p>
        </p:txBody>
      </p:sp>
      <p:sp>
        <p:nvSpPr>
          <p:cNvPr id="257" name="Text 257"/>
          <p:cNvSpPr txBox="1"/>
          <p:nvPr/>
        </p:nvSpPr>
        <p:spPr>
          <a:xfrm>
            <a:off x="4974336" y="3493008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R$ 10.028</a:t>
            </a:r>
          </a:p>
        </p:txBody>
      </p:sp>
      <p:sp>
        <p:nvSpPr>
          <p:cNvPr id="258" name="Text 258"/>
          <p:cNvSpPr txBox="1"/>
          <p:nvPr/>
        </p:nvSpPr>
        <p:spPr>
          <a:xfrm>
            <a:off x="658368" y="3803904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0000.Nova Ressonância HS Santa Maria</a:t>
            </a:r>
          </a:p>
        </p:txBody>
      </p:sp>
      <p:sp>
        <p:nvSpPr>
          <p:cNvPr id="259" name="Text 259"/>
          <p:cNvSpPr txBox="1"/>
          <p:nvPr/>
        </p:nvSpPr>
        <p:spPr>
          <a:xfrm>
            <a:off x="2962656" y="3803904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134</a:t>
            </a:r>
          </a:p>
        </p:txBody>
      </p:sp>
      <p:sp>
        <p:nvSpPr>
          <p:cNvPr id="260" name="Text 260"/>
          <p:cNvSpPr txBox="1"/>
          <p:nvPr/>
        </p:nvSpPr>
        <p:spPr>
          <a:xfrm>
            <a:off x="3877056" y="3803904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R$ 1.3 mi</a:t>
            </a:r>
          </a:p>
        </p:txBody>
      </p:sp>
      <p:sp>
        <p:nvSpPr>
          <p:cNvPr id="261" name="Text 261"/>
          <p:cNvSpPr txBox="1"/>
          <p:nvPr/>
        </p:nvSpPr>
        <p:spPr>
          <a:xfrm>
            <a:off x="4974336" y="3803904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R$ 9.375</a:t>
            </a:r>
          </a:p>
        </p:txBody>
      </p:sp>
      <p:sp>
        <p:nvSpPr>
          <p:cNvPr id="262" name="Text 262"/>
          <p:cNvSpPr txBox="1"/>
          <p:nvPr/>
        </p:nvSpPr>
        <p:spPr>
          <a:xfrm>
            <a:off x="658368" y="4114800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3954.Nova Ressonância Ghelfond Guarulhos</a:t>
            </a:r>
          </a:p>
        </p:txBody>
      </p:sp>
      <p:sp>
        <p:nvSpPr>
          <p:cNvPr id="263" name="Text 263"/>
          <p:cNvSpPr txBox="1"/>
          <p:nvPr/>
        </p:nvSpPr>
        <p:spPr>
          <a:xfrm>
            <a:off x="2962656" y="4114800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104</a:t>
            </a:r>
          </a:p>
        </p:txBody>
      </p:sp>
      <p:sp>
        <p:nvSpPr>
          <p:cNvPr id="264" name="Text 264"/>
          <p:cNvSpPr txBox="1"/>
          <p:nvPr/>
        </p:nvSpPr>
        <p:spPr>
          <a:xfrm>
            <a:off x="3877056" y="4114800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R$ 863.3 mil</a:t>
            </a:r>
          </a:p>
        </p:txBody>
      </p:sp>
      <p:sp>
        <p:nvSpPr>
          <p:cNvPr id="265" name="Text 265"/>
          <p:cNvSpPr txBox="1"/>
          <p:nvPr/>
        </p:nvSpPr>
        <p:spPr>
          <a:xfrm>
            <a:off x="4974336" y="4114800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R$ 8.290</a:t>
            </a:r>
          </a:p>
        </p:txBody>
      </p:sp>
      <p:sp>
        <p:nvSpPr>
          <p:cNvPr id="266" name="Text 266"/>
          <p:cNvSpPr txBox="1"/>
          <p:nvPr/>
        </p:nvSpPr>
        <p:spPr>
          <a:xfrm>
            <a:off x="658368" y="4425696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3272.Adequação PPCI HS Rio Amazonas</a:t>
            </a:r>
          </a:p>
        </p:txBody>
      </p:sp>
      <p:sp>
        <p:nvSpPr>
          <p:cNvPr id="267" name="Text 267"/>
          <p:cNvSpPr txBox="1"/>
          <p:nvPr/>
        </p:nvSpPr>
        <p:spPr>
          <a:xfrm>
            <a:off x="2962656" y="4425696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162</a:t>
            </a:r>
          </a:p>
        </p:txBody>
      </p:sp>
      <p:sp>
        <p:nvSpPr>
          <p:cNvPr id="268" name="Text 268"/>
          <p:cNvSpPr txBox="1"/>
          <p:nvPr/>
        </p:nvSpPr>
        <p:spPr>
          <a:xfrm>
            <a:off x="3877056" y="4425696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R$ 1.1 mi</a:t>
            </a:r>
          </a:p>
        </p:txBody>
      </p:sp>
      <p:sp>
        <p:nvSpPr>
          <p:cNvPr id="269" name="Text 269"/>
          <p:cNvSpPr txBox="1"/>
          <p:nvPr/>
        </p:nvSpPr>
        <p:spPr>
          <a:xfrm>
            <a:off x="4974336" y="4425696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R$ 6.971</a:t>
            </a:r>
          </a:p>
        </p:txBody>
      </p:sp>
      <p:sp>
        <p:nvSpPr>
          <p:cNvPr id="300" name="Text 300"/>
          <p:cNvSpPr txBox="1"/>
          <p:nvPr/>
        </p:nvSpPr>
        <p:spPr>
          <a:xfrm>
            <a:off x="6400800" y="1243584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>
                <a:solidFill>
                  <a:srgbClr val="2F65B7"/>
                </a:solidFill>
              </a:rPr>
              <a:t>Maior área construída</a:t>
            </a:r>
          </a:p>
        </p:txBody>
      </p:sp>
      <p:sp>
        <p:nvSpPr>
          <p:cNvPr id="310" name="Text 310"/>
          <p:cNvSpPr txBox="1"/>
          <p:nvPr/>
        </p:nvSpPr>
        <p:spPr>
          <a:xfrm>
            <a:off x="6400800" y="1627632"/>
            <a:ext cx="2304288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311" name="Text 311"/>
          <p:cNvSpPr txBox="1"/>
          <p:nvPr/>
        </p:nvSpPr>
        <p:spPr>
          <a:xfrm>
            <a:off x="8705088" y="1627632"/>
            <a:ext cx="914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312" name="Text 312"/>
          <p:cNvSpPr txBox="1"/>
          <p:nvPr/>
        </p:nvSpPr>
        <p:spPr>
          <a:xfrm>
            <a:off x="9619488" y="1627632"/>
            <a:ext cx="10972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313" name="Text 313"/>
          <p:cNvSpPr txBox="1"/>
          <p:nvPr/>
        </p:nvSpPr>
        <p:spPr>
          <a:xfrm>
            <a:off x="10716768" y="1627632"/>
            <a:ext cx="10972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314" name="Text 314"/>
          <p:cNvSpPr txBox="1"/>
          <p:nvPr/>
        </p:nvSpPr>
        <p:spPr>
          <a:xfrm>
            <a:off x="6400800" y="1938528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0000.Transformação PA em Hospital UASA</a:t>
            </a:r>
          </a:p>
        </p:txBody>
      </p:sp>
      <p:sp>
        <p:nvSpPr>
          <p:cNvPr id="315" name="Text 315"/>
          <p:cNvSpPr txBox="1"/>
          <p:nvPr/>
        </p:nvSpPr>
        <p:spPr>
          <a:xfrm>
            <a:off x="8705088" y="1938528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10.433</a:t>
            </a:r>
          </a:p>
        </p:txBody>
      </p:sp>
      <p:sp>
        <p:nvSpPr>
          <p:cNvPr id="316" name="Text 316"/>
          <p:cNvSpPr txBox="1"/>
          <p:nvPr/>
        </p:nvSpPr>
        <p:spPr>
          <a:xfrm>
            <a:off x="9619488" y="1938528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R$ 23.2 mi</a:t>
            </a:r>
          </a:p>
        </p:txBody>
      </p:sp>
      <p:sp>
        <p:nvSpPr>
          <p:cNvPr id="317" name="Text 317"/>
          <p:cNvSpPr txBox="1"/>
          <p:nvPr/>
        </p:nvSpPr>
        <p:spPr>
          <a:xfrm>
            <a:off x="10716768" y="1938528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R$ 2.220</a:t>
            </a:r>
          </a:p>
        </p:txBody>
      </p:sp>
      <p:sp>
        <p:nvSpPr>
          <p:cNvPr id="318" name="Text 318"/>
          <p:cNvSpPr txBox="1"/>
          <p:nvPr/>
        </p:nvSpPr>
        <p:spPr>
          <a:xfrm>
            <a:off x="6400800" y="2249424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4251.Adequação Angélica  (8º Pavimento)</a:t>
            </a:r>
          </a:p>
        </p:txBody>
      </p:sp>
      <p:sp>
        <p:nvSpPr>
          <p:cNvPr id="319" name="Text 319"/>
          <p:cNvSpPr txBox="1"/>
          <p:nvPr/>
        </p:nvSpPr>
        <p:spPr>
          <a:xfrm>
            <a:off x="8705088" y="2249424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7.512</a:t>
            </a:r>
          </a:p>
        </p:txBody>
      </p:sp>
      <p:sp>
        <p:nvSpPr>
          <p:cNvPr id="320" name="Text 320"/>
          <p:cNvSpPr txBox="1"/>
          <p:nvPr/>
        </p:nvSpPr>
        <p:spPr>
          <a:xfrm>
            <a:off x="9619488" y="2249424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R$ 5.2 mi</a:t>
            </a:r>
          </a:p>
        </p:txBody>
      </p:sp>
      <p:sp>
        <p:nvSpPr>
          <p:cNvPr id="321" name="Text 321"/>
          <p:cNvSpPr txBox="1"/>
          <p:nvPr/>
        </p:nvSpPr>
        <p:spPr>
          <a:xfrm>
            <a:off x="10716768" y="2249424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R$ 688</a:t>
            </a:r>
          </a:p>
        </p:txBody>
      </p:sp>
      <p:sp>
        <p:nvSpPr>
          <p:cNvPr id="322" name="Text 322"/>
          <p:cNvSpPr txBox="1"/>
          <p:nvPr/>
        </p:nvSpPr>
        <p:spPr>
          <a:xfrm>
            <a:off x="6400800" y="2560320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3590.Adequação Hapnatal (3ª fase)</a:t>
            </a:r>
          </a:p>
        </p:txBody>
      </p:sp>
      <p:sp>
        <p:nvSpPr>
          <p:cNvPr id="323" name="Text 323"/>
          <p:cNvSpPr txBox="1"/>
          <p:nvPr/>
        </p:nvSpPr>
        <p:spPr>
          <a:xfrm>
            <a:off x="8705088" y="2560320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7.150</a:t>
            </a:r>
          </a:p>
        </p:txBody>
      </p:sp>
      <p:sp>
        <p:nvSpPr>
          <p:cNvPr id="324" name="Text 324"/>
          <p:cNvSpPr txBox="1"/>
          <p:nvPr/>
        </p:nvSpPr>
        <p:spPr>
          <a:xfrm>
            <a:off x="9619488" y="2560320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R$ 2.7 mi</a:t>
            </a:r>
          </a:p>
        </p:txBody>
      </p:sp>
      <p:sp>
        <p:nvSpPr>
          <p:cNvPr id="325" name="Text 325"/>
          <p:cNvSpPr txBox="1"/>
          <p:nvPr/>
        </p:nvSpPr>
        <p:spPr>
          <a:xfrm>
            <a:off x="10716768" y="2560320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R$ 377</a:t>
            </a:r>
          </a:p>
        </p:txBody>
      </p:sp>
      <p:sp>
        <p:nvSpPr>
          <p:cNvPr id="326" name="Text 326"/>
          <p:cNvSpPr txBox="1"/>
          <p:nvPr/>
        </p:nvSpPr>
        <p:spPr>
          <a:xfrm>
            <a:off x="6400800" y="2871216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4065.Reabertura HS Analia Franco (2ª fase)</a:t>
            </a:r>
          </a:p>
        </p:txBody>
      </p:sp>
      <p:sp>
        <p:nvSpPr>
          <p:cNvPr id="327" name="Text 327"/>
          <p:cNvSpPr txBox="1"/>
          <p:nvPr/>
        </p:nvSpPr>
        <p:spPr>
          <a:xfrm>
            <a:off x="8705088" y="2871216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6.170</a:t>
            </a:r>
          </a:p>
        </p:txBody>
      </p:sp>
      <p:sp>
        <p:nvSpPr>
          <p:cNvPr id="328" name="Text 328"/>
          <p:cNvSpPr txBox="1"/>
          <p:nvPr/>
        </p:nvSpPr>
        <p:spPr>
          <a:xfrm>
            <a:off x="9619488" y="2871216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R$ 6.5 mi</a:t>
            </a:r>
          </a:p>
        </p:txBody>
      </p:sp>
      <p:sp>
        <p:nvSpPr>
          <p:cNvPr id="329" name="Text 329"/>
          <p:cNvSpPr txBox="1"/>
          <p:nvPr/>
        </p:nvSpPr>
        <p:spPr>
          <a:xfrm>
            <a:off x="10716768" y="2871216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R$ 1.056</a:t>
            </a:r>
          </a:p>
        </p:txBody>
      </p:sp>
      <p:sp>
        <p:nvSpPr>
          <p:cNvPr id="330" name="Text 330"/>
          <p:cNvSpPr txBox="1"/>
          <p:nvPr/>
        </p:nvSpPr>
        <p:spPr>
          <a:xfrm>
            <a:off x="6400800" y="3182112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4240.Adequação PPCI Hospital Rio Solimões</a:t>
            </a:r>
          </a:p>
        </p:txBody>
      </p:sp>
      <p:sp>
        <p:nvSpPr>
          <p:cNvPr id="331" name="Text 331"/>
          <p:cNvSpPr txBox="1"/>
          <p:nvPr/>
        </p:nvSpPr>
        <p:spPr>
          <a:xfrm>
            <a:off x="8705088" y="3182112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5.659</a:t>
            </a:r>
          </a:p>
        </p:txBody>
      </p:sp>
      <p:sp>
        <p:nvSpPr>
          <p:cNvPr id="332" name="Text 332"/>
          <p:cNvSpPr txBox="1"/>
          <p:nvPr/>
        </p:nvSpPr>
        <p:spPr>
          <a:xfrm>
            <a:off x="9619488" y="3182112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R$ 497.1 mil</a:t>
            </a:r>
          </a:p>
        </p:txBody>
      </p:sp>
      <p:sp>
        <p:nvSpPr>
          <p:cNvPr id="333" name="Text 333"/>
          <p:cNvSpPr txBox="1"/>
          <p:nvPr/>
        </p:nvSpPr>
        <p:spPr>
          <a:xfrm>
            <a:off x="10716768" y="3182112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R$ 88</a:t>
            </a:r>
          </a:p>
        </p:txBody>
      </p:sp>
      <p:sp>
        <p:nvSpPr>
          <p:cNvPr id="334" name="Text 334"/>
          <p:cNvSpPr txBox="1"/>
          <p:nvPr/>
        </p:nvSpPr>
        <p:spPr>
          <a:xfrm>
            <a:off x="6400800" y="3493008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4279.Adequação PPCI HS Ilha do Leite</a:t>
            </a:r>
          </a:p>
        </p:txBody>
      </p:sp>
      <p:sp>
        <p:nvSpPr>
          <p:cNvPr id="335" name="Text 335"/>
          <p:cNvSpPr txBox="1"/>
          <p:nvPr/>
        </p:nvSpPr>
        <p:spPr>
          <a:xfrm>
            <a:off x="8705088" y="3493008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5.635</a:t>
            </a:r>
          </a:p>
        </p:txBody>
      </p:sp>
      <p:sp>
        <p:nvSpPr>
          <p:cNvPr id="336" name="Text 336"/>
          <p:cNvSpPr txBox="1"/>
          <p:nvPr/>
        </p:nvSpPr>
        <p:spPr>
          <a:xfrm>
            <a:off x="9619488" y="3493008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R$ 1.7 mi</a:t>
            </a:r>
          </a:p>
        </p:txBody>
      </p:sp>
      <p:sp>
        <p:nvSpPr>
          <p:cNvPr id="337" name="Text 337"/>
          <p:cNvSpPr txBox="1"/>
          <p:nvPr/>
        </p:nvSpPr>
        <p:spPr>
          <a:xfrm>
            <a:off x="10716768" y="3493008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R$ 304</a:t>
            </a:r>
          </a:p>
        </p:txBody>
      </p:sp>
      <p:sp>
        <p:nvSpPr>
          <p:cNvPr id="338" name="Text 338"/>
          <p:cNvSpPr txBox="1"/>
          <p:nvPr/>
        </p:nvSpPr>
        <p:spPr>
          <a:xfrm>
            <a:off x="6400800" y="3803904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4160.Adequação PPCI HS São Lucas (Americana)</a:t>
            </a:r>
          </a:p>
        </p:txBody>
      </p:sp>
      <p:sp>
        <p:nvSpPr>
          <p:cNvPr id="339" name="Text 339"/>
          <p:cNvSpPr txBox="1"/>
          <p:nvPr/>
        </p:nvSpPr>
        <p:spPr>
          <a:xfrm>
            <a:off x="8705088" y="3803904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5.214</a:t>
            </a:r>
          </a:p>
        </p:txBody>
      </p:sp>
      <p:sp>
        <p:nvSpPr>
          <p:cNvPr id="340" name="Text 340"/>
          <p:cNvSpPr txBox="1"/>
          <p:nvPr/>
        </p:nvSpPr>
        <p:spPr>
          <a:xfrm>
            <a:off x="9619488" y="3803904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R$ 530.0 mil</a:t>
            </a:r>
          </a:p>
        </p:txBody>
      </p:sp>
      <p:sp>
        <p:nvSpPr>
          <p:cNvPr id="341" name="Text 341"/>
          <p:cNvSpPr txBox="1"/>
          <p:nvPr/>
        </p:nvSpPr>
        <p:spPr>
          <a:xfrm>
            <a:off x="10716768" y="3803904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R$ 102</a:t>
            </a:r>
          </a:p>
        </p:txBody>
      </p:sp>
      <p:sp>
        <p:nvSpPr>
          <p:cNvPr id="342" name="Text 342"/>
          <p:cNvSpPr txBox="1"/>
          <p:nvPr/>
        </p:nvSpPr>
        <p:spPr>
          <a:xfrm>
            <a:off x="6400800" y="4114800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4370.Adequação PPCI HS Vasco Lucena</a:t>
            </a:r>
          </a:p>
        </p:txBody>
      </p:sp>
      <p:sp>
        <p:nvSpPr>
          <p:cNvPr id="343" name="Text 343"/>
          <p:cNvSpPr txBox="1"/>
          <p:nvPr/>
        </p:nvSpPr>
        <p:spPr>
          <a:xfrm>
            <a:off x="8705088" y="4114800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5.200</a:t>
            </a:r>
          </a:p>
        </p:txBody>
      </p:sp>
      <p:sp>
        <p:nvSpPr>
          <p:cNvPr id="344" name="Text 344"/>
          <p:cNvSpPr txBox="1"/>
          <p:nvPr/>
        </p:nvSpPr>
        <p:spPr>
          <a:xfrm>
            <a:off x="9619488" y="4114800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R$ 1.5 mi</a:t>
            </a:r>
          </a:p>
        </p:txBody>
      </p:sp>
      <p:sp>
        <p:nvSpPr>
          <p:cNvPr id="345" name="Text 345"/>
          <p:cNvSpPr txBox="1"/>
          <p:nvPr/>
        </p:nvSpPr>
        <p:spPr>
          <a:xfrm>
            <a:off x="10716768" y="4114800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R$ 294</a:t>
            </a:r>
          </a:p>
        </p:txBody>
      </p:sp>
      <p:sp>
        <p:nvSpPr>
          <p:cNvPr id="346" name="Text 346"/>
          <p:cNvSpPr txBox="1"/>
          <p:nvPr/>
        </p:nvSpPr>
        <p:spPr>
          <a:xfrm>
            <a:off x="6400800" y="4425696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4032.Reabertura do HS Layr Maia</a:t>
            </a:r>
          </a:p>
        </p:txBody>
      </p:sp>
      <p:sp>
        <p:nvSpPr>
          <p:cNvPr id="347" name="Text 347"/>
          <p:cNvSpPr txBox="1"/>
          <p:nvPr/>
        </p:nvSpPr>
        <p:spPr>
          <a:xfrm>
            <a:off x="8705088" y="4425696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5.062</a:t>
            </a:r>
          </a:p>
        </p:txBody>
      </p:sp>
      <p:sp>
        <p:nvSpPr>
          <p:cNvPr id="348" name="Text 348"/>
          <p:cNvSpPr txBox="1"/>
          <p:nvPr/>
        </p:nvSpPr>
        <p:spPr>
          <a:xfrm>
            <a:off x="9619488" y="4425696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R$ 14.5 mi</a:t>
            </a:r>
          </a:p>
        </p:txBody>
      </p:sp>
      <p:sp>
        <p:nvSpPr>
          <p:cNvPr id="349" name="Text 349"/>
          <p:cNvSpPr txBox="1"/>
          <p:nvPr/>
        </p:nvSpPr>
        <p:spPr>
          <a:xfrm>
            <a:off x="10716768" y="4425696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R$ 2.860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Critérios da análise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16</a:t>
            </a:r>
          </a:p>
        </p:txBody>
      </p:sp>
      <p:sp>
        <p:nvSpPr>
          <p:cNvPr id="400" name="Text 400"/>
          <p:cNvSpPr txBox="1"/>
          <p:nvPr/>
        </p:nvSpPr>
        <p:spPr>
          <a:xfrm>
            <a:off x="566928" y="749808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200" b="1">
                <a:solidFill>
                  <a:srgbClr val="15253F"/>
                </a:solidFill>
              </a:rPr>
              <a:t>Critérios e campos utilizados</a:t>
            </a:r>
          </a:p>
        </p:txBody>
      </p:sp>
      <p:sp>
        <p:nvSpPr>
          <p:cNvPr id="401" name="Text 401"/>
          <p:cNvSpPr txBox="1"/>
          <p:nvPr/>
        </p:nvSpPr>
        <p:spPr>
          <a:xfrm>
            <a:off x="841248" y="1463040"/>
            <a:ext cx="10332720" cy="3108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700">
                <a:solidFill>
                  <a:srgbClr val="15253F"/>
                </a:solidFill>
              </a:rPr>
              <a:t>• Aba utilizada: Base Geral.</a:t>
            </a:r>
          </a:p>
          <a:p>
            <a:pPr algn="l"/>
            <a:r>
              <a:rPr lang="pt-BR" sz="1700">
                <a:solidFill>
                  <a:srgbClr val="15253F"/>
                </a:solidFill>
              </a:rPr>
              <a:t>• Colunas ocultas ignoradas conforme orientação.</a:t>
            </a:r>
          </a:p>
          <a:p>
            <a:pPr algn="l"/>
            <a:r>
              <a:rPr lang="pt-BR" sz="1700">
                <a:solidFill>
                  <a:srgbClr val="15253F"/>
                </a:solidFill>
              </a:rPr>
              <a:t>• Filtro principal: Mês entre 01/01/2025 e 14/08/2026, incluindo os status da coluna M.</a:t>
            </a:r>
          </a:p>
          <a:p>
            <a:pPr algn="l"/>
            <a:r>
              <a:rPr lang="pt-BR" sz="1700">
                <a:solidFill>
                  <a:srgbClr val="15253F"/>
                </a:solidFill>
              </a:rPr>
              <a:t>• R$/m² apresentado somente dentro dos cortes analíticos: soma do Valor Negociado dividida pela soma da Área (m²).</a:t>
            </a:r>
          </a:p>
          <a:p>
            <a:pPr algn="l"/>
            <a:r>
              <a:rPr lang="pt-BR" sz="1700">
                <a:solidFill>
                  <a:srgbClr val="15253F"/>
                </a:solidFill>
              </a:rPr>
              <a:t>• Eixo executivo principal: Tipologia de Obras pela coluna U. Cortes complementares: Classificação, Nível de Obra, Estado e Região.</a:t>
            </a:r>
          </a:p>
        </p:txBody>
      </p:sp>
      <p:sp>
        <p:nvSpPr>
          <p:cNvPr id="402" name="Text 402"/>
          <p:cNvSpPr txBox="1"/>
          <p:nvPr/>
        </p:nvSpPr>
        <p:spPr>
          <a:xfrm>
            <a:off x="841248" y="4983480"/>
            <a:ext cx="10332720" cy="438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>
                <a:solidFill>
                  <a:srgbClr val="64748B"/>
                </a:solidFill>
              </a:rPr>
              <a:t>Arquivo complementar: dashboard HTML interativo com filtros, curva mensal e tabela detalhada.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def94a3-6d42-4c9e-8cca-d25e171edf55" xsi:nil="true"/>
    <lcf76f155ced4ddcb4097134ff3c332f xmlns="8c47632e-f6f4-466b-b0d0-588b29b5bf13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743E72E677B5418F65344B8F9625B8" ma:contentTypeVersion="13" ma:contentTypeDescription="Create a new document." ma:contentTypeScope="" ma:versionID="9b7c6091a8065acca16dbd6d886ea45f">
  <xsd:schema xmlns:xsd="http://www.w3.org/2001/XMLSchema" xmlns:xs="http://www.w3.org/2001/XMLSchema" xmlns:p="http://schemas.microsoft.com/office/2006/metadata/properties" xmlns:ns2="8c47632e-f6f4-466b-b0d0-588b29b5bf13" xmlns:ns3="3def94a3-6d42-4c9e-8cca-d25e171edf55" targetNamespace="http://schemas.microsoft.com/office/2006/metadata/properties" ma:root="true" ma:fieldsID="17b4f5635420ce7267ce584baab8090d" ns2:_="" ns3:_="">
    <xsd:import namespace="8c47632e-f6f4-466b-b0d0-588b29b5bf13"/>
    <xsd:import namespace="3def94a3-6d42-4c9e-8cca-d25e171edf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47632e-f6f4-466b-b0d0-588b29b5bf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db9fa872-9146-4a37-bd18-27b38c3134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ef94a3-6d42-4c9e-8cca-d25e171edf55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203cb831-a9f1-4d46-93c8-45b84de82d74}" ma:internalName="TaxCatchAll" ma:showField="CatchAllData" ma:web="3def94a3-6d42-4c9e-8cca-d25e171edf5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53B927B-966A-4570-8174-F4A062D91A44}">
  <ds:schemaRefs>
    <ds:schemaRef ds:uri="http://schemas.microsoft.com/office/2006/metadata/properties"/>
    <ds:schemaRef ds:uri="http://schemas.microsoft.com/office/infopath/2007/PartnerControls"/>
    <ds:schemaRef ds:uri="3def94a3-6d42-4c9e-8cca-d25e171edf55"/>
    <ds:schemaRef ds:uri="8c47632e-f6f4-466b-b0d0-588b29b5bf13"/>
  </ds:schemaRefs>
</ds:datastoreItem>
</file>

<file path=customXml/itemProps2.xml><?xml version="1.0" encoding="utf-8"?>
<ds:datastoreItem xmlns:ds="http://schemas.openxmlformats.org/officeDocument/2006/customXml" ds:itemID="{0FFE7723-B2FA-4C0D-A1FF-D7E9F08B0C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F0405F8-7C50-46DE-AAB4-738335D97D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47632e-f6f4-466b-b0d0-588b29b5bf13"/>
    <ds:schemaRef ds:uri="3def94a3-6d42-4c9e-8cca-d25e171edf5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2668</Words>
  <Application>Microsoft Office PowerPoint</Application>
  <PresentationFormat>Widescreen</PresentationFormat>
  <Paragraphs>827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Luís Machado</dc:creator>
  <cp:lastModifiedBy>THALLES DAVIDY GONDIN DA SILVEIRA</cp:lastModifiedBy>
  <cp:revision>10</cp:revision>
  <dcterms:created xsi:type="dcterms:W3CDTF">2025-01-29T18:17:09Z</dcterms:created>
  <dcterms:modified xsi:type="dcterms:W3CDTF">2026-08-14T14:58:45Z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0x01010002743E72E677B5418F65344B8F9625B8</vt:lpwstr>
  </property>
  <property fmtid="{D5CDD505-2E9C-101B-9397-08002B2CF9AE}" pid="3" name="MediaServiceImageTags">
    <vt:lpwstr/>
  </property>
  <property fmtid="{D5CDD505-2E9C-101B-9397-08002B2CF9AE}" pid="4" name="MSIP_Label_f6648805-0676-427f-8b3f-8deff0dc1a0a_Enabled">
    <vt:lpwstr>true</vt:lpwstr>
  </property>
  <property fmtid="{D5CDD505-2E9C-101B-9397-08002B2CF9AE}" pid="5" name="MSIP_Label_f6648805-0676-427f-8b3f-8deff0dc1a0a_SetDate">
    <vt:lpwstr>2026-08-14T14:55:28Z</vt:lpwstr>
  </property>
  <property fmtid="{D5CDD505-2E9C-101B-9397-08002B2CF9AE}" pid="6" name="MSIP_Label_f6648805-0676-427f-8b3f-8deff0dc1a0a_Method">
    <vt:lpwstr>Privileged</vt:lpwstr>
  </property>
  <property fmtid="{D5CDD505-2E9C-101B-9397-08002B2CF9AE}" pid="7" name="MSIP_Label_f6648805-0676-427f-8b3f-8deff0dc1a0a_Name">
    <vt:lpwstr>Público</vt:lpwstr>
  </property>
  <property fmtid="{D5CDD505-2E9C-101B-9397-08002B2CF9AE}" pid="8" name="MSIP_Label_f6648805-0676-427f-8b3f-8deff0dc1a0a_SiteId">
    <vt:lpwstr>77d68323-6f4b-460f-8aae-d32c654ec490</vt:lpwstr>
  </property>
  <property fmtid="{D5CDD505-2E9C-101B-9397-08002B2CF9AE}" pid="9" name="MSIP_Label_f6648805-0676-427f-8b3f-8deff0dc1a0a_ActionId">
    <vt:lpwstr>3609b03e-bf41-4173-b091-0b13ca5f5a66</vt:lpwstr>
  </property>
  <property fmtid="{D5CDD505-2E9C-101B-9397-08002B2CF9AE}" pid="10" name="MSIP_Label_f6648805-0676-427f-8b3f-8deff0dc1a0a_ContentBits">
    <vt:lpwstr>3</vt:lpwstr>
  </property>
  <property fmtid="{D5CDD505-2E9C-101B-9397-08002B2CF9AE}" pid="11" name="MSIP_Label_f6648805-0676-427f-8b3f-8deff0dc1a0a_Tag">
    <vt:lpwstr>10, 0, 1, 1</vt:lpwstr>
  </property>
  <property fmtid="{D5CDD505-2E9C-101B-9397-08002B2CF9AE}" pid="12" name="ClassificationContentMarkingFooterLocations">
    <vt:lpwstr>Tema do Office:10</vt:lpwstr>
  </property>
  <property fmtid="{D5CDD505-2E9C-101B-9397-08002B2CF9AE}" pid="13" name="ClassificationContentMarkingFooterText">
    <vt:lpwstr>PÚBLICO</vt:lpwstr>
  </property>
  <property fmtid="{D5CDD505-2E9C-101B-9397-08002B2CF9AE}" pid="14" name="ClassificationContentMarkingHeaderLocations">
    <vt:lpwstr>Tema do Office:9</vt:lpwstr>
  </property>
  <property fmtid="{D5CDD505-2E9C-101B-9397-08002B2CF9AE}" pid="15" name="ClassificationContentMarkingHeaderText">
    <vt:lpwstr>PÚBLICO</vt:lpwstr>
  </property>
</Properties>
</file>